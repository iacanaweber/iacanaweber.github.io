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handoutMasterIdLst>
    <p:handoutMasterId r:id="rId17"/>
  </p:handoutMasterIdLst>
  <p:sldIdLst>
    <p:sldId id="280" r:id="rId2"/>
    <p:sldId id="563" r:id="rId3"/>
    <p:sldId id="556" r:id="rId4"/>
    <p:sldId id="571" r:id="rId5"/>
    <p:sldId id="572" r:id="rId6"/>
    <p:sldId id="573" r:id="rId7"/>
    <p:sldId id="564" r:id="rId8"/>
    <p:sldId id="565" r:id="rId9"/>
    <p:sldId id="566" r:id="rId10"/>
    <p:sldId id="567" r:id="rId11"/>
    <p:sldId id="569" r:id="rId12"/>
    <p:sldId id="554" r:id="rId13"/>
    <p:sldId id="520" r:id="rId14"/>
    <p:sldId id="55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FF23"/>
    <a:srgbClr val="8969B2"/>
    <a:srgbClr val="660066"/>
    <a:srgbClr val="1EC4D9"/>
    <a:srgbClr val="37C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2" autoAdjust="0"/>
    <p:restoredTop sz="85374" autoAdjust="0"/>
  </p:normalViewPr>
  <p:slideViewPr>
    <p:cSldViewPr snapToGrid="0">
      <p:cViewPr>
        <p:scale>
          <a:sx n="108" d="100"/>
          <a:sy n="108" d="100"/>
        </p:scale>
        <p:origin x="848" y="1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9993"/>
            <a:ext cx="6858000" cy="51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97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04A89-6BFF-C147-B009-33247CD7572F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5B5EE-8431-BF41-8272-8266E62486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425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8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4944" y="78798"/>
            <a:ext cx="8961583" cy="61393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412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9018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381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072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282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656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3373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1657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277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0177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78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37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0B198-9831-4208-8259-C0FFE3B2B63E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884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arc.pucrs.br/Default/Export.aspx?id=27ed33a5-ede6-4d8d-ab09-f703ad1b993b&amp;ano=2026&amp;sem=1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iacana.weber@pucrs.br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0267" y="3192565"/>
            <a:ext cx="112098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err="1">
                <a:solidFill>
                  <a:schemeClr val="accent4">
                    <a:lumMod val="75000"/>
                  </a:schemeClr>
                </a:solidFill>
              </a:rPr>
              <a:t>Apresentação</a:t>
            </a:r>
            <a:r>
              <a:rPr lang="en-US" sz="4400" b="1" dirty="0">
                <a:solidFill>
                  <a:schemeClr val="accent4">
                    <a:lumMod val="75000"/>
                  </a:schemeClr>
                </a:solidFill>
              </a:rPr>
              <a:t> da </a:t>
            </a:r>
            <a:r>
              <a:rPr lang="en-US" sz="4400" b="1" dirty="0" err="1">
                <a:solidFill>
                  <a:schemeClr val="accent4">
                    <a:lumMod val="75000"/>
                  </a:schemeClr>
                </a:solidFill>
              </a:rPr>
              <a:t>Disciplina</a:t>
            </a:r>
            <a:endParaRPr lang="en-US" sz="44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endParaRPr lang="pt-BR" sz="1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pt-BR" sz="2400" i="1" dirty="0"/>
              <a:t>Prof. Iaçanã Ianiski Weber</a:t>
            </a:r>
          </a:p>
        </p:txBody>
      </p:sp>
      <p:sp>
        <p:nvSpPr>
          <p:cNvPr id="4" name="Subtítulo 6">
            <a:extLst>
              <a:ext uri="{FF2B5EF4-FFF2-40B4-BE49-F238E27FC236}">
                <a16:creationId xmlns:a16="http://schemas.microsoft.com/office/drawing/2014/main" id="{E77D03D4-AD8E-1F4E-9F9E-5D7DFC6CDD2B}"/>
              </a:ext>
            </a:extLst>
          </p:cNvPr>
          <p:cNvSpPr txBox="1">
            <a:spLocks/>
          </p:cNvSpPr>
          <p:nvPr/>
        </p:nvSpPr>
        <p:spPr>
          <a:xfrm>
            <a:off x="7053943" y="310244"/>
            <a:ext cx="5138057" cy="19757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b="1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98G08-04</a:t>
            </a:r>
          </a:p>
          <a:p>
            <a:r>
              <a:rPr lang="pt-BR" sz="2800" b="1" dirty="0">
                <a:solidFill>
                  <a:schemeClr val="bg1"/>
                </a:solidFill>
              </a:rPr>
              <a:t>CONFIABILIDADE E </a:t>
            </a:r>
          </a:p>
          <a:p>
            <a:r>
              <a:rPr lang="pt-BR" sz="2800" b="1" dirty="0">
                <a:solidFill>
                  <a:schemeClr val="bg1"/>
                </a:solidFill>
              </a:rPr>
              <a:t>SEGURANÇA DE SOFTWARE</a:t>
            </a:r>
          </a:p>
        </p:txBody>
      </p:sp>
    </p:spTree>
    <p:extLst>
      <p:ext uri="{BB962C8B-B14F-4D97-AF65-F5344CB8AC3E}">
        <p14:creationId xmlns:p14="http://schemas.microsoft.com/office/powerpoint/2010/main" val="444495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OBJETIVOS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22" y="1304274"/>
            <a:ext cx="1105287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spcAft>
                <a:spcPts val="600"/>
              </a:spcAft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A disciplina de </a:t>
            </a:r>
            <a:r>
              <a:rPr lang="pt-BR" sz="2800" b="1" i="1" dirty="0">
                <a:solidFill>
                  <a:schemeClr val="accent4">
                    <a:lumMod val="75000"/>
                  </a:schemeClr>
                </a:solidFill>
              </a:rPr>
              <a:t>Confiabilidade e Segurança de Software </a:t>
            </a:r>
            <a:r>
              <a:rPr lang="pt-BR" sz="2800" dirty="0"/>
              <a:t>tem como objetivo apresentar os principais conceitos relacionados com </a:t>
            </a:r>
            <a:r>
              <a:rPr lang="pt-BR" sz="2800" b="1" dirty="0" err="1">
                <a:solidFill>
                  <a:srgbClr val="FF0000"/>
                </a:solidFill>
              </a:rPr>
              <a:t>dependabilidade</a:t>
            </a:r>
            <a:r>
              <a:rPr lang="pt-BR" sz="2800" b="1" dirty="0">
                <a:solidFill>
                  <a:srgbClr val="FF0000"/>
                </a:solidFill>
              </a:rPr>
              <a:t> </a:t>
            </a:r>
            <a:r>
              <a:rPr lang="pt-BR" sz="2800" dirty="0"/>
              <a:t>e </a:t>
            </a:r>
            <a:r>
              <a:rPr lang="pt-BR" sz="2800" b="1" dirty="0">
                <a:solidFill>
                  <a:srgbClr val="FF0000"/>
                </a:solidFill>
              </a:rPr>
              <a:t>teste de software </a:t>
            </a:r>
            <a:r>
              <a:rPr lang="pt-BR" sz="2800" dirty="0"/>
              <a:t>definindo e empregando as principais técnicas para as duas abordagens. Além da parte relacionada com testes, pretende-se mostrar as principais técnicas para aumentar a confiabilidade de sistemas mesmo quando testes não eliminam todas as falhas existentes no sistema. Para tanto serão apresentados e trabalhados os principais mecanismos para tolerar falhas residuais. Além disso, será apresentado os fundamentos e aplicações de técnicas clássicas e modernas de </a:t>
            </a:r>
            <a:r>
              <a:rPr lang="pt-BR" sz="2800" b="1" dirty="0">
                <a:solidFill>
                  <a:srgbClr val="FF0000"/>
                </a:solidFill>
              </a:rPr>
              <a:t>criptografia</a:t>
            </a:r>
            <a:r>
              <a:rPr lang="pt-BR" sz="2800" dirty="0"/>
              <a:t> visando o aumento da segurança da informação.</a:t>
            </a:r>
          </a:p>
        </p:txBody>
      </p:sp>
    </p:spTree>
    <p:extLst>
      <p:ext uri="{BB962C8B-B14F-4D97-AF65-F5344CB8AC3E}">
        <p14:creationId xmlns:p14="http://schemas.microsoft.com/office/powerpoint/2010/main" val="2149920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EMENTA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451" y="1201788"/>
            <a:ext cx="11052879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spcAft>
                <a:spcPts val="600"/>
              </a:spcAft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Definição de </a:t>
            </a:r>
            <a:r>
              <a:rPr lang="pt-BR" sz="3200" dirty="0" err="1"/>
              <a:t>dependabilidade</a:t>
            </a:r>
            <a:r>
              <a:rPr lang="pt-BR" sz="3200" dirty="0"/>
              <a:t>, confiabilidade e segurança de sistemas. </a:t>
            </a:r>
          </a:p>
          <a:p>
            <a:pPr marL="571500" indent="-571500" algn="just">
              <a:spcAft>
                <a:spcPts val="600"/>
              </a:spcAft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Discussão sobre atributos, ameaças e abordagens à </a:t>
            </a:r>
            <a:r>
              <a:rPr lang="pt-BR" sz="3200" dirty="0" err="1"/>
              <a:t>dependabilidade</a:t>
            </a:r>
            <a:r>
              <a:rPr lang="pt-BR" sz="3200" dirty="0"/>
              <a:t> de sistemas. </a:t>
            </a:r>
          </a:p>
          <a:p>
            <a:pPr marL="571500" indent="-571500" algn="just">
              <a:spcAft>
                <a:spcPts val="600"/>
              </a:spcAft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Estudo prático de técnicas de verificação, validação e teste de software. </a:t>
            </a:r>
          </a:p>
          <a:p>
            <a:pPr marL="571500" indent="-571500" algn="just">
              <a:spcAft>
                <a:spcPts val="600"/>
              </a:spcAft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Estudo prático de técnicas de tolerância a falhas em software. </a:t>
            </a:r>
          </a:p>
          <a:p>
            <a:pPr marL="571500" indent="-571500" algn="just">
              <a:spcAft>
                <a:spcPts val="600"/>
              </a:spcAft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Discussão sobre técnicas de segurança em sistemas e software.</a:t>
            </a:r>
          </a:p>
          <a:p>
            <a:pPr marL="571500" indent="-571500" algn="just">
              <a:spcAft>
                <a:spcPts val="600"/>
              </a:spcAft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Estudo teórico-prático de técnicas de criptografia</a:t>
            </a:r>
          </a:p>
        </p:txBody>
      </p:sp>
    </p:spTree>
    <p:extLst>
      <p:ext uri="{BB962C8B-B14F-4D97-AF65-F5344CB8AC3E}">
        <p14:creationId xmlns:p14="http://schemas.microsoft.com/office/powerpoint/2010/main" val="2292952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E86D6-226F-B2CA-A018-FCE05999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CD243F-6E7C-4148-E8FD-26F04B821C81}"/>
              </a:ext>
            </a:extLst>
          </p:cNvPr>
          <p:cNvSpPr txBox="1"/>
          <p:nvPr/>
        </p:nvSpPr>
        <p:spPr>
          <a:xfrm>
            <a:off x="185853" y="1031508"/>
            <a:ext cx="10980235" cy="1260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fontAlgn="base" hangingPunct="0">
              <a:lnSpc>
                <a:spcPct val="107000"/>
              </a:lnSpc>
              <a:spcBef>
                <a:spcPts val="25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Compreender os conceitos fundamentais de </a:t>
            </a:r>
            <a:r>
              <a:rPr lang="pt-BR" sz="2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dependabilidade</a:t>
            </a: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confiabilidade e segurança em software, discernindo entre os diferentes atributos e como eles impactam o desenvolvimento de sistemas.</a:t>
            </a:r>
            <a:endParaRPr lang="en-GB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9BF353-A0DC-5B23-30C6-6CFD2BF898DF}"/>
              </a:ext>
            </a:extLst>
          </p:cNvPr>
          <p:cNvSpPr txBox="1"/>
          <p:nvPr/>
        </p:nvSpPr>
        <p:spPr>
          <a:xfrm>
            <a:off x="9983639" y="88250"/>
            <a:ext cx="2047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OBJETIVOS</a:t>
            </a:r>
          </a:p>
        </p:txBody>
      </p:sp>
      <p:pic>
        <p:nvPicPr>
          <p:cNvPr id="3074" name="Picture 2" descr="Dependability Properties of Systems: Principles &amp; Purpose - Lesson |  Study.com">
            <a:extLst>
              <a:ext uri="{FF2B5EF4-FFF2-40B4-BE49-F238E27FC236}">
                <a16:creationId xmlns:a16="http://schemas.microsoft.com/office/drawing/2014/main" id="{F9612F86-9A29-150D-DB3C-6D05A3AB6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424" y="2411567"/>
            <a:ext cx="4086126" cy="409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3F430-2D1A-065A-087C-B881D0804DC5}"/>
              </a:ext>
            </a:extLst>
          </p:cNvPr>
          <p:cNvSpPr txBox="1"/>
          <p:nvPr/>
        </p:nvSpPr>
        <p:spPr>
          <a:xfrm>
            <a:off x="185853" y="3337513"/>
            <a:ext cx="6594088" cy="16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fontAlgn="base" hangingPunct="0">
              <a:lnSpc>
                <a:spcPct val="107000"/>
              </a:lnSpc>
              <a:spcBef>
                <a:spcPts val="25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 e analisar as ameaças à </a:t>
            </a:r>
            <a:r>
              <a:rPr lang="pt-BR" sz="2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dependabilidade</a:t>
            </a: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dos sistemas de software e aprender a aplicar estratégias eficazes para mitigar riscos e melhorar a robustez do software.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16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49C48-5B5E-788C-C79E-E5173AB60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601DE6-DB26-83EF-025E-1FBBC014E166}"/>
              </a:ext>
            </a:extLst>
          </p:cNvPr>
          <p:cNvSpPr txBox="1"/>
          <p:nvPr/>
        </p:nvSpPr>
        <p:spPr>
          <a:xfrm>
            <a:off x="185853" y="1031508"/>
            <a:ext cx="10980235" cy="1260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fontAlgn="base" hangingPunct="0">
              <a:lnSpc>
                <a:spcPct val="107000"/>
              </a:lnSpc>
              <a:spcBef>
                <a:spcPts val="25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Desenvolver habilidades práticas em técnicas de verificação, validação e teste de software, permitindo que o estudante projete e implemente planos de teste e utilize ferramentas para análise estática e dinâmica do código.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BABD5D-FB45-6494-8511-61B36DB2C8C0}"/>
              </a:ext>
            </a:extLst>
          </p:cNvPr>
          <p:cNvSpPr txBox="1"/>
          <p:nvPr/>
        </p:nvSpPr>
        <p:spPr>
          <a:xfrm>
            <a:off x="9983639" y="88250"/>
            <a:ext cx="2047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OBJETIVOS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652B7B-04FE-BAD0-2180-02DC90C738DD}"/>
              </a:ext>
            </a:extLst>
          </p:cNvPr>
          <p:cNvSpPr txBox="1"/>
          <p:nvPr/>
        </p:nvSpPr>
        <p:spPr>
          <a:xfrm>
            <a:off x="185853" y="2910630"/>
            <a:ext cx="6869152" cy="16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fontAlgn="base" hangingPunct="0">
              <a:lnSpc>
                <a:spcPct val="107000"/>
              </a:lnSpc>
              <a:spcBef>
                <a:spcPts val="25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Estudar técnicas de tolerância a falhas para projetar software capaz de detectar, isolar e recuperar-se de falhas, garantindo continuidade de serviço e integridade dos dados.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Wanted bug as symbol software testing quality Vector Image">
            <a:extLst>
              <a:ext uri="{FF2B5EF4-FFF2-40B4-BE49-F238E27FC236}">
                <a16:creationId xmlns:a16="http://schemas.microsoft.com/office/drawing/2014/main" id="{1FF37CF2-8D5B-DE2D-C221-56BFF556FB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64"/>
          <a:stretch/>
        </p:blipFill>
        <p:spPr bwMode="auto">
          <a:xfrm>
            <a:off x="7372949" y="2523893"/>
            <a:ext cx="3793139" cy="3713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696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F6E49-0417-81CE-54AF-CAA950728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369C18-2077-20FE-9DE0-19E22EFC5B8A}"/>
              </a:ext>
            </a:extLst>
          </p:cNvPr>
          <p:cNvSpPr txBox="1"/>
          <p:nvPr/>
        </p:nvSpPr>
        <p:spPr>
          <a:xfrm>
            <a:off x="185853" y="1031508"/>
            <a:ext cx="10980235" cy="16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fontAlgn="base" hangingPunct="0">
              <a:lnSpc>
                <a:spcPct val="107000"/>
              </a:lnSpc>
              <a:spcBef>
                <a:spcPts val="25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Avaliar as práticas e protocolos de segurança usados em sistemas e software, compreendendo mecanismos para proteção contra vulnerabilidades e ataques, assim como manutenção da integridade, confidencialidade e disponibilidade dos sistemas.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341394-957B-6BA0-11A1-72F3006699FA}"/>
              </a:ext>
            </a:extLst>
          </p:cNvPr>
          <p:cNvSpPr txBox="1"/>
          <p:nvPr/>
        </p:nvSpPr>
        <p:spPr>
          <a:xfrm>
            <a:off x="9983639" y="88250"/>
            <a:ext cx="2047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OBJETIVOS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BDBB6B-3D78-A81D-96A7-82B21B9CD660}"/>
              </a:ext>
            </a:extLst>
          </p:cNvPr>
          <p:cNvSpPr txBox="1"/>
          <p:nvPr/>
        </p:nvSpPr>
        <p:spPr>
          <a:xfrm>
            <a:off x="185853" y="2893761"/>
            <a:ext cx="10980235" cy="1260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fontAlgn="base" hangingPunct="0">
              <a:lnSpc>
                <a:spcPct val="107000"/>
              </a:lnSpc>
              <a:spcBef>
                <a:spcPts val="25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Dominar os princípios de criptografia, incluindo criptografia simétrica e assimétrica, funções resumo (</a:t>
            </a:r>
            <a:r>
              <a:rPr lang="pt-BR" sz="240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hash</a:t>
            </a:r>
            <a:r>
              <a:rPr lang="pt-BR" sz="24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e assinaturas digitais, e desenvolver a capacidade de implementar soluções de criptografia em aplicações de software.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829CB7-38EC-F7A1-C03E-06D30E767482}"/>
              </a:ext>
            </a:extLst>
          </p:cNvPr>
          <p:cNvSpPr txBox="1"/>
          <p:nvPr/>
        </p:nvSpPr>
        <p:spPr>
          <a:xfrm>
            <a:off x="185854" y="4756014"/>
            <a:ext cx="7664606" cy="1260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fontAlgn="base" hangingPunct="0">
              <a:lnSpc>
                <a:spcPct val="107000"/>
              </a:lnSpc>
              <a:spcBef>
                <a:spcPts val="25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Explorar o gerenciamento de chaves criptográficas e entender as práticas recomendadas para administração segura de chaves e certificados digitais.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CRIPTOGRAFIA - Brasil, país digital - #BrasilPaisDigital">
            <a:extLst>
              <a:ext uri="{FF2B5EF4-FFF2-40B4-BE49-F238E27FC236}">
                <a16:creationId xmlns:a16="http://schemas.microsoft.com/office/drawing/2014/main" id="{0C15ABE8-7511-CF32-B714-3F6FAB06F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209" y="3762608"/>
            <a:ext cx="4708787" cy="2942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94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CONTEÚDO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283" y="986529"/>
            <a:ext cx="11017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u="sng" dirty="0">
                <a:solidFill>
                  <a:schemeClr val="accent4">
                    <a:lumMod val="75000"/>
                  </a:schemeClr>
                </a:solidFill>
              </a:rPr>
              <a:t>UNIDADE 01 – </a:t>
            </a:r>
            <a:r>
              <a:rPr lang="pt-BR" sz="2800" u="sng" dirty="0" err="1">
                <a:solidFill>
                  <a:schemeClr val="accent4">
                    <a:lumMod val="75000"/>
                  </a:schemeClr>
                </a:solidFill>
              </a:rPr>
              <a:t>Dependabilidade</a:t>
            </a:r>
            <a:r>
              <a:rPr lang="pt-BR" sz="2800" u="sng" dirty="0">
                <a:solidFill>
                  <a:schemeClr val="accent4">
                    <a:lumMod val="75000"/>
                  </a:schemeClr>
                </a:solidFill>
              </a:rPr>
              <a:t> (16,7%, 10 horas-aulas)</a:t>
            </a:r>
            <a:endParaRPr lang="pt-B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1E6DB-7D71-6E48-B169-59858A1A561E}"/>
              </a:ext>
            </a:extLst>
          </p:cNvPr>
          <p:cNvSpPr txBox="1"/>
          <p:nvPr/>
        </p:nvSpPr>
        <p:spPr>
          <a:xfrm>
            <a:off x="261270" y="1778311"/>
            <a:ext cx="98134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Disponibilidade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Confiabilidade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 err="1"/>
              <a:t>Safety</a:t>
            </a:r>
            <a:endParaRPr lang="pt-BR" sz="2400" dirty="0"/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Security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Resiliência</a:t>
            </a:r>
          </a:p>
        </p:txBody>
      </p:sp>
    </p:spTree>
    <p:extLst>
      <p:ext uri="{BB962C8B-B14F-4D97-AF65-F5344CB8AC3E}">
        <p14:creationId xmlns:p14="http://schemas.microsoft.com/office/powerpoint/2010/main" val="358507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CONTEÚDO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283" y="986529"/>
            <a:ext cx="11017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u="sng" dirty="0">
                <a:solidFill>
                  <a:schemeClr val="accent4">
                    <a:lumMod val="75000"/>
                  </a:schemeClr>
                </a:solidFill>
              </a:rPr>
              <a:t>UNIDADE 02 – </a:t>
            </a:r>
            <a:r>
              <a:rPr lang="pt-BR" sz="2800" u="sng" dirty="0">
                <a:solidFill>
                  <a:schemeClr val="accent4">
                    <a:lumMod val="75000"/>
                  </a:schemeClr>
                </a:solidFill>
              </a:rPr>
              <a:t>Teste de Software (33,3%, 20 horas-aulas)</a:t>
            </a:r>
            <a:endParaRPr lang="pt-B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1E6DB-7D71-6E48-B169-59858A1A561E}"/>
              </a:ext>
            </a:extLst>
          </p:cNvPr>
          <p:cNvSpPr txBox="1"/>
          <p:nvPr/>
        </p:nvSpPr>
        <p:spPr>
          <a:xfrm>
            <a:off x="261270" y="1778311"/>
            <a:ext cx="9813459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Teste Funcional – Teste de Caixa Preta</a:t>
            </a:r>
          </a:p>
          <a:p>
            <a:pPr marL="971550" lvl="1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Classes de Equivalência</a:t>
            </a:r>
          </a:p>
          <a:p>
            <a:pPr marL="971550" lvl="1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Análise do Valor Limite</a:t>
            </a:r>
          </a:p>
          <a:p>
            <a:pPr marL="971550" lvl="1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Teste Sistemático</a:t>
            </a:r>
          </a:p>
          <a:p>
            <a:pPr marL="971550" lvl="1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Teste Estrutural – Teste de Caixa Branca</a:t>
            </a:r>
          </a:p>
          <a:p>
            <a:pPr marL="1428750" lvl="2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Grafo de Fluxo de Controle</a:t>
            </a:r>
          </a:p>
          <a:p>
            <a:pPr marL="1428750" lvl="2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Teste de Mutação</a:t>
            </a:r>
          </a:p>
          <a:p>
            <a:pPr marL="1428750" lvl="2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Ferramentas de Análise de Código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Tolerância a Falhas</a:t>
            </a:r>
          </a:p>
        </p:txBody>
      </p:sp>
    </p:spTree>
    <p:extLst>
      <p:ext uri="{BB962C8B-B14F-4D97-AF65-F5344CB8AC3E}">
        <p14:creationId xmlns:p14="http://schemas.microsoft.com/office/powerpoint/2010/main" val="152765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CONTEÚDO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283" y="986529"/>
            <a:ext cx="1175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u="sng" dirty="0">
                <a:solidFill>
                  <a:schemeClr val="accent4">
                    <a:lumMod val="75000"/>
                  </a:schemeClr>
                </a:solidFill>
              </a:rPr>
              <a:t>UNIDADE 03 –</a:t>
            </a:r>
            <a:r>
              <a:rPr lang="pt-BR" sz="2800" u="sng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2400" u="sng" dirty="0">
                <a:solidFill>
                  <a:schemeClr val="accent4">
                    <a:lumMod val="75000"/>
                  </a:schemeClr>
                </a:solidFill>
              </a:rPr>
              <a:t>Criptografia Simétrica e Autenticação de Mensagens (25%, 15 horas-aulas)</a:t>
            </a:r>
            <a:endParaRPr lang="pt-B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1E6DB-7D71-6E48-B169-59858A1A561E}"/>
              </a:ext>
            </a:extLst>
          </p:cNvPr>
          <p:cNvSpPr txBox="1"/>
          <p:nvPr/>
        </p:nvSpPr>
        <p:spPr>
          <a:xfrm>
            <a:off x="261270" y="2038504"/>
            <a:ext cx="98134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Conceitos básicos sobre criptografia 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Criptografia Simétrica – Cifras de Fluxo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Criptografia Simétrica – Cifras de Bloco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Integridade de mensagens</a:t>
            </a:r>
          </a:p>
        </p:txBody>
      </p:sp>
    </p:spTree>
    <p:extLst>
      <p:ext uri="{BB962C8B-B14F-4D97-AF65-F5344CB8AC3E}">
        <p14:creationId xmlns:p14="http://schemas.microsoft.com/office/powerpoint/2010/main" val="4266699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CONTEÚDO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283" y="986529"/>
            <a:ext cx="11017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u="sng" dirty="0">
                <a:solidFill>
                  <a:schemeClr val="accent4">
                    <a:lumMod val="75000"/>
                  </a:schemeClr>
                </a:solidFill>
              </a:rPr>
              <a:t>UNIDADE 04 – </a:t>
            </a:r>
            <a:r>
              <a:rPr lang="pt-BR" sz="2400" u="sng" dirty="0">
                <a:solidFill>
                  <a:schemeClr val="accent4">
                    <a:lumMod val="75000"/>
                  </a:schemeClr>
                </a:solidFill>
              </a:rPr>
              <a:t>Criptografia Assimétrica e Assinatura Digital (25%, 15 horas-aulas)</a:t>
            </a:r>
            <a:endParaRPr lang="pt-B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1E6DB-7D71-6E48-B169-59858A1A561E}"/>
              </a:ext>
            </a:extLst>
          </p:cNvPr>
          <p:cNvSpPr txBox="1"/>
          <p:nvPr/>
        </p:nvSpPr>
        <p:spPr>
          <a:xfrm>
            <a:off x="261270" y="1778311"/>
            <a:ext cx="98134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Aritmética modular 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Troca de chaves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Criptografia Assimétrica e Assinatura Digital</a:t>
            </a:r>
          </a:p>
          <a:p>
            <a:pPr marL="514350" indent="-514350">
              <a:spcAft>
                <a:spcPts val="1200"/>
              </a:spcAft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/>
              <a:t>Estudo de caso de sistema que utilize um fluxo completo de segurança</a:t>
            </a:r>
          </a:p>
        </p:txBody>
      </p:sp>
    </p:spTree>
    <p:extLst>
      <p:ext uri="{BB962C8B-B14F-4D97-AF65-F5344CB8AC3E}">
        <p14:creationId xmlns:p14="http://schemas.microsoft.com/office/powerpoint/2010/main" val="3815354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CRONOGRAMA</a:t>
            </a:r>
            <a:endParaRPr lang="pt-BR" sz="2800" b="1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DF020F0-E3FC-63EF-BF90-230A65BC3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68" y="937483"/>
            <a:ext cx="11330750" cy="56293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CDCC63B-C08C-BF58-0212-2C736B13DC35}"/>
              </a:ext>
            </a:extLst>
          </p:cNvPr>
          <p:cNvSpPr txBox="1"/>
          <p:nvPr/>
        </p:nvSpPr>
        <p:spPr>
          <a:xfrm>
            <a:off x="8096827" y="1981885"/>
            <a:ext cx="3873500" cy="954107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pt-BR" sz="2800" dirty="0"/>
              <a:t>Cronograma disponível no </a:t>
            </a:r>
            <a:r>
              <a:rPr lang="pt-BR" sz="2800" dirty="0">
                <a:hlinkClick r:id="rId3"/>
              </a:rPr>
              <a:t>LINK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507407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F4F8EB-6A66-3B4A-ACAE-387EB90CBEF0}"/>
              </a:ext>
            </a:extLst>
          </p:cNvPr>
          <p:cNvSpPr/>
          <p:nvPr/>
        </p:nvSpPr>
        <p:spPr>
          <a:xfrm>
            <a:off x="3109507" y="1055995"/>
            <a:ext cx="5414008" cy="48076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AVALIAÇÃO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60553E-D338-AB4E-8A6D-F8EDA34600FF}"/>
                  </a:ext>
                </a:extLst>
              </p:cNvPr>
              <p:cNvSpPr txBox="1"/>
              <p:nvPr/>
            </p:nvSpPr>
            <p:spPr>
              <a:xfrm>
                <a:off x="2170799" y="1088886"/>
                <a:ext cx="72463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𝑮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𝟏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=(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𝑷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𝟏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 + 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𝑷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 +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𝑻𝑷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60553E-D338-AB4E-8A6D-F8EDA3460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799" y="1088886"/>
                <a:ext cx="7246345" cy="400110"/>
              </a:xfrm>
              <a:prstGeom prst="rect">
                <a:avLst/>
              </a:prstGeom>
              <a:blipFill>
                <a:blip r:embed="rId2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3444C5D-F2F3-0A45-97A6-2CD07598B257}"/>
              </a:ext>
            </a:extLst>
          </p:cNvPr>
          <p:cNvSpPr txBox="1"/>
          <p:nvPr/>
        </p:nvSpPr>
        <p:spPr>
          <a:xfrm>
            <a:off x="476789" y="4014037"/>
            <a:ext cx="11632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000" b="1" dirty="0">
                <a:solidFill>
                  <a:srgbClr val="FF0000"/>
                </a:solidFill>
              </a:rPr>
              <a:t>G1 </a:t>
            </a:r>
            <a:r>
              <a:rPr lang="pt-BR" sz="2000" dirty="0"/>
              <a:t>: Para aprovação em G1 é necessário média </a:t>
            </a:r>
            <a:r>
              <a:rPr lang="pt-BR" sz="2000" i="1" dirty="0">
                <a:solidFill>
                  <a:schemeClr val="accent4">
                    <a:lumMod val="75000"/>
                  </a:schemeClr>
                </a:solidFill>
              </a:rPr>
              <a:t>maior ou igual a 7</a:t>
            </a:r>
            <a:endParaRPr lang="pt-BR" sz="2000" i="1" dirty="0"/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200" b="1" dirty="0">
              <a:solidFill>
                <a:srgbClr val="FF0000"/>
              </a:solidFill>
            </a:endParaRPr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000" b="1" dirty="0">
                <a:solidFill>
                  <a:srgbClr val="FF0000"/>
                </a:solidFill>
              </a:rPr>
              <a:t>G2</a:t>
            </a:r>
            <a:r>
              <a:rPr lang="pt-BR" sz="2000" dirty="0"/>
              <a:t> : Os alunos que não obtiveram aprovação em G1 devem realizar a prova de G2, desde que: </a:t>
            </a:r>
            <a:r>
              <a:rPr lang="pt-BR" sz="2000" i="1" dirty="0">
                <a:solidFill>
                  <a:schemeClr val="accent4">
                    <a:lumMod val="75000"/>
                  </a:schemeClr>
                </a:solidFill>
              </a:rPr>
              <a:t>tenham média de G1 maior ou igual a 4</a:t>
            </a:r>
            <a:endParaRPr lang="pt-BR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76C70-091A-8740-9634-E462A1DE8544}"/>
              </a:ext>
            </a:extLst>
          </p:cNvPr>
          <p:cNvSpPr txBox="1"/>
          <p:nvPr/>
        </p:nvSpPr>
        <p:spPr>
          <a:xfrm>
            <a:off x="1871738" y="1748011"/>
            <a:ext cx="7615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buClr>
                <a:srgbClr val="0070C0"/>
              </a:buClr>
            </a:pPr>
            <a:r>
              <a:rPr lang="is-IS" sz="2000" b="1" dirty="0">
                <a:solidFill>
                  <a:srgbClr val="FF0000"/>
                </a:solidFill>
              </a:rPr>
              <a:t>P1.   </a:t>
            </a:r>
            <a:r>
              <a:rPr lang="is-IS" sz="2000" dirty="0"/>
              <a:t>27/03/2026	   </a:t>
            </a:r>
            <a:r>
              <a:rPr lang="is-IS" sz="2000" b="1" dirty="0">
                <a:solidFill>
                  <a:srgbClr val="FF0000"/>
                </a:solidFill>
              </a:rPr>
              <a:t>P2.   </a:t>
            </a:r>
            <a:r>
              <a:rPr lang="is-IS" sz="2000" dirty="0"/>
              <a:t>08/05/2026     </a:t>
            </a:r>
            <a:r>
              <a:rPr lang="is-IS" sz="2000" b="1" dirty="0">
                <a:solidFill>
                  <a:srgbClr val="FF0000"/>
                </a:solidFill>
              </a:rPr>
              <a:t>P3. </a:t>
            </a:r>
            <a:r>
              <a:rPr lang="is-IS" sz="2000" dirty="0"/>
              <a:t>08/07/2026          </a:t>
            </a:r>
            <a:r>
              <a:rPr lang="is-IS" sz="2000" b="1" dirty="0">
                <a:solidFill>
                  <a:srgbClr val="FF0000"/>
                </a:solidFill>
              </a:rPr>
              <a:t> </a:t>
            </a:r>
          </a:p>
          <a:p>
            <a:pPr lvl="1" algn="ctr">
              <a:buClr>
                <a:srgbClr val="0070C0"/>
              </a:buClr>
            </a:pPr>
            <a:r>
              <a:rPr lang="is-IS" sz="2000" b="1" dirty="0">
                <a:solidFill>
                  <a:srgbClr val="FF0000"/>
                </a:solidFill>
              </a:rPr>
              <a:t>PS.   </a:t>
            </a:r>
            <a:r>
              <a:rPr lang="is-IS" sz="2000" dirty="0"/>
              <a:t>10/07/2026      </a:t>
            </a:r>
            <a:r>
              <a:rPr lang="is-IS" sz="2000" b="1" dirty="0">
                <a:solidFill>
                  <a:srgbClr val="FF0000"/>
                </a:solidFill>
              </a:rPr>
              <a:t>G2.  </a:t>
            </a:r>
            <a:r>
              <a:rPr lang="is-IS" sz="2000" dirty="0"/>
              <a:t>15/07/2026</a:t>
            </a:r>
            <a:endParaRPr lang="is-I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AA0CFA-7AAD-554D-B926-2AD8938876EF}"/>
              </a:ext>
            </a:extLst>
          </p:cNvPr>
          <p:cNvSpPr txBox="1"/>
          <p:nvPr/>
        </p:nvSpPr>
        <p:spPr>
          <a:xfrm>
            <a:off x="476789" y="2750958"/>
            <a:ext cx="109888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000" dirty="0" err="1"/>
              <a:t>Trabalhos</a:t>
            </a:r>
            <a:r>
              <a:rPr lang="en-US" sz="2000" dirty="0"/>
              <a:t> fora do </a:t>
            </a:r>
            <a:r>
              <a:rPr lang="en-US" sz="2000" dirty="0" err="1"/>
              <a:t>prazo</a:t>
            </a:r>
            <a:r>
              <a:rPr lang="en-US" sz="2000" dirty="0"/>
              <a:t> de </a:t>
            </a:r>
            <a:r>
              <a:rPr lang="en-US" sz="2000" dirty="0" err="1"/>
              <a:t>entrega</a:t>
            </a:r>
            <a:r>
              <a:rPr lang="en-US" sz="2000" dirty="0"/>
              <a:t> </a:t>
            </a:r>
            <a:r>
              <a:rPr lang="en-US" sz="2000" i="1" dirty="0" err="1">
                <a:solidFill>
                  <a:schemeClr val="accent4">
                    <a:lumMod val="75000"/>
                  </a:schemeClr>
                </a:solidFill>
              </a:rPr>
              <a:t>não</a:t>
            </a:r>
            <a:r>
              <a:rPr lang="en-US" sz="20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000" i="1" dirty="0" err="1">
                <a:solidFill>
                  <a:schemeClr val="accent4">
                    <a:lumMod val="75000"/>
                  </a:schemeClr>
                </a:solidFill>
              </a:rPr>
              <a:t>terão</a:t>
            </a:r>
            <a:r>
              <a:rPr lang="en-US" sz="2000" i="1" dirty="0">
                <a:solidFill>
                  <a:schemeClr val="accent4">
                    <a:lumMod val="75000"/>
                  </a:schemeClr>
                </a:solidFill>
              </a:rPr>
              <a:t> valor</a:t>
            </a:r>
            <a:r>
              <a:rPr lang="en-US" sz="2000" dirty="0"/>
              <a:t>.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seja</a:t>
            </a:r>
            <a:r>
              <a:rPr lang="en-US" sz="2000" dirty="0"/>
              <a:t>, se </a:t>
            </a: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entregar</a:t>
            </a:r>
            <a:r>
              <a:rPr lang="en-US" sz="2000" dirty="0"/>
              <a:t> no </a:t>
            </a:r>
            <a:r>
              <a:rPr lang="en-US" sz="2000" dirty="0" err="1"/>
              <a:t>prazo</a:t>
            </a:r>
            <a:r>
              <a:rPr lang="en-US" sz="2000" dirty="0"/>
              <a:t> </a:t>
            </a:r>
            <a:r>
              <a:rPr lang="en-US" sz="2000" dirty="0" err="1"/>
              <a:t>estipulado</a:t>
            </a:r>
            <a:r>
              <a:rPr lang="en-US" sz="2000" dirty="0"/>
              <a:t>, a nota do </a:t>
            </a:r>
            <a:r>
              <a:rPr lang="en-US" sz="2000" dirty="0" err="1"/>
              <a:t>aluno</a:t>
            </a:r>
            <a:r>
              <a:rPr lang="en-US" sz="2000" dirty="0"/>
              <a:t> </a:t>
            </a:r>
            <a:r>
              <a:rPr lang="en-US" sz="2000" dirty="0" err="1"/>
              <a:t>é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zero</a:t>
            </a:r>
            <a:r>
              <a:rPr lang="en-US" sz="2000" dirty="0"/>
              <a:t>.</a:t>
            </a:r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1200" dirty="0"/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000" b="1" dirty="0">
                <a:solidFill>
                  <a:srgbClr val="FF0000"/>
                </a:solidFill>
              </a:rPr>
              <a:t>PLÁGIO E FRAUDE NÃO SERÃO TOLERADOS!!!</a:t>
            </a:r>
            <a:endParaRPr lang="pt-BR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8CA204-6C1D-8628-15EB-72530D6C3C8C}"/>
                  </a:ext>
                </a:extLst>
              </p:cNvPr>
              <p:cNvSpPr txBox="1"/>
              <p:nvPr/>
            </p:nvSpPr>
            <p:spPr>
              <a:xfrm>
                <a:off x="2584022" y="5671511"/>
                <a:ext cx="6419900" cy="73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4">
                      <a:lumMod val="75000"/>
                    </a:schemeClr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𝑮</m:t>
                      </m:r>
                      <m:r>
                        <a:rPr lang="pt-BR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𝒓𝒂𝒖𝑭𝒊𝒏𝒂𝒍</m:t>
                      </m:r>
                      <m:r>
                        <a:rPr lang="en-US" sz="2200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sz="2200" b="1" i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𝟏</m:t>
                          </m:r>
                          <m:r>
                            <a:rPr lang="en-US" sz="2200" b="1" i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sz="2200" b="1" i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𝟐</m:t>
                          </m:r>
                          <m: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 </m:t>
                          </m:r>
                        </m:num>
                        <m:den>
                          <m:r>
                            <a:rPr lang="en-US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8CA204-6C1D-8628-15EB-72530D6C3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022" y="5671511"/>
                <a:ext cx="6419900" cy="7349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9136428-969F-AB19-D2CF-1427C7B099A7}"/>
              </a:ext>
            </a:extLst>
          </p:cNvPr>
          <p:cNvSpPr txBox="1"/>
          <p:nvPr/>
        </p:nvSpPr>
        <p:spPr>
          <a:xfrm>
            <a:off x="476789" y="5076687"/>
            <a:ext cx="114495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000" dirty="0"/>
              <a:t>O </a:t>
            </a:r>
            <a:r>
              <a:rPr lang="pt-BR" sz="2000" b="1" dirty="0">
                <a:solidFill>
                  <a:srgbClr val="FF0000"/>
                </a:solidFill>
              </a:rPr>
              <a:t>Grau Final </a:t>
            </a:r>
            <a:r>
              <a:rPr lang="pt-BR" sz="2000" dirty="0"/>
              <a:t>é calculada pela fórmula abaixo, onde o aluno que obtiver </a:t>
            </a:r>
            <a:r>
              <a:rPr lang="pt-BR" sz="2000" i="1" dirty="0">
                <a:solidFill>
                  <a:schemeClr val="accent4">
                    <a:lumMod val="75000"/>
                  </a:schemeClr>
                </a:solidFill>
              </a:rPr>
              <a:t>Grau Final maior ou igual a 5 será aprovado</a:t>
            </a:r>
            <a:r>
              <a:rPr lang="pt-B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982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/>
      <p:bldP spid="14" grpId="0"/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INFORMAÇÕES GERAIS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1121" y="1225135"/>
            <a:ext cx="11457516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Material disponível somente no Moodle</a:t>
            </a:r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900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Trabalhos serão entregues via Moodle</a:t>
            </a:r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900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Atendimento (dúvidas, provas, trabalhos):</a:t>
            </a:r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5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Por e-mail: </a:t>
            </a:r>
            <a:r>
              <a:rPr lang="pt-BR" sz="2800" dirty="0">
                <a:solidFill>
                  <a:schemeClr val="accent4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iacana.weber@pucrs.br</a:t>
            </a:r>
            <a:r>
              <a:rPr lang="pt-BR" sz="28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BR" sz="2800" dirty="0"/>
              <a:t>– </a:t>
            </a:r>
            <a:r>
              <a:rPr lang="pt-BR" sz="2800" b="1" dirty="0">
                <a:solidFill>
                  <a:srgbClr val="FF0000"/>
                </a:solidFill>
              </a:rPr>
              <a:t>Atenção, não tem </a:t>
            </a:r>
            <a:r>
              <a:rPr lang="pt-BR" sz="2800" b="1" dirty="0"/>
              <a:t>“</a:t>
            </a:r>
            <a:r>
              <a:rPr lang="pt-BR" sz="2800" b="1" dirty="0" err="1"/>
              <a:t>edu</a:t>
            </a:r>
            <a:r>
              <a:rPr lang="pt-BR" sz="2800" b="1" dirty="0"/>
              <a:t>”!</a:t>
            </a:r>
            <a:endParaRPr lang="pt-BR" sz="5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Fórum do Moodle da disciplina</a:t>
            </a:r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900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900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200" dirty="0"/>
              <a:t>Metodologia de ensino e andamento das aulas:</a:t>
            </a:r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5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Conteúdo e cronograma (apresentação da teoria)</a:t>
            </a:r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5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Aulas práticas visando a entrega dos trabalhos propostos</a:t>
            </a:r>
          </a:p>
        </p:txBody>
      </p:sp>
    </p:spTree>
    <p:extLst>
      <p:ext uri="{BB962C8B-B14F-4D97-AF65-F5344CB8AC3E}">
        <p14:creationId xmlns:p14="http://schemas.microsoft.com/office/powerpoint/2010/main" val="436592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BIBLIOGRAFIA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14B7F-332A-9049-8B2D-95F703D5F569}"/>
              </a:ext>
            </a:extLst>
          </p:cNvPr>
          <p:cNvSpPr txBox="1"/>
          <p:nvPr/>
        </p:nvSpPr>
        <p:spPr>
          <a:xfrm>
            <a:off x="319539" y="884530"/>
            <a:ext cx="11002393" cy="5317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pt-BR" sz="2400" b="1" u="sng" dirty="0">
                <a:solidFill>
                  <a:schemeClr val="accent4">
                    <a:lumMod val="75000"/>
                  </a:schemeClr>
                </a:solidFill>
              </a:rPr>
              <a:t>BÁSICA:</a:t>
            </a:r>
          </a:p>
          <a:p>
            <a:pPr>
              <a:buClr>
                <a:srgbClr val="0070C0"/>
              </a:buClr>
            </a:pPr>
            <a:endParaRPr lang="pt-BR" sz="800" dirty="0"/>
          </a:p>
          <a:p>
            <a:pPr marL="342900" lvl="0" indent="-342900" algn="just">
              <a:lnSpc>
                <a:spcPct val="107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pt-BR" sz="2400" dirty="0"/>
              <a:t>KOREN, I.; KRISHNA, C. M. </a:t>
            </a:r>
            <a:r>
              <a:rPr lang="pt-BR" sz="2400" i="1" dirty="0" err="1"/>
              <a:t>Fault-Tolerant</a:t>
            </a:r>
            <a:r>
              <a:rPr lang="pt-BR" sz="2400" i="1" dirty="0"/>
              <a:t> Systems</a:t>
            </a:r>
            <a:r>
              <a:rPr lang="pt-BR" sz="2400" dirty="0"/>
              <a:t>. 1. ed. Cambridge: Morgan Kaufmann/Elsevier, 2007.</a:t>
            </a:r>
          </a:p>
          <a:p>
            <a:pPr marL="342900" lvl="0" indent="-342900" algn="just">
              <a:lnSpc>
                <a:spcPct val="107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en-US" sz="2400" dirty="0"/>
              <a:t>PAAR, C.; PELZL, J. </a:t>
            </a:r>
            <a:r>
              <a:rPr lang="en-US" sz="2400" i="1" dirty="0"/>
              <a:t>Understanding Cryptography: A Textbook for Students and Practitioners</a:t>
            </a:r>
            <a:r>
              <a:rPr lang="en-US" sz="2400" dirty="0"/>
              <a:t>. 1. ed. Berlin: Springer, 2010.</a:t>
            </a:r>
          </a:p>
          <a:p>
            <a:pPr marL="342900" lvl="0" indent="-342900" algn="just">
              <a:lnSpc>
                <a:spcPct val="107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en-US" sz="2400" dirty="0"/>
              <a:t>AMMANN, P.; OFFUTT, J. </a:t>
            </a:r>
            <a:r>
              <a:rPr lang="en-US" sz="2400" i="1" dirty="0"/>
              <a:t>Introduction to Software Testing</a:t>
            </a:r>
            <a:r>
              <a:rPr lang="en-US" sz="2400" dirty="0"/>
              <a:t>. 2. ed. Cambridge: Cambridge University Press, 2016.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en-US" sz="180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</a:rPr>
              <a:t>COMPLEMENTAR: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t-BR" sz="2400" dirty="0"/>
              <a:t>SOMMERVILLE, I. </a:t>
            </a:r>
            <a:r>
              <a:rPr lang="pt-BR" sz="2400" i="1" dirty="0"/>
              <a:t>Engenharia de software</a:t>
            </a:r>
            <a:r>
              <a:rPr lang="pt-BR" sz="2400" dirty="0"/>
              <a:t>. 8. ed. São Paulo: Pearson </a:t>
            </a:r>
            <a:r>
              <a:rPr lang="pt-BR" sz="2400" dirty="0" err="1"/>
              <a:t>Education</a:t>
            </a:r>
            <a:r>
              <a:rPr lang="pt-BR" sz="2400" dirty="0"/>
              <a:t> do Brasil, 2010.</a:t>
            </a:r>
            <a:endParaRPr lang="en-GB" sz="240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385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3922</TotalTime>
  <Words>851</Words>
  <Application>Microsoft Office PowerPoint</Application>
  <PresentationFormat>Widescreen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Courier New</vt:lpstr>
      <vt:lpstr>Wingdings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Juliana Machado De Souza</dc:creator>
  <cp:lastModifiedBy>Iaçanã Ianiski Weber</cp:lastModifiedBy>
  <cp:revision>715</cp:revision>
  <cp:lastPrinted>2021-08-04T12:27:36Z</cp:lastPrinted>
  <dcterms:created xsi:type="dcterms:W3CDTF">2017-11-07T18:55:33Z</dcterms:created>
  <dcterms:modified xsi:type="dcterms:W3CDTF">2026-03-04T18:21:55Z</dcterms:modified>
</cp:coreProperties>
</file>