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81" r:id="rId2"/>
    <p:sldId id="555" r:id="rId3"/>
    <p:sldId id="597" r:id="rId4"/>
    <p:sldId id="598" r:id="rId5"/>
    <p:sldId id="659" r:id="rId6"/>
    <p:sldId id="663" r:id="rId7"/>
    <p:sldId id="664" r:id="rId8"/>
    <p:sldId id="665" r:id="rId9"/>
    <p:sldId id="667" r:id="rId10"/>
    <p:sldId id="668" r:id="rId11"/>
    <p:sldId id="666" r:id="rId12"/>
    <p:sldId id="672" r:id="rId13"/>
    <p:sldId id="671" r:id="rId14"/>
    <p:sldId id="679" r:id="rId15"/>
    <p:sldId id="6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7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5572" autoAdjust="0"/>
  </p:normalViewPr>
  <p:slideViewPr>
    <p:cSldViewPr snapToGrid="0">
      <p:cViewPr varScale="1">
        <p:scale>
          <a:sx n="110" d="100"/>
          <a:sy n="110" d="100"/>
        </p:scale>
        <p:origin x="588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Sistema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requisitos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engloba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tarefas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investigação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escopo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istema"/>
              </a:rPr>
              <a:t>sistemas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0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8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12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0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7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28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5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3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7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7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.br/Introdu%C3%A7%C3%A3o-Software-M%C3%A1rcio-Eduardo-Delamaro/dp/853522634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6"/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98G08-04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CONFIABILIDADE E 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SEGURANÇA DE SOTWARE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0267" y="2865991"/>
            <a:ext cx="112098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Teste </a:t>
            </a:r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Baseado</a:t>
            </a: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em</a:t>
            </a: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Erros</a:t>
            </a:r>
            <a:endParaRPr lang="en-US" sz="440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40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4000" i="1" dirty="0">
                <a:solidFill>
                  <a:schemeClr val="accent4">
                    <a:lumMod val="75000"/>
                  </a:schemeClr>
                </a:solidFill>
              </a:rPr>
              <a:t>Teste de </a:t>
            </a:r>
            <a:r>
              <a:rPr lang="en-US" sz="4000" i="1" dirty="0" err="1">
                <a:solidFill>
                  <a:schemeClr val="accent4">
                    <a:lumMod val="75000"/>
                  </a:schemeClr>
                </a:solidFill>
              </a:rPr>
              <a:t>Mutação</a:t>
            </a:r>
            <a:r>
              <a:rPr lang="en-US" sz="40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</a:t>
            </a:r>
            <a:r>
              <a:rPr lang="pt-BR" sz="2400" i="1" dirty="0" err="1"/>
              <a:t>Iaçanã</a:t>
            </a:r>
            <a:r>
              <a:rPr lang="pt-BR" sz="2400" i="1" dirty="0"/>
              <a:t> </a:t>
            </a:r>
            <a:r>
              <a:rPr lang="pt-BR" sz="2400" i="1" dirty="0" err="1"/>
              <a:t>Ianiski</a:t>
            </a:r>
            <a:r>
              <a:rPr lang="pt-BR" sz="2400" i="1" dirty="0"/>
              <a:t> Weber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69BEA-7D93-3549-BC1E-537F01DC29A3}"/>
              </a:ext>
            </a:extLst>
          </p:cNvPr>
          <p:cNvSpPr txBox="1"/>
          <p:nvPr/>
        </p:nvSpPr>
        <p:spPr>
          <a:xfrm>
            <a:off x="1122827" y="6457890"/>
            <a:ext cx="1029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pt-BR" sz="2000" i="1" dirty="0"/>
              <a:t>Baseado no material gentilmente cedido pelo Prof. </a:t>
            </a:r>
            <a:r>
              <a:rPr lang="pt-BR" sz="2000" b="1" i="1" dirty="0"/>
              <a:t>Dr. Avelino </a:t>
            </a:r>
            <a:r>
              <a:rPr lang="pt-BR" sz="2000" b="1" i="1" dirty="0" err="1"/>
              <a:t>Zorzo</a:t>
            </a:r>
            <a:r>
              <a:rPr lang="pt-BR" sz="2000" b="1" i="1" dirty="0"/>
              <a:t> &amp; Rafael </a:t>
            </a:r>
            <a:r>
              <a:rPr lang="pt-BR" sz="2000" b="1" i="1" dirty="0" err="1"/>
              <a:t>Garibotti</a:t>
            </a:r>
            <a:endParaRPr lang="pt-BR" sz="2000" b="1" i="1" dirty="0"/>
          </a:p>
        </p:txBody>
      </p:sp>
    </p:spTree>
    <p:extLst>
      <p:ext uri="{BB962C8B-B14F-4D97-AF65-F5344CB8AC3E}">
        <p14:creationId xmlns:p14="http://schemas.microsoft.com/office/powerpoint/2010/main" val="3050916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REFERÊNCIAS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534" y="1446704"/>
            <a:ext cx="1084521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dirty="0" err="1"/>
              <a:t>Delamaro</a:t>
            </a:r>
            <a:r>
              <a:rPr lang="pt-BR" sz="2400" dirty="0"/>
              <a:t>, M.E.; Maldonado J.C.; </a:t>
            </a:r>
            <a:r>
              <a:rPr lang="pt-BR" sz="2400" dirty="0" err="1"/>
              <a:t>Jino</a:t>
            </a:r>
            <a:r>
              <a:rPr lang="pt-BR" sz="2400" dirty="0"/>
              <a:t>, M. </a:t>
            </a:r>
            <a:r>
              <a:rPr lang="pt-BR" sz="2400" b="1" i="1" dirty="0"/>
              <a:t>Introdução ao Teste de Software</a:t>
            </a:r>
            <a:r>
              <a:rPr lang="pt-BR" sz="2400" dirty="0"/>
              <a:t>. </a:t>
            </a:r>
            <a:r>
              <a:rPr lang="pt-BR" sz="2400" dirty="0" err="1"/>
              <a:t>Elsevier</a:t>
            </a:r>
            <a:r>
              <a:rPr lang="pt-BR" sz="2400" dirty="0"/>
              <a:t>. 2007.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2"/>
              </a:rPr>
              <a:t>https://www.amazon.com.br/Introdu%C3%A7%C3%A3o-Software-M%C3%A1rcio-Eduardo-Delamaro/dp/8535226346</a:t>
            </a:r>
            <a:endParaRPr lang="pt-BR" sz="24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Capítulo 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7A2EDD-0CBD-A245-9483-4752ED01A9CB}"/>
              </a:ext>
            </a:extLst>
          </p:cNvPr>
          <p:cNvSpPr/>
          <p:nvPr/>
        </p:nvSpPr>
        <p:spPr>
          <a:xfrm>
            <a:off x="449575" y="1331522"/>
            <a:ext cx="11266946" cy="2415578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3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NÍVEIS DE TESTE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206EB3-2678-AC4A-A72F-A6A4BB1B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51" y="1040524"/>
            <a:ext cx="9350908" cy="544803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839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TÉCNICAS DE TESTE DE UNIDADE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26D21-1023-EF4E-BC40-33BB2F67FB2E}"/>
              </a:ext>
            </a:extLst>
          </p:cNvPr>
          <p:cNvSpPr txBox="1"/>
          <p:nvPr/>
        </p:nvSpPr>
        <p:spPr>
          <a:xfrm>
            <a:off x="439072" y="1107567"/>
            <a:ext cx="111542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u="sng" dirty="0" err="1"/>
              <a:t>Técnicas</a:t>
            </a:r>
            <a:r>
              <a:rPr lang="en-US" sz="3000" u="sng" dirty="0"/>
              <a:t>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Funcional</a:t>
            </a:r>
            <a:r>
              <a:rPr lang="en-US" sz="2800" dirty="0"/>
              <a:t> (</a:t>
            </a:r>
            <a:r>
              <a:rPr lang="en-US" sz="2800" dirty="0" err="1"/>
              <a:t>Capítulo</a:t>
            </a:r>
            <a:r>
              <a:rPr lang="en-US" sz="2800" dirty="0"/>
              <a:t> 2)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Estrutural</a:t>
            </a:r>
            <a:r>
              <a:rPr lang="en-US" sz="2800" dirty="0"/>
              <a:t> (</a:t>
            </a:r>
            <a:r>
              <a:rPr lang="en-US" sz="2800" dirty="0" err="1"/>
              <a:t>Capítulo</a:t>
            </a:r>
            <a:r>
              <a:rPr lang="en-US" sz="2800" dirty="0"/>
              <a:t> 4)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rgbClr val="FF0000"/>
                </a:solidFill>
              </a:rPr>
              <a:t>Baseada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em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Erros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Capítulo</a:t>
            </a:r>
            <a:r>
              <a:rPr lang="en-US" sz="2800" dirty="0">
                <a:solidFill>
                  <a:srgbClr val="FF0000"/>
                </a:solidFill>
              </a:rPr>
              <a:t> 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62284-2527-5446-BD28-FE257FC0C627}"/>
              </a:ext>
            </a:extLst>
          </p:cNvPr>
          <p:cNvSpPr txBox="1"/>
          <p:nvPr/>
        </p:nvSpPr>
        <p:spPr>
          <a:xfrm>
            <a:off x="439072" y="3583238"/>
            <a:ext cx="11380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A </a:t>
            </a:r>
            <a:r>
              <a:rPr lang="en-US" sz="3000" dirty="0" err="1"/>
              <a:t>diferença</a:t>
            </a:r>
            <a:r>
              <a:rPr lang="en-US" sz="3000" dirty="0"/>
              <a:t> </a:t>
            </a:r>
            <a:r>
              <a:rPr lang="en-US" sz="3000" dirty="0" err="1"/>
              <a:t>está</a:t>
            </a:r>
            <a:r>
              <a:rPr lang="en-US" sz="3000" dirty="0"/>
              <a:t> </a:t>
            </a:r>
            <a:r>
              <a:rPr lang="en-US" sz="3000" dirty="0" err="1"/>
              <a:t>na</a:t>
            </a:r>
            <a:r>
              <a:rPr lang="en-US" sz="3000" dirty="0"/>
              <a:t> </a:t>
            </a:r>
            <a:r>
              <a:rPr lang="en-US" sz="3000" dirty="0" err="1"/>
              <a:t>fonte</a:t>
            </a:r>
            <a:r>
              <a:rPr lang="en-US" sz="3000" dirty="0"/>
              <a:t> </a:t>
            </a:r>
            <a:r>
              <a:rPr lang="en-US" sz="3000" dirty="0" err="1"/>
              <a:t>utilizada</a:t>
            </a:r>
            <a:r>
              <a:rPr lang="en-US" sz="3000" dirty="0"/>
              <a:t> para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definir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requisitos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teste</a:t>
            </a:r>
            <a:r>
              <a:rPr lang="en-US" sz="3000" dirty="0"/>
              <a:t>!!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7E5F1-F136-EE4D-81CD-2F9A0BD4DD1A}"/>
              </a:ext>
            </a:extLst>
          </p:cNvPr>
          <p:cNvSpPr txBox="1"/>
          <p:nvPr/>
        </p:nvSpPr>
        <p:spPr>
          <a:xfrm>
            <a:off x="439072" y="4429576"/>
            <a:ext cx="1138031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Mas o </a:t>
            </a:r>
            <a:r>
              <a:rPr lang="en-US" sz="3000" b="1" i="1" dirty="0" err="1"/>
              <a:t>objetivo</a:t>
            </a:r>
            <a:r>
              <a:rPr lang="en-US" sz="3000" dirty="0"/>
              <a:t> das </a:t>
            </a:r>
            <a:r>
              <a:rPr lang="en-US" sz="3000" dirty="0" err="1"/>
              <a:t>técnicas</a:t>
            </a:r>
            <a:r>
              <a:rPr lang="en-US" sz="3000" dirty="0"/>
              <a:t> </a:t>
            </a:r>
            <a:r>
              <a:rPr lang="en-US" sz="3000" dirty="0" err="1"/>
              <a:t>é</a:t>
            </a:r>
            <a:r>
              <a:rPr lang="en-US" sz="3000" dirty="0"/>
              <a:t> similar: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Conduzir</a:t>
            </a:r>
            <a:r>
              <a:rPr lang="en-US" sz="2800" dirty="0"/>
              <a:t> o </a:t>
            </a:r>
            <a:r>
              <a:rPr lang="en-US" sz="2800" dirty="0" err="1"/>
              <a:t>processo</a:t>
            </a:r>
            <a:r>
              <a:rPr lang="en-US" sz="2800" dirty="0"/>
              <a:t> de teste de </a:t>
            </a:r>
            <a:r>
              <a:rPr lang="en-US" sz="2800" dirty="0" err="1"/>
              <a:t>uma</a:t>
            </a:r>
            <a:r>
              <a:rPr lang="en-US" sz="2800" dirty="0"/>
              <a:t> forma </a:t>
            </a:r>
            <a:r>
              <a:rPr lang="en-US" sz="2800" dirty="0" err="1"/>
              <a:t>mais</a:t>
            </a:r>
            <a:r>
              <a:rPr lang="en-US" sz="2800" dirty="0"/>
              <a:t> </a:t>
            </a:r>
            <a:r>
              <a:rPr lang="en-US" sz="2800" dirty="0" err="1"/>
              <a:t>sistemática</a:t>
            </a:r>
            <a:endParaRPr lang="en-US" sz="2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Escolher</a:t>
            </a:r>
            <a:r>
              <a:rPr lang="en-US" sz="2800" dirty="0"/>
              <a:t> </a:t>
            </a:r>
            <a:r>
              <a:rPr lang="en-US" sz="2800" dirty="0" err="1"/>
              <a:t>casos</a:t>
            </a:r>
            <a:r>
              <a:rPr lang="en-US" sz="2800" dirty="0"/>
              <a:t> de teste que </a:t>
            </a:r>
            <a:r>
              <a:rPr lang="en-US" sz="2800" dirty="0" err="1"/>
              <a:t>representem</a:t>
            </a:r>
            <a:r>
              <a:rPr lang="en-US" sz="2800" dirty="0"/>
              <a:t> o </a:t>
            </a:r>
            <a:r>
              <a:rPr lang="en-US" sz="2800" dirty="0" err="1"/>
              <a:t>domínio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526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BASEADO EM ERROS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2825-B629-D646-8D3B-039BB209A3D9}"/>
              </a:ext>
            </a:extLst>
          </p:cNvPr>
          <p:cNvSpPr txBox="1"/>
          <p:nvPr/>
        </p:nvSpPr>
        <p:spPr>
          <a:xfrm>
            <a:off x="439073" y="1172881"/>
            <a:ext cx="1103991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200" u="sng" dirty="0"/>
              <a:t>Conceito: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Também conhecido como </a:t>
            </a:r>
            <a:r>
              <a:rPr lang="pt-BR" sz="3000" b="1" dirty="0">
                <a:solidFill>
                  <a:schemeClr val="accent4">
                    <a:lumMod val="75000"/>
                  </a:schemeClr>
                </a:solidFill>
              </a:rPr>
              <a:t>Teste de Mutação</a:t>
            </a:r>
            <a:endParaRPr lang="pt-BR" sz="30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É uma forma de avaliar a qualidade de um conjunto de casos de teste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Baseia-se na análise do código fonte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8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Logo, também é do tipo de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Teste de Caixa Branca</a:t>
            </a:r>
          </a:p>
        </p:txBody>
      </p:sp>
    </p:spTree>
    <p:extLst>
      <p:ext uri="{BB962C8B-B14F-4D97-AF65-F5344CB8AC3E}">
        <p14:creationId xmlns:p14="http://schemas.microsoft.com/office/powerpoint/2010/main" val="217772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BASEADO EM ERROS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B4F0F-4671-104D-86E9-E74F38751BBD}"/>
              </a:ext>
            </a:extLst>
          </p:cNvPr>
          <p:cNvSpPr txBox="1"/>
          <p:nvPr/>
        </p:nvSpPr>
        <p:spPr>
          <a:xfrm>
            <a:off x="439073" y="1172881"/>
            <a:ext cx="110399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3200" u="sng" dirty="0" err="1"/>
              <a:t>Hipóteses</a:t>
            </a:r>
            <a:r>
              <a:rPr lang="en-US" sz="3200" u="sng" dirty="0"/>
              <a:t>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en-US" sz="1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 err="1">
                <a:solidFill>
                  <a:schemeClr val="accent4">
                    <a:lumMod val="75000"/>
                  </a:schemeClr>
                </a:solidFill>
              </a:rPr>
              <a:t>Hipótese</a:t>
            </a:r>
            <a:r>
              <a:rPr lang="en-US" sz="3000" dirty="0">
                <a:solidFill>
                  <a:schemeClr val="accent4">
                    <a:lumMod val="75000"/>
                  </a:schemeClr>
                </a:solidFill>
              </a:rPr>
              <a:t> do </a:t>
            </a:r>
            <a:r>
              <a:rPr lang="en-US" sz="3000" dirty="0" err="1">
                <a:solidFill>
                  <a:schemeClr val="accent4">
                    <a:lumMod val="75000"/>
                  </a:schemeClr>
                </a:solidFill>
              </a:rPr>
              <a:t>programador</a:t>
            </a:r>
            <a:r>
              <a:rPr lang="en-US" sz="30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accent4">
                    <a:lumMod val="75000"/>
                  </a:schemeClr>
                </a:solidFill>
              </a:rPr>
              <a:t>competente</a:t>
            </a:r>
            <a:endParaRPr lang="en-US" sz="3000" dirty="0">
              <a:solidFill>
                <a:schemeClr val="accent4">
                  <a:lumMod val="75000"/>
                </a:schemeClr>
              </a:solidFill>
            </a:endParaRPr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/>
              <a:t>A </a:t>
            </a:r>
            <a:r>
              <a:rPr lang="en-US" sz="2800" dirty="0" err="1"/>
              <a:t>maioria</a:t>
            </a:r>
            <a:r>
              <a:rPr lang="en-US" sz="2800" dirty="0"/>
              <a:t> dos </a:t>
            </a:r>
            <a:r>
              <a:rPr lang="en-US" sz="2800" dirty="0" err="1"/>
              <a:t>erros</a:t>
            </a:r>
            <a:r>
              <a:rPr lang="en-US" sz="2800" dirty="0"/>
              <a:t> </a:t>
            </a:r>
            <a:r>
              <a:rPr lang="en-US" sz="2800" dirty="0" err="1"/>
              <a:t>cometidos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programas</a:t>
            </a:r>
            <a:r>
              <a:rPr lang="en-US" sz="2800" dirty="0"/>
              <a:t> </a:t>
            </a:r>
            <a:r>
              <a:rPr lang="en-US" sz="2800" dirty="0" err="1"/>
              <a:t>são</a:t>
            </a:r>
            <a:r>
              <a:rPr lang="en-US" sz="2800" dirty="0"/>
              <a:t> </a:t>
            </a:r>
            <a:r>
              <a:rPr lang="en-US" sz="2800" dirty="0" err="1"/>
              <a:t>relativos</a:t>
            </a:r>
            <a:r>
              <a:rPr lang="en-US" sz="2800" dirty="0"/>
              <a:t> a </a:t>
            </a:r>
            <a:r>
              <a:rPr lang="en-US" sz="2800" dirty="0" err="1"/>
              <a:t>detalhes</a:t>
            </a:r>
            <a:r>
              <a:rPr lang="en-US" sz="2800" dirty="0"/>
              <a:t> (</a:t>
            </a:r>
            <a:r>
              <a:rPr lang="en-US" sz="2800" dirty="0" err="1"/>
              <a:t>operador</a:t>
            </a:r>
            <a:r>
              <a:rPr lang="en-US" sz="2800" dirty="0"/>
              <a:t> </a:t>
            </a:r>
            <a:r>
              <a:rPr lang="en-US" sz="2800" dirty="0" err="1"/>
              <a:t>errado</a:t>
            </a:r>
            <a:r>
              <a:rPr lang="en-US" sz="2800" dirty="0"/>
              <a:t>, </a:t>
            </a:r>
            <a:r>
              <a:rPr lang="en-US" sz="2800" dirty="0" err="1"/>
              <a:t>confusão</a:t>
            </a:r>
            <a:r>
              <a:rPr lang="en-US" sz="2800" dirty="0"/>
              <a:t> com </a:t>
            </a:r>
            <a:r>
              <a:rPr lang="en-US" sz="2800" dirty="0" err="1"/>
              <a:t>nome</a:t>
            </a:r>
            <a:r>
              <a:rPr lang="en-US" sz="2800" dirty="0"/>
              <a:t> de </a:t>
            </a:r>
            <a:r>
              <a:rPr lang="en-US" sz="2800" dirty="0" err="1"/>
              <a:t>variáveis</a:t>
            </a:r>
            <a:r>
              <a:rPr lang="en-US" sz="2800" dirty="0"/>
              <a:t>, etc.)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 err="1">
                <a:solidFill>
                  <a:schemeClr val="accent4">
                    <a:lumMod val="75000"/>
                  </a:schemeClr>
                </a:solidFill>
              </a:rPr>
              <a:t>Hipótese</a:t>
            </a:r>
            <a:r>
              <a:rPr lang="en-US" sz="3000" dirty="0">
                <a:solidFill>
                  <a:schemeClr val="accent4">
                    <a:lumMod val="75000"/>
                  </a:schemeClr>
                </a:solidFill>
              </a:rPr>
              <a:t> do </a:t>
            </a:r>
            <a:r>
              <a:rPr lang="en-US" sz="3000" dirty="0" err="1">
                <a:solidFill>
                  <a:schemeClr val="accent4">
                    <a:lumMod val="75000"/>
                  </a:schemeClr>
                </a:solidFill>
              </a:rPr>
              <a:t>acoplamento</a:t>
            </a:r>
            <a:endParaRPr lang="en-US" sz="3000" dirty="0">
              <a:solidFill>
                <a:schemeClr val="accent4">
                  <a:lumMod val="75000"/>
                </a:schemeClr>
              </a:solidFill>
            </a:endParaRPr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/>
              <a:t>Um conjunto de </a:t>
            </a:r>
            <a:r>
              <a:rPr lang="en-US" sz="2800" dirty="0" err="1"/>
              <a:t>casos</a:t>
            </a:r>
            <a:r>
              <a:rPr lang="en-US" sz="2800" dirty="0"/>
              <a:t> de teste </a:t>
            </a:r>
            <a:r>
              <a:rPr lang="en-US" sz="2800" dirty="0" err="1"/>
              <a:t>capaz</a:t>
            </a:r>
            <a:r>
              <a:rPr lang="en-US" sz="2800" dirty="0"/>
              <a:t> de </a:t>
            </a:r>
            <a:r>
              <a:rPr lang="en-US" sz="2800" dirty="0" err="1"/>
              <a:t>detectar</a:t>
            </a:r>
            <a:r>
              <a:rPr lang="en-US" sz="2800" dirty="0"/>
              <a:t> </a:t>
            </a:r>
            <a:r>
              <a:rPr lang="en-US" sz="2800" dirty="0" err="1"/>
              <a:t>erros</a:t>
            </a:r>
            <a:r>
              <a:rPr lang="en-US" sz="2800" dirty="0"/>
              <a:t> </a:t>
            </a:r>
            <a:r>
              <a:rPr lang="en-US" sz="2800" dirty="0" err="1"/>
              <a:t>relativos</a:t>
            </a:r>
            <a:r>
              <a:rPr lang="en-US" sz="2800" dirty="0"/>
              <a:t> a </a:t>
            </a:r>
            <a:r>
              <a:rPr lang="en-US" sz="2800" dirty="0" err="1"/>
              <a:t>detalhes</a:t>
            </a:r>
            <a:r>
              <a:rPr lang="en-US" sz="2800" dirty="0"/>
              <a:t> </a:t>
            </a:r>
            <a:r>
              <a:rPr lang="en-US" sz="2800" dirty="0" err="1"/>
              <a:t>será</a:t>
            </a:r>
            <a:r>
              <a:rPr lang="en-US" sz="2800" dirty="0"/>
              <a:t> </a:t>
            </a:r>
            <a:r>
              <a:rPr lang="en-US" sz="2800" dirty="0" err="1"/>
              <a:t>capaz</a:t>
            </a:r>
            <a:r>
              <a:rPr lang="en-US" sz="2800" dirty="0"/>
              <a:t> de </a:t>
            </a:r>
            <a:r>
              <a:rPr lang="en-US" sz="2800" dirty="0" err="1"/>
              <a:t>detectar</a:t>
            </a:r>
            <a:r>
              <a:rPr lang="en-US" sz="2800" dirty="0"/>
              <a:t> </a:t>
            </a:r>
            <a:r>
              <a:rPr lang="en-US" sz="2800" dirty="0" err="1"/>
              <a:t>erros</a:t>
            </a:r>
            <a:r>
              <a:rPr lang="en-US" sz="2800" dirty="0"/>
              <a:t> </a:t>
            </a:r>
            <a:r>
              <a:rPr lang="en-US" sz="2800" dirty="0" err="1"/>
              <a:t>mais</a:t>
            </a:r>
            <a:r>
              <a:rPr lang="en-US" sz="2800" dirty="0"/>
              <a:t> </a:t>
            </a:r>
            <a:r>
              <a:rPr lang="en-US" sz="2800" dirty="0" err="1"/>
              <a:t>complexos</a:t>
            </a:r>
            <a:endParaRPr lang="en-US" sz="2800" i="1" dirty="0">
              <a:solidFill>
                <a:schemeClr val="accent4">
                  <a:lumMod val="75000"/>
                </a:schemeClr>
              </a:solidFill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en-US" sz="28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0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BASEADO EM ERROS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B4F0F-4671-104D-86E9-E74F38751BBD}"/>
              </a:ext>
            </a:extLst>
          </p:cNvPr>
          <p:cNvSpPr txBox="1"/>
          <p:nvPr/>
        </p:nvSpPr>
        <p:spPr>
          <a:xfrm>
            <a:off x="439072" y="1172881"/>
            <a:ext cx="1114332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200" u="sng" dirty="0"/>
              <a:t>Ideia básica: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A partir do programa original geram-se programas com pequenas falhas e criam-se casos de teste capazes de detecta-las</a:t>
            </a: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Para verificar se um teste detecta a existência de falhas introduzidas, compara-se o comportamento do mutante com o do programa original</a:t>
            </a:r>
            <a:endParaRPr lang="pt-BR" sz="28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94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BASEADO EM ERROS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B4F0F-4671-104D-86E9-E74F38751BBD}"/>
              </a:ext>
            </a:extLst>
          </p:cNvPr>
          <p:cNvSpPr txBox="1"/>
          <p:nvPr/>
        </p:nvSpPr>
        <p:spPr>
          <a:xfrm>
            <a:off x="439073" y="3980282"/>
            <a:ext cx="11039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b="1" dirty="0">
                <a:solidFill>
                  <a:schemeClr val="accent4">
                    <a:lumMod val="75000"/>
                  </a:schemeClr>
                </a:solidFill>
              </a:rPr>
              <a:t>Morte de mutantes</a:t>
            </a:r>
            <a:r>
              <a:rPr lang="pt-BR" sz="3000" dirty="0"/>
              <a:t>: Um teste </a:t>
            </a:r>
            <a:r>
              <a:rPr lang="pt-BR" sz="3000" b="1" i="1" dirty="0" err="1">
                <a:solidFill>
                  <a:srgbClr val="FF0000"/>
                </a:solidFill>
              </a:rPr>
              <a:t>T</a:t>
            </a:r>
            <a:r>
              <a:rPr lang="pt-BR" sz="3000" dirty="0"/>
              <a:t> mata um mutante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b="1" i="1" dirty="0">
                <a:solidFill>
                  <a:srgbClr val="FF0000"/>
                </a:solidFill>
              </a:rPr>
              <a:t>’</a:t>
            </a:r>
            <a:r>
              <a:rPr lang="pt-BR" sz="3000" dirty="0"/>
              <a:t> se o resultado da execução de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b="1" i="1" dirty="0">
                <a:solidFill>
                  <a:srgbClr val="FF0000"/>
                </a:solidFill>
              </a:rPr>
              <a:t>’</a:t>
            </a:r>
            <a:r>
              <a:rPr lang="pt-BR" sz="3000" dirty="0"/>
              <a:t> para </a:t>
            </a:r>
            <a:r>
              <a:rPr lang="pt-BR" sz="3000" b="1" i="1" dirty="0" err="1">
                <a:solidFill>
                  <a:srgbClr val="FF0000"/>
                </a:solidFill>
              </a:rPr>
              <a:t>T</a:t>
            </a:r>
            <a:r>
              <a:rPr lang="pt-BR" sz="3000" dirty="0"/>
              <a:t> é diferente do resultado da execução de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dirty="0"/>
              <a:t> para </a:t>
            </a:r>
            <a:r>
              <a:rPr lang="pt-BR" sz="3000" b="1" i="1" dirty="0" err="1">
                <a:solidFill>
                  <a:srgbClr val="FF0000"/>
                </a:solidFill>
              </a:rPr>
              <a:t>T</a:t>
            </a:r>
            <a:endParaRPr lang="pt-BR" sz="28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24C1-3763-444C-97AF-10880E97F5B5}"/>
              </a:ext>
            </a:extLst>
          </p:cNvPr>
          <p:cNvSpPr txBox="1"/>
          <p:nvPr/>
        </p:nvSpPr>
        <p:spPr>
          <a:xfrm>
            <a:off x="439073" y="1172881"/>
            <a:ext cx="110399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200" u="sng" dirty="0"/>
              <a:t>Definições: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b="1" dirty="0">
                <a:solidFill>
                  <a:schemeClr val="accent4">
                    <a:lumMod val="75000"/>
                  </a:schemeClr>
                </a:solidFill>
              </a:rPr>
              <a:t>Mutante</a:t>
            </a:r>
            <a:r>
              <a:rPr lang="pt-BR" sz="3000" dirty="0"/>
              <a:t>: dado um programa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dirty="0"/>
              <a:t>, um mutante de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dirty="0"/>
              <a:t> é um programa </a:t>
            </a:r>
            <a:r>
              <a:rPr lang="pt-BR" sz="3000" b="1" i="1" dirty="0" err="1">
                <a:solidFill>
                  <a:srgbClr val="FF0000"/>
                </a:solidFill>
              </a:rPr>
              <a:t>P</a:t>
            </a:r>
            <a:r>
              <a:rPr lang="pt-BR" sz="3000" b="1" i="1" dirty="0">
                <a:solidFill>
                  <a:srgbClr val="FF0000"/>
                </a:solidFill>
              </a:rPr>
              <a:t>’</a:t>
            </a:r>
            <a:r>
              <a:rPr lang="pt-BR" sz="3000" dirty="0"/>
              <a:t> sintaticamente correto obtido a partir de uma alteração no código fonte definida por um operador pré- estabelecido chamado 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operador de mutação</a:t>
            </a:r>
            <a:endParaRPr lang="pt-BR" sz="28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83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ANÁLISE DE MUTANTES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24C1-3763-444C-97AF-10880E97F5B5}"/>
              </a:ext>
            </a:extLst>
          </p:cNvPr>
          <p:cNvSpPr txBox="1"/>
          <p:nvPr/>
        </p:nvSpPr>
        <p:spPr>
          <a:xfrm>
            <a:off x="390085" y="1156552"/>
            <a:ext cx="1128484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800" u="sng" dirty="0"/>
              <a:t>Processo de teste de mutação: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200" u="sng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Iniciar com o programa </a:t>
            </a:r>
            <a:r>
              <a:rPr lang="pt-BR" sz="2600" b="1" dirty="0" err="1">
                <a:solidFill>
                  <a:srgbClr val="FF0000"/>
                </a:solidFill>
              </a:rPr>
              <a:t>P</a:t>
            </a:r>
            <a:r>
              <a:rPr lang="pt-BR" sz="2600" dirty="0"/>
              <a:t> a ser testado e um conjunto de testes </a:t>
            </a:r>
            <a:r>
              <a:rPr lang="pt-BR" sz="2600" b="1" dirty="0" err="1">
                <a:solidFill>
                  <a:srgbClr val="FF0000"/>
                </a:solidFill>
              </a:rPr>
              <a:t>T</a:t>
            </a:r>
            <a:r>
              <a:rPr lang="pt-BR" sz="2600" dirty="0"/>
              <a:t> (possivelmente vazio)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12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Gerar um conjunto </a:t>
            </a:r>
            <a:r>
              <a:rPr lang="pt-BR" sz="2600" b="1" dirty="0">
                <a:solidFill>
                  <a:srgbClr val="FF0000"/>
                </a:solidFill>
              </a:rPr>
              <a:t>M</a:t>
            </a:r>
            <a:r>
              <a:rPr lang="pt-BR" sz="2600" dirty="0"/>
              <a:t> de mutantes de </a:t>
            </a:r>
            <a:r>
              <a:rPr lang="pt-BR" sz="2600" b="1" dirty="0" err="1">
                <a:solidFill>
                  <a:srgbClr val="FF0000"/>
                </a:solidFill>
              </a:rPr>
              <a:t>P</a:t>
            </a:r>
            <a:r>
              <a:rPr lang="pt-BR" sz="2600" dirty="0"/>
              <a:t>, através de operadores de mutação (pequenas alterações sintaticamente corretas) no programa original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12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Verificar se os testes em </a:t>
            </a:r>
            <a:r>
              <a:rPr lang="pt-BR" sz="2600" b="1" dirty="0" err="1">
                <a:solidFill>
                  <a:srgbClr val="FF0000"/>
                </a:solidFill>
              </a:rPr>
              <a:t>T</a:t>
            </a:r>
            <a:r>
              <a:rPr lang="pt-BR" sz="2600" dirty="0"/>
              <a:t> matam todos os mutantes em </a:t>
            </a:r>
            <a:r>
              <a:rPr lang="pt-BR" sz="2600" b="1" dirty="0">
                <a:solidFill>
                  <a:srgbClr val="FF0000"/>
                </a:solidFill>
              </a:rPr>
              <a:t>M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1200" b="1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Se todos os mutantes foram mortos, o conjunto </a:t>
            </a:r>
            <a:r>
              <a:rPr lang="pt-BR" sz="2600" b="1" dirty="0" err="1">
                <a:solidFill>
                  <a:srgbClr val="FF0000"/>
                </a:solidFill>
              </a:rPr>
              <a:t>T</a:t>
            </a:r>
            <a:r>
              <a:rPr lang="pt-BR" sz="2600" dirty="0"/>
              <a:t> é adequado, e o processo é encerrado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12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Senão, acrescenta-se um teste para cada mutante </a:t>
            </a:r>
            <a:r>
              <a:rPr lang="pt-BR" sz="2600" b="1" dirty="0">
                <a:solidFill>
                  <a:srgbClr val="FF0000"/>
                </a:solidFill>
              </a:rPr>
              <a:t>M</a:t>
            </a:r>
            <a:r>
              <a:rPr lang="pt-BR" sz="2600" dirty="0"/>
              <a:t> sobrevivente, até que o conjunto </a:t>
            </a:r>
            <a:r>
              <a:rPr lang="pt-BR" sz="2600" b="1" dirty="0" err="1">
                <a:solidFill>
                  <a:srgbClr val="FF0000"/>
                </a:solidFill>
              </a:rPr>
              <a:t>T</a:t>
            </a:r>
            <a:r>
              <a:rPr lang="pt-BR" sz="2600" dirty="0"/>
              <a:t> seja adequado</a:t>
            </a:r>
            <a:endParaRPr lang="pt-BR" sz="2600" i="1" dirty="0"/>
          </a:p>
        </p:txBody>
      </p:sp>
    </p:spTree>
    <p:extLst>
      <p:ext uri="{BB962C8B-B14F-4D97-AF65-F5344CB8AC3E}">
        <p14:creationId xmlns:p14="http://schemas.microsoft.com/office/powerpoint/2010/main" val="112213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ANÁLISE DE MUTANTES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24C1-3763-444C-97AF-10880E97F5B5}"/>
              </a:ext>
            </a:extLst>
          </p:cNvPr>
          <p:cNvSpPr txBox="1"/>
          <p:nvPr/>
        </p:nvSpPr>
        <p:spPr>
          <a:xfrm>
            <a:off x="390085" y="1156552"/>
            <a:ext cx="1128484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000" u="sng" dirty="0"/>
              <a:t>Exemplos de operadores de mutação: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u="sng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Substituição de uma variável por outra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Substituição de uma variável escalar por um vetor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Substituição de um vetor por uma variável escalar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Substituição de operador relacional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Substituição de operador aritmético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Etc.</a:t>
            </a:r>
            <a:endParaRPr lang="pt-BR" sz="2600" i="1" dirty="0"/>
          </a:p>
        </p:txBody>
      </p:sp>
    </p:spTree>
    <p:extLst>
      <p:ext uri="{BB962C8B-B14F-4D97-AF65-F5344CB8AC3E}">
        <p14:creationId xmlns:p14="http://schemas.microsoft.com/office/powerpoint/2010/main" val="245477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3834309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24C1-3763-444C-97AF-10880E97F5B5}"/>
              </a:ext>
            </a:extLst>
          </p:cNvPr>
          <p:cNvSpPr txBox="1"/>
          <p:nvPr/>
        </p:nvSpPr>
        <p:spPr>
          <a:xfrm>
            <a:off x="782872" y="2646993"/>
            <a:ext cx="3724716" cy="3801041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bIns="0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* input,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for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++) {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(input[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] &gt; input[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431B9-A0CB-5F4E-8DDC-BE1DD94248D3}"/>
              </a:ext>
            </a:extLst>
          </p:cNvPr>
          <p:cNvSpPr txBox="1"/>
          <p:nvPr/>
        </p:nvSpPr>
        <p:spPr>
          <a:xfrm>
            <a:off x="207601" y="949569"/>
            <a:ext cx="1128484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u="sng" dirty="0"/>
              <a:t>Enunciado: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400" u="sng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200" dirty="0"/>
              <a:t>A função </a:t>
            </a:r>
            <a:r>
              <a:rPr lang="pt-BR" sz="2200" i="1" dirty="0" err="1">
                <a:solidFill>
                  <a:schemeClr val="accent4">
                    <a:lumMod val="75000"/>
                  </a:schemeClr>
                </a:solidFill>
              </a:rPr>
              <a:t>max</a:t>
            </a:r>
            <a:r>
              <a:rPr lang="pt-BR" sz="2200" dirty="0"/>
              <a:t> recebe como argumento um ponteiro para uma lista de valores e o tamanho dessa lista, e retorna a posição na lista do maior valor encontrado. Se o maior valor estiver em mais de uma posição, a função deve retornar a 1ª posição encontrada.</a:t>
            </a:r>
            <a:endParaRPr lang="pt-BR" sz="2200" i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858BA09-0CD3-144B-8766-C4E6CB75C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247058"/>
              </p:ext>
            </p:extLst>
          </p:nvPr>
        </p:nvGraphicFramePr>
        <p:xfrm>
          <a:off x="4945736" y="3504014"/>
          <a:ext cx="6843488" cy="1752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1293">
                  <a:extLst>
                    <a:ext uri="{9D8B030D-6E8A-4147-A177-3AD203B41FA5}">
                      <a16:colId xmlns:a16="http://schemas.microsoft.com/office/drawing/2014/main" val="76587455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52201598"/>
                    </a:ext>
                  </a:extLst>
                </a:gridCol>
                <a:gridCol w="963385">
                  <a:extLst>
                    <a:ext uri="{9D8B030D-6E8A-4147-A177-3AD203B41FA5}">
                      <a16:colId xmlns:a16="http://schemas.microsoft.com/office/drawing/2014/main" val="363115357"/>
                    </a:ext>
                  </a:extLst>
                </a:gridCol>
                <a:gridCol w="1014009">
                  <a:extLst>
                    <a:ext uri="{9D8B030D-6E8A-4147-A177-3AD203B41FA5}">
                      <a16:colId xmlns:a16="http://schemas.microsoft.com/office/drawing/2014/main" val="1617701728"/>
                    </a:ext>
                  </a:extLst>
                </a:gridCol>
                <a:gridCol w="724447">
                  <a:extLst>
                    <a:ext uri="{9D8B030D-6E8A-4147-A177-3AD203B41FA5}">
                      <a16:colId xmlns:a16="http://schemas.microsoft.com/office/drawing/2014/main" val="3620741418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349753334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188721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Resultado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Esperado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Resultado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Obtido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75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88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8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79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53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24C1-3763-444C-97AF-10880E97F5B5}"/>
              </a:ext>
            </a:extLst>
          </p:cNvPr>
          <p:cNvSpPr txBox="1"/>
          <p:nvPr/>
        </p:nvSpPr>
        <p:spPr>
          <a:xfrm>
            <a:off x="782872" y="2646993"/>
            <a:ext cx="3724716" cy="3801041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bIns="0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* input,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for 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++) {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(input[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&gt;=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input[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6D695-348C-2242-B0EE-03599A0BC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185446"/>
              </p:ext>
            </p:extLst>
          </p:nvPr>
        </p:nvGraphicFramePr>
        <p:xfrm>
          <a:off x="5000134" y="2899795"/>
          <a:ext cx="6219398" cy="1432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10075">
                  <a:extLst>
                    <a:ext uri="{9D8B030D-6E8A-4147-A177-3AD203B41FA5}">
                      <a16:colId xmlns:a16="http://schemas.microsoft.com/office/drawing/2014/main" val="765874551"/>
                    </a:ext>
                  </a:extLst>
                </a:gridCol>
                <a:gridCol w="934888">
                  <a:extLst>
                    <a:ext uri="{9D8B030D-6E8A-4147-A177-3AD203B41FA5}">
                      <a16:colId xmlns:a16="http://schemas.microsoft.com/office/drawing/2014/main" val="552201598"/>
                    </a:ext>
                  </a:extLst>
                </a:gridCol>
                <a:gridCol w="875529">
                  <a:extLst>
                    <a:ext uri="{9D8B030D-6E8A-4147-A177-3AD203B41FA5}">
                      <a16:colId xmlns:a16="http://schemas.microsoft.com/office/drawing/2014/main" val="363115357"/>
                    </a:ext>
                  </a:extLst>
                </a:gridCol>
                <a:gridCol w="921537">
                  <a:extLst>
                    <a:ext uri="{9D8B030D-6E8A-4147-A177-3AD203B41FA5}">
                      <a16:colId xmlns:a16="http://schemas.microsoft.com/office/drawing/2014/main" val="1617701728"/>
                    </a:ext>
                  </a:extLst>
                </a:gridCol>
                <a:gridCol w="658381">
                  <a:extLst>
                    <a:ext uri="{9D8B030D-6E8A-4147-A177-3AD203B41FA5}">
                      <a16:colId xmlns:a16="http://schemas.microsoft.com/office/drawing/2014/main" val="3620741418"/>
                    </a:ext>
                  </a:extLst>
                </a:gridCol>
                <a:gridCol w="1109494">
                  <a:extLst>
                    <a:ext uri="{9D8B030D-6E8A-4147-A177-3AD203B41FA5}">
                      <a16:colId xmlns:a16="http://schemas.microsoft.com/office/drawing/2014/main" val="2349753334"/>
                    </a:ext>
                  </a:extLst>
                </a:gridCol>
                <a:gridCol w="1109494">
                  <a:extLst>
                    <a:ext uri="{9D8B030D-6E8A-4147-A177-3AD203B41FA5}">
                      <a16:colId xmlns:a16="http://schemas.microsoft.com/office/drawing/2014/main" val="18872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Resultado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Esperado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Resultado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Obtido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75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885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8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792754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7CFE3E-ABDF-F345-B0B5-B3689666F280}"/>
              </a:ext>
            </a:extLst>
          </p:cNvPr>
          <p:cNvSpPr/>
          <p:nvPr/>
        </p:nvSpPr>
        <p:spPr>
          <a:xfrm>
            <a:off x="2498273" y="4376064"/>
            <a:ext cx="359228" cy="342900"/>
          </a:xfrm>
          <a:prstGeom prst="roundRect">
            <a:avLst/>
          </a:prstGeom>
          <a:solidFill>
            <a:srgbClr val="FF0000">
              <a:alpha val="1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035F21-83FB-1D4F-8A2D-F79C95A24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489903"/>
              </p:ext>
            </p:extLst>
          </p:nvPr>
        </p:nvGraphicFramePr>
        <p:xfrm>
          <a:off x="5000134" y="4849180"/>
          <a:ext cx="6219398" cy="1737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95235">
                  <a:extLst>
                    <a:ext uri="{9D8B030D-6E8A-4147-A177-3AD203B41FA5}">
                      <a16:colId xmlns:a16="http://schemas.microsoft.com/office/drawing/2014/main" val="765874551"/>
                    </a:ext>
                  </a:extLst>
                </a:gridCol>
                <a:gridCol w="934888">
                  <a:extLst>
                    <a:ext uri="{9D8B030D-6E8A-4147-A177-3AD203B41FA5}">
                      <a16:colId xmlns:a16="http://schemas.microsoft.com/office/drawing/2014/main" val="552201598"/>
                    </a:ext>
                  </a:extLst>
                </a:gridCol>
                <a:gridCol w="890369">
                  <a:extLst>
                    <a:ext uri="{9D8B030D-6E8A-4147-A177-3AD203B41FA5}">
                      <a16:colId xmlns:a16="http://schemas.microsoft.com/office/drawing/2014/main" val="363115357"/>
                    </a:ext>
                  </a:extLst>
                </a:gridCol>
                <a:gridCol w="921537">
                  <a:extLst>
                    <a:ext uri="{9D8B030D-6E8A-4147-A177-3AD203B41FA5}">
                      <a16:colId xmlns:a16="http://schemas.microsoft.com/office/drawing/2014/main" val="1617701728"/>
                    </a:ext>
                  </a:extLst>
                </a:gridCol>
                <a:gridCol w="658381">
                  <a:extLst>
                    <a:ext uri="{9D8B030D-6E8A-4147-A177-3AD203B41FA5}">
                      <a16:colId xmlns:a16="http://schemas.microsoft.com/office/drawing/2014/main" val="3620741418"/>
                    </a:ext>
                  </a:extLst>
                </a:gridCol>
                <a:gridCol w="1109494">
                  <a:extLst>
                    <a:ext uri="{9D8B030D-6E8A-4147-A177-3AD203B41FA5}">
                      <a16:colId xmlns:a16="http://schemas.microsoft.com/office/drawing/2014/main" val="2349753334"/>
                    </a:ext>
                  </a:extLst>
                </a:gridCol>
                <a:gridCol w="1109494">
                  <a:extLst>
                    <a:ext uri="{9D8B030D-6E8A-4147-A177-3AD203B41FA5}">
                      <a16:colId xmlns:a16="http://schemas.microsoft.com/office/drawing/2014/main" val="80003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Resultado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Esperado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Resultado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Obtido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75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885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8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792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0517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ACC81B-075D-6C4C-BD34-0E25A0FF0922}"/>
              </a:ext>
            </a:extLst>
          </p:cNvPr>
          <p:cNvSpPr txBox="1"/>
          <p:nvPr/>
        </p:nvSpPr>
        <p:spPr>
          <a:xfrm>
            <a:off x="4922884" y="4412775"/>
            <a:ext cx="536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u="sng" dirty="0">
                <a:solidFill>
                  <a:schemeClr val="accent4">
                    <a:lumMod val="75000"/>
                  </a:schemeClr>
                </a:solidFill>
              </a:rPr>
              <a:t>Conjunto que mata o Mutante:</a:t>
            </a:r>
            <a:endParaRPr lang="pt-BR" sz="2000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C996E0-EE6B-6D47-8C70-C8B27AE06077}"/>
              </a:ext>
            </a:extLst>
          </p:cNvPr>
          <p:cNvSpPr txBox="1"/>
          <p:nvPr/>
        </p:nvSpPr>
        <p:spPr>
          <a:xfrm>
            <a:off x="4922884" y="2476827"/>
            <a:ext cx="331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000" u="sng" dirty="0">
                <a:solidFill>
                  <a:schemeClr val="accent4">
                    <a:lumMod val="75000"/>
                  </a:schemeClr>
                </a:solidFill>
              </a:rPr>
              <a:t>Conjunto Inicial:</a:t>
            </a:r>
            <a:endParaRPr lang="pt-BR" sz="2000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431B9-A0CB-5F4E-8DDC-BE1DD94248D3}"/>
              </a:ext>
            </a:extLst>
          </p:cNvPr>
          <p:cNvSpPr txBox="1"/>
          <p:nvPr/>
        </p:nvSpPr>
        <p:spPr>
          <a:xfrm>
            <a:off x="207601" y="949569"/>
            <a:ext cx="1128484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u="sng" dirty="0"/>
              <a:t>Enunciado: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400" u="sng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200" dirty="0"/>
              <a:t>A função </a:t>
            </a:r>
            <a:r>
              <a:rPr lang="pt-BR" sz="2200" i="1" dirty="0" err="1">
                <a:solidFill>
                  <a:schemeClr val="accent4">
                    <a:lumMod val="75000"/>
                  </a:schemeClr>
                </a:solidFill>
              </a:rPr>
              <a:t>max</a:t>
            </a:r>
            <a:r>
              <a:rPr lang="pt-BR" sz="2200" dirty="0"/>
              <a:t> recebe como argumento um ponteiro para uma lista de valores e o tamanho dessa lista, e retorna a posição na lista do maior valor encontrado. Se o maior valor estiver em mais de uma posição, a função deve retornar a 1ª posição encontrada.</a:t>
            </a:r>
            <a:endParaRPr lang="pt-BR" sz="2200" i="1" dirty="0"/>
          </a:p>
        </p:txBody>
      </p:sp>
    </p:spTree>
    <p:extLst>
      <p:ext uri="{BB962C8B-B14F-4D97-AF65-F5344CB8AC3E}">
        <p14:creationId xmlns:p14="http://schemas.microsoft.com/office/powerpoint/2010/main" val="361178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8A54B-4DC4-0F6E-6F43-7CA496ABB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74" y="1069258"/>
            <a:ext cx="4836529" cy="5545394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sp>
        <p:nvSpPr>
          <p:cNvPr id="6" name="CaixaDeTexto 4">
            <a:extLst>
              <a:ext uri="{FF2B5EF4-FFF2-40B4-BE49-F238E27FC236}">
                <a16:creationId xmlns:a16="http://schemas.microsoft.com/office/drawing/2014/main" id="{A59358A8-CBB1-A1A2-5652-65E8922A96AD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3C1F9-FE75-AF65-3576-C44E2DBFE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938" y="2300748"/>
            <a:ext cx="3334253" cy="4313904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A54776-57CB-1CFC-C520-4562B8A02B25}"/>
              </a:ext>
            </a:extLst>
          </p:cNvPr>
          <p:cNvSpPr txBox="1"/>
          <p:nvPr/>
        </p:nvSpPr>
        <p:spPr>
          <a:xfrm>
            <a:off x="5427405" y="1060181"/>
            <a:ext cx="6542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200" i="1" dirty="0"/>
              <a:t>&gt; Mutações sugeridas – </a:t>
            </a:r>
            <a:r>
              <a:rPr lang="pt-BR" sz="2200" b="1" i="1" dirty="0"/>
              <a:t>remoções</a:t>
            </a:r>
            <a:endParaRPr lang="pt-BR" sz="2200" i="1" dirty="0"/>
          </a:p>
        </p:txBody>
      </p:sp>
    </p:spTree>
    <p:extLst>
      <p:ext uri="{BB962C8B-B14F-4D97-AF65-F5344CB8AC3E}">
        <p14:creationId xmlns:p14="http://schemas.microsoft.com/office/powerpoint/2010/main" val="3229316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8A54B-4DC4-0F6E-6F43-7CA496ABB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74" y="1069258"/>
            <a:ext cx="4836529" cy="5545394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sp>
        <p:nvSpPr>
          <p:cNvPr id="6" name="CaixaDeTexto 4">
            <a:extLst>
              <a:ext uri="{FF2B5EF4-FFF2-40B4-BE49-F238E27FC236}">
                <a16:creationId xmlns:a16="http://schemas.microsoft.com/office/drawing/2014/main" id="{A59358A8-CBB1-A1A2-5652-65E8922A96AD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54776-57CB-1CFC-C520-4562B8A02B25}"/>
              </a:ext>
            </a:extLst>
          </p:cNvPr>
          <p:cNvSpPr txBox="1"/>
          <p:nvPr/>
        </p:nvSpPr>
        <p:spPr>
          <a:xfrm>
            <a:off x="5250427" y="1060181"/>
            <a:ext cx="6719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200" i="1" dirty="0"/>
              <a:t>&gt; Mutações sugeridas – </a:t>
            </a:r>
            <a:r>
              <a:rPr lang="pt-BR" sz="2200" b="1" i="1" dirty="0"/>
              <a:t>mudança do operador relacional</a:t>
            </a:r>
            <a:endParaRPr lang="pt-BR" sz="22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18B709-CF1B-403D-BF95-BE070A2D6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195" y="2485104"/>
            <a:ext cx="2973070" cy="4129548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10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5695</TotalTime>
  <Words>923</Words>
  <Application>Microsoft Office PowerPoint</Application>
  <PresentationFormat>Widescreen</PresentationFormat>
  <Paragraphs>240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956</cp:revision>
  <cp:lastPrinted>2020-10-20T13:16:13Z</cp:lastPrinted>
  <dcterms:created xsi:type="dcterms:W3CDTF">2017-11-07T18:55:33Z</dcterms:created>
  <dcterms:modified xsi:type="dcterms:W3CDTF">2026-03-25T18:11:27Z</dcterms:modified>
</cp:coreProperties>
</file>