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handoutMasterIdLst>
    <p:handoutMasterId r:id="rId34"/>
  </p:handoutMasterIdLst>
  <p:sldIdLst>
    <p:sldId id="281" r:id="rId2"/>
    <p:sldId id="555" r:id="rId3"/>
    <p:sldId id="597" r:id="rId4"/>
    <p:sldId id="598" r:id="rId5"/>
    <p:sldId id="663" r:id="rId6"/>
    <p:sldId id="664" r:id="rId7"/>
    <p:sldId id="665" r:id="rId8"/>
    <p:sldId id="666" r:id="rId9"/>
    <p:sldId id="659" r:id="rId10"/>
    <p:sldId id="660" r:id="rId11"/>
    <p:sldId id="667" r:id="rId12"/>
    <p:sldId id="668" r:id="rId13"/>
    <p:sldId id="669" r:id="rId14"/>
    <p:sldId id="670" r:id="rId15"/>
    <p:sldId id="661" r:id="rId16"/>
    <p:sldId id="559" r:id="rId17"/>
    <p:sldId id="671" r:id="rId18"/>
    <p:sldId id="662" r:id="rId19"/>
    <p:sldId id="646" r:id="rId20"/>
    <p:sldId id="647" r:id="rId21"/>
    <p:sldId id="648" r:id="rId22"/>
    <p:sldId id="649" r:id="rId23"/>
    <p:sldId id="650" r:id="rId24"/>
    <p:sldId id="672" r:id="rId25"/>
    <p:sldId id="651" r:id="rId26"/>
    <p:sldId id="673" r:id="rId27"/>
    <p:sldId id="628" r:id="rId28"/>
    <p:sldId id="655" r:id="rId29"/>
    <p:sldId id="657" r:id="rId30"/>
    <p:sldId id="658" r:id="rId31"/>
    <p:sldId id="67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8D8"/>
    <a:srgbClr val="0000FF"/>
    <a:srgbClr val="FFF4E7"/>
    <a:srgbClr val="23FF23"/>
    <a:srgbClr val="8969B2"/>
    <a:srgbClr val="660066"/>
    <a:srgbClr val="1EC4D9"/>
    <a:srgbClr val="37C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85616" autoAdjust="0"/>
  </p:normalViewPr>
  <p:slideViewPr>
    <p:cSldViewPr snapToGrid="0">
      <p:cViewPr varScale="1">
        <p:scale>
          <a:sx n="110" d="100"/>
          <a:sy n="110" d="100"/>
        </p:scale>
        <p:origin x="496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993"/>
            <a:ext cx="6858000" cy="51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97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4A89-6BFF-C147-B009-33247CD7572F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5B5EE-8431-BF41-8272-8266E62486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25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Sistema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requisitos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engloba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tarefas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investigação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escopo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Sistema"/>
              </a:rPr>
              <a:t>sistemas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alterações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107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47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141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707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79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731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555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</a:t>
            </a:r>
            <a:r>
              <a:rPr lang="en-US" b="1" dirty="0" err="1"/>
              <a:t>caminho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sequência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de </a:t>
            </a:r>
            <a:r>
              <a:rPr lang="en-US" dirty="0" err="1"/>
              <a:t>arestas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da entrada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método</a:t>
            </a:r>
            <a:r>
              <a:rPr lang="en-US" dirty="0"/>
              <a:t> para 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saída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865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3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053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92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702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807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277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5048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8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944" y="78798"/>
            <a:ext cx="8961583" cy="61393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412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901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81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072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282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656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337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65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77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177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B198-9831-4208-8259-C0FFE3B2B63E}" type="datetimeFigureOut">
              <a:rPr lang="pt-BR" smtClean="0"/>
              <a:t>25/03/2026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884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s.gmu.edu/~offutt/softwaretest/" TargetMode="External"/><Relationship Id="rId2" Type="http://schemas.openxmlformats.org/officeDocument/2006/relationships/hyperlink" Target="https://www.amazon.com.br/Introdu%C3%A7%C3%A3o-Software-M%C3%A1rcio-Eduardo-Delamaro/dp/8535226346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6"/>
          <p:cNvSpPr txBox="1">
            <a:spLocks/>
          </p:cNvSpPr>
          <p:nvPr/>
        </p:nvSpPr>
        <p:spPr>
          <a:xfrm>
            <a:off x="7053943" y="310244"/>
            <a:ext cx="5138057" cy="1975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98G08-04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CONFIABILIDADE E 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SEGURANÇA DE SOTWARE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0267" y="2850823"/>
            <a:ext cx="1120986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Teste de </a:t>
            </a:r>
            <a:r>
              <a:rPr lang="en-US" sz="4400" dirty="0" err="1">
                <a:solidFill>
                  <a:schemeClr val="accent4">
                    <a:lumMod val="75000"/>
                  </a:schemeClr>
                </a:solidFill>
              </a:rPr>
              <a:t>Unidade</a:t>
            </a:r>
            <a:endParaRPr lang="en-US" sz="4400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sz="4400" b="1" dirty="0" err="1">
                <a:solidFill>
                  <a:schemeClr val="accent4">
                    <a:lumMod val="75000"/>
                  </a:schemeClr>
                </a:solidFill>
              </a:rPr>
              <a:t>Estrutural</a:t>
            </a:r>
            <a:endParaRPr lang="en-US" sz="44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pt-BR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i="1" dirty="0"/>
              <a:t>Prof. </a:t>
            </a:r>
            <a:r>
              <a:rPr lang="pt-BR" sz="2400" i="1" dirty="0" err="1"/>
              <a:t>Iaçanã</a:t>
            </a:r>
            <a:r>
              <a:rPr lang="pt-BR" sz="2400" i="1" dirty="0"/>
              <a:t> </a:t>
            </a:r>
            <a:r>
              <a:rPr lang="pt-BR" sz="2400" i="1" dirty="0" err="1"/>
              <a:t>Ianiski</a:t>
            </a:r>
            <a:r>
              <a:rPr lang="pt-BR" sz="2400" i="1" dirty="0"/>
              <a:t> Weber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69BEA-7D93-3549-BC1E-537F01DC29A3}"/>
              </a:ext>
            </a:extLst>
          </p:cNvPr>
          <p:cNvSpPr txBox="1"/>
          <p:nvPr/>
        </p:nvSpPr>
        <p:spPr>
          <a:xfrm>
            <a:off x="1122827" y="6457890"/>
            <a:ext cx="10298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pt-BR" sz="2000" i="1" dirty="0"/>
              <a:t>Baseado no material gentilmente cedido pelo Prof. </a:t>
            </a:r>
            <a:r>
              <a:rPr lang="pt-BR" sz="2000" b="1" i="1" dirty="0"/>
              <a:t>Dr. Alexandre </a:t>
            </a:r>
            <a:r>
              <a:rPr lang="pt-BR" sz="2000" b="1" i="1" dirty="0" err="1"/>
              <a:t>Amory</a:t>
            </a:r>
            <a:r>
              <a:rPr lang="pt-BR" sz="2000" b="1" i="1" dirty="0"/>
              <a:t> &amp; Dr. Rafael </a:t>
            </a:r>
            <a:r>
              <a:rPr lang="pt-BR" sz="2000" b="1" i="1" dirty="0" err="1"/>
              <a:t>Garibotti</a:t>
            </a:r>
            <a:endParaRPr lang="pt-BR" sz="2000" b="1" i="1" dirty="0"/>
          </a:p>
        </p:txBody>
      </p:sp>
    </p:spTree>
    <p:extLst>
      <p:ext uri="{BB962C8B-B14F-4D97-AF65-F5344CB8AC3E}">
        <p14:creationId xmlns:p14="http://schemas.microsoft.com/office/powerpoint/2010/main" val="3050916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REFERÊNCIAS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206" y="3406133"/>
            <a:ext cx="1084521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400" dirty="0" err="1"/>
              <a:t>Delamaro</a:t>
            </a:r>
            <a:r>
              <a:rPr lang="pt-BR" sz="2400" dirty="0"/>
              <a:t>, M.E.; Maldonado J.C.; </a:t>
            </a:r>
            <a:r>
              <a:rPr lang="pt-BR" sz="2400" dirty="0" err="1"/>
              <a:t>Jino</a:t>
            </a:r>
            <a:r>
              <a:rPr lang="pt-BR" sz="2400" dirty="0"/>
              <a:t>, M. </a:t>
            </a:r>
            <a:r>
              <a:rPr lang="pt-BR" sz="2400" b="1" i="1" dirty="0"/>
              <a:t>Introdução ao Teste de Software</a:t>
            </a:r>
            <a:r>
              <a:rPr lang="pt-BR" sz="2400" dirty="0"/>
              <a:t>. </a:t>
            </a:r>
            <a:r>
              <a:rPr lang="pt-BR" sz="2400" dirty="0" err="1"/>
              <a:t>Elsevier</a:t>
            </a:r>
            <a:r>
              <a:rPr lang="pt-BR" sz="2400" dirty="0"/>
              <a:t>. 2007.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800" dirty="0"/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hlinkClick r:id="rId2"/>
              </a:rPr>
              <a:t>https://www.amazon.com.br/Introdu%C3%A7%C3%A3o-Software-M%C3%A1rcio-Eduardo-Delamaro/dp/8535226346</a:t>
            </a:r>
            <a:endParaRPr lang="pt-BR" sz="2400" dirty="0"/>
          </a:p>
          <a:p>
            <a:pPr marL="800100" lvl="1" indent="-3429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800100" lvl="1" indent="-3429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Capítulo 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07A2EDD-0CBD-A245-9483-4752ED01A9CB}"/>
              </a:ext>
            </a:extLst>
          </p:cNvPr>
          <p:cNvSpPr/>
          <p:nvPr/>
        </p:nvSpPr>
        <p:spPr>
          <a:xfrm>
            <a:off x="433247" y="3267204"/>
            <a:ext cx="11266946" cy="2415578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AECF9-C49A-0D42-B853-908CB231FD1F}"/>
              </a:ext>
            </a:extLst>
          </p:cNvPr>
          <p:cNvSpPr txBox="1"/>
          <p:nvPr/>
        </p:nvSpPr>
        <p:spPr>
          <a:xfrm>
            <a:off x="580206" y="1370044"/>
            <a:ext cx="106819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400" dirty="0"/>
              <a:t>Paul </a:t>
            </a:r>
            <a:r>
              <a:rPr lang="pt-BR" sz="2400" dirty="0" err="1"/>
              <a:t>Ammann</a:t>
            </a:r>
            <a:r>
              <a:rPr lang="pt-BR" sz="2400" dirty="0"/>
              <a:t> </a:t>
            </a:r>
            <a:r>
              <a:rPr lang="pt-BR" sz="2400" dirty="0" err="1"/>
              <a:t>and</a:t>
            </a:r>
            <a:r>
              <a:rPr lang="pt-BR" sz="2400" dirty="0"/>
              <a:t> Jeff </a:t>
            </a:r>
            <a:r>
              <a:rPr lang="pt-BR" sz="2400" dirty="0" err="1"/>
              <a:t>Offutt</a:t>
            </a:r>
            <a:r>
              <a:rPr lang="pt-BR" sz="2400" dirty="0"/>
              <a:t>. </a:t>
            </a:r>
            <a:r>
              <a:rPr lang="pt-BR" sz="2400" b="1" i="1" dirty="0" err="1"/>
              <a:t>Introduction</a:t>
            </a:r>
            <a:r>
              <a:rPr lang="pt-BR" sz="2400" b="1" i="1" dirty="0"/>
              <a:t> </a:t>
            </a:r>
            <a:r>
              <a:rPr lang="pt-BR" sz="2400" b="1" i="1" dirty="0" err="1"/>
              <a:t>to</a:t>
            </a:r>
            <a:r>
              <a:rPr lang="pt-BR" sz="2400" b="1" i="1" dirty="0"/>
              <a:t> Software </a:t>
            </a:r>
            <a:r>
              <a:rPr lang="pt-BR" sz="2400" b="1" i="1" dirty="0" err="1"/>
              <a:t>Testing</a:t>
            </a:r>
            <a:r>
              <a:rPr lang="pt-BR" sz="2400" dirty="0"/>
              <a:t>. 2nd </a:t>
            </a:r>
            <a:r>
              <a:rPr lang="pt-BR" sz="2400" dirty="0" err="1"/>
              <a:t>edition</a:t>
            </a:r>
            <a:r>
              <a:rPr lang="pt-BR" sz="2400" dirty="0"/>
              <a:t>. 2017.</a:t>
            </a:r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hlinkClick r:id="rId3"/>
              </a:rPr>
              <a:t>https://cs.gmu.edu/~offutt/softwaretest/</a:t>
            </a:r>
            <a:endParaRPr lang="pt-BR" sz="2400" dirty="0"/>
          </a:p>
          <a:p>
            <a:pPr marL="800100" lvl="1" indent="-3429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800100" lvl="1" indent="-3429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Seções 7.3 e 8.3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AFBF67D-5C21-CC45-94C7-A98B8403600B}"/>
              </a:ext>
            </a:extLst>
          </p:cNvPr>
          <p:cNvSpPr/>
          <p:nvPr/>
        </p:nvSpPr>
        <p:spPr>
          <a:xfrm>
            <a:off x="433248" y="1268831"/>
            <a:ext cx="11266945" cy="1505459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73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NÍVEIS DE TESTE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206EB3-2678-AC4A-A72F-A6A4BB1B8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51" y="1040524"/>
            <a:ext cx="9350908" cy="5448036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839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TÉCNICAS DE TESTE DE UNIDADE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26D21-1023-EF4E-BC40-33BB2F67FB2E}"/>
              </a:ext>
            </a:extLst>
          </p:cNvPr>
          <p:cNvSpPr txBox="1"/>
          <p:nvPr/>
        </p:nvSpPr>
        <p:spPr>
          <a:xfrm>
            <a:off x="439072" y="1107567"/>
            <a:ext cx="1115421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u="sng" dirty="0" err="1"/>
              <a:t>Técnicas</a:t>
            </a:r>
            <a:r>
              <a:rPr lang="en-US" sz="3000" u="sng" dirty="0"/>
              <a:t>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Funcional</a:t>
            </a:r>
            <a:r>
              <a:rPr lang="en-US" sz="2800" dirty="0"/>
              <a:t> (</a:t>
            </a:r>
            <a:r>
              <a:rPr lang="en-US" sz="2800" dirty="0" err="1"/>
              <a:t>Capítulo</a:t>
            </a:r>
            <a:r>
              <a:rPr lang="en-US" sz="2800" dirty="0"/>
              <a:t> 2)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>
                <a:solidFill>
                  <a:srgbClr val="FF0000"/>
                </a:solidFill>
              </a:rPr>
              <a:t>Estrutural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Capítulo</a:t>
            </a:r>
            <a:r>
              <a:rPr lang="en-US" sz="2800" dirty="0">
                <a:solidFill>
                  <a:srgbClr val="FF0000"/>
                </a:solidFill>
              </a:rPr>
              <a:t> 4)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Baseada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Erros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62284-2527-5446-BD28-FE257FC0C627}"/>
              </a:ext>
            </a:extLst>
          </p:cNvPr>
          <p:cNvSpPr txBox="1"/>
          <p:nvPr/>
        </p:nvSpPr>
        <p:spPr>
          <a:xfrm>
            <a:off x="439072" y="3583238"/>
            <a:ext cx="11380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/>
              <a:t>A </a:t>
            </a:r>
            <a:r>
              <a:rPr lang="en-US" sz="3000" dirty="0" err="1"/>
              <a:t>diferença</a:t>
            </a:r>
            <a:r>
              <a:rPr lang="en-US" sz="3000" dirty="0"/>
              <a:t> </a:t>
            </a:r>
            <a:r>
              <a:rPr lang="en-US" sz="3000" dirty="0" err="1"/>
              <a:t>está</a:t>
            </a:r>
            <a:r>
              <a:rPr lang="en-US" sz="3000" dirty="0"/>
              <a:t> </a:t>
            </a:r>
            <a:r>
              <a:rPr lang="en-US" sz="3000" dirty="0" err="1"/>
              <a:t>na</a:t>
            </a:r>
            <a:r>
              <a:rPr lang="en-US" sz="3000" dirty="0"/>
              <a:t> </a:t>
            </a:r>
            <a:r>
              <a:rPr lang="en-US" sz="3000" dirty="0" err="1"/>
              <a:t>fonte</a:t>
            </a:r>
            <a:r>
              <a:rPr lang="en-US" sz="3000" dirty="0"/>
              <a:t> </a:t>
            </a:r>
            <a:r>
              <a:rPr lang="en-US" sz="3000" dirty="0" err="1"/>
              <a:t>utilizada</a:t>
            </a:r>
            <a:r>
              <a:rPr lang="en-US" sz="3000" dirty="0"/>
              <a:t> para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definir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os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requisitos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de teste</a:t>
            </a:r>
            <a:r>
              <a:rPr lang="en-US" sz="3000" dirty="0"/>
              <a:t>!!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7E5F1-F136-EE4D-81CD-2F9A0BD4DD1A}"/>
              </a:ext>
            </a:extLst>
          </p:cNvPr>
          <p:cNvSpPr txBox="1"/>
          <p:nvPr/>
        </p:nvSpPr>
        <p:spPr>
          <a:xfrm>
            <a:off x="439072" y="4429576"/>
            <a:ext cx="1138031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/>
              <a:t>Mas o </a:t>
            </a:r>
            <a:r>
              <a:rPr lang="en-US" sz="3000" b="1" i="1" dirty="0" err="1"/>
              <a:t>objetivo</a:t>
            </a:r>
            <a:r>
              <a:rPr lang="en-US" sz="3000" dirty="0"/>
              <a:t> das </a:t>
            </a:r>
            <a:r>
              <a:rPr lang="en-US" sz="3000" dirty="0" err="1"/>
              <a:t>técnicas</a:t>
            </a:r>
            <a:r>
              <a:rPr lang="en-US" sz="3000" dirty="0"/>
              <a:t> </a:t>
            </a:r>
            <a:r>
              <a:rPr lang="en-US" sz="3000" dirty="0" err="1"/>
              <a:t>é</a:t>
            </a:r>
            <a:r>
              <a:rPr lang="en-US" sz="3000" dirty="0"/>
              <a:t> similar: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Conduzir</a:t>
            </a:r>
            <a:r>
              <a:rPr lang="en-US" sz="2800" dirty="0"/>
              <a:t> o </a:t>
            </a:r>
            <a:r>
              <a:rPr lang="en-US" sz="2800" dirty="0" err="1"/>
              <a:t>processo</a:t>
            </a:r>
            <a:r>
              <a:rPr lang="en-US" sz="2800" dirty="0"/>
              <a:t> de teste de </a:t>
            </a:r>
            <a:r>
              <a:rPr lang="en-US" sz="2800" dirty="0" err="1"/>
              <a:t>uma</a:t>
            </a:r>
            <a:r>
              <a:rPr lang="en-US" sz="2800" dirty="0"/>
              <a:t> forma </a:t>
            </a:r>
            <a:r>
              <a:rPr lang="en-US" sz="2800" dirty="0" err="1"/>
              <a:t>mais</a:t>
            </a:r>
            <a:r>
              <a:rPr lang="en-US" sz="2800" dirty="0"/>
              <a:t> </a:t>
            </a:r>
            <a:r>
              <a:rPr lang="en-US" sz="2800" dirty="0" err="1"/>
              <a:t>sistemática</a:t>
            </a:r>
            <a:endParaRPr lang="en-US" sz="2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Escolher</a:t>
            </a:r>
            <a:r>
              <a:rPr lang="en-US" sz="2800" dirty="0"/>
              <a:t> </a:t>
            </a:r>
            <a:r>
              <a:rPr lang="en-US" sz="2800" dirty="0" err="1"/>
              <a:t>casos</a:t>
            </a:r>
            <a:r>
              <a:rPr lang="en-US" sz="2800" dirty="0"/>
              <a:t> de teste que </a:t>
            </a:r>
            <a:r>
              <a:rPr lang="en-US" sz="2800" dirty="0" err="1"/>
              <a:t>representem</a:t>
            </a:r>
            <a:r>
              <a:rPr lang="en-US" sz="2800" dirty="0"/>
              <a:t> o </a:t>
            </a:r>
            <a:r>
              <a:rPr lang="en-US" sz="2800" dirty="0" err="1"/>
              <a:t>domínio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5266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15F7AB-3ED4-F82B-BF73-A2F2F414A1D0}"/>
              </a:ext>
            </a:extLst>
          </p:cNvPr>
          <p:cNvSpPr txBox="1"/>
          <p:nvPr/>
        </p:nvSpPr>
        <p:spPr>
          <a:xfrm>
            <a:off x="643399" y="1613703"/>
            <a:ext cx="108160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A técnica estrutural (ou caixa branca) estabelece os requisitos de teste </a:t>
            </a:r>
            <a:r>
              <a:rPr lang="pt-BR" sz="2400" b="1" i="0" dirty="0">
                <a:solidFill>
                  <a:srgbClr val="000000"/>
                </a:solidFill>
                <a:effectLst/>
                <a:latin typeface="NimbusRomNo9L-Regu"/>
              </a:rPr>
              <a:t>com base em uma dada implementação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, requerendo a execução de partes ou de componentes elementares do programa</a:t>
            </a:r>
            <a:endParaRPr lang="pt-BR" sz="24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Os </a:t>
            </a:r>
            <a:r>
              <a:rPr lang="pt-BR" sz="2400" b="1" i="0" dirty="0">
                <a:solidFill>
                  <a:srgbClr val="000000"/>
                </a:solidFill>
                <a:effectLst/>
                <a:latin typeface="NimbusRomNo9L-Regu"/>
              </a:rPr>
              <a:t>caminhos lógicos 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do software são testados, fornecendo-se casos de teste que põem à prova tanto conjuntos específicos de condições e/ou laços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Os critérios são classificados com base na complexidade, no fluxo de controle e no fluxo de dados, e serão discutidos mais detalhadamente no decorrer desta aula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F75A6BA9-9FC0-060B-A707-E7FC8B96984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208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15F7AB-3ED4-F82B-BF73-A2F2F414A1D0}"/>
              </a:ext>
            </a:extLst>
          </p:cNvPr>
          <p:cNvSpPr txBox="1"/>
          <p:nvPr/>
        </p:nvSpPr>
        <p:spPr>
          <a:xfrm>
            <a:off x="643399" y="1031146"/>
            <a:ext cx="10816098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A técnica estrutural apresenta uma série de </a:t>
            </a:r>
            <a:r>
              <a:rPr lang="pt-BR" sz="2800" b="1" i="0" dirty="0">
                <a:solidFill>
                  <a:srgbClr val="FF0000"/>
                </a:solidFill>
                <a:effectLst/>
                <a:latin typeface="NimbusRomNo9L-Regu"/>
              </a:rPr>
              <a:t>limitações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 e </a:t>
            </a:r>
            <a:r>
              <a:rPr lang="pt-BR" sz="2800" b="1" i="0" dirty="0">
                <a:solidFill>
                  <a:srgbClr val="FF0000"/>
                </a:solidFill>
                <a:effectLst/>
                <a:latin typeface="NimbusRomNo9L-Regu"/>
              </a:rPr>
              <a:t>desvantagens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 decorrentes das limitações inerentes à </a:t>
            </a:r>
            <a:r>
              <a:rPr lang="pt-BR" sz="2800" b="0" i="0" u="sng" dirty="0">
                <a:solidFill>
                  <a:srgbClr val="000000"/>
                </a:solidFill>
                <a:effectLst/>
                <a:latin typeface="NimbusRomNo9L-Regu"/>
              </a:rPr>
              <a:t>atividade de teste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 de programa como estratégia de validação</a:t>
            </a:r>
            <a:r>
              <a:rPr lang="pt-BR" sz="3600" dirty="0"/>
              <a:t> </a:t>
            </a:r>
          </a:p>
          <a:p>
            <a:endParaRPr lang="pt-BR" sz="36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não existe um procedimento de teste de propósito geral que possa ser usado para provar a correção de um programa</a:t>
            </a:r>
            <a:endParaRPr lang="pt-BR" sz="2400" dirty="0">
              <a:solidFill>
                <a:srgbClr val="000000"/>
              </a:solidFill>
              <a:latin typeface="NimbusRomNo9L-Regu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dados dois programas, é indecidível se eles computam a mesma função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é indecidível, em geral, se dois caminhos de um programa, ou de programas diferentes, computam a mesma função</a:t>
            </a:r>
            <a:endParaRPr lang="pt-BR" sz="2400" dirty="0">
              <a:solidFill>
                <a:srgbClr val="000000"/>
              </a:solidFill>
              <a:latin typeface="NimbusRomNo9L-Regu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é indecidível, em geral, se um dado caminho é executável, ou seja, se existe um conjunto de dados de entrada que leve à execução desse caminho</a:t>
            </a:r>
            <a:r>
              <a:rPr lang="pt-BR" sz="2400" dirty="0"/>
              <a:t> </a:t>
            </a:r>
            <a:endParaRPr lang="pt-BR" sz="3600" dirty="0"/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F75A6BA9-9FC0-060B-A707-E7FC8B96984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85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15F7AB-3ED4-F82B-BF73-A2F2F414A1D0}"/>
              </a:ext>
            </a:extLst>
          </p:cNvPr>
          <p:cNvSpPr txBox="1"/>
          <p:nvPr/>
        </p:nvSpPr>
        <p:spPr>
          <a:xfrm>
            <a:off x="643399" y="1458849"/>
            <a:ext cx="1081609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É importante ressaltar, ainda, as </a:t>
            </a:r>
            <a:r>
              <a:rPr lang="pt-BR" sz="2800" b="1" i="0" dirty="0">
                <a:solidFill>
                  <a:srgbClr val="FF0000"/>
                </a:solidFill>
                <a:effectLst/>
                <a:latin typeface="NimbusRomNo9L-Regu"/>
              </a:rPr>
              <a:t>limitações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 inerentes à </a:t>
            </a:r>
            <a:r>
              <a:rPr lang="pt-BR" sz="2800" b="0" i="0" u="sng" dirty="0">
                <a:solidFill>
                  <a:srgbClr val="000000"/>
                </a:solidFill>
                <a:effectLst/>
                <a:latin typeface="NimbusRomNo9L-Regu"/>
              </a:rPr>
              <a:t>técnica estrutural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:</a:t>
            </a:r>
          </a:p>
          <a:p>
            <a:endParaRPr lang="pt-BR" sz="28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caminhos ausentes: se o programa não implementa algumas funções, não existirá um caminho que corresponda àquela função; consequentemente, nenhum dado de teste será requerido para exercitá-la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latin typeface="NimbusRomNo9L-Regu"/>
              </a:rPr>
              <a:t>correção coincidente: o programa pode apresentar, coincidentemente, um resultado correto para um dado em particular de entrada, satisfazendo um requisito de teste e não revelando a presença de um defeito; entretanto, se escolhido outro dado de entrada, o resultado obtido poderia ser incorreto</a:t>
            </a:r>
            <a:r>
              <a:rPr lang="pt-BR" sz="2400" dirty="0"/>
              <a:t> </a:t>
            </a:r>
            <a:br>
              <a:rPr lang="pt-BR" sz="2800" dirty="0"/>
            </a:br>
            <a:endParaRPr lang="pt-BR" sz="3600" dirty="0"/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F75A6BA9-9FC0-060B-A707-E7FC8B96984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53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15F7AB-3ED4-F82B-BF73-A2F2F414A1D0}"/>
              </a:ext>
            </a:extLst>
          </p:cNvPr>
          <p:cNvSpPr txBox="1"/>
          <p:nvPr/>
        </p:nvSpPr>
        <p:spPr>
          <a:xfrm>
            <a:off x="643399" y="1458849"/>
            <a:ext cx="1081609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Independentemente dessas desvantagens, a técnica estrutural é vista como </a:t>
            </a:r>
            <a:r>
              <a:rPr lang="pt-BR" sz="2800" b="1" i="0" u="sng" dirty="0">
                <a:solidFill>
                  <a:srgbClr val="000000"/>
                </a:solidFill>
                <a:effectLst/>
                <a:latin typeface="NimbusRomNo9L-Regu"/>
              </a:rPr>
              <a:t>complementar às demais técnicas 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NimbusRomNo9L-Regu"/>
              </a:rPr>
              <a:t>de teste existentes, uma vez que cobre </a:t>
            </a:r>
            <a:r>
              <a:rPr lang="pt-BR" sz="2800" b="0" i="1" dirty="0">
                <a:solidFill>
                  <a:srgbClr val="0000FF"/>
                </a:solidFill>
                <a:effectLst/>
                <a:latin typeface="NimbusRomNo9L-Regu"/>
              </a:rPr>
              <a:t>classes distintas de defeitos!</a:t>
            </a:r>
          </a:p>
          <a:p>
            <a:endParaRPr lang="pt-BR" sz="2800" dirty="0">
              <a:latin typeface="NimbusRomNo9L-Regu"/>
            </a:endParaRPr>
          </a:p>
          <a:p>
            <a:r>
              <a:rPr lang="pt-BR" sz="2800" dirty="0"/>
              <a:t>As informações obtidas pela aplicação de critérios estruturais têm sido consideradas relevantes para as atividades de manutenção, depuração e avaliação da confiabilidade (</a:t>
            </a:r>
            <a:r>
              <a:rPr lang="pt-BR" sz="2800" i="1" dirty="0" err="1"/>
              <a:t>reliability</a:t>
            </a:r>
            <a:r>
              <a:rPr lang="pt-BR" sz="2800" dirty="0"/>
              <a:t>) de software</a:t>
            </a:r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F75A6BA9-9FC0-060B-A707-E7FC8B96984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826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32825-B629-D646-8D3B-039BB209A3D9}"/>
              </a:ext>
            </a:extLst>
          </p:cNvPr>
          <p:cNvSpPr txBox="1"/>
          <p:nvPr/>
        </p:nvSpPr>
        <p:spPr>
          <a:xfrm>
            <a:off x="439072" y="1107567"/>
            <a:ext cx="1115421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3000" u="sng"/>
              <a:t>Conceito: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1600" u="sng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É um método de projeto de testes que usa a 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estrutura de controle </a:t>
            </a:r>
            <a:r>
              <a:rPr lang="pt-BR" sz="2800" dirty="0"/>
              <a:t>do projeto procedimental para derivar casos de teste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Conhecido também como </a:t>
            </a:r>
            <a:r>
              <a:rPr lang="pt-BR" sz="2800" b="1" i="1" dirty="0">
                <a:solidFill>
                  <a:schemeClr val="accent4">
                    <a:lumMod val="75000"/>
                  </a:schemeClr>
                </a:solidFill>
              </a:rPr>
              <a:t>Teste de Caixa Branca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Baseia-­se num minucioso exame dos detalhes procedimentais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Caminhos lógicos do software são testados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Não é viável testar todos os caminhos lógicos de um programa (isto é, </a:t>
            </a:r>
            <a:r>
              <a:rPr lang="pt-BR" sz="2800" i="1" dirty="0"/>
              <a:t>teste exaustivo</a:t>
            </a:r>
            <a:r>
              <a:rPr lang="pt-B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772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CF9E55-9F36-534D-95C9-34D402E2214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32825-B629-D646-8D3B-039BB209A3D9}"/>
              </a:ext>
            </a:extLst>
          </p:cNvPr>
          <p:cNvSpPr txBox="1"/>
          <p:nvPr/>
        </p:nvSpPr>
        <p:spPr>
          <a:xfrm>
            <a:off x="436203" y="1287182"/>
            <a:ext cx="1115421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Técnica de Teste de Caixa Branca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Calcula-se a complexidade lógica do software e utiliza esta medida como base para descobrir os caminhos básicos do software, isto é, o 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conjunto básico de caminhos de execução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i="1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Os casos de teste derivados para executar os caminhos básicos tem 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a garantia de executar cada instrução pelo menos uma vez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i="1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A maioria dos critérios da técnica estrutural utiliza uma representação de programa conhecida como “Grafo de Fluxo de  Controle” (</a:t>
            </a:r>
            <a:r>
              <a:rPr lang="pt-BR" sz="2800" b="1" dirty="0"/>
              <a:t>GFC</a:t>
            </a:r>
            <a:r>
              <a:rPr lang="pt-BR" sz="2800" dirty="0"/>
              <a:t>) ou “Grafo de Programa”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0BF5DB-2847-16D2-AF2B-0913AE7F4274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85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8FB4BE1D-D137-5A60-6FF2-147DB02531BF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F6F52-0708-7E75-7A0E-AB6CCF33FEA5}"/>
              </a:ext>
            </a:extLst>
          </p:cNvPr>
          <p:cNvSpPr txBox="1"/>
          <p:nvPr/>
        </p:nvSpPr>
        <p:spPr>
          <a:xfrm>
            <a:off x="436203" y="1287182"/>
            <a:ext cx="111542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No GFC um programa </a:t>
            </a:r>
            <a:r>
              <a:rPr lang="pt-BR" sz="2800" i="1" dirty="0"/>
              <a:t>P </a:t>
            </a:r>
            <a:r>
              <a:rPr lang="pt-BR" sz="2800" dirty="0"/>
              <a:t>pode ser decomposto em um conjunto de blocos disjuntos de comandos</a:t>
            </a:r>
            <a:endParaRPr lang="pt-BR" sz="2800" i="1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i="1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A execução do primeiro comando de um bloco acarreta a execução de todos os outros comandos desse bloco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Todos os comandos de um bloco, possivelmente com exceção do primeiro, têm um único predecessor e exatamente um único sucessor, exceto possivelmente o último comando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4683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8FB4BE1D-D137-5A60-6FF2-147DB02531BF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AF6F52-0708-7E75-7A0E-AB6CCF33FEA5}"/>
                  </a:ext>
                </a:extLst>
              </p:cNvPr>
              <p:cNvSpPr txBox="1"/>
              <p:nvPr/>
            </p:nvSpPr>
            <p:spPr>
              <a:xfrm>
                <a:off x="436203" y="888975"/>
                <a:ext cx="11154215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Clr>
                    <a:schemeClr val="accent4">
                      <a:lumMod val="75000"/>
                    </a:schemeClr>
                  </a:buClr>
                  <a:buFont typeface="Wingdings" pitchFamily="2" charset="2"/>
                  <a:buChar char="ü"/>
                </a:pPr>
                <a:r>
                  <a:rPr lang="pt-BR" sz="2800" dirty="0"/>
                  <a:t>Usualmente, a representação de um programa </a:t>
                </a:r>
                <a:r>
                  <a:rPr lang="pt-BR" sz="2800" i="1" dirty="0"/>
                  <a:t>P</a:t>
                </a:r>
                <a:r>
                  <a:rPr lang="pt-BR" sz="2800" dirty="0"/>
                  <a:t> como um GFC, </a:t>
                </a:r>
                <a:r>
                  <a:rPr lang="pt-BR" sz="2800" i="1" dirty="0"/>
                  <a:t>G:</a:t>
                </a:r>
                <a:endParaRPr lang="en-GB" sz="2800" i="1" dirty="0">
                  <a:latin typeface="Cambria Math" panose="02040503050406030204" pitchFamily="18" charset="0"/>
                </a:endParaRPr>
              </a:p>
              <a:p>
                <a:pPr algn="ctr">
                  <a:buClr>
                    <a:schemeClr val="accent4">
                      <a:lumMod val="75000"/>
                    </a:schemeClr>
                  </a:buClr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pPr marL="457200" indent="-457200" algn="just">
                  <a:buClr>
                    <a:schemeClr val="accent4">
                      <a:lumMod val="75000"/>
                    </a:schemeClr>
                  </a:buClr>
                  <a:buFont typeface="Wingdings" pitchFamily="2" charset="2"/>
                  <a:buChar char="ü"/>
                </a:pPr>
                <a:r>
                  <a:rPr lang="pt-BR" sz="2800" dirty="0"/>
                  <a:t>Consiste em estabelecer uma correspondência entre vértices (nós) e blocos e em indicar possíveis fluxos de controle entre blocos por meio das arestas (arcos)</a:t>
                </a:r>
              </a:p>
              <a:p>
                <a:pPr marL="457200" indent="-457200" algn="just">
                  <a:buClr>
                    <a:schemeClr val="accent4">
                      <a:lumMod val="75000"/>
                    </a:schemeClr>
                  </a:buClr>
                  <a:buFont typeface="Wingdings" pitchFamily="2" charset="2"/>
                  <a:buChar char="ü"/>
                </a:pPr>
                <a:endParaRPr lang="pt-BR" sz="2800" dirty="0"/>
              </a:p>
              <a:p>
                <a:pPr marL="457200" indent="-457200" algn="just">
                  <a:buClr>
                    <a:schemeClr val="accent4">
                      <a:lumMod val="75000"/>
                    </a:schemeClr>
                  </a:buClr>
                  <a:buFont typeface="Wingdings" pitchFamily="2" charset="2"/>
                  <a:buChar char="ü"/>
                </a:pPr>
                <a:r>
                  <a:rPr lang="pt-BR" sz="2800" dirty="0"/>
                  <a:t>Assume-se que um GFC é um grafo orientado, com um único nó de entrada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> e um único nó de saída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>, no qual cada vértice representa um bloco indivisível de comandos e cada aresta representa um possível desvio de um bloco para outro</a:t>
                </a:r>
              </a:p>
              <a:p>
                <a:pPr marL="457200" indent="-457200" algn="just">
                  <a:buClr>
                    <a:schemeClr val="accent4">
                      <a:lumMod val="75000"/>
                    </a:schemeClr>
                  </a:buClr>
                  <a:buFont typeface="Wingdings" pitchFamily="2" charset="2"/>
                  <a:buChar char="ü"/>
                </a:pPr>
                <a:endParaRPr lang="pt-BR" sz="2800" dirty="0"/>
              </a:p>
              <a:p>
                <a:pPr marL="457200" indent="-457200" algn="just">
                  <a:buClr>
                    <a:schemeClr val="accent4">
                      <a:lumMod val="75000"/>
                    </a:schemeClr>
                  </a:buClr>
                  <a:buFont typeface="Wingdings" pitchFamily="2" charset="2"/>
                  <a:buChar char="ü"/>
                </a:pPr>
                <a:r>
                  <a:rPr lang="pt-BR" sz="2800" dirty="0"/>
                  <a:t>A partir do GFC podem ser escolhidos os elementos que devem ser executados, caracterizando assim o teste estrutural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AF6F52-0708-7E75-7A0E-AB6CCF33F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3" y="888975"/>
                <a:ext cx="11154215" cy="5693866"/>
              </a:xfrm>
              <a:prstGeom prst="rect">
                <a:avLst/>
              </a:prstGeom>
              <a:blipFill>
                <a:blip r:embed="rId2"/>
                <a:stretch>
                  <a:fillRect l="-984" t="-1071" r="-1148" b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973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8FB4BE1D-D137-5A60-6FF2-147DB02531BF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AF6F52-0708-7E75-7A0E-AB6CCF33FEA5}"/>
                  </a:ext>
                </a:extLst>
              </p:cNvPr>
              <p:cNvSpPr txBox="1"/>
              <p:nvPr/>
            </p:nvSpPr>
            <p:spPr>
              <a:xfrm>
                <a:off x="436203" y="1029083"/>
                <a:ext cx="11154215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Seja um GFC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em que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N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representa o conjunto de nós,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E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o conjunto de arcos, e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s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o nó de entrada. Um “caminho” é uma sequência finita de nós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(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n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7"/>
                  </a:rPr>
                  <a:t>1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, n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7"/>
                  </a:rPr>
                  <a:t>2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, . . . , 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10"/>
                  </a:rPr>
                  <a:t>n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7"/>
                  </a:rPr>
                  <a:t>k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)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,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k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SY10"/>
                  </a:rPr>
                  <a:t>≥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2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, tal que existe um arco de 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10"/>
                  </a:rPr>
                  <a:t>n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7"/>
                  </a:rPr>
                  <a:t>i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7"/>
                  </a:rPr>
                  <a:t>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para 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10"/>
                  </a:rPr>
                  <a:t>n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7"/>
                  </a:rPr>
                  <a:t>i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7"/>
                  </a:rPr>
                  <a:t>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+ 1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para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i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= 1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,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2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, . . . , k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SY10"/>
                  </a:rPr>
                  <a:t>-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1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.</a:t>
                </a: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endParaRPr lang="pt-BR" sz="2400" dirty="0">
                  <a:solidFill>
                    <a:srgbClr val="000000"/>
                  </a:solidFill>
                  <a:latin typeface="NimbusRomNo9L-Regu"/>
                </a:endParaRP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Um caminho é um “caminho simples” se todos os nós que compõem esse caminho, exceto possivelmente o primeiro e o último, são distintos; se todos os nós são distintos, diz-se que esse caminho é um “caminho livre de laço”. </a:t>
                </a: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endParaRPr lang="pt-BR" sz="2400" dirty="0">
                  <a:solidFill>
                    <a:srgbClr val="000000"/>
                  </a:solidFill>
                  <a:latin typeface="NimbusRomNo9L-Regu"/>
                </a:endParaRP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Um “caminho completo” é aquele em que o primeiro nó é o nó de entrada e o último nó é um nó de saída do grafo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G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.</a:t>
                </a: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endParaRPr lang="pt-BR" sz="2400" dirty="0">
                  <a:solidFill>
                    <a:srgbClr val="000000"/>
                  </a:solidFill>
                  <a:latin typeface="NimbusRomNo9L-Regu"/>
                </a:endParaRP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solidFill>
                      <a:srgbClr val="000000"/>
                    </a:solidFill>
                    <a:latin typeface="NimbusRomNo9L-Regu"/>
                  </a:rPr>
                  <a:t>Seja IN(x) e OUT(x) o número de arcos que entram e que saem do nó x, respectivamente. Assumimos IN(s) = 0, tal que s é o nó de entrada, e OUT(o) = 0, tal que o é o nó de saída.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AF6F52-0708-7E75-7A0E-AB6CCF33F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3" y="1029083"/>
                <a:ext cx="11154215" cy="5262979"/>
              </a:xfrm>
              <a:prstGeom prst="rect">
                <a:avLst/>
              </a:prstGeom>
              <a:blipFill>
                <a:blip r:embed="rId2"/>
                <a:stretch>
                  <a:fillRect l="-765" t="-927" r="-875" b="-17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13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8FB4BE1D-D137-5A60-6FF2-147DB02531BF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- ESTRUTURAL</a:t>
            </a:r>
            <a:endParaRPr lang="pt-BR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AF6F52-0708-7E75-7A0E-AB6CCF33FEA5}"/>
                  </a:ext>
                </a:extLst>
              </p:cNvPr>
              <p:cNvSpPr txBox="1"/>
              <p:nvPr/>
            </p:nvSpPr>
            <p:spPr>
              <a:xfrm>
                <a:off x="436203" y="1029083"/>
                <a:ext cx="11154215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Seja um GFC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em que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N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representa o conjunto de nós,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E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o conjunto de arcos, e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s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o nó de entrada. Um “caminho” é uma sequência finita de nós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(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n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7"/>
                  </a:rPr>
                  <a:t>1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, n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7"/>
                  </a:rPr>
                  <a:t>2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, . . . , 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10"/>
                  </a:rPr>
                  <a:t>n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7"/>
                  </a:rPr>
                  <a:t>k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)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,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k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SY10"/>
                  </a:rPr>
                  <a:t>≥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2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, tal que existe um arco de 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10"/>
                  </a:rPr>
                  <a:t>n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7"/>
                  </a:rPr>
                  <a:t>i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7"/>
                  </a:rPr>
                  <a:t>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para 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10"/>
                  </a:rPr>
                  <a:t>n</a:t>
                </a:r>
                <a:r>
                  <a:rPr lang="pt-BR" sz="2400" b="0" i="1" dirty="0" err="1">
                    <a:solidFill>
                      <a:srgbClr val="000000"/>
                    </a:solidFill>
                    <a:effectLst/>
                    <a:latin typeface="CMMI7"/>
                  </a:rPr>
                  <a:t>i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7"/>
                  </a:rPr>
                  <a:t>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+ 1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para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i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= 1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,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2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, . . . , k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SY10"/>
                  </a:rPr>
                  <a:t>- 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CMR10"/>
                  </a:rPr>
                  <a:t>1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.</a:t>
                </a: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endParaRPr lang="pt-BR" sz="2400" dirty="0">
                  <a:solidFill>
                    <a:srgbClr val="000000"/>
                  </a:solidFill>
                  <a:latin typeface="NimbusRomNo9L-Regu"/>
                </a:endParaRP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Um caminho é um “caminho simples” se todos os nós que compõem esse caminho, exceto possivelmente o primeiro e o último, são distintos; se todos os nós são distintos, diz-se que esse caminho é um “caminho livre de laço”. </a:t>
                </a: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endParaRPr lang="pt-BR" sz="2400" dirty="0">
                  <a:solidFill>
                    <a:srgbClr val="000000"/>
                  </a:solidFill>
                  <a:latin typeface="NimbusRomNo9L-Regu"/>
                </a:endParaRP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Um “caminho completo” é aquele em que o primeiro nó é o nó de entrada e o último nó é um nó de saída do grafo </a:t>
                </a:r>
                <a:r>
                  <a:rPr lang="pt-BR" sz="2400" b="0" i="1" dirty="0">
                    <a:solidFill>
                      <a:srgbClr val="000000"/>
                    </a:solidFill>
                    <a:effectLst/>
                    <a:latin typeface="CMMI10"/>
                  </a:rPr>
                  <a:t>G</a:t>
                </a:r>
                <a:r>
                  <a:rPr lang="pt-BR" sz="2400" b="0" i="0" dirty="0">
                    <a:solidFill>
                      <a:srgbClr val="000000"/>
                    </a:solidFill>
                    <a:effectLst/>
                    <a:latin typeface="NimbusRomNo9L-Regu"/>
                  </a:rPr>
                  <a:t>.</a:t>
                </a: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endParaRPr lang="pt-BR" sz="2400" dirty="0">
                  <a:solidFill>
                    <a:srgbClr val="000000"/>
                  </a:solidFill>
                  <a:latin typeface="NimbusRomNo9L-Regu"/>
                </a:endParaRPr>
              </a:p>
              <a:p>
                <a:pPr marL="342900" indent="-3429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solidFill>
                      <a:srgbClr val="000000"/>
                    </a:solidFill>
                    <a:latin typeface="NimbusRomNo9L-Regu"/>
                  </a:rPr>
                  <a:t>Seja IN(x) e OUT(x) o número de arcos que entram e que saem do nó x, respectivamente. Assumimos IN(s) = 0, tal que s é o nó de entrada, e OUT(o) = 0, tal que o é o nó de saída.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AF6F52-0708-7E75-7A0E-AB6CCF33F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3" y="1029083"/>
                <a:ext cx="11154215" cy="5262979"/>
              </a:xfrm>
              <a:prstGeom prst="rect">
                <a:avLst/>
              </a:prstGeom>
              <a:blipFill>
                <a:blip r:embed="rId2"/>
                <a:stretch>
                  <a:fillRect l="-765" t="-927" r="-875" b="-17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85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E8D0256-25BE-0D4B-90B0-6E651193D9F0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CASOS DE TESTE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32825-B629-D646-8D3B-039BB209A3D9}"/>
              </a:ext>
            </a:extLst>
          </p:cNvPr>
          <p:cNvSpPr txBox="1"/>
          <p:nvPr/>
        </p:nvSpPr>
        <p:spPr>
          <a:xfrm>
            <a:off x="436203" y="1221868"/>
            <a:ext cx="1115421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3000" dirty="0"/>
              <a:t>Os </a:t>
            </a:r>
            <a:r>
              <a:rPr lang="pt-BR" sz="3000" i="1" dirty="0">
                <a:solidFill>
                  <a:schemeClr val="accent4">
                    <a:lumMod val="75000"/>
                  </a:schemeClr>
                </a:solidFill>
              </a:rPr>
              <a:t>Casos de Teste </a:t>
            </a:r>
            <a:r>
              <a:rPr lang="pt-BR" sz="3000" dirty="0"/>
              <a:t>no </a:t>
            </a:r>
            <a:r>
              <a:rPr lang="pt-BR" sz="3000" b="1" dirty="0">
                <a:solidFill>
                  <a:schemeClr val="accent4">
                    <a:lumMod val="75000"/>
                  </a:schemeClr>
                </a:solidFill>
              </a:rPr>
              <a:t>Teste Estrutural </a:t>
            </a:r>
            <a:r>
              <a:rPr lang="pt-BR" sz="3000" dirty="0"/>
              <a:t>devem: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Garantir que todos os 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caminhos independentes </a:t>
            </a:r>
            <a:r>
              <a:rPr lang="pt-BR" sz="2800" dirty="0"/>
              <a:t>de um módulo tenham sido exercitados pelo menos uma vez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Exercitem todas as 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decisões lógicas </a:t>
            </a:r>
            <a:r>
              <a:rPr lang="pt-BR" sz="2800" dirty="0"/>
              <a:t>em seus lados verdadeiro e falso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Executem todos os 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ciclos nos seus limites </a:t>
            </a:r>
            <a:r>
              <a:rPr lang="pt-BR" sz="2800" dirty="0"/>
              <a:t>e dentro de seus intervalos operacionais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Exercitem as 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condições</a:t>
            </a:r>
            <a:endParaRPr lang="pt-BR" sz="24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791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NOTAÇÃO DE GRAFO DE FLUXO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15965" y="960214"/>
            <a:ext cx="1104179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dirty="0"/>
              <a:t>O </a:t>
            </a:r>
            <a:r>
              <a:rPr lang="pt-BR" sz="3000" b="1" dirty="0">
                <a:solidFill>
                  <a:schemeClr val="accent4">
                    <a:lumMod val="75000"/>
                  </a:schemeClr>
                </a:solidFill>
              </a:rPr>
              <a:t>Grafo de Fluxo </a:t>
            </a:r>
            <a:r>
              <a:rPr lang="pt-BR" sz="3000" dirty="0"/>
              <a:t>mostra o fluxo de controle, isto é, o código é modelado como um </a:t>
            </a:r>
            <a:r>
              <a:rPr lang="pt-BR" sz="3000" i="1" dirty="0" err="1">
                <a:solidFill>
                  <a:schemeClr val="accent4">
                    <a:lumMod val="75000"/>
                  </a:schemeClr>
                </a:solidFill>
              </a:rPr>
              <a:t>control</a:t>
            </a:r>
            <a:r>
              <a:rPr lang="pt-BR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3000" i="1" dirty="0" err="1">
                <a:solidFill>
                  <a:schemeClr val="accent4">
                    <a:lumMod val="75000"/>
                  </a:schemeClr>
                </a:solidFill>
              </a:rPr>
              <a:t>flow</a:t>
            </a:r>
            <a:r>
              <a:rPr lang="pt-BR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3000" i="1" dirty="0" err="1">
                <a:solidFill>
                  <a:schemeClr val="accent4">
                    <a:lumMod val="75000"/>
                  </a:schemeClr>
                </a:solidFill>
              </a:rPr>
              <a:t>graph</a:t>
            </a:r>
            <a:r>
              <a:rPr lang="pt-BR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3000" dirty="0"/>
              <a:t>(</a:t>
            </a:r>
            <a:r>
              <a:rPr lang="pt-BR" sz="3000" dirty="0">
                <a:solidFill>
                  <a:schemeClr val="accent4">
                    <a:lumMod val="75000"/>
                  </a:schemeClr>
                </a:solidFill>
              </a:rPr>
              <a:t>CFG</a:t>
            </a:r>
            <a:r>
              <a:rPr lang="pt-BR" sz="30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i="1" dirty="0" err="1">
                <a:solidFill>
                  <a:schemeClr val="accent4">
                    <a:lumMod val="75000"/>
                  </a:schemeClr>
                </a:solidFill>
              </a:rPr>
              <a:t>Control</a:t>
            </a:r>
            <a:r>
              <a:rPr lang="pt-BR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3000" i="1" dirty="0" err="1">
                <a:solidFill>
                  <a:schemeClr val="accent4">
                    <a:lumMod val="75000"/>
                  </a:schemeClr>
                </a:solidFill>
              </a:rPr>
              <a:t>flow</a:t>
            </a:r>
            <a:r>
              <a:rPr lang="pt-BR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3000" i="1" dirty="0" err="1">
                <a:solidFill>
                  <a:schemeClr val="accent4">
                    <a:lumMod val="75000"/>
                  </a:schemeClr>
                </a:solidFill>
              </a:rPr>
              <a:t>graphs</a:t>
            </a:r>
            <a:r>
              <a:rPr lang="pt-BR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3000" dirty="0"/>
              <a:t>associam uma borda com cada ramificação possível no programa e um nó com sequências de instruções. Logo: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00D2D-EE2D-9BF2-9A4C-343AC68A0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252" y="3504198"/>
            <a:ext cx="8195496" cy="2926321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3681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 EXEMPLO DE GRAFO DE FLUXO</a:t>
            </a:r>
            <a:endParaRPr lang="pt-BR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174D4-19A9-1A18-8243-8DCEFD25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047" y="1058550"/>
            <a:ext cx="7563906" cy="522995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465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GRAFO DE FLUXO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8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EE2986-3FE2-3E46-ABC9-1C4C730F2D5F}"/>
              </a:ext>
            </a:extLst>
          </p:cNvPr>
          <p:cNvGrpSpPr/>
          <p:nvPr/>
        </p:nvGrpSpPr>
        <p:grpSpPr>
          <a:xfrm>
            <a:off x="6222278" y="2250226"/>
            <a:ext cx="5024841" cy="3666611"/>
            <a:chOff x="7337846" y="2178608"/>
            <a:chExt cx="5024841" cy="366661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1A1368-6772-5B44-A8D5-09FBDCE2D5BD}"/>
                </a:ext>
              </a:extLst>
            </p:cNvPr>
            <p:cNvSpPr/>
            <p:nvPr/>
          </p:nvSpPr>
          <p:spPr>
            <a:xfrm>
              <a:off x="7337846" y="2178608"/>
              <a:ext cx="5024841" cy="366661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F3E2261-EB1C-A847-9E55-7181159D5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9156" y="2290396"/>
              <a:ext cx="4793602" cy="346204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2B62C4-3F75-B74F-8B12-33177E6B3B2D}"/>
              </a:ext>
            </a:extLst>
          </p:cNvPr>
          <p:cNvGrpSpPr/>
          <p:nvPr/>
        </p:nvGrpSpPr>
        <p:grpSpPr>
          <a:xfrm>
            <a:off x="609616" y="2250226"/>
            <a:ext cx="4821919" cy="3675086"/>
            <a:chOff x="-194008" y="2442919"/>
            <a:chExt cx="4821919" cy="36750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331552-AB92-BC4D-AEEA-4B79DEB387D6}"/>
                </a:ext>
              </a:extLst>
            </p:cNvPr>
            <p:cNvSpPr/>
            <p:nvPr/>
          </p:nvSpPr>
          <p:spPr>
            <a:xfrm>
              <a:off x="-194008" y="2442919"/>
              <a:ext cx="4821919" cy="367508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8F3ACB-FD0C-0D4B-AF9C-BC9D6316C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1911" y="2554709"/>
              <a:ext cx="4603377" cy="346204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A215E04-6C40-2F4E-8C53-B4DBBA10E9FB}"/>
              </a:ext>
            </a:extLst>
          </p:cNvPr>
          <p:cNvSpPr txBox="1"/>
          <p:nvPr/>
        </p:nvSpPr>
        <p:spPr>
          <a:xfrm>
            <a:off x="633984" y="1393204"/>
            <a:ext cx="25420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u="sng" dirty="0"/>
              <a:t>CFG:</a:t>
            </a:r>
            <a:r>
              <a:rPr lang="en-US" sz="2600" dirty="0"/>
              <a:t> 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if-else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A1F10-ABDA-E843-B5F6-57D140E3C800}"/>
              </a:ext>
            </a:extLst>
          </p:cNvPr>
          <p:cNvSpPr txBox="1"/>
          <p:nvPr/>
        </p:nvSpPr>
        <p:spPr>
          <a:xfrm>
            <a:off x="6213746" y="1393205"/>
            <a:ext cx="33345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u="sng" dirty="0"/>
              <a:t>CFG:</a:t>
            </a:r>
            <a:r>
              <a:rPr lang="en-US" sz="2600" dirty="0"/>
              <a:t> 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if without else</a:t>
            </a:r>
          </a:p>
        </p:txBody>
      </p:sp>
    </p:spTree>
    <p:extLst>
      <p:ext uri="{BB962C8B-B14F-4D97-AF65-F5344CB8AC3E}">
        <p14:creationId xmlns:p14="http://schemas.microsoft.com/office/powerpoint/2010/main" val="239243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91E3E8B-54BA-A644-A9AC-DC7DA8DE2E5B}"/>
              </a:ext>
            </a:extLst>
          </p:cNvPr>
          <p:cNvSpPr/>
          <p:nvPr/>
        </p:nvSpPr>
        <p:spPr>
          <a:xfrm>
            <a:off x="903950" y="2505210"/>
            <a:ext cx="4366793" cy="30997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GRAFO DE FLUXO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15E04-6C40-2F4E-8C53-B4DBBA10E9FB}"/>
              </a:ext>
            </a:extLst>
          </p:cNvPr>
          <p:cNvSpPr txBox="1"/>
          <p:nvPr/>
        </p:nvSpPr>
        <p:spPr>
          <a:xfrm>
            <a:off x="903950" y="1666918"/>
            <a:ext cx="30236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u="sng" dirty="0"/>
              <a:t>CFG:</a:t>
            </a:r>
            <a:r>
              <a:rPr lang="en-US" sz="2600" dirty="0"/>
              <a:t> 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if with return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A1F10-ABDA-E843-B5F6-57D140E3C800}"/>
              </a:ext>
            </a:extLst>
          </p:cNvPr>
          <p:cNvSpPr txBox="1"/>
          <p:nvPr/>
        </p:nvSpPr>
        <p:spPr>
          <a:xfrm>
            <a:off x="6583703" y="1666918"/>
            <a:ext cx="33345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u="sng" dirty="0"/>
              <a:t>CFG:</a:t>
            </a:r>
            <a:r>
              <a:rPr lang="en-US" sz="2600" dirty="0"/>
              <a:t> 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while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BBB48-AF14-7042-92A8-2E482EB9D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66" y="2644731"/>
            <a:ext cx="3898646" cy="282609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117861D-C18A-A841-A72E-E09CC0D34127}"/>
              </a:ext>
            </a:extLst>
          </p:cNvPr>
          <p:cNvGrpSpPr/>
          <p:nvPr/>
        </p:nvGrpSpPr>
        <p:grpSpPr>
          <a:xfrm>
            <a:off x="6552273" y="2505210"/>
            <a:ext cx="4366793" cy="3099725"/>
            <a:chOff x="6552273" y="2505210"/>
            <a:chExt cx="4366793" cy="309972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B952AEF-3371-984A-939A-D62A9ABB0D20}"/>
                </a:ext>
              </a:extLst>
            </p:cNvPr>
            <p:cNvSpPr/>
            <p:nvPr/>
          </p:nvSpPr>
          <p:spPr>
            <a:xfrm>
              <a:off x="6552273" y="2505210"/>
              <a:ext cx="4366793" cy="309972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C5DF158-3F29-614E-AF4F-11E84B074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3703" y="2571580"/>
              <a:ext cx="4298788" cy="29331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66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GRAFO DE FLUXO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15E04-6C40-2F4E-8C53-B4DBBA10E9FB}"/>
              </a:ext>
            </a:extLst>
          </p:cNvPr>
          <p:cNvSpPr txBox="1"/>
          <p:nvPr/>
        </p:nvSpPr>
        <p:spPr>
          <a:xfrm>
            <a:off x="903950" y="1666918"/>
            <a:ext cx="30236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u="sng" dirty="0"/>
              <a:t>CFG:</a:t>
            </a:r>
            <a:r>
              <a:rPr lang="en-US" sz="2600" dirty="0"/>
              <a:t> 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for loop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A1F10-ABDA-E843-B5F6-57D140E3C800}"/>
              </a:ext>
            </a:extLst>
          </p:cNvPr>
          <p:cNvSpPr txBox="1"/>
          <p:nvPr/>
        </p:nvSpPr>
        <p:spPr>
          <a:xfrm>
            <a:off x="6583703" y="1666918"/>
            <a:ext cx="33345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u="sng" dirty="0"/>
              <a:t>CFG:</a:t>
            </a:r>
            <a:r>
              <a:rPr lang="en-US" sz="2600" dirty="0"/>
              <a:t> 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do-while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2C42B8-4929-5141-8DE3-496CEFFF246D}"/>
              </a:ext>
            </a:extLst>
          </p:cNvPr>
          <p:cNvGrpSpPr/>
          <p:nvPr/>
        </p:nvGrpSpPr>
        <p:grpSpPr>
          <a:xfrm>
            <a:off x="903950" y="2505210"/>
            <a:ext cx="4366793" cy="3099725"/>
            <a:chOff x="903950" y="2505210"/>
            <a:chExt cx="4366793" cy="30997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91E3E8B-54BA-A644-A9AC-DC7DA8DE2E5B}"/>
                </a:ext>
              </a:extLst>
            </p:cNvPr>
            <p:cNvSpPr/>
            <p:nvPr/>
          </p:nvSpPr>
          <p:spPr>
            <a:xfrm>
              <a:off x="903950" y="2505210"/>
              <a:ext cx="4366793" cy="309972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8032F39-4934-C049-B4D0-F89A5FDC3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442" y="2584919"/>
              <a:ext cx="3964870" cy="2946863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19F8591-4469-6546-828D-579E1FC1C3AA}"/>
              </a:ext>
            </a:extLst>
          </p:cNvPr>
          <p:cNvGrpSpPr/>
          <p:nvPr/>
        </p:nvGrpSpPr>
        <p:grpSpPr>
          <a:xfrm>
            <a:off x="6552273" y="2505210"/>
            <a:ext cx="4366793" cy="3099725"/>
            <a:chOff x="6552273" y="2505210"/>
            <a:chExt cx="4366793" cy="309972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B952AEF-3371-984A-939A-D62A9ABB0D20}"/>
                </a:ext>
              </a:extLst>
            </p:cNvPr>
            <p:cNvSpPr/>
            <p:nvPr/>
          </p:nvSpPr>
          <p:spPr>
            <a:xfrm>
              <a:off x="6552273" y="2505210"/>
              <a:ext cx="4366793" cy="309972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56744D-28FB-9B42-A3C0-0D0788917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8568" y="2689385"/>
              <a:ext cx="4169640" cy="27004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677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GRAFO DE FLUXO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15E04-6C40-2F4E-8C53-B4DBBA10E9FB}"/>
              </a:ext>
            </a:extLst>
          </p:cNvPr>
          <p:cNvSpPr txBox="1"/>
          <p:nvPr/>
        </p:nvSpPr>
        <p:spPr>
          <a:xfrm>
            <a:off x="666206" y="1123147"/>
            <a:ext cx="30236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u="sng" dirty="0"/>
              <a:t>CFG:</a:t>
            </a:r>
            <a:r>
              <a:rPr lang="en-US" sz="2600" dirty="0"/>
              <a:t> 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case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1E3E8B-54BA-A644-A9AC-DC7DA8DE2E5B}"/>
              </a:ext>
            </a:extLst>
          </p:cNvPr>
          <p:cNvSpPr/>
          <p:nvPr/>
        </p:nvSpPr>
        <p:spPr>
          <a:xfrm>
            <a:off x="666206" y="1939503"/>
            <a:ext cx="5460274" cy="420229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B904D-D02F-794D-BDFD-EC7AE973B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49" y="2031344"/>
            <a:ext cx="5130039" cy="399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1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GRAFO DE FLUXO – MÉTRICAS DE COBERTURA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D0015-2105-6546-94C1-00237E3AED5A}"/>
              </a:ext>
            </a:extLst>
          </p:cNvPr>
          <p:cNvSpPr txBox="1"/>
          <p:nvPr/>
        </p:nvSpPr>
        <p:spPr>
          <a:xfrm>
            <a:off x="264881" y="1888214"/>
            <a:ext cx="9281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u="sng" dirty="0"/>
              <a:t>Requisito de teste: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{1,2,3}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B80630-060F-2142-AFBE-0B2D50012672}"/>
              </a:ext>
            </a:extLst>
          </p:cNvPr>
          <p:cNvGrpSpPr/>
          <p:nvPr/>
        </p:nvGrpSpPr>
        <p:grpSpPr>
          <a:xfrm>
            <a:off x="10135978" y="2628803"/>
            <a:ext cx="1454440" cy="2174845"/>
            <a:chOff x="9625263" y="2291919"/>
            <a:chExt cx="1454440" cy="217484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09177BA-4B35-5547-9AFC-86CD33F546B5}"/>
                </a:ext>
              </a:extLst>
            </p:cNvPr>
            <p:cNvSpPr/>
            <p:nvPr/>
          </p:nvSpPr>
          <p:spPr>
            <a:xfrm>
              <a:off x="10413959" y="2704461"/>
              <a:ext cx="457200" cy="457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DF0C0A5-0512-A94C-8B80-9DC7CB7737CC}"/>
                </a:ext>
              </a:extLst>
            </p:cNvPr>
            <p:cNvCxnSpPr>
              <a:cxnSpLocks/>
            </p:cNvCxnSpPr>
            <p:nvPr/>
          </p:nvCxnSpPr>
          <p:spPr>
            <a:xfrm>
              <a:off x="10642559" y="2388171"/>
              <a:ext cx="0" cy="3162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0648C7F-0842-EF4A-8066-160652279E28}"/>
                </a:ext>
              </a:extLst>
            </p:cNvPr>
            <p:cNvSpPr/>
            <p:nvPr/>
          </p:nvSpPr>
          <p:spPr>
            <a:xfrm>
              <a:off x="10413959" y="3905562"/>
              <a:ext cx="457200" cy="457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9611CF2-2AD9-1C4E-A4D6-F9F1E8D9C796}"/>
                </a:ext>
              </a:extLst>
            </p:cNvPr>
            <p:cNvSpPr/>
            <p:nvPr/>
          </p:nvSpPr>
          <p:spPr>
            <a:xfrm>
              <a:off x="9780295" y="3333468"/>
              <a:ext cx="457200" cy="457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529623B-FB43-404F-9DF0-D1DC3E42E145}"/>
                </a:ext>
              </a:extLst>
            </p:cNvPr>
            <p:cNvCxnSpPr>
              <a:cxnSpLocks/>
              <a:stCxn id="6" idx="4"/>
              <a:endCxn id="10" idx="0"/>
            </p:cNvCxnSpPr>
            <p:nvPr/>
          </p:nvCxnSpPr>
          <p:spPr>
            <a:xfrm>
              <a:off x="10642559" y="3161661"/>
              <a:ext cx="0" cy="7439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F692C87-7CDF-E74C-8465-F61B6E0C0F85}"/>
                </a:ext>
              </a:extLst>
            </p:cNvPr>
            <p:cNvCxnSpPr>
              <a:cxnSpLocks/>
              <a:stCxn id="6" idx="3"/>
              <a:endCxn id="11" idx="7"/>
            </p:cNvCxnSpPr>
            <p:nvPr/>
          </p:nvCxnSpPr>
          <p:spPr>
            <a:xfrm flipH="1">
              <a:off x="10170540" y="3094706"/>
              <a:ext cx="310374" cy="3057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B2C8124-5FFF-2C43-9347-657EE4A8CA21}"/>
                </a:ext>
              </a:extLst>
            </p:cNvPr>
            <p:cNvCxnSpPr>
              <a:cxnSpLocks/>
              <a:stCxn id="11" idx="5"/>
              <a:endCxn id="10" idx="1"/>
            </p:cNvCxnSpPr>
            <p:nvPr/>
          </p:nvCxnSpPr>
          <p:spPr>
            <a:xfrm>
              <a:off x="10170540" y="3723713"/>
              <a:ext cx="310374" cy="2488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698F78B-0646-8E45-964F-4F68EBA05A02}"/>
                </a:ext>
              </a:extLst>
            </p:cNvPr>
            <p:cNvSpPr/>
            <p:nvPr/>
          </p:nvSpPr>
          <p:spPr>
            <a:xfrm>
              <a:off x="9625263" y="2291919"/>
              <a:ext cx="1454440" cy="2174845"/>
            </a:xfrm>
            <a:prstGeom prst="roundRect">
              <a:avLst>
                <a:gd name="adj" fmla="val 5102"/>
              </a:avLst>
            </a:prstGeom>
            <a:solidFill>
              <a:schemeClr val="accent4">
                <a:lumMod val="75000"/>
                <a:alpha val="1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4B22B69-BE5C-0441-B1CE-962998D3BDB9}"/>
              </a:ext>
            </a:extLst>
          </p:cNvPr>
          <p:cNvSpPr txBox="1"/>
          <p:nvPr/>
        </p:nvSpPr>
        <p:spPr>
          <a:xfrm>
            <a:off x="264881" y="3005216"/>
            <a:ext cx="92815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Cobertura de Aresta </a:t>
            </a:r>
            <a:r>
              <a:rPr lang="pt-BR" sz="2400" dirty="0"/>
              <a:t>(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Edge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Analisa se os teus testes cobriram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todas</a:t>
            </a:r>
            <a:r>
              <a:rPr lang="pt-BR" sz="2200" dirty="0"/>
              <a:t>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as arestas </a:t>
            </a:r>
            <a:r>
              <a:rPr lang="pt-BR" sz="2200" dirty="0"/>
              <a:t>do teu programa.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F7A4A-B8B5-E240-87EC-9B549122A512}"/>
              </a:ext>
            </a:extLst>
          </p:cNvPr>
          <p:cNvSpPr txBox="1"/>
          <p:nvPr/>
        </p:nvSpPr>
        <p:spPr>
          <a:xfrm>
            <a:off x="264879" y="5046163"/>
            <a:ext cx="92815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Cobertura de Caminho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dirty="0"/>
              <a:t>(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Complete Path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Analisa se os teus testes cobriram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todos os caminhos </a:t>
            </a:r>
            <a:r>
              <a:rPr lang="pt-BR" sz="2200" dirty="0"/>
              <a:t>do teu programa.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6AEDF5-0DC1-9949-9563-B52FCBB0D1A8}"/>
              </a:ext>
            </a:extLst>
          </p:cNvPr>
          <p:cNvSpPr txBox="1"/>
          <p:nvPr/>
        </p:nvSpPr>
        <p:spPr>
          <a:xfrm>
            <a:off x="264882" y="1042981"/>
            <a:ext cx="92815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Cobertura de Nodo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dirty="0"/>
              <a:t>(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Node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Analisa se os teus testes cobriram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todos</a:t>
            </a:r>
            <a:r>
              <a:rPr lang="pt-BR" sz="2200" dirty="0"/>
              <a:t>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os nodos </a:t>
            </a:r>
            <a:r>
              <a:rPr lang="pt-BR" sz="2200" dirty="0"/>
              <a:t>do teu programa.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645C5-EFB9-5C4D-A600-19810E090BA9}"/>
              </a:ext>
            </a:extLst>
          </p:cNvPr>
          <p:cNvSpPr txBox="1"/>
          <p:nvPr/>
        </p:nvSpPr>
        <p:spPr>
          <a:xfrm>
            <a:off x="264880" y="3913810"/>
            <a:ext cx="9281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u="sng" dirty="0"/>
              <a:t>Requisito de teste: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{(1,2), (1,3), (2,3)}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98E38C-8DBA-ED47-8926-C3D9E0E55417}"/>
              </a:ext>
            </a:extLst>
          </p:cNvPr>
          <p:cNvSpPr txBox="1"/>
          <p:nvPr/>
        </p:nvSpPr>
        <p:spPr>
          <a:xfrm>
            <a:off x="264878" y="5969355"/>
            <a:ext cx="9281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u="sng" dirty="0"/>
              <a:t>Caminho do teste: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[1,2,3], [1,3]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95238E-C720-EE42-9918-AEAE94E09A32}"/>
              </a:ext>
            </a:extLst>
          </p:cNvPr>
          <p:cNvSpPr txBox="1"/>
          <p:nvPr/>
        </p:nvSpPr>
        <p:spPr>
          <a:xfrm>
            <a:off x="264877" y="2316975"/>
            <a:ext cx="9281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u="sng" dirty="0"/>
              <a:t>Caminho do teste: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[1,2,3]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3B0575-CDDF-5E48-AF21-C65CAF075D29}"/>
              </a:ext>
            </a:extLst>
          </p:cNvPr>
          <p:cNvSpPr txBox="1"/>
          <p:nvPr/>
        </p:nvSpPr>
        <p:spPr>
          <a:xfrm>
            <a:off x="264876" y="4416597"/>
            <a:ext cx="9281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u="sng" dirty="0"/>
              <a:t>Caminho do teste: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[1,2,3], [1,3]</a:t>
            </a:r>
          </a:p>
        </p:txBody>
      </p:sp>
    </p:spTree>
    <p:extLst>
      <p:ext uri="{BB962C8B-B14F-4D97-AF65-F5344CB8AC3E}">
        <p14:creationId xmlns:p14="http://schemas.microsoft.com/office/powerpoint/2010/main" val="262336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22" grpId="0"/>
      <p:bldP spid="24" grpId="0"/>
      <p:bldP spid="25" grpId="0"/>
      <p:bldP spid="26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GRAFO DE FLUXO - EXEMPLO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ABB2B-4751-A9FC-2D70-D1DF24A1CB98}"/>
              </a:ext>
            </a:extLst>
          </p:cNvPr>
          <p:cNvSpPr txBox="1"/>
          <p:nvPr/>
        </p:nvSpPr>
        <p:spPr>
          <a:xfrm>
            <a:off x="2910447" y="1012384"/>
            <a:ext cx="92815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Cobertura de Nodo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dirty="0"/>
              <a:t>(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Node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Analisa se os teus testes cobriram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todos</a:t>
            </a:r>
            <a:r>
              <a:rPr lang="pt-BR" sz="2200" dirty="0"/>
              <a:t>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os nodos </a:t>
            </a:r>
            <a:r>
              <a:rPr lang="pt-BR" sz="2200" dirty="0"/>
              <a:t>do teu programa.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7DB58-73F6-334D-7C5A-02BEC75EDE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280"/>
          <a:stretch/>
        </p:blipFill>
        <p:spPr>
          <a:xfrm>
            <a:off x="316501" y="1243857"/>
            <a:ext cx="2399255" cy="522995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373DBB-EF80-99D0-C9B8-0269388A9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661" y="2382253"/>
            <a:ext cx="5296639" cy="1476581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1701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GRAFO DE FLUXO - EXEMPLO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7DB58-73F6-334D-7C5A-02BEC75EDE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280"/>
          <a:stretch/>
        </p:blipFill>
        <p:spPr>
          <a:xfrm>
            <a:off x="316501" y="1243857"/>
            <a:ext cx="2399255" cy="522995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E942DB-E99B-5228-FCA8-1440011BC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947" y="3634400"/>
            <a:ext cx="5906324" cy="2229161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2C2D6B-4951-3E60-9145-EC99C086B692}"/>
              </a:ext>
            </a:extLst>
          </p:cNvPr>
          <p:cNvSpPr txBox="1"/>
          <p:nvPr/>
        </p:nvSpPr>
        <p:spPr>
          <a:xfrm>
            <a:off x="3006932" y="1195743"/>
            <a:ext cx="92815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Cobertura de Caminho/Ramos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dirty="0"/>
              <a:t>(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Complete Path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Analisa se os teus testes cobriram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todos os caminhos </a:t>
            </a:r>
            <a:r>
              <a:rPr lang="pt-BR" sz="2200" dirty="0"/>
              <a:t>do teu programa.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CA1D7-35E1-6407-51E8-1D97F905948A}"/>
              </a:ext>
            </a:extLst>
          </p:cNvPr>
          <p:cNvSpPr txBox="1"/>
          <p:nvPr/>
        </p:nvSpPr>
        <p:spPr>
          <a:xfrm>
            <a:off x="3006932" y="2306358"/>
            <a:ext cx="92815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Cobertura de Aresta </a:t>
            </a:r>
            <a:r>
              <a:rPr lang="pt-BR" sz="2400" dirty="0"/>
              <a:t>(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Edge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Analisa se os teus testes cobriram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todas</a:t>
            </a:r>
            <a:r>
              <a:rPr lang="pt-BR" sz="2200" dirty="0"/>
              <a:t>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as arestas </a:t>
            </a:r>
            <a:r>
              <a:rPr lang="pt-BR" sz="2200" dirty="0"/>
              <a:t>do teu programa.</a:t>
            </a:r>
          </a:p>
        </p:txBody>
      </p:sp>
    </p:spTree>
    <p:extLst>
      <p:ext uri="{BB962C8B-B14F-4D97-AF65-F5344CB8AC3E}">
        <p14:creationId xmlns:p14="http://schemas.microsoft.com/office/powerpoint/2010/main" val="116306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COBERTURA DE CONDIÇÃO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4E684-A781-654A-8FAA-A6E94073BCD5}"/>
              </a:ext>
            </a:extLst>
          </p:cNvPr>
          <p:cNvSpPr txBox="1"/>
          <p:nvPr/>
        </p:nvSpPr>
        <p:spPr>
          <a:xfrm>
            <a:off x="264881" y="1031651"/>
            <a:ext cx="1133356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Cobertura de Condição </a:t>
            </a:r>
            <a:r>
              <a:rPr lang="pt-BR" sz="2400" dirty="0"/>
              <a:t>(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Condition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/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Predicate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É a cobertura na qual cada uma das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expressões booleanas </a:t>
            </a:r>
            <a:r>
              <a:rPr lang="pt-BR" sz="2200" dirty="0"/>
              <a:t>foi avaliada como </a:t>
            </a:r>
            <a:r>
              <a:rPr lang="pt-BR" sz="2200" i="1" dirty="0">
                <a:solidFill>
                  <a:schemeClr val="accent4">
                    <a:lumMod val="75000"/>
                  </a:schemeClr>
                </a:solidFill>
              </a:rPr>
              <a:t>verdadeira</a:t>
            </a:r>
            <a:r>
              <a:rPr lang="pt-BR" sz="2200" dirty="0"/>
              <a:t> e </a:t>
            </a:r>
            <a:r>
              <a:rPr lang="pt-BR" sz="2200" i="1" dirty="0">
                <a:solidFill>
                  <a:schemeClr val="accent4">
                    <a:lumMod val="75000"/>
                  </a:schemeClr>
                </a:solidFill>
              </a:rPr>
              <a:t>falsa</a:t>
            </a:r>
            <a:r>
              <a:rPr lang="pt-BR" sz="22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83503-51A1-AA4C-8C77-0BB8BA21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594" y="2594908"/>
            <a:ext cx="2859158" cy="1715495"/>
          </a:xfrm>
          <a:prstGeom prst="rect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5326C4-2588-C675-EEDC-A43E5DE5F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403" y="2323786"/>
            <a:ext cx="2314898" cy="2257740"/>
          </a:xfrm>
          <a:prstGeom prst="rect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D0308F4E-D426-4C00-A97F-DDCFE52A6253}"/>
              </a:ext>
            </a:extLst>
          </p:cNvPr>
          <p:cNvSpPr/>
          <p:nvPr/>
        </p:nvSpPr>
        <p:spPr>
          <a:xfrm>
            <a:off x="5206181" y="3119284"/>
            <a:ext cx="1260987" cy="6194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BCFD1A-389E-F590-4ED6-3FA0D0ED6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5277" y="5115853"/>
            <a:ext cx="3362794" cy="154326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621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COBERTURA DE CONDIÇÃO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4E684-A781-654A-8FAA-A6E94073BCD5}"/>
              </a:ext>
            </a:extLst>
          </p:cNvPr>
          <p:cNvSpPr txBox="1"/>
          <p:nvPr/>
        </p:nvSpPr>
        <p:spPr>
          <a:xfrm>
            <a:off x="264881" y="1031651"/>
            <a:ext cx="1133356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Cobertura de Condição </a:t>
            </a:r>
            <a:r>
              <a:rPr lang="pt-BR" sz="2400" dirty="0"/>
              <a:t>(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Condition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/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Predicate</a:t>
            </a:r>
            <a:r>
              <a:rPr lang="pt-BR" sz="24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i="1" dirty="0" err="1">
                <a:solidFill>
                  <a:schemeClr val="accent4">
                    <a:lumMod val="75000"/>
                  </a:schemeClr>
                </a:solidFill>
              </a:rPr>
              <a:t>coverage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É a cobertura na qual cada uma das </a:t>
            </a:r>
            <a:r>
              <a:rPr lang="pt-BR" sz="2200" b="1" dirty="0">
                <a:solidFill>
                  <a:schemeClr val="accent4">
                    <a:lumMod val="75000"/>
                  </a:schemeClr>
                </a:solidFill>
              </a:rPr>
              <a:t>expressões booleanas </a:t>
            </a:r>
            <a:r>
              <a:rPr lang="pt-BR" sz="2200" dirty="0"/>
              <a:t>foi avaliada como </a:t>
            </a:r>
            <a:r>
              <a:rPr lang="pt-BR" sz="2200" i="1" dirty="0">
                <a:solidFill>
                  <a:schemeClr val="accent4">
                    <a:lumMod val="75000"/>
                  </a:schemeClr>
                </a:solidFill>
              </a:rPr>
              <a:t>verdadeira</a:t>
            </a:r>
            <a:r>
              <a:rPr lang="pt-BR" sz="2200" dirty="0"/>
              <a:t> e </a:t>
            </a:r>
            <a:r>
              <a:rPr lang="pt-BR" sz="2200" i="1" dirty="0">
                <a:solidFill>
                  <a:schemeClr val="accent4">
                    <a:lumMod val="75000"/>
                  </a:schemeClr>
                </a:solidFill>
              </a:rPr>
              <a:t>falsa</a:t>
            </a:r>
            <a:r>
              <a:rPr lang="pt-BR" sz="22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83503-51A1-AA4C-8C77-0BB8BA21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594" y="2594908"/>
            <a:ext cx="2859158" cy="1715495"/>
          </a:xfrm>
          <a:prstGeom prst="rect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D0308F4E-D426-4C00-A97F-DDCFE52A6253}"/>
              </a:ext>
            </a:extLst>
          </p:cNvPr>
          <p:cNvSpPr/>
          <p:nvPr/>
        </p:nvSpPr>
        <p:spPr>
          <a:xfrm>
            <a:off x="5206181" y="3119284"/>
            <a:ext cx="1260987" cy="6194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347D0-7EA2-8047-06DD-DF9FFAD16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278" y="1980837"/>
            <a:ext cx="3010320" cy="2943636"/>
          </a:xfrm>
          <a:prstGeom prst="rect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F8B34B-8AA4-6AB0-853F-30558885B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585" y="4642554"/>
            <a:ext cx="4210638" cy="1867161"/>
          </a:xfrm>
          <a:prstGeom prst="rect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D40F15-D6C4-DEA3-4D2E-06F462A05AE9}"/>
              </a:ext>
            </a:extLst>
          </p:cNvPr>
          <p:cNvSpPr txBox="1"/>
          <p:nvPr/>
        </p:nvSpPr>
        <p:spPr>
          <a:xfrm>
            <a:off x="7250060" y="5088829"/>
            <a:ext cx="3384755" cy="1569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/>
              <a:t>Todas as condições devem ser avaliadas para valores V/F em cada (sub)decisão</a:t>
            </a:r>
          </a:p>
        </p:txBody>
      </p:sp>
    </p:spTree>
    <p:extLst>
      <p:ext uri="{BB962C8B-B14F-4D97-AF65-F5344CB8AC3E}">
        <p14:creationId xmlns:p14="http://schemas.microsoft.com/office/powerpoint/2010/main" val="62224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EF685-7ADD-EF4E-BFA9-9B5BF8CB7DBA}"/>
              </a:ext>
            </a:extLst>
          </p:cNvPr>
          <p:cNvSpPr/>
          <p:nvPr/>
        </p:nvSpPr>
        <p:spPr>
          <a:xfrm>
            <a:off x="0" y="2857499"/>
            <a:ext cx="12192000" cy="17798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EXERCÍCIO</a:t>
            </a:r>
          </a:p>
        </p:txBody>
      </p:sp>
    </p:spTree>
    <p:extLst>
      <p:ext uri="{BB962C8B-B14F-4D97-AF65-F5344CB8AC3E}">
        <p14:creationId xmlns:p14="http://schemas.microsoft.com/office/powerpoint/2010/main" val="2701969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EXERCÍCIO: </a:t>
            </a:r>
            <a:r>
              <a:rPr lang="en-US" sz="2800" b="1" i="1" dirty="0">
                <a:solidFill>
                  <a:schemeClr val="bg1"/>
                </a:solidFill>
              </a:rPr>
              <a:t>IDENTIFIER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1A42D-E58E-BD4B-84F9-348645C6CACB}"/>
              </a:ext>
            </a:extLst>
          </p:cNvPr>
          <p:cNvSpPr txBox="1"/>
          <p:nvPr/>
        </p:nvSpPr>
        <p:spPr>
          <a:xfrm>
            <a:off x="439072" y="1107567"/>
            <a:ext cx="1115421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/>
              <a:t>Dado o </a:t>
            </a:r>
            <a:r>
              <a:rPr lang="en-US" sz="3000" dirty="0" err="1"/>
              <a:t>exemplo</a:t>
            </a:r>
            <a:r>
              <a:rPr lang="en-US" sz="3000" dirty="0"/>
              <a:t> do software 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Identifier</a:t>
            </a:r>
            <a:r>
              <a:rPr lang="en-US" sz="3000" dirty="0"/>
              <a:t>, do </a:t>
            </a:r>
            <a:r>
              <a:rPr lang="en-US" sz="3000" dirty="0" err="1"/>
              <a:t>livro</a:t>
            </a:r>
            <a:r>
              <a:rPr lang="en-US" sz="3000" dirty="0"/>
              <a:t> do Maldonado: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000" dirty="0"/>
              <a:t>Fazer o CFG do </a:t>
            </a:r>
            <a:r>
              <a:rPr lang="en-US" sz="3000" dirty="0" err="1"/>
              <a:t>código</a:t>
            </a:r>
            <a:endParaRPr lang="en-US" sz="30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000" dirty="0"/>
              <a:t>Determine </a:t>
            </a:r>
            <a:r>
              <a:rPr lang="en-US" sz="3000" dirty="0" err="1"/>
              <a:t>os</a:t>
            </a:r>
            <a:r>
              <a:rPr lang="en-US" sz="3000" dirty="0"/>
              <a:t> testes para </a:t>
            </a:r>
            <a:r>
              <a:rPr lang="en-US" sz="3000" dirty="0" err="1"/>
              <a:t>obter</a:t>
            </a:r>
            <a:r>
              <a:rPr lang="en-US" sz="3000" dirty="0"/>
              <a:t> 100% de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cobertura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de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nodo</a:t>
            </a:r>
            <a:r>
              <a:rPr lang="en-US" sz="3000" dirty="0"/>
              <a:t>, de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cobertura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de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aresta</a:t>
            </a:r>
            <a:r>
              <a:rPr lang="en-US" sz="3000" dirty="0"/>
              <a:t> e de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cobertura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de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caminho</a:t>
            </a:r>
            <a:endParaRPr lang="en-US" sz="28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926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AFAEF2B-91CB-104D-8BD1-DFCF025DBE1E}"/>
              </a:ext>
            </a:extLst>
          </p:cNvPr>
          <p:cNvSpPr/>
          <p:nvPr/>
        </p:nvSpPr>
        <p:spPr>
          <a:xfrm>
            <a:off x="466160" y="986117"/>
            <a:ext cx="7100052" cy="55741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EXERCÍCIO: </a:t>
            </a:r>
            <a:r>
              <a:rPr lang="en-US" sz="2800" b="1" i="1" dirty="0">
                <a:solidFill>
                  <a:schemeClr val="bg1"/>
                </a:solidFill>
              </a:rPr>
              <a:t>IDENTIFIER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9B395-A2C4-194D-9769-47B8FA8DF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92" y="1125063"/>
            <a:ext cx="6616823" cy="5363497"/>
          </a:xfrm>
          <a:prstGeom prst="rect">
            <a:avLst/>
          </a:prstGeom>
          <a:ln w="38100">
            <a:noFill/>
          </a:ln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27A519E3-BE96-AE4B-9D7A-A99EF7771801}"/>
              </a:ext>
            </a:extLst>
          </p:cNvPr>
          <p:cNvGrpSpPr/>
          <p:nvPr/>
        </p:nvGrpSpPr>
        <p:grpSpPr>
          <a:xfrm>
            <a:off x="635951" y="1609344"/>
            <a:ext cx="4285811" cy="1207008"/>
            <a:chOff x="635951" y="1609344"/>
            <a:chExt cx="4285811" cy="12070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F13C46-CB9B-0D47-8F31-30A5F38A2E3D}"/>
                </a:ext>
              </a:extLst>
            </p:cNvPr>
            <p:cNvSpPr/>
            <p:nvPr/>
          </p:nvSpPr>
          <p:spPr>
            <a:xfrm>
              <a:off x="642239" y="1609344"/>
              <a:ext cx="4279523" cy="1207008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3A5DA8-CF06-5C47-B904-9388F1A6EB03}"/>
                </a:ext>
              </a:extLst>
            </p:cNvPr>
            <p:cNvSpPr txBox="1"/>
            <p:nvPr/>
          </p:nvSpPr>
          <p:spPr>
            <a:xfrm>
              <a:off x="635951" y="2058959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BBC0D2C-A746-644A-8D1F-E5EEB8FEF30E}"/>
              </a:ext>
            </a:extLst>
          </p:cNvPr>
          <p:cNvGrpSpPr/>
          <p:nvPr/>
        </p:nvGrpSpPr>
        <p:grpSpPr>
          <a:xfrm>
            <a:off x="635951" y="2816353"/>
            <a:ext cx="4285811" cy="483269"/>
            <a:chOff x="635951" y="2816353"/>
            <a:chExt cx="4285811" cy="48326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39ABEC-D2C7-2340-8005-4A9C771FC628}"/>
                </a:ext>
              </a:extLst>
            </p:cNvPr>
            <p:cNvSpPr/>
            <p:nvPr/>
          </p:nvSpPr>
          <p:spPr>
            <a:xfrm>
              <a:off x="642239" y="2816353"/>
              <a:ext cx="4279523" cy="483269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8C121C-30CF-7C4A-9ECC-BA8357A43393}"/>
                </a:ext>
              </a:extLst>
            </p:cNvPr>
            <p:cNvSpPr txBox="1"/>
            <p:nvPr/>
          </p:nvSpPr>
          <p:spPr>
            <a:xfrm>
              <a:off x="635951" y="2910853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4409D36-1E35-B348-B6F6-EA827F474D7F}"/>
              </a:ext>
            </a:extLst>
          </p:cNvPr>
          <p:cNvGrpSpPr/>
          <p:nvPr/>
        </p:nvGrpSpPr>
        <p:grpSpPr>
          <a:xfrm>
            <a:off x="635951" y="3232907"/>
            <a:ext cx="4285812" cy="276999"/>
            <a:chOff x="635951" y="3232907"/>
            <a:chExt cx="4285812" cy="2769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E62856-60A9-1449-8686-53DACCAAFAD1}"/>
                </a:ext>
              </a:extLst>
            </p:cNvPr>
            <p:cNvSpPr/>
            <p:nvPr/>
          </p:nvSpPr>
          <p:spPr>
            <a:xfrm>
              <a:off x="642239" y="3298731"/>
              <a:ext cx="4279524" cy="146177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AD8B79-EA5C-BD4B-A745-F2C2F903393B}"/>
                </a:ext>
              </a:extLst>
            </p:cNvPr>
            <p:cNvSpPr txBox="1"/>
            <p:nvPr/>
          </p:nvSpPr>
          <p:spPr>
            <a:xfrm>
              <a:off x="635951" y="3232907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3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C376B4E-FE66-BE4F-A5CA-D756C58F2921}"/>
              </a:ext>
            </a:extLst>
          </p:cNvPr>
          <p:cNvGrpSpPr/>
          <p:nvPr/>
        </p:nvGrpSpPr>
        <p:grpSpPr>
          <a:xfrm>
            <a:off x="631951" y="3371120"/>
            <a:ext cx="4289812" cy="276999"/>
            <a:chOff x="631951" y="3371120"/>
            <a:chExt cx="4289812" cy="27699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104BED1-ADF5-9D4D-8F20-422EB2A7EF37}"/>
                </a:ext>
              </a:extLst>
            </p:cNvPr>
            <p:cNvSpPr/>
            <p:nvPr/>
          </p:nvSpPr>
          <p:spPr>
            <a:xfrm>
              <a:off x="642239" y="3444017"/>
              <a:ext cx="4279524" cy="126634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528548-C5D0-8545-9929-44F0915A230A}"/>
                </a:ext>
              </a:extLst>
            </p:cNvPr>
            <p:cNvSpPr txBox="1"/>
            <p:nvPr/>
          </p:nvSpPr>
          <p:spPr>
            <a:xfrm>
              <a:off x="631951" y="3371120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4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54274BC-87EA-CB4D-B019-4A82E298D63A}"/>
              </a:ext>
            </a:extLst>
          </p:cNvPr>
          <p:cNvGrpSpPr/>
          <p:nvPr/>
        </p:nvGrpSpPr>
        <p:grpSpPr>
          <a:xfrm>
            <a:off x="642239" y="3575655"/>
            <a:ext cx="4279523" cy="339885"/>
            <a:chOff x="642239" y="3575655"/>
            <a:chExt cx="4279523" cy="3398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8F921C-6111-434F-94AF-1BDF5E575A41}"/>
                </a:ext>
              </a:extLst>
            </p:cNvPr>
            <p:cNvSpPr/>
            <p:nvPr/>
          </p:nvSpPr>
          <p:spPr>
            <a:xfrm>
              <a:off x="642239" y="3575655"/>
              <a:ext cx="4279523" cy="339885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0614E60-150A-694B-A544-0369ECC51D2E}"/>
                </a:ext>
              </a:extLst>
            </p:cNvPr>
            <p:cNvSpPr txBox="1"/>
            <p:nvPr/>
          </p:nvSpPr>
          <p:spPr>
            <a:xfrm>
              <a:off x="642239" y="3593726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5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2EF53C1-9B64-F043-89B5-69A3A63BE487}"/>
              </a:ext>
            </a:extLst>
          </p:cNvPr>
          <p:cNvGrpSpPr/>
          <p:nvPr/>
        </p:nvGrpSpPr>
        <p:grpSpPr>
          <a:xfrm>
            <a:off x="642239" y="3916551"/>
            <a:ext cx="4279524" cy="423287"/>
            <a:chOff x="642239" y="3916551"/>
            <a:chExt cx="4279524" cy="42328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50344-80CC-8143-819F-22A6B4FCE15B}"/>
                </a:ext>
              </a:extLst>
            </p:cNvPr>
            <p:cNvSpPr/>
            <p:nvPr/>
          </p:nvSpPr>
          <p:spPr>
            <a:xfrm>
              <a:off x="642239" y="3916551"/>
              <a:ext cx="4279524" cy="423287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97396D-79F0-F441-8AAB-475BF9E5A7E1}"/>
                </a:ext>
              </a:extLst>
            </p:cNvPr>
            <p:cNvSpPr txBox="1"/>
            <p:nvPr/>
          </p:nvSpPr>
          <p:spPr>
            <a:xfrm>
              <a:off x="642239" y="3973655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6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0929A83-B4E5-D342-A2F1-CAE5D91E98C0}"/>
              </a:ext>
            </a:extLst>
          </p:cNvPr>
          <p:cNvGrpSpPr/>
          <p:nvPr/>
        </p:nvGrpSpPr>
        <p:grpSpPr>
          <a:xfrm>
            <a:off x="642239" y="4344842"/>
            <a:ext cx="4279523" cy="449573"/>
            <a:chOff x="642239" y="4344842"/>
            <a:chExt cx="4279523" cy="44957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BCBAD1-CF17-9142-853F-1CADFB8E065E}"/>
                </a:ext>
              </a:extLst>
            </p:cNvPr>
            <p:cNvSpPr/>
            <p:nvPr/>
          </p:nvSpPr>
          <p:spPr>
            <a:xfrm>
              <a:off x="642239" y="4344842"/>
              <a:ext cx="4279523" cy="449573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B94C6B-4539-B44C-B444-D480FE853FF3}"/>
                </a:ext>
              </a:extLst>
            </p:cNvPr>
            <p:cNvSpPr txBox="1"/>
            <p:nvPr/>
          </p:nvSpPr>
          <p:spPr>
            <a:xfrm>
              <a:off x="656527" y="4416639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7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9C795F4-6B50-4949-88EE-6A5168AFBA2E}"/>
              </a:ext>
            </a:extLst>
          </p:cNvPr>
          <p:cNvGrpSpPr/>
          <p:nvPr/>
        </p:nvGrpSpPr>
        <p:grpSpPr>
          <a:xfrm>
            <a:off x="642239" y="4794415"/>
            <a:ext cx="4279523" cy="284987"/>
            <a:chOff x="642239" y="4794415"/>
            <a:chExt cx="4279523" cy="28498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16CFD4-B345-464A-B059-7C96D313AC63}"/>
                </a:ext>
              </a:extLst>
            </p:cNvPr>
            <p:cNvSpPr/>
            <p:nvPr/>
          </p:nvSpPr>
          <p:spPr>
            <a:xfrm>
              <a:off x="642239" y="4794415"/>
              <a:ext cx="4279523" cy="284987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744E64E-F570-C240-89F1-F060DF72DE4C}"/>
                </a:ext>
              </a:extLst>
            </p:cNvPr>
            <p:cNvSpPr txBox="1"/>
            <p:nvPr/>
          </p:nvSpPr>
          <p:spPr>
            <a:xfrm>
              <a:off x="656526" y="4798409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8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13FFECC-9FFF-3A4E-B211-52CF0A8F531B}"/>
              </a:ext>
            </a:extLst>
          </p:cNvPr>
          <p:cNvGrpSpPr/>
          <p:nvPr/>
        </p:nvGrpSpPr>
        <p:grpSpPr>
          <a:xfrm>
            <a:off x="642239" y="5080412"/>
            <a:ext cx="4279523" cy="472534"/>
            <a:chOff x="642239" y="5080412"/>
            <a:chExt cx="4279523" cy="47253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52BD0B5-4B1D-DF4F-BD14-BD7DFBCA911E}"/>
                </a:ext>
              </a:extLst>
            </p:cNvPr>
            <p:cNvSpPr/>
            <p:nvPr/>
          </p:nvSpPr>
          <p:spPr>
            <a:xfrm>
              <a:off x="642239" y="5080412"/>
              <a:ext cx="4279523" cy="472534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4E3D6F-4259-E341-B7ED-AFFCB468D186}"/>
                </a:ext>
              </a:extLst>
            </p:cNvPr>
            <p:cNvSpPr txBox="1"/>
            <p:nvPr/>
          </p:nvSpPr>
          <p:spPr>
            <a:xfrm>
              <a:off x="660526" y="5192467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9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31B462-21B8-C642-8B45-CC2BD9154134}"/>
              </a:ext>
            </a:extLst>
          </p:cNvPr>
          <p:cNvGrpSpPr/>
          <p:nvPr/>
        </p:nvGrpSpPr>
        <p:grpSpPr>
          <a:xfrm>
            <a:off x="631950" y="5553957"/>
            <a:ext cx="4289812" cy="603504"/>
            <a:chOff x="631950" y="5553957"/>
            <a:chExt cx="4289812" cy="60350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AF133D-0697-7447-93BC-D8389CE8B76E}"/>
                </a:ext>
              </a:extLst>
            </p:cNvPr>
            <p:cNvSpPr/>
            <p:nvPr/>
          </p:nvSpPr>
          <p:spPr>
            <a:xfrm>
              <a:off x="642239" y="5553957"/>
              <a:ext cx="4279523" cy="603504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BE29EA5-B40E-8448-9BE8-ABF3DAF3F859}"/>
                </a:ext>
              </a:extLst>
            </p:cNvPr>
            <p:cNvSpPr txBox="1"/>
            <p:nvPr/>
          </p:nvSpPr>
          <p:spPr>
            <a:xfrm>
              <a:off x="631950" y="5699243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10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6EA0C9D-07D0-FD49-88A9-722ABECF1AB0}"/>
              </a:ext>
            </a:extLst>
          </p:cNvPr>
          <p:cNvGrpSpPr/>
          <p:nvPr/>
        </p:nvGrpSpPr>
        <p:grpSpPr>
          <a:xfrm>
            <a:off x="635512" y="6121528"/>
            <a:ext cx="4286250" cy="276999"/>
            <a:chOff x="635512" y="6121528"/>
            <a:chExt cx="4286250" cy="27699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2ABCC4D-5B6F-FB40-9FA1-7BC863A77356}"/>
                </a:ext>
              </a:extLst>
            </p:cNvPr>
            <p:cNvSpPr/>
            <p:nvPr/>
          </p:nvSpPr>
          <p:spPr>
            <a:xfrm>
              <a:off x="642239" y="6150993"/>
              <a:ext cx="4279523" cy="220318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C8FCEE-8827-E749-ACDA-CADE2A593F0F}"/>
                </a:ext>
              </a:extLst>
            </p:cNvPr>
            <p:cNvSpPr txBox="1"/>
            <p:nvPr/>
          </p:nvSpPr>
          <p:spPr>
            <a:xfrm>
              <a:off x="635512" y="6121528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11</a:t>
              </a:r>
              <a:endParaRPr lang="en-US" sz="1400" b="1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09BBB05-76AE-9545-BD3D-04C409D87316}"/>
              </a:ext>
            </a:extLst>
          </p:cNvPr>
          <p:cNvGrpSpPr/>
          <p:nvPr/>
        </p:nvGrpSpPr>
        <p:grpSpPr>
          <a:xfrm>
            <a:off x="5103942" y="2613416"/>
            <a:ext cx="2396421" cy="605814"/>
            <a:chOff x="5103942" y="2613416"/>
            <a:chExt cx="2396421" cy="60581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93A9EB4-0BF0-D140-95CA-570985D2877E}"/>
                </a:ext>
              </a:extLst>
            </p:cNvPr>
            <p:cNvSpPr/>
            <p:nvPr/>
          </p:nvSpPr>
          <p:spPr>
            <a:xfrm>
              <a:off x="5103942" y="2613416"/>
              <a:ext cx="2396421" cy="605814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FA2A987-12DD-5647-BCC8-C7B1FCF20B22}"/>
                </a:ext>
              </a:extLst>
            </p:cNvPr>
            <p:cNvSpPr txBox="1"/>
            <p:nvPr/>
          </p:nvSpPr>
          <p:spPr>
            <a:xfrm>
              <a:off x="5103942" y="2613416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711A60C-D37F-B641-B34C-9F7B37155363}"/>
              </a:ext>
            </a:extLst>
          </p:cNvPr>
          <p:cNvGrpSpPr/>
          <p:nvPr/>
        </p:nvGrpSpPr>
        <p:grpSpPr>
          <a:xfrm>
            <a:off x="5103942" y="4416639"/>
            <a:ext cx="2396421" cy="925113"/>
            <a:chOff x="5103942" y="4416639"/>
            <a:chExt cx="2396421" cy="92511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FC60923-AA8F-494D-B8BE-22F8D5D75851}"/>
                </a:ext>
              </a:extLst>
            </p:cNvPr>
            <p:cNvSpPr/>
            <p:nvPr/>
          </p:nvSpPr>
          <p:spPr>
            <a:xfrm>
              <a:off x="5103942" y="4416639"/>
              <a:ext cx="2396421" cy="925113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9E7D44E-5261-8F4E-9EE8-BB951EDF66C7}"/>
                </a:ext>
              </a:extLst>
            </p:cNvPr>
            <p:cNvSpPr txBox="1"/>
            <p:nvPr/>
          </p:nvSpPr>
          <p:spPr>
            <a:xfrm>
              <a:off x="5112128" y="4708501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B706CC6-92A3-B34E-A924-BEFC87FBD71D}"/>
              </a:ext>
            </a:extLst>
          </p:cNvPr>
          <p:cNvGrpSpPr/>
          <p:nvPr/>
        </p:nvGrpSpPr>
        <p:grpSpPr>
          <a:xfrm>
            <a:off x="5078928" y="3158168"/>
            <a:ext cx="2421435" cy="276999"/>
            <a:chOff x="5078928" y="3158168"/>
            <a:chExt cx="2421435" cy="27699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511CA40-2975-4249-A73B-63EC31483E29}"/>
                </a:ext>
              </a:extLst>
            </p:cNvPr>
            <p:cNvSpPr/>
            <p:nvPr/>
          </p:nvSpPr>
          <p:spPr>
            <a:xfrm>
              <a:off x="5103942" y="3219231"/>
              <a:ext cx="2396421" cy="151890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0D9B148-51DB-F04C-847F-284B759F5A79}"/>
                </a:ext>
              </a:extLst>
            </p:cNvPr>
            <p:cNvSpPr txBox="1"/>
            <p:nvPr/>
          </p:nvSpPr>
          <p:spPr>
            <a:xfrm>
              <a:off x="5078928" y="3158168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C10D46-2C6D-3F49-B189-0124A459A4B4}"/>
              </a:ext>
            </a:extLst>
          </p:cNvPr>
          <p:cNvGrpSpPr/>
          <p:nvPr/>
        </p:nvGrpSpPr>
        <p:grpSpPr>
          <a:xfrm>
            <a:off x="5103942" y="5278097"/>
            <a:ext cx="2396421" cy="276999"/>
            <a:chOff x="5103942" y="5278097"/>
            <a:chExt cx="2396421" cy="27699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B0162F2-5057-494C-9B8F-35A9FCCB9423}"/>
                </a:ext>
              </a:extLst>
            </p:cNvPr>
            <p:cNvSpPr/>
            <p:nvPr/>
          </p:nvSpPr>
          <p:spPr>
            <a:xfrm>
              <a:off x="5103942" y="5341753"/>
              <a:ext cx="2396421" cy="151890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A77C991-269C-684A-AFAB-F132B029F11D}"/>
                </a:ext>
              </a:extLst>
            </p:cNvPr>
            <p:cNvSpPr txBox="1"/>
            <p:nvPr/>
          </p:nvSpPr>
          <p:spPr>
            <a:xfrm>
              <a:off x="5112128" y="5278097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73F18E2-2F4D-BB41-96C4-D227CA068CCE}"/>
              </a:ext>
            </a:extLst>
          </p:cNvPr>
          <p:cNvGrpSpPr/>
          <p:nvPr/>
        </p:nvGrpSpPr>
        <p:grpSpPr>
          <a:xfrm>
            <a:off x="5091242" y="3368071"/>
            <a:ext cx="2409121" cy="301752"/>
            <a:chOff x="5091242" y="3368071"/>
            <a:chExt cx="2409121" cy="3017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667043D-D792-1147-A6A9-9237A2EC3D15}"/>
                </a:ext>
              </a:extLst>
            </p:cNvPr>
            <p:cNvSpPr/>
            <p:nvPr/>
          </p:nvSpPr>
          <p:spPr>
            <a:xfrm>
              <a:off x="5103942" y="3368071"/>
              <a:ext cx="2396421" cy="301752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4C40648-545C-D543-841F-3C4FCAD4CAC5}"/>
                </a:ext>
              </a:extLst>
            </p:cNvPr>
            <p:cNvSpPr txBox="1"/>
            <p:nvPr/>
          </p:nvSpPr>
          <p:spPr>
            <a:xfrm>
              <a:off x="5091242" y="3386416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3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5E19D4-E70A-1444-BD52-58A987646CAE}"/>
              </a:ext>
            </a:extLst>
          </p:cNvPr>
          <p:cNvGrpSpPr/>
          <p:nvPr/>
        </p:nvGrpSpPr>
        <p:grpSpPr>
          <a:xfrm>
            <a:off x="5103942" y="5494553"/>
            <a:ext cx="2396421" cy="311647"/>
            <a:chOff x="5103942" y="5494553"/>
            <a:chExt cx="2396421" cy="31164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7341C5A-680E-034B-A3CD-3053AD25FD45}"/>
                </a:ext>
              </a:extLst>
            </p:cNvPr>
            <p:cNvSpPr/>
            <p:nvPr/>
          </p:nvSpPr>
          <p:spPr>
            <a:xfrm>
              <a:off x="5103942" y="5494553"/>
              <a:ext cx="2396421" cy="311647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4E5A1B-F778-F540-98C5-64B4F6179665}"/>
                </a:ext>
              </a:extLst>
            </p:cNvPr>
            <p:cNvSpPr txBox="1"/>
            <p:nvPr/>
          </p:nvSpPr>
          <p:spPr>
            <a:xfrm>
              <a:off x="5116474" y="5528291"/>
              <a:ext cx="985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3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129C0D0D-02A4-004F-8F03-729C4D159BDA}"/>
              </a:ext>
            </a:extLst>
          </p:cNvPr>
          <p:cNvSpPr/>
          <p:nvPr/>
        </p:nvSpPr>
        <p:spPr>
          <a:xfrm>
            <a:off x="9258927" y="1005995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9C329E4-A73F-C240-98F9-B7DCB705E317}"/>
              </a:ext>
            </a:extLst>
          </p:cNvPr>
          <p:cNvSpPr/>
          <p:nvPr/>
        </p:nvSpPr>
        <p:spPr>
          <a:xfrm>
            <a:off x="9258927" y="1779485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1FDD618-A8E2-3440-AA10-16B2591A55FA}"/>
              </a:ext>
            </a:extLst>
          </p:cNvPr>
          <p:cNvSpPr/>
          <p:nvPr/>
        </p:nvSpPr>
        <p:spPr>
          <a:xfrm>
            <a:off x="9258927" y="2550706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35C492D-6C77-EF48-8769-BBA142C0BBE8}"/>
              </a:ext>
            </a:extLst>
          </p:cNvPr>
          <p:cNvSpPr/>
          <p:nvPr/>
        </p:nvSpPr>
        <p:spPr>
          <a:xfrm>
            <a:off x="9258927" y="3324196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4E374C-191B-4649-9DFE-6DA9C1A85C67}"/>
              </a:ext>
            </a:extLst>
          </p:cNvPr>
          <p:cNvSpPr/>
          <p:nvPr/>
        </p:nvSpPr>
        <p:spPr>
          <a:xfrm>
            <a:off x="8515972" y="4254851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8567A36-09A0-8044-8CF5-B20471E415E6}"/>
              </a:ext>
            </a:extLst>
          </p:cNvPr>
          <p:cNvSpPr/>
          <p:nvPr/>
        </p:nvSpPr>
        <p:spPr>
          <a:xfrm>
            <a:off x="8515972" y="5028341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E1146DD-19C1-7846-963D-5851DC9EB70F}"/>
              </a:ext>
            </a:extLst>
          </p:cNvPr>
          <p:cNvSpPr/>
          <p:nvPr/>
        </p:nvSpPr>
        <p:spPr>
          <a:xfrm>
            <a:off x="8515972" y="5799562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79ED6AB-6294-AA4D-B481-E63BE76C3118}"/>
              </a:ext>
            </a:extLst>
          </p:cNvPr>
          <p:cNvSpPr/>
          <p:nvPr/>
        </p:nvSpPr>
        <p:spPr>
          <a:xfrm>
            <a:off x="10244813" y="4270532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FF378DA-2DE3-C440-B0D1-27FD9EE922C5}"/>
              </a:ext>
            </a:extLst>
          </p:cNvPr>
          <p:cNvSpPr/>
          <p:nvPr/>
        </p:nvSpPr>
        <p:spPr>
          <a:xfrm>
            <a:off x="9787609" y="5044022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A17C84B-0094-AF40-AAD6-2D610AC3B989}"/>
              </a:ext>
            </a:extLst>
          </p:cNvPr>
          <p:cNvGrpSpPr/>
          <p:nvPr/>
        </p:nvGrpSpPr>
        <p:grpSpPr>
          <a:xfrm>
            <a:off x="10668108" y="5028341"/>
            <a:ext cx="457200" cy="457200"/>
            <a:chOff x="10438890" y="5008463"/>
            <a:chExt cx="457200" cy="45720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E2B3D14-E2CA-5045-84E4-FA09771C0B04}"/>
                </a:ext>
              </a:extLst>
            </p:cNvPr>
            <p:cNvSpPr/>
            <p:nvPr/>
          </p:nvSpPr>
          <p:spPr>
            <a:xfrm>
              <a:off x="10438890" y="5008463"/>
              <a:ext cx="457200" cy="457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33AED65-96F6-8B4E-AD96-9FF2613CD661}"/>
                </a:ext>
              </a:extLst>
            </p:cNvPr>
            <p:cNvSpPr txBox="1"/>
            <p:nvPr/>
          </p:nvSpPr>
          <p:spPr>
            <a:xfrm>
              <a:off x="10472795" y="5052397"/>
              <a:ext cx="423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10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6EBFA37-FF8A-964B-B514-6E82934691FE}"/>
              </a:ext>
            </a:extLst>
          </p:cNvPr>
          <p:cNvGrpSpPr/>
          <p:nvPr/>
        </p:nvGrpSpPr>
        <p:grpSpPr>
          <a:xfrm>
            <a:off x="10216237" y="5815243"/>
            <a:ext cx="457200" cy="457200"/>
            <a:chOff x="10015595" y="5795365"/>
            <a:chExt cx="457200" cy="4572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9B2648-04E9-0546-8BD1-703B8C9DC555}"/>
                </a:ext>
              </a:extLst>
            </p:cNvPr>
            <p:cNvSpPr/>
            <p:nvPr/>
          </p:nvSpPr>
          <p:spPr>
            <a:xfrm>
              <a:off x="10015595" y="5795365"/>
              <a:ext cx="457200" cy="457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74906AD-E856-3F45-B52A-5D336B18DBD0}"/>
                </a:ext>
              </a:extLst>
            </p:cNvPr>
            <p:cNvSpPr txBox="1"/>
            <p:nvPr/>
          </p:nvSpPr>
          <p:spPr>
            <a:xfrm>
              <a:off x="10055790" y="5844332"/>
              <a:ext cx="417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11</a:t>
              </a:r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FE4B368-6FB0-2042-9570-F52E7F4C3938}"/>
              </a:ext>
            </a:extLst>
          </p:cNvPr>
          <p:cNvCxnSpPr>
            <a:stCxn id="65" idx="4"/>
            <a:endCxn id="66" idx="0"/>
          </p:cNvCxnSpPr>
          <p:nvPr/>
        </p:nvCxnSpPr>
        <p:spPr>
          <a:xfrm>
            <a:off x="9487527" y="1463195"/>
            <a:ext cx="0" cy="316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01382B-EB0B-3A43-9498-6A1F811D1650}"/>
              </a:ext>
            </a:extLst>
          </p:cNvPr>
          <p:cNvCxnSpPr>
            <a:cxnSpLocks/>
            <a:stCxn id="66" idx="4"/>
            <a:endCxn id="67" idx="0"/>
          </p:cNvCxnSpPr>
          <p:nvPr/>
        </p:nvCxnSpPr>
        <p:spPr>
          <a:xfrm>
            <a:off x="9487527" y="2236685"/>
            <a:ext cx="0" cy="314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C9A6A7-4843-764B-A2E3-182B98876CAA}"/>
              </a:ext>
            </a:extLst>
          </p:cNvPr>
          <p:cNvCxnSpPr>
            <a:cxnSpLocks/>
            <a:stCxn id="67" idx="4"/>
            <a:endCxn id="68" idx="0"/>
          </p:cNvCxnSpPr>
          <p:nvPr/>
        </p:nvCxnSpPr>
        <p:spPr>
          <a:xfrm>
            <a:off x="9487527" y="3007906"/>
            <a:ext cx="0" cy="316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C70C42E-3EE7-1C46-9252-AB3E95D76167}"/>
              </a:ext>
            </a:extLst>
          </p:cNvPr>
          <p:cNvCxnSpPr>
            <a:cxnSpLocks/>
            <a:stCxn id="68" idx="3"/>
            <a:endCxn id="69" idx="7"/>
          </p:cNvCxnSpPr>
          <p:nvPr/>
        </p:nvCxnSpPr>
        <p:spPr>
          <a:xfrm flipH="1">
            <a:off x="8906217" y="3714441"/>
            <a:ext cx="419665" cy="6073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E54E895-76DE-B74B-948A-0396167C81B6}"/>
              </a:ext>
            </a:extLst>
          </p:cNvPr>
          <p:cNvCxnSpPr>
            <a:cxnSpLocks/>
            <a:stCxn id="69" idx="4"/>
            <a:endCxn id="70" idx="0"/>
          </p:cNvCxnSpPr>
          <p:nvPr/>
        </p:nvCxnSpPr>
        <p:spPr>
          <a:xfrm>
            <a:off x="8744572" y="4712051"/>
            <a:ext cx="0" cy="316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E48F3EA-CCD4-7E41-881E-32D821B9FED9}"/>
              </a:ext>
            </a:extLst>
          </p:cNvPr>
          <p:cNvCxnSpPr>
            <a:cxnSpLocks/>
            <a:stCxn id="70" idx="4"/>
            <a:endCxn id="71" idx="0"/>
          </p:cNvCxnSpPr>
          <p:nvPr/>
        </p:nvCxnSpPr>
        <p:spPr>
          <a:xfrm>
            <a:off x="8744572" y="5485541"/>
            <a:ext cx="0" cy="314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2432B32E-DAFE-D94E-AFE9-55FF9C50F761}"/>
              </a:ext>
            </a:extLst>
          </p:cNvPr>
          <p:cNvCxnSpPr>
            <a:cxnSpLocks/>
            <a:stCxn id="69" idx="2"/>
            <a:endCxn id="71" idx="2"/>
          </p:cNvCxnSpPr>
          <p:nvPr/>
        </p:nvCxnSpPr>
        <p:spPr>
          <a:xfrm rot="10800000" flipV="1">
            <a:off x="8515972" y="4483450"/>
            <a:ext cx="12700" cy="1544711"/>
          </a:xfrm>
          <a:prstGeom prst="bentConnector3">
            <a:avLst>
              <a:gd name="adj1" fmla="val 14624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40172034-9B82-3D49-9857-08A27D706AEB}"/>
              </a:ext>
            </a:extLst>
          </p:cNvPr>
          <p:cNvCxnSpPr>
            <a:cxnSpLocks/>
            <a:stCxn id="71" idx="4"/>
            <a:endCxn id="68" idx="2"/>
          </p:cNvCxnSpPr>
          <p:nvPr/>
        </p:nvCxnSpPr>
        <p:spPr>
          <a:xfrm rot="5400000" flipH="1" flipV="1">
            <a:off x="7649766" y="4647601"/>
            <a:ext cx="2703966" cy="514355"/>
          </a:xfrm>
          <a:prstGeom prst="bentConnector4">
            <a:avLst>
              <a:gd name="adj1" fmla="val -8454"/>
              <a:gd name="adj2" fmla="val -10555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328B58DB-BF52-9A40-8C3A-71A736D17D7F}"/>
              </a:ext>
            </a:extLst>
          </p:cNvPr>
          <p:cNvCxnSpPr>
            <a:cxnSpLocks/>
            <a:stCxn id="68" idx="5"/>
            <a:endCxn id="73" idx="1"/>
          </p:cNvCxnSpPr>
          <p:nvPr/>
        </p:nvCxnSpPr>
        <p:spPr>
          <a:xfrm>
            <a:off x="9649172" y="3714441"/>
            <a:ext cx="662596" cy="6230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8A64AED-1554-A141-B738-9ECCB1224198}"/>
              </a:ext>
            </a:extLst>
          </p:cNvPr>
          <p:cNvCxnSpPr>
            <a:cxnSpLocks/>
            <a:stCxn id="73" idx="3"/>
            <a:endCxn id="74" idx="0"/>
          </p:cNvCxnSpPr>
          <p:nvPr/>
        </p:nvCxnSpPr>
        <p:spPr>
          <a:xfrm flipH="1">
            <a:off x="10016209" y="4660777"/>
            <a:ext cx="295559" cy="3832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F416412-A55A-1C45-8294-9F44837F40E8}"/>
              </a:ext>
            </a:extLst>
          </p:cNvPr>
          <p:cNvCxnSpPr>
            <a:cxnSpLocks/>
            <a:stCxn id="73" idx="5"/>
            <a:endCxn id="76" idx="0"/>
          </p:cNvCxnSpPr>
          <p:nvPr/>
        </p:nvCxnSpPr>
        <p:spPr>
          <a:xfrm>
            <a:off x="10635058" y="4660777"/>
            <a:ext cx="261650" cy="3675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061B6A7E-6DA9-0347-BC69-3182E485B718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10600384" y="5485541"/>
            <a:ext cx="296324" cy="3900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11E7C0B-D7B0-E14A-9576-20195F75D2B6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0016209" y="5501222"/>
            <a:ext cx="295559" cy="3518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F9F4DD24-A3C8-7C4A-859B-A09A1640A9F6}"/>
              </a:ext>
            </a:extLst>
          </p:cNvPr>
          <p:cNvCxnSpPr>
            <a:cxnSpLocks/>
            <a:stCxn id="65" idx="2"/>
            <a:endCxn id="67" idx="2"/>
          </p:cNvCxnSpPr>
          <p:nvPr/>
        </p:nvCxnSpPr>
        <p:spPr>
          <a:xfrm rot="10800000" flipV="1">
            <a:off x="9258927" y="1234594"/>
            <a:ext cx="12700" cy="1544711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80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3" grpId="0" animBg="1"/>
      <p:bldP spid="7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1AC96D-9EBC-284F-B1E7-E2193F290699}"/>
              </a:ext>
            </a:extLst>
          </p:cNvPr>
          <p:cNvSpPr/>
          <p:nvPr/>
        </p:nvSpPr>
        <p:spPr>
          <a:xfrm>
            <a:off x="1392008" y="1024781"/>
            <a:ext cx="5160450" cy="433327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ECEF0B9-E0B9-BB4E-9E24-017ED1DD9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834" y="1105980"/>
            <a:ext cx="3874984" cy="407370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148C8CAB-2725-624D-93DE-EC87B2471037}"/>
              </a:ext>
            </a:extLst>
          </p:cNvPr>
          <p:cNvSpPr/>
          <p:nvPr/>
        </p:nvSpPr>
        <p:spPr>
          <a:xfrm>
            <a:off x="9258927" y="1134011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8E5457D-B664-3341-97CE-2796AD86D027}"/>
              </a:ext>
            </a:extLst>
          </p:cNvPr>
          <p:cNvSpPr/>
          <p:nvPr/>
        </p:nvSpPr>
        <p:spPr>
          <a:xfrm>
            <a:off x="9258927" y="1907501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BF39D3-85D8-CA4B-B35E-02B2184C5525}"/>
              </a:ext>
            </a:extLst>
          </p:cNvPr>
          <p:cNvSpPr/>
          <p:nvPr/>
        </p:nvSpPr>
        <p:spPr>
          <a:xfrm>
            <a:off x="9258927" y="2678722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E91165-5CDD-514E-95CA-FA6AD3105827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>
            <a:off x="9487527" y="1591211"/>
            <a:ext cx="0" cy="316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07AC6E-9DB4-CC4A-AAEC-3466C97933B3}"/>
              </a:ext>
            </a:extLst>
          </p:cNvPr>
          <p:cNvCxnSpPr>
            <a:cxnSpLocks/>
            <a:stCxn id="23" idx="4"/>
            <a:endCxn id="24" idx="0"/>
          </p:cNvCxnSpPr>
          <p:nvPr/>
        </p:nvCxnSpPr>
        <p:spPr>
          <a:xfrm>
            <a:off x="9487527" y="2364701"/>
            <a:ext cx="0" cy="314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8D4708-6D56-644C-886C-F03FBC6D1C94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9487527" y="3135922"/>
            <a:ext cx="0" cy="316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69EDFD9-1071-CB48-AECC-62000B16BF59}"/>
              </a:ext>
            </a:extLst>
          </p:cNvPr>
          <p:cNvSpPr/>
          <p:nvPr/>
        </p:nvSpPr>
        <p:spPr>
          <a:xfrm>
            <a:off x="9258927" y="3452212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0F0C55C-CB54-6A44-9FD4-21D6909E2347}"/>
              </a:ext>
            </a:extLst>
          </p:cNvPr>
          <p:cNvSpPr/>
          <p:nvPr/>
        </p:nvSpPr>
        <p:spPr>
          <a:xfrm>
            <a:off x="9258927" y="4223433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2F026A-A058-A945-8AA9-C666346B18E2}"/>
              </a:ext>
            </a:extLst>
          </p:cNvPr>
          <p:cNvCxnSpPr>
            <a:cxnSpLocks/>
            <a:stCxn id="34" idx="4"/>
            <a:endCxn id="35" idx="0"/>
          </p:cNvCxnSpPr>
          <p:nvPr/>
        </p:nvCxnSpPr>
        <p:spPr>
          <a:xfrm>
            <a:off x="9487527" y="3909412"/>
            <a:ext cx="0" cy="314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5A39D0-29EF-7242-88C0-322E94D34EFE}"/>
              </a:ext>
            </a:extLst>
          </p:cNvPr>
          <p:cNvCxnSpPr>
            <a:cxnSpLocks/>
            <a:stCxn id="35" idx="4"/>
          </p:cNvCxnSpPr>
          <p:nvPr/>
        </p:nvCxnSpPr>
        <p:spPr>
          <a:xfrm>
            <a:off x="9487527" y="4680633"/>
            <a:ext cx="0" cy="316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4EB71477-4877-024C-9C79-0E8D3C6CAB23}"/>
              </a:ext>
            </a:extLst>
          </p:cNvPr>
          <p:cNvSpPr/>
          <p:nvPr/>
        </p:nvSpPr>
        <p:spPr>
          <a:xfrm>
            <a:off x="9258927" y="4996923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9B2A8C-8E7B-654E-BABB-EEA88BC3099E}"/>
              </a:ext>
            </a:extLst>
          </p:cNvPr>
          <p:cNvCxnSpPr>
            <a:cxnSpLocks/>
            <a:stCxn id="38" idx="4"/>
          </p:cNvCxnSpPr>
          <p:nvPr/>
        </p:nvCxnSpPr>
        <p:spPr>
          <a:xfrm>
            <a:off x="9487527" y="5454123"/>
            <a:ext cx="0" cy="316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E4853E9E-9D0A-BE4E-88C9-52C14CD96A38}"/>
              </a:ext>
            </a:extLst>
          </p:cNvPr>
          <p:cNvSpPr/>
          <p:nvPr/>
        </p:nvSpPr>
        <p:spPr>
          <a:xfrm>
            <a:off x="9258927" y="5770413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FC4E7347-53BC-FF4F-9A34-4004C0E31CBA}"/>
              </a:ext>
            </a:extLst>
          </p:cNvPr>
          <p:cNvCxnSpPr>
            <a:cxnSpLocks/>
            <a:stCxn id="35" idx="2"/>
            <a:endCxn id="40" idx="2"/>
          </p:cNvCxnSpPr>
          <p:nvPr/>
        </p:nvCxnSpPr>
        <p:spPr>
          <a:xfrm rot="10800000" flipV="1">
            <a:off x="9258927" y="4452033"/>
            <a:ext cx="12700" cy="1546980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E59A551B-887F-C04F-979E-F5A0C8AD9BA0}"/>
              </a:ext>
            </a:extLst>
          </p:cNvPr>
          <p:cNvCxnSpPr>
            <a:cxnSpLocks/>
            <a:stCxn id="40" idx="4"/>
            <a:endCxn id="34" idx="2"/>
          </p:cNvCxnSpPr>
          <p:nvPr/>
        </p:nvCxnSpPr>
        <p:spPr>
          <a:xfrm rot="5400000" flipH="1">
            <a:off x="8099826" y="4839913"/>
            <a:ext cx="2546801" cy="228600"/>
          </a:xfrm>
          <a:prstGeom prst="bentConnector4">
            <a:avLst>
              <a:gd name="adj1" fmla="val -8976"/>
              <a:gd name="adj2" fmla="val 264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99CC3C09-E462-AD45-8769-8ABF7FCBC2E8}"/>
              </a:ext>
            </a:extLst>
          </p:cNvPr>
          <p:cNvSpPr/>
          <p:nvPr/>
        </p:nvSpPr>
        <p:spPr>
          <a:xfrm>
            <a:off x="10054455" y="4191828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079C416-821D-2D42-96E9-785567A64FBC}"/>
              </a:ext>
            </a:extLst>
          </p:cNvPr>
          <p:cNvCxnSpPr>
            <a:cxnSpLocks/>
            <a:stCxn id="34" idx="5"/>
            <a:endCxn id="50" idx="1"/>
          </p:cNvCxnSpPr>
          <p:nvPr/>
        </p:nvCxnSpPr>
        <p:spPr>
          <a:xfrm>
            <a:off x="9649172" y="3842457"/>
            <a:ext cx="472238" cy="4163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94CE5DE9-C36A-3A46-AB3D-BBB6AF6ED942}"/>
              </a:ext>
            </a:extLst>
          </p:cNvPr>
          <p:cNvCxnSpPr>
            <a:cxnSpLocks/>
            <a:stCxn id="50" idx="0"/>
            <a:endCxn id="23" idx="6"/>
          </p:cNvCxnSpPr>
          <p:nvPr/>
        </p:nvCxnSpPr>
        <p:spPr>
          <a:xfrm rot="16200000" flipV="1">
            <a:off x="8971728" y="2880501"/>
            <a:ext cx="2055727" cy="56692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C7FECEEF-67D3-8541-995D-94C626D3B7D0}"/>
              </a:ext>
            </a:extLst>
          </p:cNvPr>
          <p:cNvSpPr/>
          <p:nvPr/>
        </p:nvSpPr>
        <p:spPr>
          <a:xfrm>
            <a:off x="8234799" y="1910970"/>
            <a:ext cx="457200" cy="457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E31304C-1240-914E-99FB-69AABB68C2EA}"/>
              </a:ext>
            </a:extLst>
          </p:cNvPr>
          <p:cNvCxnSpPr>
            <a:cxnSpLocks/>
            <a:endCxn id="58" idx="6"/>
          </p:cNvCxnSpPr>
          <p:nvPr/>
        </p:nvCxnSpPr>
        <p:spPr>
          <a:xfrm flipH="1" flipV="1">
            <a:off x="8691999" y="2139570"/>
            <a:ext cx="566928" cy="2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652F20-94EE-5A47-B56E-404E0A0C4067}"/>
              </a:ext>
            </a:extLst>
          </p:cNvPr>
          <p:cNvGrpSpPr/>
          <p:nvPr/>
        </p:nvGrpSpPr>
        <p:grpSpPr>
          <a:xfrm>
            <a:off x="1513937" y="1381305"/>
            <a:ext cx="4829015" cy="338554"/>
            <a:chOff x="323097" y="1870404"/>
            <a:chExt cx="4829015" cy="33855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0F6D29-9552-9C49-85AA-734D62A1D4A9}"/>
                </a:ext>
              </a:extLst>
            </p:cNvPr>
            <p:cNvSpPr/>
            <p:nvPr/>
          </p:nvSpPr>
          <p:spPr>
            <a:xfrm>
              <a:off x="323097" y="1914450"/>
              <a:ext cx="4829015" cy="238104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DD1E17-7B70-8143-9603-32CC5BE1CC59}"/>
                </a:ext>
              </a:extLst>
            </p:cNvPr>
            <p:cNvSpPr txBox="1"/>
            <p:nvPr/>
          </p:nvSpPr>
          <p:spPr>
            <a:xfrm>
              <a:off x="387909" y="1870404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1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35920DB-500B-E345-910C-1C3D2A56395E}"/>
              </a:ext>
            </a:extLst>
          </p:cNvPr>
          <p:cNvGrpSpPr/>
          <p:nvPr/>
        </p:nvGrpSpPr>
        <p:grpSpPr>
          <a:xfrm>
            <a:off x="1513937" y="1650189"/>
            <a:ext cx="4829016" cy="338554"/>
            <a:chOff x="323097" y="2096758"/>
            <a:chExt cx="4829016" cy="33855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EA2F42-A18B-644E-BC5D-FAFBD8E6DA20}"/>
                </a:ext>
              </a:extLst>
            </p:cNvPr>
            <p:cNvSpPr/>
            <p:nvPr/>
          </p:nvSpPr>
          <p:spPr>
            <a:xfrm>
              <a:off x="323097" y="2110024"/>
              <a:ext cx="4829016" cy="296607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262D546-F83F-1445-84F7-CA98A4E33C46}"/>
                </a:ext>
              </a:extLst>
            </p:cNvPr>
            <p:cNvSpPr txBox="1"/>
            <p:nvPr/>
          </p:nvSpPr>
          <p:spPr>
            <a:xfrm>
              <a:off x="392091" y="2096758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2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E51040A-C384-2540-A891-53A7DA31F035}"/>
              </a:ext>
            </a:extLst>
          </p:cNvPr>
          <p:cNvGrpSpPr/>
          <p:nvPr/>
        </p:nvGrpSpPr>
        <p:grpSpPr>
          <a:xfrm>
            <a:off x="1513937" y="1925818"/>
            <a:ext cx="4829016" cy="338554"/>
            <a:chOff x="323097" y="2372387"/>
            <a:chExt cx="4829016" cy="3385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5DFEE98-8E19-6D4E-A6B9-DD83100EE76B}"/>
                </a:ext>
              </a:extLst>
            </p:cNvPr>
            <p:cNvSpPr/>
            <p:nvPr/>
          </p:nvSpPr>
          <p:spPr>
            <a:xfrm>
              <a:off x="323097" y="2404532"/>
              <a:ext cx="4829016" cy="264409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20F485C-795B-0740-A5B3-A3FE00B1D962}"/>
                </a:ext>
              </a:extLst>
            </p:cNvPr>
            <p:cNvSpPr txBox="1"/>
            <p:nvPr/>
          </p:nvSpPr>
          <p:spPr>
            <a:xfrm>
              <a:off x="391086" y="2372387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3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2745104-3384-254A-834F-149AE5D31480}"/>
              </a:ext>
            </a:extLst>
          </p:cNvPr>
          <p:cNvGrpSpPr/>
          <p:nvPr/>
        </p:nvGrpSpPr>
        <p:grpSpPr>
          <a:xfrm>
            <a:off x="1513937" y="2191194"/>
            <a:ext cx="4829016" cy="338554"/>
            <a:chOff x="323097" y="2637763"/>
            <a:chExt cx="4829016" cy="33855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882E3D-4629-2F42-88AD-6E586A5797C2}"/>
                </a:ext>
              </a:extLst>
            </p:cNvPr>
            <p:cNvSpPr/>
            <p:nvPr/>
          </p:nvSpPr>
          <p:spPr>
            <a:xfrm>
              <a:off x="323097" y="2668942"/>
              <a:ext cx="4829016" cy="280104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560D944-E55C-7042-9221-62F92783D6DE}"/>
                </a:ext>
              </a:extLst>
            </p:cNvPr>
            <p:cNvSpPr txBox="1"/>
            <p:nvPr/>
          </p:nvSpPr>
          <p:spPr>
            <a:xfrm>
              <a:off x="393014" y="2637763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4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59F2877-57F5-5146-82D2-474F41C44BDC}"/>
              </a:ext>
            </a:extLst>
          </p:cNvPr>
          <p:cNvGrpSpPr/>
          <p:nvPr/>
        </p:nvGrpSpPr>
        <p:grpSpPr>
          <a:xfrm>
            <a:off x="1513937" y="2466272"/>
            <a:ext cx="4829016" cy="338554"/>
            <a:chOff x="323097" y="2912841"/>
            <a:chExt cx="4829016" cy="33855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9CFD8D-C9AF-5342-99F7-8EE7DA82AD7B}"/>
                </a:ext>
              </a:extLst>
            </p:cNvPr>
            <p:cNvSpPr/>
            <p:nvPr/>
          </p:nvSpPr>
          <p:spPr>
            <a:xfrm>
              <a:off x="323097" y="2949046"/>
              <a:ext cx="4829016" cy="258403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082AFA5-47F9-D04F-9AB7-2CBEACFC2F01}"/>
                </a:ext>
              </a:extLst>
            </p:cNvPr>
            <p:cNvSpPr txBox="1"/>
            <p:nvPr/>
          </p:nvSpPr>
          <p:spPr>
            <a:xfrm>
              <a:off x="392529" y="2912841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5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156751F-C0D5-2147-93A6-30861F0A15A0}"/>
              </a:ext>
            </a:extLst>
          </p:cNvPr>
          <p:cNvGrpSpPr/>
          <p:nvPr/>
        </p:nvGrpSpPr>
        <p:grpSpPr>
          <a:xfrm>
            <a:off x="1513937" y="2760880"/>
            <a:ext cx="4829016" cy="1057613"/>
            <a:chOff x="323097" y="3207449"/>
            <a:chExt cx="4829016" cy="105761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E0FCD3-5D31-0D4B-8B50-B0187A3646F2}"/>
                </a:ext>
              </a:extLst>
            </p:cNvPr>
            <p:cNvSpPr/>
            <p:nvPr/>
          </p:nvSpPr>
          <p:spPr>
            <a:xfrm>
              <a:off x="323097" y="3207449"/>
              <a:ext cx="4829016" cy="1057613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2510D9F-A959-F441-9446-9B660CF53073}"/>
                </a:ext>
              </a:extLst>
            </p:cNvPr>
            <p:cNvSpPr txBox="1"/>
            <p:nvPr/>
          </p:nvSpPr>
          <p:spPr>
            <a:xfrm>
              <a:off x="386176" y="3547374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6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5D21AA6-EE9D-934D-95AC-348C10C0A722}"/>
              </a:ext>
            </a:extLst>
          </p:cNvPr>
          <p:cNvGrpSpPr/>
          <p:nvPr/>
        </p:nvGrpSpPr>
        <p:grpSpPr>
          <a:xfrm>
            <a:off x="1513937" y="3818493"/>
            <a:ext cx="4829016" cy="512207"/>
            <a:chOff x="323097" y="4265062"/>
            <a:chExt cx="4829016" cy="51220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65D4CA-3EFC-C94D-80B8-06F68DD02AE1}"/>
                </a:ext>
              </a:extLst>
            </p:cNvPr>
            <p:cNvSpPr/>
            <p:nvPr/>
          </p:nvSpPr>
          <p:spPr>
            <a:xfrm>
              <a:off x="323097" y="4265062"/>
              <a:ext cx="4829016" cy="512207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011707B-6F0D-C446-AAC2-A57D4DD67DCC}"/>
                </a:ext>
              </a:extLst>
            </p:cNvPr>
            <p:cNvSpPr txBox="1"/>
            <p:nvPr/>
          </p:nvSpPr>
          <p:spPr>
            <a:xfrm>
              <a:off x="399044" y="4355981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7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25CA6DB-114B-8E45-A282-86F37540D42B}"/>
              </a:ext>
            </a:extLst>
          </p:cNvPr>
          <p:cNvGrpSpPr/>
          <p:nvPr/>
        </p:nvGrpSpPr>
        <p:grpSpPr>
          <a:xfrm>
            <a:off x="1513937" y="4330701"/>
            <a:ext cx="4829016" cy="545406"/>
            <a:chOff x="323097" y="4777270"/>
            <a:chExt cx="4829016" cy="54540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DB522EA-8CF6-6D4D-9F18-3CBB5DBC3678}"/>
                </a:ext>
              </a:extLst>
            </p:cNvPr>
            <p:cNvSpPr/>
            <p:nvPr/>
          </p:nvSpPr>
          <p:spPr>
            <a:xfrm>
              <a:off x="323097" y="4777270"/>
              <a:ext cx="4829016" cy="545406"/>
            </a:xfrm>
            <a:prstGeom prst="rect">
              <a:avLst/>
            </a:prstGeom>
            <a:solidFill>
              <a:schemeClr val="accent4">
                <a:lumMod val="75000"/>
                <a:alpha val="35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FC79497-4362-7948-8DCD-1CD7419BE7B1}"/>
                </a:ext>
              </a:extLst>
            </p:cNvPr>
            <p:cNvSpPr txBox="1"/>
            <p:nvPr/>
          </p:nvSpPr>
          <p:spPr>
            <a:xfrm>
              <a:off x="399044" y="4882574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8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6C57F08-CBB0-F948-9CA5-BE39D0B91E91}"/>
              </a:ext>
            </a:extLst>
          </p:cNvPr>
          <p:cNvGrpSpPr/>
          <p:nvPr/>
        </p:nvGrpSpPr>
        <p:grpSpPr>
          <a:xfrm>
            <a:off x="1513937" y="4819104"/>
            <a:ext cx="4829016" cy="338554"/>
            <a:chOff x="323097" y="5767323"/>
            <a:chExt cx="4829016" cy="33855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8FAD208-BBB1-474A-BFBE-A9D9AC1DB485}"/>
                </a:ext>
              </a:extLst>
            </p:cNvPr>
            <p:cNvSpPr/>
            <p:nvPr/>
          </p:nvSpPr>
          <p:spPr>
            <a:xfrm>
              <a:off x="323097" y="5824325"/>
              <a:ext cx="4829016" cy="245169"/>
            </a:xfrm>
            <a:prstGeom prst="rect">
              <a:avLst/>
            </a:prstGeom>
            <a:solidFill>
              <a:schemeClr val="accent4">
                <a:lumMod val="75000"/>
                <a:alpha val="10000"/>
              </a:schemeClr>
            </a:solidFill>
            <a:ln w="63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C07BF73-9A17-2148-8318-3171E0A6A5E1}"/>
                </a:ext>
              </a:extLst>
            </p:cNvPr>
            <p:cNvSpPr txBox="1"/>
            <p:nvPr/>
          </p:nvSpPr>
          <p:spPr>
            <a:xfrm>
              <a:off x="392529" y="5767323"/>
              <a:ext cx="985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9</a:t>
              </a:r>
            </a:p>
          </p:txBody>
        </p:sp>
      </p:grpSp>
      <p:sp>
        <p:nvSpPr>
          <p:cNvPr id="80" name="CaixaDeTexto 4">
            <a:extLst>
              <a:ext uri="{FF2B5EF4-FFF2-40B4-BE49-F238E27FC236}">
                <a16:creationId xmlns:a16="http://schemas.microsoft.com/office/drawing/2014/main" id="{30C5D718-40CD-5B40-8900-6B45CCA10EA4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EXERCÍCIO:</a:t>
            </a:r>
            <a:r>
              <a:rPr lang="en-US" sz="2800" b="1" i="1" dirty="0">
                <a:solidFill>
                  <a:schemeClr val="bg1"/>
                </a:solidFill>
              </a:rPr>
              <a:t> SORT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1EBFFC-9D03-4042-8D1B-D49E6969D75E}"/>
              </a:ext>
            </a:extLst>
          </p:cNvPr>
          <p:cNvSpPr txBox="1"/>
          <p:nvPr/>
        </p:nvSpPr>
        <p:spPr>
          <a:xfrm>
            <a:off x="694016" y="5493510"/>
            <a:ext cx="6932428" cy="1169551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200" b="1" u="sng" dirty="0" err="1">
                <a:solidFill>
                  <a:schemeClr val="accent4">
                    <a:lumMod val="75000"/>
                  </a:schemeClr>
                </a:solidFill>
              </a:rPr>
              <a:t>Limitações</a:t>
            </a:r>
            <a:r>
              <a:rPr lang="en-US" sz="2200" b="1" u="sng" dirty="0">
                <a:solidFill>
                  <a:schemeClr val="accent4">
                    <a:lumMod val="75000"/>
                  </a:schemeClr>
                </a:solidFill>
              </a:rPr>
              <a:t>: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4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200" dirty="0" err="1"/>
              <a:t>Quando</a:t>
            </a:r>
            <a:r>
              <a:rPr lang="en-US" sz="2200" dirty="0"/>
              <a:t> </a:t>
            </a:r>
            <a:r>
              <a:rPr lang="en-US" sz="2200" dirty="0" err="1"/>
              <a:t>certa</a:t>
            </a:r>
            <a:r>
              <a:rPr lang="en-US" sz="2200" dirty="0"/>
              <a:t> </a:t>
            </a:r>
            <a:r>
              <a:rPr lang="en-US" sz="2200" dirty="0" err="1"/>
              <a:t>funcionalidade</a:t>
            </a:r>
            <a:r>
              <a:rPr lang="en-US" sz="2200" dirty="0"/>
              <a:t> </a:t>
            </a:r>
            <a:r>
              <a:rPr lang="en-US" sz="2200" dirty="0" err="1"/>
              <a:t>não</a:t>
            </a:r>
            <a:r>
              <a:rPr lang="en-US" sz="2200" dirty="0"/>
              <a:t> </a:t>
            </a:r>
            <a:r>
              <a:rPr lang="en-US" sz="2200" dirty="0" err="1"/>
              <a:t>é</a:t>
            </a:r>
            <a:r>
              <a:rPr lang="en-US" sz="2200" dirty="0"/>
              <a:t> </a:t>
            </a:r>
            <a:r>
              <a:rPr lang="en-US" sz="2200" dirty="0" err="1"/>
              <a:t>implementada</a:t>
            </a:r>
            <a:r>
              <a:rPr lang="en-US" sz="2200" dirty="0"/>
              <a:t>, </a:t>
            </a:r>
            <a:r>
              <a:rPr lang="en-US" sz="2200" dirty="0" err="1"/>
              <a:t>nenhum</a:t>
            </a:r>
            <a:r>
              <a:rPr lang="en-US" sz="2200" dirty="0"/>
              <a:t> </a:t>
            </a:r>
            <a:r>
              <a:rPr lang="en-US" sz="2200" dirty="0" err="1"/>
              <a:t>caso</a:t>
            </a:r>
            <a:r>
              <a:rPr lang="en-US" sz="2200" dirty="0"/>
              <a:t> de teste </a:t>
            </a:r>
            <a:r>
              <a:rPr lang="en-US" sz="2200" dirty="0" err="1"/>
              <a:t>será</a:t>
            </a:r>
            <a:r>
              <a:rPr lang="en-US" sz="2200" dirty="0"/>
              <a:t> </a:t>
            </a:r>
            <a:r>
              <a:rPr lang="en-US" sz="2200" dirty="0" err="1"/>
              <a:t>necessário</a:t>
            </a:r>
            <a:r>
              <a:rPr lang="en-US" sz="2200" dirty="0"/>
              <a:t> para </a:t>
            </a:r>
            <a:r>
              <a:rPr lang="en-US" sz="2200" dirty="0" err="1"/>
              <a:t>exercitá</a:t>
            </a:r>
            <a:r>
              <a:rPr lang="en-US" sz="2200" dirty="0"/>
              <a:t>-la!</a:t>
            </a:r>
          </a:p>
        </p:txBody>
      </p:sp>
    </p:spTree>
    <p:extLst>
      <p:ext uri="{BB962C8B-B14F-4D97-AF65-F5344CB8AC3E}">
        <p14:creationId xmlns:p14="http://schemas.microsoft.com/office/powerpoint/2010/main" val="87475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1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34" grpId="0" animBg="1"/>
      <p:bldP spid="35" grpId="0" animBg="1"/>
      <p:bldP spid="38" grpId="0" animBg="1"/>
      <p:bldP spid="40" grpId="0" animBg="1"/>
      <p:bldP spid="50" grpId="0" animBg="1"/>
      <p:bldP spid="58" grpId="0" animBg="1"/>
      <p:bldP spid="8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4">
            <a:extLst>
              <a:ext uri="{FF2B5EF4-FFF2-40B4-BE49-F238E27FC236}">
                <a16:creationId xmlns:a16="http://schemas.microsoft.com/office/drawing/2014/main" id="{D5D4CA8D-BD45-2497-D174-F4975CC04F2C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GERAR O CFG AUTOMATICAMENTE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A5B06-EA93-6510-3351-787F2A43DB62}"/>
              </a:ext>
            </a:extLst>
          </p:cNvPr>
          <p:cNvSpPr txBox="1"/>
          <p:nvPr/>
        </p:nvSpPr>
        <p:spPr>
          <a:xfrm>
            <a:off x="2728451" y="1083696"/>
            <a:ext cx="905550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O GCC tem uma ferramenta para gear o CFG para nós:</a:t>
            </a:r>
          </a:p>
          <a:p>
            <a:pPr algn="ctr"/>
            <a:r>
              <a:rPr lang="pt-BR" sz="2400" dirty="0" err="1">
                <a:latin typeface="Consolas" panose="020B0609020204030204" pitchFamily="49" charset="0"/>
              </a:rPr>
              <a:t>gcc</a:t>
            </a:r>
            <a:r>
              <a:rPr lang="pt-BR" sz="2400" dirty="0">
                <a:latin typeface="Consolas" panose="020B0609020204030204" pitchFamily="49" charset="0"/>
              </a:rPr>
              <a:t> -O0 -g -</a:t>
            </a:r>
            <a:r>
              <a:rPr lang="pt-BR" sz="2400" dirty="0" err="1">
                <a:latin typeface="Consolas" panose="020B0609020204030204" pitchFamily="49" charset="0"/>
              </a:rPr>
              <a:t>fdump-tree-cfg-graph</a:t>
            </a:r>
            <a:r>
              <a:rPr lang="pt-BR" sz="2400" dirty="0">
                <a:latin typeface="Consolas" panose="020B0609020204030204" pitchFamily="49" charset="0"/>
              </a:rPr>
              <a:t> –c </a:t>
            </a:r>
            <a:r>
              <a:rPr lang="pt-BR" sz="24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pt-BR" sz="24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arquivo.c</a:t>
            </a:r>
            <a:r>
              <a:rPr lang="pt-BR" sz="24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endParaRPr lang="pt-BR" dirty="0"/>
          </a:p>
          <a:p>
            <a:r>
              <a:rPr lang="pt-BR" sz="2800" dirty="0"/>
              <a:t>A ferramenta </a:t>
            </a:r>
            <a:r>
              <a:rPr lang="pt-BR" sz="2800" dirty="0" err="1">
                <a:latin typeface="Consolas" panose="020B0609020204030204" pitchFamily="49" charset="0"/>
              </a:rPr>
              <a:t>dot</a:t>
            </a:r>
            <a:r>
              <a:rPr lang="pt-BR" sz="2800" dirty="0"/>
              <a:t> transforma o .</a:t>
            </a:r>
            <a:r>
              <a:rPr lang="pt-BR" sz="2800" dirty="0" err="1"/>
              <a:t>dot</a:t>
            </a:r>
            <a:r>
              <a:rPr lang="pt-BR" sz="2800" dirty="0"/>
              <a:t> gerado em uma imagem:</a:t>
            </a:r>
          </a:p>
          <a:p>
            <a:pPr algn="ctr"/>
            <a:r>
              <a:rPr lang="pt-BR" sz="2400" dirty="0" err="1">
                <a:latin typeface="Consolas" panose="020B0609020204030204" pitchFamily="49" charset="0"/>
              </a:rPr>
              <a:t>dot</a:t>
            </a:r>
            <a:r>
              <a:rPr lang="pt-BR" sz="2400" dirty="0">
                <a:latin typeface="Consolas" panose="020B0609020204030204" pitchFamily="49" charset="0"/>
              </a:rPr>
              <a:t> -</a:t>
            </a:r>
            <a:r>
              <a:rPr lang="pt-BR" sz="2400" dirty="0" err="1">
                <a:latin typeface="Consolas" panose="020B0609020204030204" pitchFamily="49" charset="0"/>
              </a:rPr>
              <a:t>Tpng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&lt;arquivo.dot&gt;</a:t>
            </a:r>
            <a:r>
              <a:rPr lang="pt-BR" sz="2400" dirty="0">
                <a:latin typeface="Consolas" panose="020B0609020204030204" pitchFamily="49" charset="0"/>
              </a:rPr>
              <a:t> -o cfg.png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6C65B9-5E53-A3BC-43CE-859A97CFF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33" y="796101"/>
            <a:ext cx="7076173" cy="587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120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7765</TotalTime>
  <Words>2002</Words>
  <Application>Microsoft Office PowerPoint</Application>
  <PresentationFormat>Widescreen</PresentationFormat>
  <Paragraphs>260</Paragraphs>
  <Slides>31</Slides>
  <Notes>15</Notes>
  <HiddenSlides>4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CMMI10</vt:lpstr>
      <vt:lpstr>CMMI7</vt:lpstr>
      <vt:lpstr>CMR10</vt:lpstr>
      <vt:lpstr>CMR7</vt:lpstr>
      <vt:lpstr>CMSY10</vt:lpstr>
      <vt:lpstr>Consolas</vt:lpstr>
      <vt:lpstr>Courier New</vt:lpstr>
      <vt:lpstr>NimbusRomNo9L-Regu</vt:lpstr>
      <vt:lpstr>Wingdings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Machado De Souza</dc:creator>
  <cp:lastModifiedBy>Iaçanã Ianiski Weber</cp:lastModifiedBy>
  <cp:revision>945</cp:revision>
  <cp:lastPrinted>2020-10-09T20:05:58Z</cp:lastPrinted>
  <dcterms:created xsi:type="dcterms:W3CDTF">2017-11-07T18:55:33Z</dcterms:created>
  <dcterms:modified xsi:type="dcterms:W3CDTF">2026-03-26T10:17:42Z</dcterms:modified>
</cp:coreProperties>
</file>