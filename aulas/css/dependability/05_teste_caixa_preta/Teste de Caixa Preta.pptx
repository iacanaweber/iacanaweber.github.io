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0"/>
  </p:notesMasterIdLst>
  <p:handoutMasterIdLst>
    <p:handoutMasterId r:id="rId31"/>
  </p:handoutMasterIdLst>
  <p:sldIdLst>
    <p:sldId id="281" r:id="rId2"/>
    <p:sldId id="649" r:id="rId3"/>
    <p:sldId id="598" r:id="rId4"/>
    <p:sldId id="559" r:id="rId5"/>
    <p:sldId id="624" r:id="rId6"/>
    <p:sldId id="672" r:id="rId7"/>
    <p:sldId id="673" r:id="rId8"/>
    <p:sldId id="674" r:id="rId9"/>
    <p:sldId id="675" r:id="rId10"/>
    <p:sldId id="676" r:id="rId11"/>
    <p:sldId id="650" r:id="rId12"/>
    <p:sldId id="651" r:id="rId13"/>
    <p:sldId id="652" r:id="rId14"/>
    <p:sldId id="653" r:id="rId15"/>
    <p:sldId id="654" r:id="rId16"/>
    <p:sldId id="655" r:id="rId17"/>
    <p:sldId id="656" r:id="rId18"/>
    <p:sldId id="632" r:id="rId19"/>
    <p:sldId id="677" r:id="rId20"/>
    <p:sldId id="658" r:id="rId21"/>
    <p:sldId id="678" r:id="rId22"/>
    <p:sldId id="679" r:id="rId23"/>
    <p:sldId id="663" r:id="rId24"/>
    <p:sldId id="664" r:id="rId25"/>
    <p:sldId id="668" r:id="rId26"/>
    <p:sldId id="669" r:id="rId27"/>
    <p:sldId id="670" r:id="rId28"/>
    <p:sldId id="671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00FE"/>
    <a:srgbClr val="FAFF7E"/>
    <a:srgbClr val="23FF23"/>
    <a:srgbClr val="8969B2"/>
    <a:srgbClr val="660066"/>
    <a:srgbClr val="1EC4D9"/>
    <a:srgbClr val="37CA8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615" autoAdjust="0"/>
    <p:restoredTop sz="85601" autoAdjust="0"/>
  </p:normalViewPr>
  <p:slideViewPr>
    <p:cSldViewPr snapToGrid="0">
      <p:cViewPr>
        <p:scale>
          <a:sx n="110" d="100"/>
          <a:sy n="110" d="100"/>
        </p:scale>
        <p:origin x="872" y="6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99993"/>
            <a:ext cx="6858000" cy="514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4977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204A89-6BFF-C147-B009-33247CD7572F}" type="datetimeFigureOut">
              <a:rPr lang="pt-BR" smtClean="0"/>
              <a:t>20/03/2026</a:t>
            </a:fld>
            <a:endParaRPr lang="pt-B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65B5EE-8431-BF41-8272-8266E624866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4255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pt.wikipedia.org/wiki/Sistema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4040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Análise</a:t>
            </a: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requisitos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engloba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todas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tarefas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que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lidam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investigação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definição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escopo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de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novos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Sistema"/>
              </a:rPr>
              <a:t>sistemas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alterações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1071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1476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42424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74804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41765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42868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5876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7461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1249907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SCC: </a:t>
            </a:r>
            <a:r>
              <a:rPr lang="en-US" dirty="0" err="1"/>
              <a:t>domínio</a:t>
            </a:r>
            <a:r>
              <a:rPr lang="en-US" dirty="0"/>
              <a:t> de </a:t>
            </a:r>
            <a:r>
              <a:rPr lang="en-US" dirty="0" err="1"/>
              <a:t>saída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6701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AACBE-F760-555A-9DF6-344CCBDD5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0795EAB-97FB-B122-9029-1ADA217FBB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423A8F-6B7D-E15F-D3A3-4FBCDAC79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SCC: </a:t>
            </a:r>
            <a:r>
              <a:rPr lang="en-US" dirty="0" err="1"/>
              <a:t>domínio</a:t>
            </a:r>
            <a:r>
              <a:rPr lang="en-US" dirty="0"/>
              <a:t> de </a:t>
            </a:r>
            <a:r>
              <a:rPr lang="en-US" dirty="0" err="1"/>
              <a:t>saída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459D3F-A164-C666-B7F8-A3AB4C296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22109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97444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F9C92-B5F4-E52B-417B-3D0EAB64D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21E004-0B0C-3FC2-B662-CB3F046631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B942BF-98A4-FD76-3C67-D99573DE3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B499BD-ADBB-4A8B-1D53-069CFD8617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95989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289703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221509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26599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65B5EE-8431-BF41-8272-8266E624866A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71772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2877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84944" y="78798"/>
            <a:ext cx="8961583" cy="613930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14123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0901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338160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70728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528237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656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23373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716572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22770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0201778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de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178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375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20B198-9831-4208-8259-C0FFE3B2B63E}" type="datetimeFigureOut">
              <a:rPr lang="pt-BR" smtClean="0"/>
              <a:t>20/03/2026</a:t>
            </a:fld>
            <a:endParaRPr lang="pt-BR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AA14D-22D4-4444-985F-354FEC21BF61}" type="slidenum">
              <a:rPr lang="pt-BR" smtClean="0"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48841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40267" y="3192565"/>
            <a:ext cx="112098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accent4">
                    <a:lumMod val="75000"/>
                  </a:schemeClr>
                </a:solidFill>
              </a:rPr>
              <a:t>Teste de Caixa Preta</a:t>
            </a:r>
          </a:p>
          <a:p>
            <a:pPr algn="ctr"/>
            <a:endParaRPr lang="pt-BR" sz="1200" b="1" dirty="0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pt-BR" sz="2400" i="1" dirty="0"/>
              <a:t>Prof. Iaçanã Ianiski Weber</a:t>
            </a:r>
          </a:p>
        </p:txBody>
      </p:sp>
      <p:sp>
        <p:nvSpPr>
          <p:cNvPr id="5" name="Subtítulo 6">
            <a:extLst>
              <a:ext uri="{FF2B5EF4-FFF2-40B4-BE49-F238E27FC236}">
                <a16:creationId xmlns:a16="http://schemas.microsoft.com/office/drawing/2014/main" id="{6B6BB6B0-B7D5-9321-4927-53E0672BD6B5}"/>
              </a:ext>
            </a:extLst>
          </p:cNvPr>
          <p:cNvSpPr txBox="1">
            <a:spLocks/>
          </p:cNvSpPr>
          <p:nvPr/>
        </p:nvSpPr>
        <p:spPr>
          <a:xfrm>
            <a:off x="7053943" y="310244"/>
            <a:ext cx="5138057" cy="197575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98G08-04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CONFIABILIDADE E </a:t>
            </a:r>
          </a:p>
          <a:p>
            <a:r>
              <a:rPr lang="pt-BR" sz="2800" b="1" dirty="0">
                <a:solidFill>
                  <a:schemeClr val="bg1"/>
                </a:solidFill>
              </a:rPr>
              <a:t>SEGURANÇA </a:t>
            </a:r>
            <a:r>
              <a:rPr lang="pt-BR" sz="2800" b="1">
                <a:solidFill>
                  <a:schemeClr val="bg1"/>
                </a:solidFill>
              </a:rPr>
              <a:t>DE SOFTWARE</a:t>
            </a:r>
            <a:endParaRPr lang="pt-BR" sz="2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0916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NÍVEIS DE TESTE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9206EB3-2678-AC4A-A72F-A6A4BB1B80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151" y="1040524"/>
            <a:ext cx="9350908" cy="5448036"/>
          </a:xfrm>
          <a:prstGeom prst="rect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37599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TÉCNICAS DE TESTE DE UNIDADE</a:t>
            </a:r>
            <a:endParaRPr lang="pt-BR" sz="2800" b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626D21-1023-EF4E-BC40-33BB2F67FB2E}"/>
              </a:ext>
            </a:extLst>
          </p:cNvPr>
          <p:cNvSpPr txBox="1"/>
          <p:nvPr/>
        </p:nvSpPr>
        <p:spPr>
          <a:xfrm>
            <a:off x="439072" y="1107567"/>
            <a:ext cx="11154215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u="sng" dirty="0" err="1"/>
              <a:t>Técnicas</a:t>
            </a:r>
            <a:r>
              <a:rPr lang="en-US" sz="3000" u="sng" dirty="0"/>
              <a:t>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>
                <a:solidFill>
                  <a:srgbClr val="FF0000"/>
                </a:solidFill>
              </a:rPr>
              <a:t>Funcional</a:t>
            </a:r>
            <a:r>
              <a:rPr lang="en-US" sz="2800" dirty="0">
                <a:solidFill>
                  <a:srgbClr val="FF0000"/>
                </a:solidFill>
              </a:rPr>
              <a:t> (</a:t>
            </a:r>
            <a:r>
              <a:rPr lang="en-US" sz="2800" dirty="0" err="1">
                <a:solidFill>
                  <a:srgbClr val="FF0000"/>
                </a:solidFill>
              </a:rPr>
              <a:t>Capítulo</a:t>
            </a:r>
            <a:r>
              <a:rPr lang="en-US" sz="2800" dirty="0">
                <a:solidFill>
                  <a:srgbClr val="FF0000"/>
                </a:solidFill>
              </a:rPr>
              <a:t> 2)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Estrutural</a:t>
            </a:r>
            <a:r>
              <a:rPr lang="en-US" sz="2800" dirty="0"/>
              <a:t> (</a:t>
            </a:r>
            <a:r>
              <a:rPr lang="en-US" sz="2800" dirty="0" err="1"/>
              <a:t>Capítulo</a:t>
            </a:r>
            <a:r>
              <a:rPr lang="en-US" sz="2800" dirty="0"/>
              <a:t> 4)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Baseada</a:t>
            </a:r>
            <a:r>
              <a:rPr lang="en-US" sz="2800" dirty="0"/>
              <a:t> </a:t>
            </a:r>
            <a:r>
              <a:rPr lang="en-US" sz="2800" dirty="0" err="1"/>
              <a:t>em</a:t>
            </a:r>
            <a:r>
              <a:rPr lang="en-US" sz="2800" dirty="0"/>
              <a:t> </a:t>
            </a:r>
            <a:r>
              <a:rPr lang="en-US" sz="2800" dirty="0" err="1"/>
              <a:t>Erros</a:t>
            </a:r>
            <a:r>
              <a:rPr lang="en-US" sz="2800" dirty="0"/>
              <a:t> (</a:t>
            </a:r>
            <a:r>
              <a:rPr lang="en-US" sz="2800" dirty="0" err="1"/>
              <a:t>Capítulo</a:t>
            </a:r>
            <a:r>
              <a:rPr lang="en-US" sz="2800" dirty="0"/>
              <a:t> 5)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962284-2527-5446-BD28-FE257FC0C627}"/>
              </a:ext>
            </a:extLst>
          </p:cNvPr>
          <p:cNvSpPr txBox="1"/>
          <p:nvPr/>
        </p:nvSpPr>
        <p:spPr>
          <a:xfrm>
            <a:off x="439072" y="3583238"/>
            <a:ext cx="1138031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/>
              <a:t>A </a:t>
            </a:r>
            <a:r>
              <a:rPr lang="en-US" sz="3000" dirty="0" err="1"/>
              <a:t>diferença</a:t>
            </a:r>
            <a:r>
              <a:rPr lang="en-US" sz="3000" dirty="0"/>
              <a:t> </a:t>
            </a:r>
            <a:r>
              <a:rPr lang="en-US" sz="3000" dirty="0" err="1"/>
              <a:t>está</a:t>
            </a:r>
            <a:r>
              <a:rPr lang="en-US" sz="3000" dirty="0"/>
              <a:t> </a:t>
            </a:r>
            <a:r>
              <a:rPr lang="en-US" sz="3000" dirty="0" err="1"/>
              <a:t>na</a:t>
            </a:r>
            <a:r>
              <a:rPr lang="en-US" sz="3000" dirty="0"/>
              <a:t> </a:t>
            </a:r>
            <a:r>
              <a:rPr lang="en-US" sz="3000" dirty="0" err="1"/>
              <a:t>fonte</a:t>
            </a:r>
            <a:r>
              <a:rPr lang="en-US" sz="3000" dirty="0"/>
              <a:t> </a:t>
            </a:r>
            <a:r>
              <a:rPr lang="en-US" sz="3000" dirty="0" err="1"/>
              <a:t>utilizada</a:t>
            </a:r>
            <a:r>
              <a:rPr lang="en-US" sz="3000" dirty="0"/>
              <a:t> para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definir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os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3000" i="1" dirty="0" err="1">
                <a:solidFill>
                  <a:schemeClr val="accent4">
                    <a:lumMod val="75000"/>
                  </a:schemeClr>
                </a:solidFill>
              </a:rPr>
              <a:t>requisitos</a:t>
            </a:r>
            <a:r>
              <a:rPr lang="en-US" sz="3000" i="1" dirty="0">
                <a:solidFill>
                  <a:schemeClr val="accent4">
                    <a:lumMod val="75000"/>
                  </a:schemeClr>
                </a:solidFill>
              </a:rPr>
              <a:t> de teste</a:t>
            </a:r>
            <a:r>
              <a:rPr lang="en-US" sz="3000" dirty="0"/>
              <a:t>!!</a:t>
            </a:r>
            <a:endParaRPr lang="en-US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E7E5F1-F136-EE4D-81CD-2F9A0BD4DD1A}"/>
              </a:ext>
            </a:extLst>
          </p:cNvPr>
          <p:cNvSpPr txBox="1"/>
          <p:nvPr/>
        </p:nvSpPr>
        <p:spPr>
          <a:xfrm>
            <a:off x="439072" y="4429576"/>
            <a:ext cx="1138031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3000" dirty="0"/>
              <a:t>Mas o </a:t>
            </a:r>
            <a:r>
              <a:rPr lang="en-US" sz="3000" b="1" i="1" dirty="0" err="1"/>
              <a:t>objetivo</a:t>
            </a:r>
            <a:r>
              <a:rPr lang="en-US" sz="3000" dirty="0"/>
              <a:t> das </a:t>
            </a:r>
            <a:r>
              <a:rPr lang="en-US" sz="3000" dirty="0" err="1"/>
              <a:t>técnicas</a:t>
            </a:r>
            <a:r>
              <a:rPr lang="en-US" sz="3000" dirty="0"/>
              <a:t> </a:t>
            </a:r>
            <a:r>
              <a:rPr lang="en-US" sz="3000" dirty="0" err="1"/>
              <a:t>é</a:t>
            </a:r>
            <a:r>
              <a:rPr lang="en-US" sz="3000" dirty="0"/>
              <a:t> similar: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Conduzir</a:t>
            </a:r>
            <a:r>
              <a:rPr lang="en-US" sz="2800" dirty="0"/>
              <a:t> o </a:t>
            </a:r>
            <a:r>
              <a:rPr lang="en-US" sz="2800" dirty="0" err="1"/>
              <a:t>processo</a:t>
            </a:r>
            <a:r>
              <a:rPr lang="en-US" sz="2800" dirty="0"/>
              <a:t> de teste de </a:t>
            </a:r>
            <a:r>
              <a:rPr lang="en-US" sz="2800" dirty="0" err="1"/>
              <a:t>uma</a:t>
            </a:r>
            <a:r>
              <a:rPr lang="en-US" sz="2800" dirty="0"/>
              <a:t> forma </a:t>
            </a:r>
            <a:r>
              <a:rPr lang="en-US" sz="2800" dirty="0" err="1"/>
              <a:t>mais</a:t>
            </a:r>
            <a:r>
              <a:rPr lang="en-US" sz="2800" dirty="0"/>
              <a:t> </a:t>
            </a:r>
            <a:r>
              <a:rPr lang="en-US" sz="2800" dirty="0" err="1"/>
              <a:t>sistemática</a:t>
            </a:r>
            <a:endParaRPr lang="en-US" sz="2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en-US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en-US" sz="2800" dirty="0" err="1"/>
              <a:t>Escolher</a:t>
            </a:r>
            <a:r>
              <a:rPr lang="en-US" sz="2800" dirty="0"/>
              <a:t> </a:t>
            </a:r>
            <a:r>
              <a:rPr lang="en-US" sz="2800" dirty="0" err="1"/>
              <a:t>casos</a:t>
            </a:r>
            <a:r>
              <a:rPr lang="en-US" sz="2800" dirty="0"/>
              <a:t> de teste que </a:t>
            </a:r>
            <a:r>
              <a:rPr lang="en-US" sz="2800" dirty="0" err="1"/>
              <a:t>representem</a:t>
            </a:r>
            <a:r>
              <a:rPr lang="en-US" sz="2800" dirty="0"/>
              <a:t> o </a:t>
            </a:r>
            <a:r>
              <a:rPr lang="en-US" sz="2800" dirty="0" err="1"/>
              <a:t>domínio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35266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DEFINIÇÃO DE TESTE DE UNIDADE FUNCIONAL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48623" y="1217751"/>
            <a:ext cx="1104179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600" dirty="0"/>
              <a:t>O software </a:t>
            </a:r>
            <a:r>
              <a:rPr lang="en-US" sz="2600" dirty="0" err="1"/>
              <a:t>é</a:t>
            </a:r>
            <a:r>
              <a:rPr lang="en-US" sz="2600" dirty="0"/>
              <a:t> </a:t>
            </a:r>
            <a:r>
              <a:rPr lang="en-US" sz="2600" dirty="0" err="1"/>
              <a:t>considerado</a:t>
            </a:r>
            <a:r>
              <a:rPr lang="en-US" sz="2600" dirty="0"/>
              <a:t> </a:t>
            </a:r>
            <a:r>
              <a:rPr lang="en-US" sz="2600" dirty="0" err="1"/>
              <a:t>uma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caixa</a:t>
            </a:r>
            <a:r>
              <a:rPr lang="en-US" sz="2600" b="1" dirty="0">
                <a:solidFill>
                  <a:srgbClr val="FF0000"/>
                </a:solidFill>
              </a:rPr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preta</a:t>
            </a:r>
            <a:endParaRPr lang="en-US" sz="2600" b="1" dirty="0">
              <a:solidFill>
                <a:srgbClr val="FF0000"/>
              </a:solidFill>
            </a:endParaRP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600" dirty="0"/>
              <a:t>No teste </a:t>
            </a:r>
            <a:r>
              <a:rPr lang="en-US" sz="2600" dirty="0" err="1"/>
              <a:t>funcional</a:t>
            </a:r>
            <a:r>
              <a:rPr lang="en-US" sz="2600" dirty="0"/>
              <a:t> </a:t>
            </a:r>
            <a:r>
              <a:rPr lang="en-US" sz="2600" dirty="0" err="1"/>
              <a:t>são</a:t>
            </a:r>
            <a:r>
              <a:rPr lang="en-US" sz="2600" dirty="0"/>
              <a:t> </a:t>
            </a:r>
            <a:r>
              <a:rPr lang="en-US" sz="2600" dirty="0" err="1"/>
              <a:t>verificadas</a:t>
            </a:r>
            <a:r>
              <a:rPr lang="en-US" sz="2600" dirty="0"/>
              <a:t> as </a:t>
            </a:r>
            <a:r>
              <a:rPr lang="en-US" sz="2600" dirty="0" err="1"/>
              <a:t>funções</a:t>
            </a:r>
            <a:r>
              <a:rPr lang="en-US" sz="2600" dirty="0"/>
              <a:t> do </a:t>
            </a:r>
            <a:r>
              <a:rPr lang="en-US" sz="2600" dirty="0" err="1"/>
              <a:t>sistema</a:t>
            </a:r>
            <a:r>
              <a:rPr lang="en-US" sz="2600" dirty="0"/>
              <a:t> </a:t>
            </a:r>
            <a:r>
              <a:rPr lang="en-US" sz="2600" i="1" dirty="0" err="1">
                <a:solidFill>
                  <a:schemeClr val="accent4">
                    <a:lumMod val="75000"/>
                  </a:schemeClr>
                </a:solidFill>
              </a:rPr>
              <a:t>sem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 se </a:t>
            </a:r>
            <a:r>
              <a:rPr lang="en-US" sz="2600" i="1" dirty="0" err="1">
                <a:solidFill>
                  <a:schemeClr val="accent4">
                    <a:lumMod val="75000"/>
                  </a:schemeClr>
                </a:solidFill>
              </a:rPr>
              <a:t>preocupar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 com </a:t>
            </a:r>
            <a:r>
              <a:rPr lang="en-US" sz="2600" i="1" dirty="0" err="1">
                <a:solidFill>
                  <a:schemeClr val="accent4">
                    <a:lumMod val="75000"/>
                  </a:schemeClr>
                </a:solidFill>
              </a:rPr>
              <a:t>os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600" i="1" dirty="0" err="1">
                <a:solidFill>
                  <a:schemeClr val="accent4">
                    <a:lumMod val="75000"/>
                  </a:schemeClr>
                </a:solidFill>
              </a:rPr>
              <a:t>detalhes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 de </a:t>
            </a:r>
            <a:r>
              <a:rPr lang="en-US" sz="2600" i="1" dirty="0" err="1">
                <a:solidFill>
                  <a:schemeClr val="accent4">
                    <a:lumMod val="75000"/>
                  </a:schemeClr>
                </a:solidFill>
              </a:rPr>
              <a:t>implementação</a:t>
            </a:r>
            <a:endParaRPr lang="en-US" sz="2600" i="1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600" dirty="0"/>
              <a:t>Entradas e </a:t>
            </a:r>
            <a:r>
              <a:rPr lang="en-US" sz="2600" dirty="0" err="1"/>
              <a:t>saídas</a:t>
            </a:r>
            <a:r>
              <a:rPr lang="en-US" sz="2600" dirty="0"/>
              <a:t> </a:t>
            </a:r>
            <a:r>
              <a:rPr lang="en-US" sz="2600" dirty="0" err="1"/>
              <a:t>são</a:t>
            </a:r>
            <a:r>
              <a:rPr lang="en-US" sz="2600" dirty="0"/>
              <a:t> </a:t>
            </a:r>
            <a:r>
              <a:rPr lang="en-US" sz="2600" dirty="0" err="1"/>
              <a:t>definidas</a:t>
            </a:r>
            <a:r>
              <a:rPr lang="en-US" sz="2600" dirty="0"/>
              <a:t> para </a:t>
            </a:r>
            <a:r>
              <a:rPr lang="en-US" sz="2600" dirty="0" err="1"/>
              <a:t>verificar</a:t>
            </a:r>
            <a:r>
              <a:rPr lang="en-US" sz="2600" dirty="0"/>
              <a:t> </a:t>
            </a:r>
            <a:r>
              <a:rPr lang="en-US" sz="2600" dirty="0" err="1"/>
              <a:t>conformidade</a:t>
            </a:r>
            <a:r>
              <a:rPr lang="en-US" sz="2600" dirty="0"/>
              <a:t> com </a:t>
            </a:r>
            <a:r>
              <a:rPr lang="en-US" sz="2600" dirty="0" err="1"/>
              <a:t>objetivos</a:t>
            </a:r>
            <a:r>
              <a:rPr lang="en-US" sz="2600" dirty="0"/>
              <a:t> </a:t>
            </a:r>
            <a:r>
              <a:rPr lang="en-US" sz="2600" dirty="0" err="1"/>
              <a:t>ou</a:t>
            </a:r>
            <a:r>
              <a:rPr lang="en-US" sz="2600" dirty="0"/>
              <a:t> </a:t>
            </a:r>
            <a:r>
              <a:rPr lang="en-US" sz="2600" b="1" dirty="0" err="1">
                <a:solidFill>
                  <a:srgbClr val="FF0000"/>
                </a:solidFill>
              </a:rPr>
              <a:t>especificação</a:t>
            </a:r>
            <a:endParaRPr lang="en-US" sz="2600" b="1" dirty="0">
              <a:solidFill>
                <a:srgbClr val="FF0000"/>
              </a:solidFill>
            </a:endParaRP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en-US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600" dirty="0"/>
              <a:t>O software </a:t>
            </a:r>
            <a:r>
              <a:rPr lang="en-US" sz="2600" dirty="0" err="1"/>
              <a:t>é</a:t>
            </a:r>
            <a:r>
              <a:rPr lang="en-US" sz="2600" dirty="0"/>
              <a:t> </a:t>
            </a:r>
            <a:r>
              <a:rPr lang="en-US" sz="2600" dirty="0" err="1"/>
              <a:t>avaliado</a:t>
            </a:r>
            <a:r>
              <a:rPr lang="en-US" sz="2600" dirty="0"/>
              <a:t> do </a:t>
            </a:r>
            <a:r>
              <a:rPr lang="en-US" sz="2600" dirty="0" err="1"/>
              <a:t>ponto</a:t>
            </a:r>
            <a:r>
              <a:rPr lang="en-US" sz="2600" dirty="0"/>
              <a:t> de vista do </a:t>
            </a:r>
            <a:r>
              <a:rPr lang="en-US" sz="2600" dirty="0" err="1"/>
              <a:t>usuário</a:t>
            </a:r>
            <a:endParaRPr lang="en-US" sz="2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E945A9-260B-1040-87E2-104F390E868C}"/>
              </a:ext>
            </a:extLst>
          </p:cNvPr>
          <p:cNvSpPr txBox="1"/>
          <p:nvPr/>
        </p:nvSpPr>
        <p:spPr>
          <a:xfrm>
            <a:off x="548623" y="4387730"/>
            <a:ext cx="11041795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en-US" sz="2600" dirty="0"/>
              <a:t>O teste </a:t>
            </a:r>
            <a:r>
              <a:rPr lang="en-US" sz="2600" dirty="0" err="1"/>
              <a:t>funcional</a:t>
            </a:r>
            <a:r>
              <a:rPr lang="en-US" sz="2600" dirty="0"/>
              <a:t> </a:t>
            </a:r>
            <a:r>
              <a:rPr lang="en-US" sz="2600" dirty="0" err="1"/>
              <a:t>envolve</a:t>
            </a:r>
            <a:r>
              <a:rPr lang="en-US" sz="2600" dirty="0"/>
              <a:t> </a:t>
            </a:r>
            <a:r>
              <a:rPr lang="en-US" sz="2600" i="1" dirty="0" err="1">
                <a:solidFill>
                  <a:schemeClr val="accent4">
                    <a:lumMod val="75000"/>
                  </a:schemeClr>
                </a:solidFill>
              </a:rPr>
              <a:t>dois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600" i="1" dirty="0" err="1">
                <a:solidFill>
                  <a:schemeClr val="accent4">
                    <a:lumMod val="75000"/>
                  </a:schemeClr>
                </a:solidFill>
              </a:rPr>
              <a:t>passos</a:t>
            </a:r>
            <a:r>
              <a:rPr lang="en-US" sz="2600" i="1" dirty="0">
                <a:solidFill>
                  <a:schemeClr val="accent4">
                    <a:lumMod val="75000"/>
                  </a:schemeClr>
                </a:solidFill>
              </a:rPr>
              <a:t> </a:t>
            </a:r>
            <a:r>
              <a:rPr lang="en-US" sz="2600" i="1" dirty="0" err="1">
                <a:solidFill>
                  <a:schemeClr val="accent4">
                    <a:lumMod val="75000"/>
                  </a:schemeClr>
                </a:solidFill>
              </a:rPr>
              <a:t>principais</a:t>
            </a:r>
            <a:r>
              <a:rPr lang="en-US" sz="2600" dirty="0"/>
              <a:t>:</a:t>
            </a:r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en-US" sz="6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en-US" sz="2400" dirty="0" err="1"/>
              <a:t>Identificar</a:t>
            </a:r>
            <a:r>
              <a:rPr lang="en-US" sz="2400" dirty="0"/>
              <a:t> as </a:t>
            </a:r>
            <a:r>
              <a:rPr lang="en-US" sz="2400" dirty="0" err="1"/>
              <a:t>funções</a:t>
            </a:r>
            <a:r>
              <a:rPr lang="en-US" sz="2400" dirty="0"/>
              <a:t> que o software </a:t>
            </a:r>
            <a:r>
              <a:rPr lang="en-US" sz="2400" dirty="0" err="1"/>
              <a:t>deve</a:t>
            </a:r>
            <a:r>
              <a:rPr lang="en-US" sz="2400" dirty="0"/>
              <a:t> </a:t>
            </a:r>
            <a:r>
              <a:rPr lang="en-US" sz="2400" dirty="0" err="1"/>
              <a:t>realizar</a:t>
            </a:r>
            <a:endParaRPr lang="en-US" sz="24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en-US" sz="600" dirty="0"/>
          </a:p>
          <a:p>
            <a:pPr marL="971550" lvl="1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en-US" sz="2400" dirty="0" err="1"/>
              <a:t>Criar</a:t>
            </a:r>
            <a:r>
              <a:rPr lang="en-US" sz="2400" dirty="0"/>
              <a:t> </a:t>
            </a:r>
            <a:r>
              <a:rPr lang="en-US" sz="2400" dirty="0" err="1"/>
              <a:t>casos</a:t>
            </a:r>
            <a:r>
              <a:rPr lang="en-US" sz="2400" dirty="0"/>
              <a:t> de teste </a:t>
            </a:r>
            <a:r>
              <a:rPr lang="en-US" sz="2400" dirty="0" err="1"/>
              <a:t>capazes</a:t>
            </a:r>
            <a:r>
              <a:rPr lang="en-US" sz="2400" dirty="0"/>
              <a:t> de </a:t>
            </a:r>
            <a:r>
              <a:rPr lang="en-US" sz="2400" dirty="0" err="1"/>
              <a:t>checar</a:t>
            </a:r>
            <a:r>
              <a:rPr lang="en-US" sz="2400" dirty="0"/>
              <a:t> se </a:t>
            </a:r>
            <a:r>
              <a:rPr lang="en-US" sz="2400" dirty="0" err="1"/>
              <a:t>essas</a:t>
            </a:r>
            <a:r>
              <a:rPr lang="en-US" sz="2400" dirty="0"/>
              <a:t> </a:t>
            </a:r>
            <a:r>
              <a:rPr lang="en-US" sz="2400" dirty="0" err="1"/>
              <a:t>funções</a:t>
            </a:r>
            <a:r>
              <a:rPr lang="en-US" sz="2400" dirty="0"/>
              <a:t> </a:t>
            </a:r>
            <a:r>
              <a:rPr lang="en-US" sz="2400" dirty="0" err="1"/>
              <a:t>estão</a:t>
            </a:r>
            <a:r>
              <a:rPr lang="en-US" sz="2400" dirty="0"/>
              <a:t> </a:t>
            </a:r>
            <a:r>
              <a:rPr lang="en-US" sz="2400" dirty="0" err="1"/>
              <a:t>sendo</a:t>
            </a:r>
            <a:r>
              <a:rPr lang="en-US" sz="2400" dirty="0"/>
              <a:t> </a:t>
            </a:r>
            <a:r>
              <a:rPr lang="en-US" sz="2400" dirty="0" err="1"/>
              <a:t>realizadas</a:t>
            </a:r>
            <a:r>
              <a:rPr lang="en-US" sz="2400" dirty="0"/>
              <a:t> </a:t>
            </a:r>
            <a:r>
              <a:rPr lang="en-US" sz="2400" dirty="0" err="1"/>
              <a:t>pelo</a:t>
            </a:r>
            <a:r>
              <a:rPr lang="en-US" sz="2400" dirty="0"/>
              <a:t> software</a:t>
            </a:r>
          </a:p>
        </p:txBody>
      </p:sp>
    </p:spTree>
    <p:extLst>
      <p:ext uri="{BB962C8B-B14F-4D97-AF65-F5344CB8AC3E}">
        <p14:creationId xmlns:p14="http://schemas.microsoft.com/office/powerpoint/2010/main" val="216368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35096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CRITÉRIOS DE TESTE FUNCIONAL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317FD4-53AA-8F46-9747-9B4D0C91013E}"/>
              </a:ext>
            </a:extLst>
          </p:cNvPr>
          <p:cNvSpPr txBox="1"/>
          <p:nvPr/>
        </p:nvSpPr>
        <p:spPr>
          <a:xfrm>
            <a:off x="548623" y="1286056"/>
            <a:ext cx="11041795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800" dirty="0"/>
              <a:t>Particionamento de Equivalência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4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800" dirty="0"/>
              <a:t>Análise do Valor Limite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400" dirty="0"/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800" dirty="0"/>
              <a:t>Sistemático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400" dirty="0">
              <a:solidFill>
                <a:schemeClr val="bg1">
                  <a:lumMod val="65000"/>
                </a:schemeClr>
              </a:solidFill>
            </a:endParaRPr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800" dirty="0">
                <a:solidFill>
                  <a:schemeClr val="bg1">
                    <a:lumMod val="65000"/>
                  </a:schemeClr>
                </a:solidFill>
              </a:rPr>
              <a:t>Grafo Causa-Efeito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endParaRPr lang="pt-BR" sz="400" dirty="0">
              <a:solidFill>
                <a:schemeClr val="bg1">
                  <a:lumMod val="65000"/>
                </a:schemeClr>
              </a:solidFill>
            </a:endParaRPr>
          </a:p>
          <a:p>
            <a:pPr marL="514350" indent="-514350" algn="just">
              <a:buClr>
                <a:schemeClr val="accent4">
                  <a:lumMod val="75000"/>
                </a:schemeClr>
              </a:buClr>
              <a:buFont typeface="+mj-lt"/>
              <a:buAutoNum type="arabicPeriod"/>
            </a:pPr>
            <a:r>
              <a:rPr lang="pt-BR" sz="2800" dirty="0">
                <a:solidFill>
                  <a:schemeClr val="bg1">
                    <a:lumMod val="65000"/>
                  </a:schemeClr>
                </a:solidFill>
              </a:rPr>
              <a:t>Error-</a:t>
            </a:r>
            <a:r>
              <a:rPr lang="pt-BR" sz="2800" dirty="0" err="1">
                <a:solidFill>
                  <a:schemeClr val="bg1">
                    <a:lumMod val="65000"/>
                  </a:schemeClr>
                </a:solidFill>
              </a:rPr>
              <a:t>Guessing</a:t>
            </a:r>
            <a:endParaRPr lang="pt-BR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548623" y="4117320"/>
            <a:ext cx="110417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/>
              <a:t>A qualidade de tais critérios depende fortemente da existência de uma </a:t>
            </a:r>
            <a:r>
              <a:rPr lang="pt-BR" sz="2800" b="1">
                <a:solidFill>
                  <a:srgbClr val="FF0000"/>
                </a:solidFill>
              </a:rPr>
              <a:t>boa especificação </a:t>
            </a:r>
            <a:r>
              <a:rPr lang="pt-BR" sz="2800"/>
              <a:t>de requisitos</a:t>
            </a:r>
            <a:endParaRPr lang="pt-BR" sz="28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0F8AD5-807A-364C-876F-4E4E4B382CC3}"/>
              </a:ext>
            </a:extLst>
          </p:cNvPr>
          <p:cNvSpPr txBox="1"/>
          <p:nvPr/>
        </p:nvSpPr>
        <p:spPr>
          <a:xfrm>
            <a:off x="548622" y="5366635"/>
            <a:ext cx="110417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Especificações ausentes ou mesmo incompletas tornarão difícil a aplicação dos critérios funcionais</a:t>
            </a:r>
            <a:endParaRPr lang="pt-BR" sz="2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8747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BF417A46-4B35-5F0D-4D7E-4307F6311581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PARTICIONAMENTO DE EQUIVALÊNCIA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97E35D-59AD-50D5-4BF5-CB35DFD99043}"/>
              </a:ext>
            </a:extLst>
          </p:cNvPr>
          <p:cNvSpPr txBox="1"/>
          <p:nvPr/>
        </p:nvSpPr>
        <p:spPr>
          <a:xfrm>
            <a:off x="218472" y="1087242"/>
            <a:ext cx="116687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 ideia é dividir o domínio de entrada em classes (partições) onde todos os valores dentro de uma classe devem ter o mesmo comportamento. Se um valor da classe funciona, assume-se que todos os outros também funcionam.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074B73-3B11-EDDF-DEFD-0AD430928AE0}"/>
              </a:ext>
            </a:extLst>
          </p:cNvPr>
          <p:cNvSpPr txBox="1"/>
          <p:nvPr/>
        </p:nvSpPr>
        <p:spPr>
          <a:xfrm>
            <a:off x="304800" y="2535896"/>
            <a:ext cx="6900441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Como funciona:</a:t>
            </a:r>
          </a:p>
          <a:p>
            <a:r>
              <a:rPr lang="pt-BR" sz="2000" i="1" dirty="0"/>
              <a:t>  1. Identifique as entradas do sistema</a:t>
            </a:r>
          </a:p>
          <a:p>
            <a:r>
              <a:rPr lang="pt-BR" sz="2000" i="1" dirty="0"/>
              <a:t>  2. Divida cada entrada em classes válidas e inválidas</a:t>
            </a:r>
          </a:p>
          <a:p>
            <a:r>
              <a:rPr lang="pt-BR" sz="2000" i="1" dirty="0"/>
              <a:t>  3. Escolha um representante de cada classe como caso de teste</a:t>
            </a:r>
          </a:p>
          <a:p>
            <a:endParaRPr lang="pt-BR" dirty="0"/>
          </a:p>
          <a:p>
            <a:r>
              <a:rPr lang="pt-BR" b="1" dirty="0"/>
              <a:t>Exemplo</a:t>
            </a:r>
            <a:r>
              <a:rPr lang="pt-BR" dirty="0"/>
              <a:t>: </a:t>
            </a:r>
            <a:r>
              <a:rPr lang="pt-BR" b="1" dirty="0">
                <a:solidFill>
                  <a:srgbClr val="0070C0"/>
                </a:solidFill>
              </a:rPr>
              <a:t>campo "idade" aceita 18–65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Bastam 3 casos de teste (um de cada classe, </a:t>
            </a:r>
            <a:r>
              <a:rPr lang="pt-BR" dirty="0" err="1"/>
              <a:t>ex</a:t>
            </a:r>
            <a:r>
              <a:rPr lang="pt-BR" dirty="0"/>
              <a:t>: 10, 30, 70) em vez de testar todos os valores possíveis.</a:t>
            </a:r>
          </a:p>
          <a:p>
            <a:endParaRPr lang="pt-BR" dirty="0"/>
          </a:p>
          <a:p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Vantagem: </a:t>
            </a:r>
            <a:r>
              <a:rPr lang="pt-BR" sz="2000" dirty="0"/>
              <a:t>reduz drasticamente o número de testes sem perder cobertura significativa.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F237335-FDAB-D725-D504-52E6AC9B5A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748492"/>
              </p:ext>
            </p:extLst>
          </p:nvPr>
        </p:nvGraphicFramePr>
        <p:xfrm>
          <a:off x="7286263" y="3429000"/>
          <a:ext cx="4600935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645">
                  <a:extLst>
                    <a:ext uri="{9D8B030D-6E8A-4147-A177-3AD203B41FA5}">
                      <a16:colId xmlns:a16="http://schemas.microsoft.com/office/drawing/2014/main" val="1975290327"/>
                    </a:ext>
                  </a:extLst>
                </a:gridCol>
                <a:gridCol w="1533645">
                  <a:extLst>
                    <a:ext uri="{9D8B030D-6E8A-4147-A177-3AD203B41FA5}">
                      <a16:colId xmlns:a16="http://schemas.microsoft.com/office/drawing/2014/main" val="3476812245"/>
                    </a:ext>
                  </a:extLst>
                </a:gridCol>
                <a:gridCol w="1533645">
                  <a:extLst>
                    <a:ext uri="{9D8B030D-6E8A-4147-A177-3AD203B41FA5}">
                      <a16:colId xmlns:a16="http://schemas.microsoft.com/office/drawing/2014/main" val="3822227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FAIXA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TIPO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328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&lt;18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Inválida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077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18~65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Válida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2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&gt;65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Inválida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47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7406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A07B4-2A87-06BC-EB79-A9B00EF4E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74912A06-66D0-B40C-6C93-9F5FC2B993D8}"/>
              </a:ext>
            </a:extLst>
          </p:cNvPr>
          <p:cNvSpPr txBox="1"/>
          <p:nvPr/>
        </p:nvSpPr>
        <p:spPr>
          <a:xfrm>
            <a:off x="2343873" y="129309"/>
            <a:ext cx="9626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>
                <a:solidFill>
                  <a:schemeClr val="bg1"/>
                </a:solidFill>
              </a:rPr>
              <a:t> ANÁLISE DO VALOR LIMITE (BOUNDARY VALUE ANALYSIS)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1CCE9C-7442-70EB-7268-4B7F8324DF0F}"/>
              </a:ext>
            </a:extLst>
          </p:cNvPr>
          <p:cNvSpPr txBox="1"/>
          <p:nvPr/>
        </p:nvSpPr>
        <p:spPr>
          <a:xfrm>
            <a:off x="218472" y="1087242"/>
            <a:ext cx="116687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Complementa o particionamento. A observação é que bugs se concentram nas fronteiras entre as classes, não no meio delas.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66DDD2-4F23-24FC-4F7E-9CF3CE7F3172}"/>
              </a:ext>
            </a:extLst>
          </p:cNvPr>
          <p:cNvSpPr txBox="1"/>
          <p:nvPr/>
        </p:nvSpPr>
        <p:spPr>
          <a:xfrm>
            <a:off x="304800" y="2541683"/>
            <a:ext cx="6900441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Como funciona: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i="1" dirty="0"/>
              <a:t>Teste os valores exatamente nos limites e imediatamente ao redor deles.</a:t>
            </a:r>
            <a:endParaRPr lang="pt-BR" dirty="0"/>
          </a:p>
          <a:p>
            <a:r>
              <a:rPr lang="pt-BR" b="1" dirty="0"/>
              <a:t>Exemplo</a:t>
            </a:r>
            <a:r>
              <a:rPr lang="pt-BR" dirty="0"/>
              <a:t>: </a:t>
            </a:r>
            <a:r>
              <a:rPr lang="pt-BR" b="1" dirty="0">
                <a:solidFill>
                  <a:srgbClr val="0070C0"/>
                </a:solidFill>
              </a:rPr>
              <a:t>campo "idade" aceita 18–65</a:t>
            </a:r>
            <a:r>
              <a:rPr lang="pt-BR" dirty="0"/>
              <a:t>.</a:t>
            </a:r>
          </a:p>
          <a:p>
            <a:endParaRPr lang="pt-BR" dirty="0"/>
          </a:p>
          <a:p>
            <a:r>
              <a:rPr lang="pt-BR" dirty="0"/>
              <a:t>São 6 casos de teste focados onde os erros mais provavelmente ocorrem (erros de &lt; </a:t>
            </a:r>
            <a:r>
              <a:rPr lang="pt-BR" dirty="0" err="1"/>
              <a:t>vs</a:t>
            </a:r>
            <a:r>
              <a:rPr lang="pt-BR" dirty="0"/>
              <a:t> &lt;=, off-</a:t>
            </a:r>
            <a:r>
              <a:rPr lang="pt-BR" dirty="0" err="1"/>
              <a:t>by</a:t>
            </a:r>
            <a:r>
              <a:rPr lang="pt-BR" dirty="0"/>
              <a:t>-</a:t>
            </a:r>
            <a:r>
              <a:rPr lang="pt-BR" dirty="0" err="1"/>
              <a:t>one</a:t>
            </a:r>
            <a:r>
              <a:rPr lang="pt-BR" dirty="0"/>
              <a:t>, etc.).</a:t>
            </a:r>
          </a:p>
          <a:p>
            <a:endParaRPr lang="pt-BR" sz="2000" dirty="0"/>
          </a:p>
          <a:p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Vantagem</a:t>
            </a:r>
            <a:r>
              <a:rPr lang="pt-BR" sz="2000" b="1" dirty="0"/>
              <a:t>:</a:t>
            </a:r>
            <a:r>
              <a:rPr lang="pt-BR" sz="2000" dirty="0"/>
              <a:t> alta taxa de detecção de defeitos com poucos testes.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109B3BF-0CA4-1E04-DD3D-524627D5D1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9585131"/>
              </p:ext>
            </p:extLst>
          </p:nvPr>
        </p:nvGraphicFramePr>
        <p:xfrm>
          <a:off x="7286264" y="2717157"/>
          <a:ext cx="4531488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0536">
                  <a:extLst>
                    <a:ext uri="{9D8B030D-6E8A-4147-A177-3AD203B41FA5}">
                      <a16:colId xmlns:a16="http://schemas.microsoft.com/office/drawing/2014/main" val="1975290327"/>
                    </a:ext>
                  </a:extLst>
                </a:gridCol>
                <a:gridCol w="3130952">
                  <a:extLst>
                    <a:ext uri="{9D8B030D-6E8A-4147-A177-3AD203B41FA5}">
                      <a16:colId xmlns:a16="http://schemas.microsoft.com/office/drawing/2014/main" val="38222279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CLASSE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Por quê?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5328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Logo abaixo do limite inferior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083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 Exatamente no limite inferior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58319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Logo acima do limite inferior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1936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Logo abaixo do limite superior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1077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 Exatamente no limite superior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23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dirty="0"/>
                        <a:t>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800" dirty="0"/>
                        <a:t>Logo acima do limite superior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847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3749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85C16A-A980-CF13-198F-475587DC3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6BA90AE0-0AB5-FD5D-7971-A3E9C12D726D}"/>
              </a:ext>
            </a:extLst>
          </p:cNvPr>
          <p:cNvSpPr txBox="1"/>
          <p:nvPr/>
        </p:nvSpPr>
        <p:spPr>
          <a:xfrm>
            <a:off x="2343873" y="129309"/>
            <a:ext cx="9626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>
                <a:solidFill>
                  <a:schemeClr val="bg1"/>
                </a:solidFill>
              </a:rPr>
              <a:t> TESTE SISTEMÁTICO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1DDDAE3-5AB6-3F25-8121-3101ABB911BE}"/>
              </a:ext>
            </a:extLst>
          </p:cNvPr>
          <p:cNvSpPr txBox="1"/>
          <p:nvPr/>
        </p:nvSpPr>
        <p:spPr>
          <a:xfrm>
            <a:off x="218472" y="1087242"/>
            <a:ext cx="116687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Refere-se à abordagem de derivar casos de teste de forma metódica e reproduzível, seguindo critérios bem definidos em oposição a testes </a:t>
            </a:r>
            <a:r>
              <a:rPr lang="pt-BR" sz="2800" dirty="0" err="1"/>
              <a:t>ad-hoc</a:t>
            </a:r>
            <a:r>
              <a:rPr lang="pt-BR" sz="2800" dirty="0"/>
              <a:t> ou baseados em intuição (como Error </a:t>
            </a:r>
            <a:r>
              <a:rPr lang="pt-BR" sz="2800" dirty="0" err="1"/>
              <a:t>Guessing</a:t>
            </a:r>
            <a:r>
              <a:rPr lang="pt-BR" sz="2800" dirty="0"/>
              <a:t>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BC955E7-AFED-24BA-ED4D-8AD51D24BF41}"/>
              </a:ext>
            </a:extLst>
          </p:cNvPr>
          <p:cNvSpPr txBox="1"/>
          <p:nvPr/>
        </p:nvSpPr>
        <p:spPr>
          <a:xfrm>
            <a:off x="429469" y="3097268"/>
            <a:ext cx="112467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As técnicas anteriores (Particionamento e Valor Limite) são exemplos de abordagens sistemáticas. A ideia geral é: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Seguir um processo definido para gerar os testes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Ter critérios de cobertura mensuráveis (</a:t>
            </a:r>
            <a:r>
              <a:rPr lang="pt-BR" sz="2400" dirty="0" err="1"/>
              <a:t>ex</a:t>
            </a:r>
            <a:r>
              <a:rPr lang="pt-BR" sz="2400" dirty="0"/>
              <a:t>: "todas as classes de equivalência cobertas")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Ser reproduzível, ou seja, outro testador seguindo o mesmo método chega aos mesmos casos de teste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400" dirty="0"/>
              <a:t>Ter justificativa para cada caso de teste (não é um "chute")</a:t>
            </a:r>
          </a:p>
        </p:txBody>
      </p:sp>
    </p:spTree>
    <p:extLst>
      <p:ext uri="{BB962C8B-B14F-4D97-AF65-F5344CB8AC3E}">
        <p14:creationId xmlns:p14="http://schemas.microsoft.com/office/powerpoint/2010/main" val="3318636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C5BA8-E81C-FF24-A4E7-8D73C246C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CA42A78C-C8CD-D631-4082-D4AC70C35998}"/>
              </a:ext>
            </a:extLst>
          </p:cNvPr>
          <p:cNvSpPr txBox="1"/>
          <p:nvPr/>
        </p:nvSpPr>
        <p:spPr>
          <a:xfrm>
            <a:off x="2343873" y="129309"/>
            <a:ext cx="9626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>
                <a:solidFill>
                  <a:schemeClr val="bg1"/>
                </a:solidFill>
              </a:rPr>
              <a:t> GRAFO CAUSA-EFEITO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BA48A6-1809-9FC5-521D-FD7A570A33E4}"/>
              </a:ext>
            </a:extLst>
          </p:cNvPr>
          <p:cNvSpPr txBox="1"/>
          <p:nvPr/>
        </p:nvSpPr>
        <p:spPr>
          <a:xfrm>
            <a:off x="218472" y="1087242"/>
            <a:ext cx="116687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Técnica sistemática para derivar casos de teste a partir de combinações de condições de entrada (causas) e seus resultados (efeitos).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3985AC-E162-EE71-7E4C-D061606F3A2B}"/>
              </a:ext>
            </a:extLst>
          </p:cNvPr>
          <p:cNvSpPr txBox="1"/>
          <p:nvPr/>
        </p:nvSpPr>
        <p:spPr>
          <a:xfrm>
            <a:off x="310587" y="2041349"/>
            <a:ext cx="11246734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Como funciona: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Identifique as causas:</a:t>
            </a:r>
            <a:r>
              <a:rPr lang="pt-BR" sz="2000" dirty="0"/>
              <a:t> condições de entrada ou estímulos (</a:t>
            </a:r>
            <a:r>
              <a:rPr lang="pt-BR" sz="2000" dirty="0" err="1"/>
              <a:t>ex</a:t>
            </a:r>
            <a:r>
              <a:rPr lang="pt-BR" sz="2000" dirty="0"/>
              <a:t>: "usuário autenticado", "saldo &gt; 0")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Identifique os efeitos: </a:t>
            </a:r>
            <a:r>
              <a:rPr lang="pt-BR" sz="2000" dirty="0"/>
              <a:t>saídas ou ações do sistema (</a:t>
            </a:r>
            <a:r>
              <a:rPr lang="pt-BR" sz="2000" dirty="0" err="1"/>
              <a:t>ex</a:t>
            </a:r>
            <a:r>
              <a:rPr lang="pt-BR" sz="2000" dirty="0"/>
              <a:t>: "transação aprovada", "mensagem de erro")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Construa o grafo:</a:t>
            </a:r>
            <a:r>
              <a:rPr lang="pt-BR" sz="2000" dirty="0"/>
              <a:t> conecte causas aos efeitos usando operadores lógicos (AND, OR, NOT)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Adicione restrições:</a:t>
            </a:r>
            <a:r>
              <a:rPr lang="pt-BR" sz="2000" dirty="0"/>
              <a:t> nem todas as combinações de causas são possíveis (</a:t>
            </a:r>
            <a:r>
              <a:rPr lang="pt-BR" sz="2000" dirty="0" err="1"/>
              <a:t>ex</a:t>
            </a:r>
            <a:r>
              <a:rPr lang="pt-BR" sz="2000" dirty="0"/>
              <a:t>: exclusividade mútua)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2000" b="1" dirty="0"/>
              <a:t>Gere uma tabela de decisão:</a:t>
            </a:r>
            <a:r>
              <a:rPr lang="pt-BR" sz="2000" dirty="0"/>
              <a:t> cada coluna é um caso de teste derivado do grafo</a:t>
            </a:r>
          </a:p>
          <a:p>
            <a:endParaRPr lang="pt-BR" sz="24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pt-BR" sz="2000" b="1" dirty="0">
                <a:solidFill>
                  <a:schemeClr val="accent6">
                    <a:lumMod val="75000"/>
                  </a:schemeClr>
                </a:solidFill>
              </a:rPr>
              <a:t>Vantagem:</a:t>
            </a:r>
            <a:r>
              <a:rPr lang="pt-BR" sz="2000" b="1" dirty="0"/>
              <a:t> </a:t>
            </a:r>
            <a:r>
              <a:rPr lang="pt-BR" sz="2000" dirty="0"/>
              <a:t>força você a pensar em combinações que testes </a:t>
            </a:r>
            <a:r>
              <a:rPr lang="pt-BR" sz="2000" i="1" dirty="0" err="1"/>
              <a:t>ad-hoc</a:t>
            </a:r>
            <a:r>
              <a:rPr lang="pt-BR" sz="2000" dirty="0"/>
              <a:t> ignorariam. É especialmente útil quando o comportamento depende de múltiplas condições simultâneas.</a:t>
            </a:r>
            <a:endParaRPr lang="pt-BR" sz="2400" b="1" dirty="0"/>
          </a:p>
          <a:p>
            <a:r>
              <a:rPr lang="pt-BR" sz="2400" b="1" dirty="0"/>
              <a:t>Exemplo:</a:t>
            </a:r>
          </a:p>
          <a:p>
            <a:r>
              <a:rPr lang="pt-BR" sz="2000" dirty="0">
                <a:solidFill>
                  <a:srgbClr val="0070C0"/>
                </a:solidFill>
              </a:rPr>
              <a:t>Causa 1: idade &gt;= 18</a:t>
            </a:r>
          </a:p>
          <a:p>
            <a:r>
              <a:rPr lang="pt-BR" sz="2000" dirty="0">
                <a:solidFill>
                  <a:srgbClr val="0070C0"/>
                </a:solidFill>
              </a:rPr>
              <a:t>Causa 2: tem CNH</a:t>
            </a:r>
          </a:p>
          <a:p>
            <a:r>
              <a:rPr lang="pt-BR" sz="2000" dirty="0">
                <a:solidFill>
                  <a:srgbClr val="0070C0"/>
                </a:solidFill>
              </a:rPr>
              <a:t>Efeito: pode alugar carro (C1 AND C2)</a:t>
            </a:r>
            <a:endParaRPr lang="pt-BR" sz="2400" b="1" dirty="0"/>
          </a:p>
          <a:p>
            <a:r>
              <a:rPr lang="pt-BR" sz="2400" b="1" dirty="0">
                <a:solidFill>
                  <a:srgbClr val="C00000"/>
                </a:solidFill>
              </a:rPr>
              <a:t>O grafo gera 4 casos: (V,V), (V,F), (F,V), (F,F)</a:t>
            </a:r>
          </a:p>
        </p:txBody>
      </p:sp>
    </p:spTree>
    <p:extLst>
      <p:ext uri="{BB962C8B-B14F-4D97-AF65-F5344CB8AC3E}">
        <p14:creationId xmlns:p14="http://schemas.microsoft.com/office/powerpoint/2010/main" val="16936716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264D-C0D5-DA9F-8F50-F1CFC2523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E97E266F-0558-1BC6-747E-1B75762E17D6}"/>
              </a:ext>
            </a:extLst>
          </p:cNvPr>
          <p:cNvSpPr txBox="1"/>
          <p:nvPr/>
        </p:nvSpPr>
        <p:spPr>
          <a:xfrm>
            <a:off x="2343873" y="129309"/>
            <a:ext cx="96264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2800" b="1" dirty="0">
                <a:solidFill>
                  <a:schemeClr val="bg1"/>
                </a:solidFill>
              </a:rPr>
              <a:t> ERROR GUESSING (ADIVINHAÇÃO DE ERROS)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134F4D-05E5-8E99-862F-75D857FB6D98}"/>
              </a:ext>
            </a:extLst>
          </p:cNvPr>
          <p:cNvSpPr txBox="1"/>
          <p:nvPr/>
        </p:nvSpPr>
        <p:spPr>
          <a:xfrm>
            <a:off x="218472" y="1023584"/>
            <a:ext cx="116687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Técnica baseada na experiência e intuição do testador. Não segue um processo formal, o testador "adivinha" onde os bugs provavelmente estão.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D82225-E9BA-8033-8502-048296B9CB41}"/>
              </a:ext>
            </a:extLst>
          </p:cNvPr>
          <p:cNvSpPr txBox="1"/>
          <p:nvPr/>
        </p:nvSpPr>
        <p:spPr>
          <a:xfrm>
            <a:off x="310587" y="2041349"/>
            <a:ext cx="7021975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b="1" dirty="0"/>
              <a:t>O testador usa seu conhecimento sobre: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Erros comuns de programação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Histórico de bugs do sistema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Pontos frágeis típicos</a:t>
            </a:r>
          </a:p>
          <a:p>
            <a:r>
              <a:rPr lang="pt-BR" sz="2000" b="1" dirty="0"/>
              <a:t>... para criar casos de teste direcionados.</a:t>
            </a:r>
          </a:p>
          <a:p>
            <a:endParaRPr lang="pt-BR" dirty="0"/>
          </a:p>
          <a:p>
            <a:r>
              <a:rPr lang="pt-BR" sz="2000" b="1" dirty="0"/>
              <a:t>Exemplos clássicos de "chutes" que costumam encontrar bugs: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Divisão por zero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 err="1"/>
              <a:t>Strings</a:t>
            </a:r>
            <a:r>
              <a:rPr lang="pt-BR" dirty="0"/>
              <a:t> vazias ou </a:t>
            </a:r>
            <a:r>
              <a:rPr lang="pt-BR" dirty="0" err="1"/>
              <a:t>null</a:t>
            </a:r>
            <a:endParaRPr lang="pt-B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Listas vazias ou com um único elemento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Valores nos limites (0, -1, MAX_INT)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Datas como 29/02, 31/04, virada de ano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Campos com caracteres especiais (', ", &lt;script&gt;)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Arquivo vazio, arquivo muito grande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dirty="0"/>
              <a:t>Conexão de rede perdida no meio de operação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1B94E2-B68C-A256-F960-6B94301D3442}"/>
              </a:ext>
            </a:extLst>
          </p:cNvPr>
          <p:cNvSpPr txBox="1"/>
          <p:nvPr/>
        </p:nvSpPr>
        <p:spPr>
          <a:xfrm>
            <a:off x="7157099" y="2135148"/>
            <a:ext cx="4724313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solidFill>
                  <a:schemeClr val="accent6">
                    <a:lumMod val="75000"/>
                  </a:schemeClr>
                </a:solidFill>
              </a:rPr>
              <a:t>Vantagem:</a:t>
            </a:r>
            <a:r>
              <a:rPr lang="pt-BR" sz="2400" dirty="0"/>
              <a:t> rápida, complementa técnicas formais, encontra bugs que métodos sistemáticos podem perder.</a:t>
            </a:r>
          </a:p>
          <a:p>
            <a:endParaRPr lang="pt-BR" sz="2400" dirty="0"/>
          </a:p>
          <a:p>
            <a:r>
              <a:rPr lang="pt-BR" sz="2400" b="1" dirty="0">
                <a:solidFill>
                  <a:srgbClr val="FF0000"/>
                </a:solidFill>
              </a:rPr>
              <a:t>Desvantagem:</a:t>
            </a:r>
            <a:r>
              <a:rPr lang="pt-BR" sz="2400" dirty="0"/>
              <a:t> depende totalmente da experiência do testador, 	não é reproduzível nem garante cobertura.</a:t>
            </a:r>
            <a:endParaRPr lang="pt-BR" sz="24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5397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212E8F-B6BE-ED41-9693-4350468991E9}"/>
              </a:ext>
            </a:extLst>
          </p:cNvPr>
          <p:cNvSpPr/>
          <p:nvPr/>
        </p:nvSpPr>
        <p:spPr>
          <a:xfrm>
            <a:off x="684647" y="2253343"/>
            <a:ext cx="10858179" cy="2662464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ESTUDO DE CASO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086C9D-45D7-EBCD-82DA-D7ABE9CF954A}"/>
              </a:ext>
            </a:extLst>
          </p:cNvPr>
          <p:cNvSpPr txBox="1"/>
          <p:nvPr/>
        </p:nvSpPr>
        <p:spPr>
          <a:xfrm>
            <a:off x="746567" y="2253342"/>
            <a:ext cx="1076078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i="1" dirty="0"/>
              <a:t>Uma loja online oferece descontos que variam conforme o valor da compra e o tipo de cliente. Compras abaixo de R$100 não recebem desconto, independentemente do cliente. Para compras entre R$100 e R$499, clientes regulares recebem 10% de desconto, clientes premium recebem 15% e funcionários recebem 20%. Já para compras a partir de R$500, os descontos aumentam para 15%, 25% e 30%, respectivamente. Valores negativos de compra e tipos de cliente não cadastrados são considerados inválidos pelo sistema.</a:t>
            </a:r>
          </a:p>
        </p:txBody>
      </p:sp>
    </p:spTree>
    <p:extLst>
      <p:ext uri="{BB962C8B-B14F-4D97-AF65-F5344CB8AC3E}">
        <p14:creationId xmlns:p14="http://schemas.microsoft.com/office/powerpoint/2010/main" val="9151829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EF685-7ADD-EF4E-BFA9-9B5BF8CB7DBA}"/>
              </a:ext>
            </a:extLst>
          </p:cNvPr>
          <p:cNvSpPr/>
          <p:nvPr/>
        </p:nvSpPr>
        <p:spPr>
          <a:xfrm>
            <a:off x="0" y="2857499"/>
            <a:ext cx="12192000" cy="17798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1. PARTICIONAMENTO DE EQUIVALÊNCIA</a:t>
            </a:r>
          </a:p>
        </p:txBody>
      </p:sp>
    </p:spTree>
    <p:extLst>
      <p:ext uri="{BB962C8B-B14F-4D97-AF65-F5344CB8AC3E}">
        <p14:creationId xmlns:p14="http://schemas.microsoft.com/office/powerpoint/2010/main" val="27019691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PARTICIONAMENTO DE EQUIVALÊNCIA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517257" y="1077491"/>
            <a:ext cx="11128025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u="sng" dirty="0"/>
              <a:t>Objetivo:</a:t>
            </a:r>
            <a:r>
              <a:rPr lang="pt-BR" sz="2800" dirty="0"/>
              <a:t> é particionar o domínio de entrada de forma que os casos de testes dos subconjuntos (partições ou subdomínios) seja uma boa representação de todo o domínio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0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Divide o domínio de entrada em </a:t>
            </a:r>
            <a:r>
              <a:rPr lang="pt-BR" sz="2800" b="1" dirty="0">
                <a:solidFill>
                  <a:srgbClr val="FF0000"/>
                </a:solidFill>
              </a:rPr>
              <a:t>classes de equivalência </a:t>
            </a:r>
            <a:r>
              <a:rPr lang="pt-BR" sz="2800" dirty="0"/>
              <a:t>que, de acordo com a especificação do programa, são tratadas da mesma maneira.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4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Isto é, o valor dentro de uma classe é equivalente a todos os outros valores dentro da mesma classe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4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Logo, se eu testar um valor de uma classe, eu estarei cobrindo os outros valores dessa mesma classe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0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i="1" u="sng" dirty="0" err="1"/>
              <a:t>Assumption</a:t>
            </a:r>
            <a:r>
              <a:rPr lang="pt-BR" sz="2800" u="sng" dirty="0"/>
              <a:t>:</a:t>
            </a:r>
            <a:r>
              <a:rPr lang="pt-BR" sz="2800" dirty="0"/>
              <a:t> Se um elemento do subconjunto detectar um defeito, qualquer outro também detecta</a:t>
            </a:r>
            <a:endParaRPr lang="pt-BR" sz="2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93873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CLASSES DE EQUIVALÊNCIA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478722" y="1316955"/>
            <a:ext cx="11128025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dirty="0"/>
              <a:t>Pode-se observar a especificação procurando termos como: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“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intervalo</a:t>
            </a:r>
            <a:r>
              <a:rPr lang="pt-BR" sz="2800" dirty="0"/>
              <a:t>” e “</a:t>
            </a:r>
            <a:r>
              <a:rPr lang="pt-BR" sz="2800" i="1" dirty="0">
                <a:solidFill>
                  <a:schemeClr val="accent4">
                    <a:lumMod val="75000"/>
                  </a:schemeClr>
                </a:solidFill>
              </a:rPr>
              <a:t>conjunto</a:t>
            </a:r>
            <a:r>
              <a:rPr lang="pt-BR" sz="2800" dirty="0"/>
              <a:t>” ou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Palavras similares que indiquem que os dados são processados da mesma forma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3000" dirty="0"/>
              <a:t>Representa um conjunto de estados válidos ou inválidos para as condições de entrada</a:t>
            </a:r>
            <a:endParaRPr lang="pt-BR" sz="30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86251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CLASSES DE EQUIVALÊNCIA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315436" y="1029318"/>
            <a:ext cx="11343164" cy="538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Diretrizes para a definição das classes: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Se a condição de entrada especifica um </a:t>
            </a:r>
            <a:r>
              <a:rPr lang="pt-BR" sz="2400" b="1" dirty="0">
                <a:solidFill>
                  <a:srgbClr val="FF0000"/>
                </a:solidFill>
              </a:rPr>
              <a:t>intervalo de valores</a:t>
            </a:r>
            <a:r>
              <a:rPr lang="pt-BR" sz="2400" dirty="0"/>
              <a:t>, são definidas uma </a:t>
            </a:r>
            <a:r>
              <a:rPr lang="pt-BR" sz="2400" dirty="0" err="1"/>
              <a:t>classa</a:t>
            </a:r>
            <a:r>
              <a:rPr lang="pt-BR" sz="2400" dirty="0"/>
              <a:t> válida e duas inválidas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Se a condição de entrada especifica uma </a:t>
            </a:r>
            <a:r>
              <a:rPr lang="pt-BR" sz="2400" b="1" dirty="0">
                <a:solidFill>
                  <a:srgbClr val="FF0000"/>
                </a:solidFill>
              </a:rPr>
              <a:t>quantidade de valores</a:t>
            </a:r>
            <a:r>
              <a:rPr lang="pt-BR" sz="2400" dirty="0"/>
              <a:t>, são definidas uma classe válida e duas inválidas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Se a condição de entrada especifica um </a:t>
            </a:r>
            <a:r>
              <a:rPr lang="pt-BR" sz="2400" b="1" dirty="0">
                <a:solidFill>
                  <a:srgbClr val="FF0000"/>
                </a:solidFill>
              </a:rPr>
              <a:t>conjunto de valores determinados manipulados de forma diferente</a:t>
            </a:r>
            <a:r>
              <a:rPr lang="pt-BR" sz="2400" dirty="0"/>
              <a:t>, é definida uma classe válida para cada um desses valores e uma classe inválida com outro valor qualquer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6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Se a condição de </a:t>
            </a:r>
            <a:r>
              <a:rPr lang="pt-BR" sz="2400" b="1" dirty="0">
                <a:solidFill>
                  <a:srgbClr val="FF0000"/>
                </a:solidFill>
              </a:rPr>
              <a:t>entrada especifica uma situação do tipo “</a:t>
            </a:r>
            <a:r>
              <a:rPr lang="pt-BR" sz="2400" b="1" i="1" dirty="0">
                <a:solidFill>
                  <a:srgbClr val="FF0000"/>
                </a:solidFill>
              </a:rPr>
              <a:t>deve ser de tal forma</a:t>
            </a:r>
            <a:r>
              <a:rPr lang="pt-BR" sz="2400" b="1" dirty="0">
                <a:solidFill>
                  <a:srgbClr val="FF0000"/>
                </a:solidFill>
              </a:rPr>
              <a:t>”</a:t>
            </a:r>
            <a:r>
              <a:rPr lang="pt-BR" sz="2400" dirty="0"/>
              <a:t>, são definidas uma classe válida e uma inválida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4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Definidas as classes, deve-se definir casos de teste que cubram o maior número de classes</a:t>
            </a:r>
            <a:endParaRPr lang="pt-BR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2704F3-449B-6B49-8054-1AC4513BA105}"/>
              </a:ext>
            </a:extLst>
          </p:cNvPr>
          <p:cNvSpPr txBox="1"/>
          <p:nvPr/>
        </p:nvSpPr>
        <p:spPr>
          <a:xfrm>
            <a:off x="100872" y="6288505"/>
            <a:ext cx="9536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buClr>
                <a:schemeClr val="accent4">
                  <a:lumMod val="75000"/>
                </a:schemeClr>
              </a:buClr>
            </a:pPr>
            <a:r>
              <a:rPr lang="en-US" u="sng" dirty="0" err="1"/>
              <a:t>Dica</a:t>
            </a:r>
            <a:r>
              <a:rPr lang="en-US" u="sng" dirty="0"/>
              <a:t>:</a:t>
            </a:r>
            <a:r>
              <a:rPr lang="en-US" dirty="0"/>
              <a:t> </a:t>
            </a:r>
            <a:r>
              <a:rPr lang="en-US" dirty="0" err="1"/>
              <a:t>ler</a:t>
            </a:r>
            <a:r>
              <a:rPr lang="en-US" dirty="0"/>
              <a:t> o </a:t>
            </a:r>
            <a:r>
              <a:rPr lang="en-US" dirty="0" err="1"/>
              <a:t>Capítulo</a:t>
            </a:r>
            <a:r>
              <a:rPr lang="en-US" dirty="0"/>
              <a:t> 2 do </a:t>
            </a:r>
            <a:r>
              <a:rPr lang="en-US" dirty="0" err="1"/>
              <a:t>livro</a:t>
            </a:r>
            <a:r>
              <a:rPr lang="en-US" dirty="0"/>
              <a:t>, </a:t>
            </a:r>
            <a:r>
              <a:rPr lang="en-US" dirty="0" err="1"/>
              <a:t>pois</a:t>
            </a:r>
            <a:r>
              <a:rPr lang="en-US" dirty="0"/>
              <a:t> </a:t>
            </a:r>
            <a:r>
              <a:rPr lang="en-US" dirty="0" err="1"/>
              <a:t>mostra</a:t>
            </a:r>
            <a:r>
              <a:rPr lang="en-US" dirty="0"/>
              <a:t> outros </a:t>
            </a:r>
            <a:r>
              <a:rPr lang="en-US" dirty="0" err="1"/>
              <a:t>exempos</a:t>
            </a:r>
            <a:r>
              <a:rPr lang="en-US" dirty="0"/>
              <a:t> </a:t>
            </a:r>
            <a:r>
              <a:rPr lang="en-US" dirty="0" err="1"/>
              <a:t>práticos</a:t>
            </a:r>
            <a:r>
              <a:rPr lang="en-US" dirty="0"/>
              <a:t> </a:t>
            </a:r>
            <a:r>
              <a:rPr lang="en-US" dirty="0" err="1"/>
              <a:t>dessas</a:t>
            </a:r>
            <a:r>
              <a:rPr lang="en-US" dirty="0"/>
              <a:t> classes de </a:t>
            </a:r>
            <a:r>
              <a:rPr lang="en-US" dirty="0" err="1"/>
              <a:t>equivalência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933F586-7C2F-1440-AEC5-E8F78ACFC1AF}"/>
              </a:ext>
            </a:extLst>
          </p:cNvPr>
          <p:cNvSpPr/>
          <p:nvPr/>
        </p:nvSpPr>
        <p:spPr>
          <a:xfrm>
            <a:off x="100872" y="6288505"/>
            <a:ext cx="9244296" cy="369332"/>
          </a:xfrm>
          <a:prstGeom prst="roundRect">
            <a:avLst>
              <a:gd name="adj" fmla="val 2623"/>
            </a:avLst>
          </a:prstGeom>
          <a:solidFill>
            <a:schemeClr val="accent4">
              <a:lumMod val="75000"/>
              <a:alpha val="20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buClr>
                <a:schemeClr val="accent4">
                  <a:lumMod val="75000"/>
                </a:schemeClr>
              </a:buClr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3174788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364423" y="1118799"/>
            <a:ext cx="1134316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u="sng" dirty="0"/>
              <a:t>1º passo:</a:t>
            </a:r>
            <a:r>
              <a:rPr lang="pt-BR" sz="2800" dirty="0"/>
              <a:t> definir classes de equivalência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u="sng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u="sng" dirty="0"/>
              <a:t>2º passo:</a:t>
            </a:r>
            <a:r>
              <a:rPr lang="pt-BR" sz="2800" dirty="0"/>
              <a:t> definir casos de teste de forma a ter o menor número de casos de teste possível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Considerando a especificação dada anteriormente, têm-se </a:t>
            </a:r>
            <a:r>
              <a:rPr lang="pt-BR" sz="2800" b="1" dirty="0">
                <a:solidFill>
                  <a:srgbClr val="FF0000"/>
                </a:solidFill>
              </a:rPr>
              <a:t>duas entradas</a:t>
            </a:r>
            <a:r>
              <a:rPr lang="pt-BR" sz="2800" dirty="0"/>
              <a:t>: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b="1" dirty="0">
                <a:solidFill>
                  <a:schemeClr val="accent4">
                    <a:lumMod val="75000"/>
                  </a:schemeClr>
                </a:solidFill>
              </a:rPr>
              <a:t>V</a:t>
            </a:r>
            <a:r>
              <a:rPr lang="pt-BR" sz="2600" dirty="0"/>
              <a:t> – valor da compra</a:t>
            </a:r>
          </a:p>
          <a:p>
            <a:pPr lvl="1" algn="just">
              <a:buClr>
                <a:schemeClr val="accent4">
                  <a:lumMod val="75000"/>
                </a:schemeClr>
              </a:buClr>
            </a:pPr>
            <a:endParaRPr lang="pt-BR" sz="8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b="1" dirty="0">
                <a:solidFill>
                  <a:schemeClr val="accent4">
                    <a:lumMod val="75000"/>
                  </a:schemeClr>
                </a:solidFill>
              </a:rPr>
              <a:t>C</a:t>
            </a:r>
            <a:r>
              <a:rPr lang="pt-BR" sz="2600" dirty="0"/>
              <a:t> – tipo de cliente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9175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11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429737" y="1216771"/>
            <a:ext cx="11179877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O valor da compra </a:t>
            </a: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(V)</a:t>
            </a:r>
            <a:r>
              <a:rPr lang="pt-BR" sz="2800" dirty="0"/>
              <a:t> forma três classes válidas e uma inválida.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(V1) – R$0 – R$99,99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(V2) – R$100 – R$499,99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(V3) – R$500+  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(I1) – &lt; R$0 (negativo)</a:t>
            </a:r>
            <a:endParaRPr lang="pt-BR" sz="2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O tipo de cliente </a:t>
            </a: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(C)</a:t>
            </a:r>
            <a:r>
              <a:rPr lang="pt-BR" sz="2800" dirty="0"/>
              <a:t> também forma três classes válidas e uma inválida.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(C1) – Regular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(C2) – Premium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(C3) – Funcionário  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(I1) – Desconhecido/nulo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094467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6B832B1-08C8-3849-AECA-8641B7AC43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7669646"/>
              </p:ext>
            </p:extLst>
          </p:nvPr>
        </p:nvGraphicFramePr>
        <p:xfrm>
          <a:off x="947411" y="1750855"/>
          <a:ext cx="10144527" cy="49377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0317">
                  <a:extLst>
                    <a:ext uri="{9D8B030D-6E8A-4147-A177-3AD203B41FA5}">
                      <a16:colId xmlns:a16="http://schemas.microsoft.com/office/drawing/2014/main" val="1735836787"/>
                    </a:ext>
                  </a:extLst>
                </a:gridCol>
                <a:gridCol w="2560190">
                  <a:extLst>
                    <a:ext uri="{9D8B030D-6E8A-4147-A177-3AD203B41FA5}">
                      <a16:colId xmlns:a16="http://schemas.microsoft.com/office/drawing/2014/main" val="3708458570"/>
                    </a:ext>
                  </a:extLst>
                </a:gridCol>
                <a:gridCol w="2677010">
                  <a:extLst>
                    <a:ext uri="{9D8B030D-6E8A-4147-A177-3AD203B41FA5}">
                      <a16:colId xmlns:a16="http://schemas.microsoft.com/office/drawing/2014/main" val="86060473"/>
                    </a:ext>
                  </a:extLst>
                </a:gridCol>
                <a:gridCol w="2677010">
                  <a:extLst>
                    <a:ext uri="{9D8B030D-6E8A-4147-A177-3AD203B41FA5}">
                      <a16:colId xmlns:a16="http://schemas.microsoft.com/office/drawing/2014/main" val="1619598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VALOR (CLASSE)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CLIENTE (CLASSE)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DESCONTO ESPERADO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3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R$50 (V1)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Regular (T1)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419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R$50 (V1)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Premium (T2)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03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R$50 (V1)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Funcionário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(T3)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753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R$250 (V2)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Regular (T1)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27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R$250 (V2)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Premium (T2)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87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R$250 (V2)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Funcionário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(T3)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610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R$800 (V3)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Regular (T1)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41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R$800 (V3)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Premium (T2)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25%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212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R$800 (V3)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Funcionário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(T3)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9927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3486E19-B6FE-564C-9CAD-189A62906E2B}"/>
              </a:ext>
            </a:extLst>
          </p:cNvPr>
          <p:cNvSpPr txBox="1"/>
          <p:nvPr/>
        </p:nvSpPr>
        <p:spPr>
          <a:xfrm>
            <a:off x="429737" y="852171"/>
            <a:ext cx="11179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Como temos duas entradas, precisamos considerar as combinações. Para classes válidas, fazemos o produto cartesiano:</a:t>
            </a:r>
            <a:endParaRPr lang="en-US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877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2F6AA-D49B-FF08-6B16-D11DD7EFA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3C7815A7-F332-E02D-15A3-69D752DC7647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EXEMPLO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48D1D8-FF4D-2AEC-2CB5-20A077270551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102A658-8766-6CD8-4E2B-EBEB828201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3206756"/>
              </p:ext>
            </p:extLst>
          </p:nvPr>
        </p:nvGraphicFramePr>
        <p:xfrm>
          <a:off x="1023736" y="2474273"/>
          <a:ext cx="10144527" cy="1737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0317">
                  <a:extLst>
                    <a:ext uri="{9D8B030D-6E8A-4147-A177-3AD203B41FA5}">
                      <a16:colId xmlns:a16="http://schemas.microsoft.com/office/drawing/2014/main" val="1735836787"/>
                    </a:ext>
                  </a:extLst>
                </a:gridCol>
                <a:gridCol w="2560190">
                  <a:extLst>
                    <a:ext uri="{9D8B030D-6E8A-4147-A177-3AD203B41FA5}">
                      <a16:colId xmlns:a16="http://schemas.microsoft.com/office/drawing/2014/main" val="3708458570"/>
                    </a:ext>
                  </a:extLst>
                </a:gridCol>
                <a:gridCol w="2677010">
                  <a:extLst>
                    <a:ext uri="{9D8B030D-6E8A-4147-A177-3AD203B41FA5}">
                      <a16:colId xmlns:a16="http://schemas.microsoft.com/office/drawing/2014/main" val="86060473"/>
                    </a:ext>
                  </a:extLst>
                </a:gridCol>
                <a:gridCol w="2677010">
                  <a:extLst>
                    <a:ext uri="{9D8B030D-6E8A-4147-A177-3AD203B41FA5}">
                      <a16:colId xmlns:a16="http://schemas.microsoft.com/office/drawing/2014/main" val="1619598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VALOR (CLASSE)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CLIENTE (CLASSE)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DESCONTO ESPERADO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3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-R$50 (I1)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Regular (T1)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Erro: valor </a:t>
                      </a:r>
                      <a:r>
                        <a:rPr lang="en-US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inválido</a:t>
                      </a:r>
                      <a:endParaRPr lang="en-US" sz="24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419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R$200 (V2)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"</a:t>
                      </a:r>
                      <a:r>
                        <a:rPr lang="en-US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ouro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" (I2)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Erro: </a:t>
                      </a:r>
                      <a:r>
                        <a:rPr lang="en-US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tipo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4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inválido</a:t>
                      </a:r>
                      <a:r>
                        <a:rPr lang="en-US" sz="24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03183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1FF69ED-CDCD-E4B2-A84F-09ADF895875C}"/>
              </a:ext>
            </a:extLst>
          </p:cNvPr>
          <p:cNvSpPr txBox="1"/>
          <p:nvPr/>
        </p:nvSpPr>
        <p:spPr>
          <a:xfrm>
            <a:off x="410541" y="1086347"/>
            <a:ext cx="1117987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Para classes inválidas, testamos uma de cada vez (mantendo a outra entrada válida):</a:t>
            </a:r>
            <a:endParaRPr lang="en-US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1433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DISCUSSÃO SOBRE O CRITÉRIO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429737" y="1216771"/>
            <a:ext cx="11179877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Vantagem</a:t>
            </a:r>
            <a:r>
              <a:rPr lang="pt-BR" sz="2800" dirty="0"/>
              <a:t>: resulta em casos de teste reduzidos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OK quando as entradas podem ser facilmente identificadas na especificação do problema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b="1" dirty="0">
              <a:solidFill>
                <a:schemeClr val="accent4">
                  <a:lumMod val="75000"/>
                </a:schemeClr>
              </a:solidFill>
            </a:endParaRP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>
                <a:solidFill>
                  <a:schemeClr val="accent4">
                    <a:lumMod val="75000"/>
                  </a:schemeClr>
                </a:solidFill>
              </a:rPr>
              <a:t>Desvantagem</a:t>
            </a:r>
            <a:r>
              <a:rPr lang="pt-BR" sz="2800" dirty="0"/>
              <a:t>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Quando a entrada é simples, mas o processamento é complexo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Grupos de dados de mesma partição podem não ser processados de forma idêntica</a:t>
            </a:r>
            <a:endParaRPr lang="pt-BR" sz="26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0617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CA90F-7967-4B23-A13C-D391F24E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51610F-6BFD-3C05-FD96-B3019246CA5B}"/>
              </a:ext>
            </a:extLst>
          </p:cNvPr>
          <p:cNvSpPr/>
          <p:nvPr/>
        </p:nvSpPr>
        <p:spPr>
          <a:xfrm>
            <a:off x="0" y="2857499"/>
            <a:ext cx="12192000" cy="17798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2. ANÁLISE DO VALOR LIMITE</a:t>
            </a:r>
          </a:p>
        </p:txBody>
      </p:sp>
    </p:spTree>
    <p:extLst>
      <p:ext uri="{BB962C8B-B14F-4D97-AF65-F5344CB8AC3E}">
        <p14:creationId xmlns:p14="http://schemas.microsoft.com/office/powerpoint/2010/main" val="7171028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C2397-A643-C05B-C475-A45DE6BD7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486584D1-8AE2-1C3E-3809-3A22B6358955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i="1" dirty="0">
                <a:solidFill>
                  <a:schemeClr val="bg1"/>
                </a:solidFill>
              </a:rPr>
              <a:t>ANÁLISE DO VALOR LIMITE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0AD356F-FF69-72D6-786B-56C315CEDA4D}"/>
              </a:ext>
            </a:extLst>
          </p:cNvPr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6039A-1AD2-6B6E-27BE-692B45A28D23}"/>
              </a:ext>
            </a:extLst>
          </p:cNvPr>
          <p:cNvSpPr txBox="1"/>
          <p:nvPr/>
        </p:nvSpPr>
        <p:spPr>
          <a:xfrm>
            <a:off x="186509" y="1056351"/>
            <a:ext cx="1170069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Partindo das mesmas classes de equivalência, agora focamos nos valores exatamente nas fronteiras.</a:t>
            </a:r>
            <a:endParaRPr lang="pt-BR" sz="26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158124-CF8F-F97B-E86C-B80483D4DA8B}"/>
              </a:ext>
            </a:extLst>
          </p:cNvPr>
          <p:cNvSpPr txBox="1"/>
          <p:nvPr/>
        </p:nvSpPr>
        <p:spPr>
          <a:xfrm>
            <a:off x="426815" y="2098440"/>
            <a:ext cx="109279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/>
              <a:t> Fronteiras do Valor da Compra: </a:t>
            </a:r>
            <a:r>
              <a:rPr lang="pt-BR" sz="2400" dirty="0"/>
              <a:t>Temos 3 fronteiras: R$0, R$100 e R$500.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EA104D5-59CF-8ECC-9C87-A4881CBC57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5309429"/>
              </p:ext>
            </p:extLst>
          </p:nvPr>
        </p:nvGraphicFramePr>
        <p:xfrm>
          <a:off x="964590" y="2560105"/>
          <a:ext cx="10144527" cy="39624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230317">
                  <a:extLst>
                    <a:ext uri="{9D8B030D-6E8A-4147-A177-3AD203B41FA5}">
                      <a16:colId xmlns:a16="http://schemas.microsoft.com/office/drawing/2014/main" val="1735836787"/>
                    </a:ext>
                  </a:extLst>
                </a:gridCol>
                <a:gridCol w="2560190">
                  <a:extLst>
                    <a:ext uri="{9D8B030D-6E8A-4147-A177-3AD203B41FA5}">
                      <a16:colId xmlns:a16="http://schemas.microsoft.com/office/drawing/2014/main" val="3708458570"/>
                    </a:ext>
                  </a:extLst>
                </a:gridCol>
                <a:gridCol w="2677010">
                  <a:extLst>
                    <a:ext uri="{9D8B030D-6E8A-4147-A177-3AD203B41FA5}">
                      <a16:colId xmlns:a16="http://schemas.microsoft.com/office/drawing/2014/main" val="86060473"/>
                    </a:ext>
                  </a:extLst>
                </a:gridCol>
                <a:gridCol w="2677010">
                  <a:extLst>
                    <a:ext uri="{9D8B030D-6E8A-4147-A177-3AD203B41FA5}">
                      <a16:colId xmlns:a16="http://schemas.microsoft.com/office/drawing/2014/main" val="16195986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CASO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VALOR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FRONTEIRA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DESCONTO ESPERADO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0536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-R$0,01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Logo abaixo de R$0 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Inválido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0419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Exatamente</a:t>
                      </a: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</a:t>
                      </a: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R$0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Sem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desconto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0318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R$0,01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Logo acima de R$0 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Sem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desconto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7753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R$99,99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Logo abaixo de R$100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Sem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desconto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027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R$100,00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Exatamente</a:t>
                      </a: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</a:t>
                      </a: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R$100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 (regular)*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38701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R$100,01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Logo acima de R$100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 (regular)*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6105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R$499,99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Logo abaixo de R$500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10% (regular)*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44155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R$500,00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Exatamente</a:t>
                      </a: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200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em</a:t>
                      </a: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R$500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 (regular)*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72124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R$500,01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Logo acima de R$500</a:t>
                      </a:r>
                      <a:endParaRPr lang="en-US" sz="2000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15% (regular)*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199275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34A92FD-8C33-EC23-D456-B91B568140CB}"/>
              </a:ext>
            </a:extLst>
          </p:cNvPr>
          <p:cNvSpPr txBox="1"/>
          <p:nvPr/>
        </p:nvSpPr>
        <p:spPr>
          <a:xfrm>
            <a:off x="-60111" y="6488560"/>
            <a:ext cx="6096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*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É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necessário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repetir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para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todos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os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tipos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dirty="0" err="1">
                <a:latin typeface="Calibri" panose="020F0502020204030204" pitchFamily="34" charset="0"/>
                <a:cs typeface="Calibri" panose="020F0502020204030204" pitchFamily="34" charset="0"/>
              </a:rPr>
              <a:t>funcionários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96701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3EF685-7ADD-EF4E-BFA9-9B5BF8CB7DBA}"/>
              </a:ext>
            </a:extLst>
          </p:cNvPr>
          <p:cNvSpPr/>
          <p:nvPr/>
        </p:nvSpPr>
        <p:spPr>
          <a:xfrm>
            <a:off x="0" y="2857499"/>
            <a:ext cx="12192000" cy="17798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800" dirty="0"/>
              <a:t>3. TESTE FUNCIONAL SISTEMÁTICO</a:t>
            </a:r>
          </a:p>
        </p:txBody>
      </p:sp>
    </p:spTree>
    <p:extLst>
      <p:ext uri="{BB962C8B-B14F-4D97-AF65-F5344CB8AC3E}">
        <p14:creationId xmlns:p14="http://schemas.microsoft.com/office/powerpoint/2010/main" val="8989560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TESTE FUNCIONAL SISTEMÁTICO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18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186509" y="1062138"/>
            <a:ext cx="11700691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Combina os critérios de </a:t>
            </a:r>
            <a:r>
              <a:rPr lang="pt-BR" sz="2600" i="1" dirty="0">
                <a:solidFill>
                  <a:schemeClr val="accent4">
                    <a:lumMod val="75000"/>
                  </a:schemeClr>
                </a:solidFill>
              </a:rPr>
              <a:t>Particionamento de Equivalência </a:t>
            </a:r>
            <a:r>
              <a:rPr lang="pt-BR" sz="2600" b="1" i="1" dirty="0">
                <a:solidFill>
                  <a:schemeClr val="accent4">
                    <a:lumMod val="75000"/>
                  </a:schemeClr>
                </a:solidFill>
              </a:rPr>
              <a:t>&amp;</a:t>
            </a:r>
            <a:r>
              <a:rPr lang="pt-BR" sz="2600" dirty="0"/>
              <a:t> </a:t>
            </a:r>
            <a:r>
              <a:rPr lang="pt-BR" sz="2600" i="1" dirty="0">
                <a:solidFill>
                  <a:schemeClr val="accent4">
                    <a:lumMod val="75000"/>
                  </a:schemeClr>
                </a:solidFill>
              </a:rPr>
              <a:t>Análise do Valor Limite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Este critério requer </a:t>
            </a:r>
            <a:r>
              <a:rPr lang="pt-BR" sz="2600" b="1" i="1" dirty="0">
                <a:solidFill>
                  <a:srgbClr val="FF0000"/>
                </a:solidFill>
              </a:rPr>
              <a:t>ao menos dois casos de teste </a:t>
            </a:r>
            <a:r>
              <a:rPr lang="pt-BR" sz="2600" dirty="0"/>
              <a:t>de cada partição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4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Minimiza que defeitos coincidentes mascarem falhas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Diretrizes, tanto para valores de entrada quanto de saída: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4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Para </a:t>
            </a:r>
            <a:r>
              <a:rPr lang="pt-BR" sz="2400" b="1" dirty="0">
                <a:solidFill>
                  <a:srgbClr val="FF0000"/>
                </a:solidFill>
              </a:rPr>
              <a:t>valores discretos</a:t>
            </a:r>
            <a:r>
              <a:rPr lang="pt-BR" sz="2400" dirty="0"/>
              <a:t>: testar todos os valores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4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400" dirty="0"/>
              <a:t>Para </a:t>
            </a:r>
            <a:r>
              <a:rPr lang="pt-BR" sz="2400" b="1" dirty="0">
                <a:solidFill>
                  <a:srgbClr val="FF0000"/>
                </a:solidFill>
              </a:rPr>
              <a:t>intervalos de valores</a:t>
            </a:r>
            <a:r>
              <a:rPr lang="pt-BR" sz="2400" dirty="0"/>
              <a:t>: testar os extremos e um valor no interior</a:t>
            </a:r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pt-BR" sz="200" dirty="0"/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2200" dirty="0"/>
              <a:t>Se valor tem 16 bits, os valores -32768 e +32767 devem ser selecionados</a:t>
            </a:r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pt-BR" sz="200" dirty="0"/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2200" dirty="0"/>
              <a:t>Números reais: deve-se definir uma margem de erro, selecionar valores bem pequenos e zero</a:t>
            </a:r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endParaRPr lang="pt-BR" sz="200" dirty="0"/>
          </a:p>
          <a:p>
            <a:pPr marL="1371600" lvl="2" indent="-457200" algn="just">
              <a:buClr>
                <a:schemeClr val="accent4">
                  <a:lumMod val="75000"/>
                </a:schemeClr>
              </a:buClr>
              <a:buFont typeface="Arial" panose="020B0604020202020204" pitchFamily="34" charset="0"/>
              <a:buChar char="•"/>
            </a:pPr>
            <a:r>
              <a:rPr lang="pt-BR" sz="2200" dirty="0"/>
              <a:t>Texto: deve explorar comprimentos variáveis, alfabéticos, alfanuméricos, caracteres especiais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2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600" dirty="0"/>
              <a:t>Valores imediatamente </a:t>
            </a:r>
            <a:r>
              <a:rPr lang="pt-BR" sz="2600" b="1" dirty="0">
                <a:solidFill>
                  <a:srgbClr val="FF0000"/>
                </a:solidFill>
              </a:rPr>
              <a:t>fora do limite </a:t>
            </a:r>
            <a:r>
              <a:rPr lang="pt-BR" sz="2600" dirty="0"/>
              <a:t>para verificar se o software os rejeita</a:t>
            </a:r>
            <a:endParaRPr lang="pt-BR" sz="26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93628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DISCUSSÃO SOBRE O CRITÉRIO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496644" y="1283677"/>
            <a:ext cx="11033717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Por ser baseado nos critérios Particionamento de Equivalência e Análise do Valor Limite, o critério Funcional Sistemático apresenta os mesmos problemas que estes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Fornece diretrizes para facilitar a geração de casos de testes e enfatiza mais fortemente a seleção de mais de um caso de teste por partição e/ou limite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12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Maior chance de revelar os defeitos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12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800" dirty="0"/>
              <a:t>Maior probabilidade de obter uma melhor cobertura de código</a:t>
            </a:r>
            <a:endParaRPr lang="pt-BR" sz="2600" dirty="0"/>
          </a:p>
        </p:txBody>
      </p:sp>
    </p:spTree>
    <p:extLst>
      <p:ext uri="{BB962C8B-B14F-4D97-AF65-F5344CB8AC3E}">
        <p14:creationId xmlns:p14="http://schemas.microsoft.com/office/powerpoint/2010/main" val="33382308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solidFill>
                  <a:schemeClr val="bg1"/>
                </a:solidFill>
              </a:rPr>
              <a:t>LIMITAÇÕES DO MÉTODO FUNCIONAL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229471" y="6288505"/>
            <a:ext cx="7218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dirty="0"/>
              <a:t>22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4F7B41-4B25-8442-98B8-F851913A1D76}"/>
              </a:ext>
            </a:extLst>
          </p:cNvPr>
          <p:cNvSpPr txBox="1"/>
          <p:nvPr/>
        </p:nvSpPr>
        <p:spPr>
          <a:xfrm>
            <a:off x="355979" y="1194467"/>
            <a:ext cx="11234439" cy="46782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Uma vantagem do teste funcional é que ele se baseia somente na especificação e não depende da forma que o software foi implementado: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Procedimental, orientado a objetos, ou componentes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6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u="sng" dirty="0"/>
              <a:t>ENTRETANTO: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E se a especificação está incompleta?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E se os elementos de uma mesma classe de equivalência NÃO se comportam da mesma maneira?</a:t>
            </a:r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endParaRPr lang="pt-BR" sz="800" dirty="0"/>
          </a:p>
          <a:p>
            <a:pPr marL="914400" lvl="1" indent="-457200" algn="just">
              <a:buClr>
                <a:schemeClr val="accent4">
                  <a:lumMod val="75000"/>
                </a:schemeClr>
              </a:buClr>
              <a:buFont typeface="Courier New" panose="02070309020205020404" pitchFamily="49" charset="0"/>
              <a:buChar char="o"/>
            </a:pPr>
            <a:r>
              <a:rPr lang="pt-BR" sz="2600" dirty="0"/>
              <a:t>Também, esse tipo de teste não assegura que partes do código foram cobertas pelos casos de teste</a:t>
            </a:r>
          </a:p>
        </p:txBody>
      </p:sp>
    </p:spTree>
    <p:extLst>
      <p:ext uri="{BB962C8B-B14F-4D97-AF65-F5344CB8AC3E}">
        <p14:creationId xmlns:p14="http://schemas.microsoft.com/office/powerpoint/2010/main" val="29126352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B545305D-2E38-F92D-9D13-7B98CDDC163D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i="1" dirty="0">
                <a:solidFill>
                  <a:schemeClr val="bg1"/>
                </a:solidFill>
              </a:rPr>
              <a:t>ATIVIDADE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410D12-760A-723F-EE05-F40937062345}"/>
              </a:ext>
            </a:extLst>
          </p:cNvPr>
          <p:cNvSpPr txBox="1"/>
          <p:nvPr/>
        </p:nvSpPr>
        <p:spPr>
          <a:xfrm>
            <a:off x="355979" y="1194467"/>
            <a:ext cx="11234439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Façam o particionamento de classes de equivalência do problema dos triângulos visto na aula passada.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Proponham testes baseados no critério Funcional Sistemático (particionamento de classes + análise do valor limite).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dirty="0"/>
              <a:t>Implementem testes no ambiente Unity apresentado na aula passada.</a:t>
            </a:r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endParaRPr lang="pt-BR" sz="2800" dirty="0"/>
          </a:p>
          <a:p>
            <a:pPr marL="457200" indent="-457200" algn="just">
              <a:buClr>
                <a:schemeClr val="accent4">
                  <a:lumMod val="75000"/>
                </a:schemeClr>
              </a:buClr>
              <a:buFont typeface="Wingdings" pitchFamily="2" charset="2"/>
              <a:buChar char="ü"/>
            </a:pPr>
            <a:r>
              <a:rPr lang="pt-BR" sz="2800" b="1" dirty="0"/>
              <a:t>A função fornecida possui algum erro segundo os testes de vocês?</a:t>
            </a:r>
            <a:endParaRPr lang="pt-BR" sz="2600" b="1" dirty="0"/>
          </a:p>
        </p:txBody>
      </p:sp>
    </p:spTree>
    <p:extLst>
      <p:ext uri="{BB962C8B-B14F-4D97-AF65-F5344CB8AC3E}">
        <p14:creationId xmlns:p14="http://schemas.microsoft.com/office/powerpoint/2010/main" val="27451861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4">
            <a:extLst>
              <a:ext uri="{FF2B5EF4-FFF2-40B4-BE49-F238E27FC236}">
                <a16:creationId xmlns:a16="http://schemas.microsoft.com/office/drawing/2014/main" id="{BD24E4AF-6D12-F2A1-1340-1DAEF8BAAE13}"/>
              </a:ext>
            </a:extLst>
          </p:cNvPr>
          <p:cNvSpPr txBox="1"/>
          <p:nvPr/>
        </p:nvSpPr>
        <p:spPr>
          <a:xfrm>
            <a:off x="3325091" y="129309"/>
            <a:ext cx="8645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i="1" dirty="0">
                <a:solidFill>
                  <a:schemeClr val="bg1"/>
                </a:solidFill>
              </a:rPr>
              <a:t>PARTICIONAMENTO DE EQUIVALENCIA</a:t>
            </a:r>
            <a:endParaRPr lang="pt-BR" sz="2800" b="1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4C06FE-1271-C19D-5656-FC9A228F4620}"/>
                  </a:ext>
                </a:extLst>
              </p:cNvPr>
              <p:cNvSpPr txBox="1"/>
              <p:nvPr/>
            </p:nvSpPr>
            <p:spPr>
              <a:xfrm>
                <a:off x="478780" y="953167"/>
                <a:ext cx="11234439" cy="5447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buClr>
                    <a:schemeClr val="accent4">
                      <a:lumMod val="75000"/>
                    </a:schemeClr>
                  </a:buClr>
                  <a:buFont typeface="Wingdings" pitchFamily="2" charset="2"/>
                  <a:buChar char="ü"/>
                </a:pPr>
                <a:r>
                  <a:rPr lang="pt-BR" sz="2400" b="1" dirty="0"/>
                  <a:t>Entradas Inválidas</a:t>
                </a:r>
              </a:p>
              <a:p>
                <a:pPr marL="971550" lvl="1" indent="-51435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Lado não-positivo: pelo menos um dos lados ≤ 0</a:t>
                </a:r>
              </a:p>
              <a:p>
                <a:pPr marL="971550" lvl="1" indent="-51435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Violação da Desigualdade Triangular:</a:t>
                </a:r>
              </a:p>
              <a:p>
                <a:pPr marL="1428750" lvl="2" indent="-51435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pt-BR" sz="2400" dirty="0"/>
                  <a:t> </a:t>
                </a:r>
              </a:p>
              <a:p>
                <a:pPr marL="1428750" lvl="2" indent="-51435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pt-BR" sz="2400" dirty="0"/>
              </a:p>
              <a:p>
                <a:pPr marL="1428750" lvl="2" indent="-51435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+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≤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pt-BR" sz="2400" dirty="0"/>
              </a:p>
              <a:p>
                <a:pPr marL="971550" lvl="1" indent="-51435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Risco de overflow: se a soma de dois lados estoura o tipo antes de comparar.</a:t>
                </a:r>
              </a:p>
              <a:p>
                <a:pPr marL="457200" indent="-457200" algn="just">
                  <a:buClr>
                    <a:schemeClr val="accent4">
                      <a:lumMod val="75000"/>
                    </a:schemeClr>
                  </a:buClr>
                  <a:buFont typeface="Wingdings" pitchFamily="2" charset="2"/>
                  <a:buChar char="ü"/>
                </a:pPr>
                <a:r>
                  <a:rPr lang="pt-BR" sz="2400" b="1" dirty="0"/>
                  <a:t>Entradas Válidas</a:t>
                </a:r>
              </a:p>
              <a:p>
                <a:pPr marL="914400" lvl="1" indent="-4572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Que produz saída “Equilátero”</a:t>
                </a:r>
              </a:p>
              <a:p>
                <a:pPr marL="1371600" lvl="2" indent="-4572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lados positivos onde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== 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 == </m:t>
                    </m:r>
                    <m:r>
                      <a:rPr lang="pt-BR" sz="2400" i="1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pt-BR" sz="2400" dirty="0"/>
              </a:p>
              <a:p>
                <a:pPr marL="914400" lvl="1" indent="-4572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Que produz saída “Isósceles”</a:t>
                </a:r>
              </a:p>
              <a:p>
                <a:pPr marL="1371600" lvl="2" indent="-4572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lados positivos, desigualdade satisfeita, e exatamente dois lados iguais</a:t>
                </a:r>
              </a:p>
              <a:p>
                <a:pPr marL="914400" lvl="1" indent="-4572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Que produz saída “Escaleno”</a:t>
                </a:r>
              </a:p>
              <a:p>
                <a:pPr marL="1371600" lvl="2" indent="-457200" algn="just">
                  <a:buClr>
                    <a:schemeClr val="accent4">
                      <a:lumMod val="75000"/>
                    </a:schemeClr>
                  </a:buClr>
                  <a:buFont typeface="Wingdings" panose="05000000000000000000" pitchFamily="2" charset="2"/>
                  <a:buChar char="§"/>
                </a:pPr>
                <a:r>
                  <a:rPr lang="pt-BR" sz="2400" dirty="0"/>
                  <a:t>lados positivos, desigualdade satisfeita, onde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 ≠ 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pt-BR" sz="24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4C06FE-1271-C19D-5656-FC9A228F46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780" y="953167"/>
                <a:ext cx="11234439" cy="5447645"/>
              </a:xfrm>
              <a:prstGeom prst="rect">
                <a:avLst/>
              </a:prstGeom>
              <a:blipFill>
                <a:blip r:embed="rId2"/>
                <a:stretch>
                  <a:fillRect l="-760" t="-8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455440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4996</TotalTime>
  <Words>2452</Words>
  <Application>Microsoft Office PowerPoint</Application>
  <PresentationFormat>Widescreen</PresentationFormat>
  <Paragraphs>404</Paragraphs>
  <Slides>28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Cambria Math</vt:lpstr>
      <vt:lpstr>Courier New</vt:lpstr>
      <vt:lpstr>Wingdings</vt:lpstr>
      <vt:lpstr>Tema do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Juliana Machado De Souza</dc:creator>
  <cp:lastModifiedBy>Iaçanã Ianiski Weber</cp:lastModifiedBy>
  <cp:revision>799</cp:revision>
  <cp:lastPrinted>2022-08-05T19:54:19Z</cp:lastPrinted>
  <dcterms:created xsi:type="dcterms:W3CDTF">2017-11-07T18:55:33Z</dcterms:created>
  <dcterms:modified xsi:type="dcterms:W3CDTF">2026-03-20T19:37:50Z</dcterms:modified>
</cp:coreProperties>
</file>