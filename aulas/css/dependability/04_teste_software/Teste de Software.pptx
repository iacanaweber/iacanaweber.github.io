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0"/>
  </p:notesMasterIdLst>
  <p:handoutMasterIdLst>
    <p:handoutMasterId r:id="rId71"/>
  </p:handoutMasterIdLst>
  <p:sldIdLst>
    <p:sldId id="281" r:id="rId2"/>
    <p:sldId id="555" r:id="rId3"/>
    <p:sldId id="580" r:id="rId4"/>
    <p:sldId id="599" r:id="rId5"/>
    <p:sldId id="587" r:id="rId6"/>
    <p:sldId id="588" r:id="rId7"/>
    <p:sldId id="595" r:id="rId8"/>
    <p:sldId id="591" r:id="rId9"/>
    <p:sldId id="592" r:id="rId10"/>
    <p:sldId id="593" r:id="rId11"/>
    <p:sldId id="594" r:id="rId12"/>
    <p:sldId id="596" r:id="rId13"/>
    <p:sldId id="597" r:id="rId14"/>
    <p:sldId id="626" r:id="rId15"/>
    <p:sldId id="627" r:id="rId16"/>
    <p:sldId id="628" r:id="rId17"/>
    <p:sldId id="629" r:id="rId18"/>
    <p:sldId id="630" r:id="rId19"/>
    <p:sldId id="631" r:id="rId20"/>
    <p:sldId id="633" r:id="rId21"/>
    <p:sldId id="634" r:id="rId22"/>
    <p:sldId id="623" r:id="rId23"/>
    <p:sldId id="635" r:id="rId24"/>
    <p:sldId id="625" r:id="rId25"/>
    <p:sldId id="622" r:id="rId26"/>
    <p:sldId id="603" r:id="rId27"/>
    <p:sldId id="636" r:id="rId28"/>
    <p:sldId id="637" r:id="rId29"/>
    <p:sldId id="638" r:id="rId30"/>
    <p:sldId id="639" r:id="rId31"/>
    <p:sldId id="640" r:id="rId32"/>
    <p:sldId id="641" r:id="rId33"/>
    <p:sldId id="642" r:id="rId34"/>
    <p:sldId id="643" r:id="rId35"/>
    <p:sldId id="644" r:id="rId36"/>
    <p:sldId id="645" r:id="rId37"/>
    <p:sldId id="646" r:id="rId38"/>
    <p:sldId id="647" r:id="rId39"/>
    <p:sldId id="557" r:id="rId40"/>
    <p:sldId id="616" r:id="rId41"/>
    <p:sldId id="648" r:id="rId42"/>
    <p:sldId id="649" r:id="rId43"/>
    <p:sldId id="598" r:id="rId44"/>
    <p:sldId id="559" r:id="rId45"/>
    <p:sldId id="624" r:id="rId46"/>
    <p:sldId id="650" r:id="rId47"/>
    <p:sldId id="651" r:id="rId48"/>
    <p:sldId id="652" r:id="rId49"/>
    <p:sldId id="653" r:id="rId50"/>
    <p:sldId id="654" r:id="rId51"/>
    <p:sldId id="655" r:id="rId52"/>
    <p:sldId id="656" r:id="rId53"/>
    <p:sldId id="632" r:id="rId54"/>
    <p:sldId id="657" r:id="rId55"/>
    <p:sldId id="658" r:id="rId56"/>
    <p:sldId id="659" r:id="rId57"/>
    <p:sldId id="660" r:id="rId58"/>
    <p:sldId id="661" r:id="rId59"/>
    <p:sldId id="662" r:id="rId60"/>
    <p:sldId id="663" r:id="rId61"/>
    <p:sldId id="664" r:id="rId62"/>
    <p:sldId id="665" r:id="rId63"/>
    <p:sldId id="666" r:id="rId64"/>
    <p:sldId id="667" r:id="rId65"/>
    <p:sldId id="668" r:id="rId66"/>
    <p:sldId id="669" r:id="rId67"/>
    <p:sldId id="670" r:id="rId68"/>
    <p:sldId id="671" r:id="rId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00FE"/>
    <a:srgbClr val="FAFF7E"/>
    <a:srgbClr val="23FF23"/>
    <a:srgbClr val="8969B2"/>
    <a:srgbClr val="660066"/>
    <a:srgbClr val="1EC4D9"/>
    <a:srgbClr val="37CA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15" autoAdjust="0"/>
    <p:restoredTop sz="85601" autoAdjust="0"/>
  </p:normalViewPr>
  <p:slideViewPr>
    <p:cSldViewPr snapToGrid="0">
      <p:cViewPr varScale="1">
        <p:scale>
          <a:sx n="110" d="100"/>
          <a:sy n="110" d="100"/>
        </p:scale>
        <p:origin x="872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283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99993"/>
            <a:ext cx="6858000" cy="514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4977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204A89-6BFF-C147-B009-33247CD7572F}" type="datetimeFigureOut">
              <a:rPr lang="pt-BR" smtClean="0"/>
              <a:t>18/03/2026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65B5EE-8431-BF41-8272-8266E624866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4255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Sistema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4040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1476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97815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69672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4994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2984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36622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- </a:t>
            </a:r>
            <a:r>
              <a:rPr lang="en-US" dirty="0" err="1"/>
              <a:t>Pouca</a:t>
            </a:r>
            <a:r>
              <a:rPr lang="en-US" dirty="0"/>
              <a:t> </a:t>
            </a:r>
            <a:r>
              <a:rPr lang="en-US" dirty="0" err="1"/>
              <a:t>dependencia</a:t>
            </a:r>
            <a:r>
              <a:rPr lang="en-US" dirty="0"/>
              <a:t> da </a:t>
            </a:r>
            <a:r>
              <a:rPr lang="en-US" dirty="0" err="1"/>
              <a:t>LibC</a:t>
            </a:r>
            <a:r>
              <a:rPr lang="en-US" dirty="0"/>
              <a:t>!!! </a:t>
            </a:r>
            <a:r>
              <a:rPr lang="en-US" dirty="0" err="1"/>
              <a:t>Basicamente</a:t>
            </a:r>
            <a:r>
              <a:rPr lang="en-US" dirty="0"/>
              <a:t> o print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2554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2061-1165-F1CE-8380-DDD5758A1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20815-91F0-B3A7-7D48-4DCF49F2D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EBA1B-99BA-8250-B429-EAA4606C5B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4736E-19A2-42B0-A8BA-7E9D676C2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50866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09322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89761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0020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01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80800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24091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24916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79736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8802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53077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04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requisitos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engloba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tarefas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lidam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investigação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escopo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novos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istema"/>
              </a:rPr>
              <a:t>sistemas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21071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14760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42424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74804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41765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2868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65876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7461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4990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SCC: </a:t>
            </a:r>
            <a:r>
              <a:rPr lang="en-US" dirty="0" err="1"/>
              <a:t>domínio</a:t>
            </a:r>
            <a:r>
              <a:rPr lang="en-US" dirty="0"/>
              <a:t> de </a:t>
            </a:r>
            <a:r>
              <a:rPr lang="en-US" dirty="0" err="1"/>
              <a:t>saída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6701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26630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97444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64868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39461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5153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89703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229551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1509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26599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65B5EE-8431-BF41-8272-8266E624866A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7177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877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4944" y="78798"/>
            <a:ext cx="8961583" cy="61393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4123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09018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33816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0728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282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6560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3373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1657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22770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20177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lide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0178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375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0B198-9831-4208-8259-C0FFE3B2B63E}" type="datetimeFigureOut">
              <a:rPr lang="pt-BR" smtClean="0"/>
              <a:t>18/03/2026</a:t>
            </a:fld>
            <a:endParaRPr lang="pt-B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AA14D-22D4-4444-985F-354FEC21BF61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48841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virginia.edu/~up3f/cs3250/syllabus.html" TargetMode="External"/><Relationship Id="rId2" Type="http://schemas.openxmlformats.org/officeDocument/2006/relationships/hyperlink" Target="https://cs.gmu.edu/~offutt/softwaretest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mazon.com.br/Introdu%C3%A7%C3%A3o-Software-M%C3%A1rcio-Eduardo-Delamaro/dp/8535226346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s.gmu.edu/~offutt/softwaretest/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resources.sei.cmu.edu/asset_files/Handbook/1996_002_001_16436.pdf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s.gmu.edu/~offutt/softwaretest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cs.gmu.edu/~offutt/softwaretest/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cs.gmu.edu/~offutt/softwaretest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rowTheSwitch/Unit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pragprog.com/titles/jgade/source_code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acanaw/Unity.g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dia.pragprog.com/titles/jgade/code/unity/stdio/SprintfTest.c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dia.pragprog.com/titles/jgade/code/unity/stdio/SprintfTest.c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dia.pragprog.com/titles/jgade/code/unity/stdio/SprintfTest.c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dia.pragprog.com/titles/jgade/code/unity/stdio/SprintfTest.c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dia.pragprog.com/titles/jgade/code/unity/stdio/SprintfTest.c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dia.pragprog.com/titles/jgade/code/unity/stdio/SprintfTest.c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a.pragprog.com/titles/jgade/code/unity/stdio/SprintfTestRunner.c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em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acanaw/Unity.git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0267" y="3192565"/>
            <a:ext cx="1120986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accent4">
                    <a:lumMod val="75000"/>
                  </a:schemeClr>
                </a:solidFill>
              </a:rPr>
              <a:t>Teste de Software</a:t>
            </a:r>
          </a:p>
          <a:p>
            <a:pPr algn="ctr"/>
            <a:endParaRPr lang="pt-BR" sz="1200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r>
              <a:rPr lang="pt-BR" sz="2400" i="1" dirty="0"/>
              <a:t>Prof. Iaçanã Ianiski Weber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69BEA-7D93-3549-BC1E-537F01DC29A3}"/>
              </a:ext>
            </a:extLst>
          </p:cNvPr>
          <p:cNvSpPr txBox="1"/>
          <p:nvPr/>
        </p:nvSpPr>
        <p:spPr>
          <a:xfrm>
            <a:off x="1122827" y="6457890"/>
            <a:ext cx="102988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pt-BR" sz="2000" i="1" dirty="0"/>
              <a:t>Baseado no material gentilmente cedido pelos Profs. </a:t>
            </a:r>
            <a:r>
              <a:rPr lang="pt-BR" sz="2000" b="1" i="1" dirty="0"/>
              <a:t>Dr. Alexandre </a:t>
            </a:r>
            <a:r>
              <a:rPr lang="pt-BR" sz="2000" b="1" i="1" dirty="0" err="1"/>
              <a:t>Amory</a:t>
            </a:r>
            <a:r>
              <a:rPr lang="pt-BR" sz="2000" b="1" i="1" dirty="0"/>
              <a:t> &amp; Rafael </a:t>
            </a:r>
            <a:r>
              <a:rPr lang="pt-BR" sz="2000" b="1" i="1" dirty="0" err="1"/>
              <a:t>Garibotti</a:t>
            </a:r>
            <a:endParaRPr lang="pt-BR" sz="2000" b="1" i="1" dirty="0"/>
          </a:p>
        </p:txBody>
      </p:sp>
      <p:sp>
        <p:nvSpPr>
          <p:cNvPr id="5" name="Subtítulo 6">
            <a:extLst>
              <a:ext uri="{FF2B5EF4-FFF2-40B4-BE49-F238E27FC236}">
                <a16:creationId xmlns:a16="http://schemas.microsoft.com/office/drawing/2014/main" id="{6B6BB6B0-B7D5-9321-4927-53E0672BD6B5}"/>
              </a:ext>
            </a:extLst>
          </p:cNvPr>
          <p:cNvSpPr txBox="1">
            <a:spLocks/>
          </p:cNvSpPr>
          <p:nvPr/>
        </p:nvSpPr>
        <p:spPr>
          <a:xfrm>
            <a:off x="7053943" y="310244"/>
            <a:ext cx="5138057" cy="19757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98G08-04</a:t>
            </a:r>
          </a:p>
          <a:p>
            <a:r>
              <a:rPr lang="pt-BR" sz="2800" b="1" dirty="0">
                <a:solidFill>
                  <a:schemeClr val="bg1"/>
                </a:solidFill>
              </a:rPr>
              <a:t>CONFIABILIDADE E </a:t>
            </a:r>
          </a:p>
          <a:p>
            <a:r>
              <a:rPr lang="pt-BR" sz="2800" b="1" dirty="0">
                <a:solidFill>
                  <a:schemeClr val="bg1"/>
                </a:solidFill>
              </a:rPr>
              <a:t>SEGURANÇA </a:t>
            </a:r>
            <a:r>
              <a:rPr lang="pt-BR" sz="2800" b="1">
                <a:solidFill>
                  <a:schemeClr val="bg1"/>
                </a:solidFill>
              </a:rPr>
              <a:t>DE SOFTWARE</a:t>
            </a:r>
            <a:endParaRPr lang="pt-BR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0916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C6CE599-292E-024D-9E4D-17AB18701641}"/>
              </a:ext>
            </a:extLst>
          </p:cNvPr>
          <p:cNvSpPr/>
          <p:nvPr/>
        </p:nvSpPr>
        <p:spPr>
          <a:xfrm>
            <a:off x="413614" y="2754583"/>
            <a:ext cx="11061429" cy="911397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07A2EDD-0CBD-A245-9483-4752ED01A9CB}"/>
              </a:ext>
            </a:extLst>
          </p:cNvPr>
          <p:cNvSpPr/>
          <p:nvPr/>
        </p:nvSpPr>
        <p:spPr>
          <a:xfrm>
            <a:off x="413615" y="1419975"/>
            <a:ext cx="11061429" cy="911397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REFERÊNCIAS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2447" y="1450014"/>
            <a:ext cx="11278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dirty="0"/>
              <a:t>Paul </a:t>
            </a:r>
            <a:r>
              <a:rPr lang="pt-BR" sz="2400" dirty="0" err="1"/>
              <a:t>Ammann</a:t>
            </a:r>
            <a:r>
              <a:rPr lang="pt-BR" sz="2400" dirty="0"/>
              <a:t> </a:t>
            </a:r>
            <a:r>
              <a:rPr lang="pt-BR" sz="2400" dirty="0" err="1"/>
              <a:t>and</a:t>
            </a:r>
            <a:r>
              <a:rPr lang="pt-BR" sz="2400" dirty="0"/>
              <a:t> Jeff </a:t>
            </a:r>
            <a:r>
              <a:rPr lang="pt-BR" sz="2400" dirty="0" err="1"/>
              <a:t>Offutt</a:t>
            </a:r>
            <a:r>
              <a:rPr lang="pt-BR" sz="2400" dirty="0"/>
              <a:t>. </a:t>
            </a:r>
            <a:r>
              <a:rPr lang="pt-BR" sz="2400" b="1" i="1" dirty="0" err="1"/>
              <a:t>Introduction</a:t>
            </a:r>
            <a:r>
              <a:rPr lang="pt-BR" sz="2400" b="1" i="1" dirty="0"/>
              <a:t> </a:t>
            </a:r>
            <a:r>
              <a:rPr lang="pt-BR" sz="2400" b="1" i="1" dirty="0" err="1"/>
              <a:t>to</a:t>
            </a:r>
            <a:r>
              <a:rPr lang="pt-BR" sz="2400" b="1" i="1" dirty="0"/>
              <a:t> Software </a:t>
            </a:r>
            <a:r>
              <a:rPr lang="pt-BR" sz="2400" b="1" i="1" dirty="0" err="1"/>
              <a:t>Testing</a:t>
            </a:r>
            <a:r>
              <a:rPr lang="pt-BR" sz="2400" dirty="0"/>
              <a:t>. 2nd </a:t>
            </a:r>
            <a:r>
              <a:rPr lang="pt-BR" sz="2400" dirty="0" err="1"/>
              <a:t>edition</a:t>
            </a:r>
            <a:r>
              <a:rPr lang="pt-BR" sz="2400" dirty="0"/>
              <a:t>. 2017.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hlinkClick r:id="rId2"/>
              </a:rPr>
              <a:t>https://cs.gmu.edu/~offutt/softwaretest/</a:t>
            </a:r>
            <a:endParaRPr lang="pt-BR" sz="2400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B563B5B-1C02-4347-9DF1-C720FD73A50B}"/>
              </a:ext>
            </a:extLst>
          </p:cNvPr>
          <p:cNvSpPr/>
          <p:nvPr/>
        </p:nvSpPr>
        <p:spPr>
          <a:xfrm>
            <a:off x="413616" y="4090683"/>
            <a:ext cx="11061429" cy="1679498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CA5C9A-0746-524A-B311-3B30204D4879}"/>
              </a:ext>
            </a:extLst>
          </p:cNvPr>
          <p:cNvSpPr txBox="1"/>
          <p:nvPr/>
        </p:nvSpPr>
        <p:spPr>
          <a:xfrm>
            <a:off x="492446" y="2754583"/>
            <a:ext cx="11278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b="1" i="1" dirty="0"/>
              <a:t>Software </a:t>
            </a:r>
            <a:r>
              <a:rPr lang="pt-BR" sz="2400" b="1" i="1" dirty="0" err="1"/>
              <a:t>Testing</a:t>
            </a:r>
            <a:endParaRPr lang="pt-BR" sz="2400" b="1" i="1" dirty="0"/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hlinkClick r:id="rId3"/>
              </a:rPr>
              <a:t>https://www.cs.virginia.edu/~up3f/cs3250/syllabus.html</a:t>
            </a:r>
            <a:endParaRPr lang="pt-BR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F6C99C-96A7-7449-91BE-41B0D74C85DC}"/>
              </a:ext>
            </a:extLst>
          </p:cNvPr>
          <p:cNvSpPr txBox="1"/>
          <p:nvPr/>
        </p:nvSpPr>
        <p:spPr>
          <a:xfrm>
            <a:off x="492446" y="4106449"/>
            <a:ext cx="109060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dirty="0"/>
              <a:t>Márcio Eduardo </a:t>
            </a:r>
            <a:r>
              <a:rPr lang="pt-BR" sz="2400" dirty="0" err="1"/>
              <a:t>Delamaro</a:t>
            </a:r>
            <a:r>
              <a:rPr lang="pt-BR" sz="2400" dirty="0"/>
              <a:t>, José Carlos Maldonado e Mario </a:t>
            </a:r>
            <a:r>
              <a:rPr lang="pt-BR" sz="2400" dirty="0" err="1"/>
              <a:t>Jino</a:t>
            </a:r>
            <a:r>
              <a:rPr lang="pt-BR" sz="2400" dirty="0"/>
              <a:t>. </a:t>
            </a:r>
            <a:r>
              <a:rPr lang="pt-BR" sz="2400" b="1" dirty="0"/>
              <a:t>Introdução ao Teste de Software</a:t>
            </a:r>
            <a:r>
              <a:rPr lang="pt-BR" sz="2400" dirty="0"/>
              <a:t>. 2007.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>
                <a:hlinkClick r:id="rId4"/>
              </a:rPr>
              <a:t>https://www.amazon.com.br/Introdu%C3%A7%C3%A3o-Software-M%C3%A1rcio-Eduardo-Delamaro/dp/8535226346/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269737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SOFTWARE ATUALMENTE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384F5-735C-534B-8A2D-C2F44C1553EC}"/>
              </a:ext>
            </a:extLst>
          </p:cNvPr>
          <p:cNvSpPr txBox="1"/>
          <p:nvPr/>
        </p:nvSpPr>
        <p:spPr>
          <a:xfrm>
            <a:off x="192899" y="6053554"/>
            <a:ext cx="77529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*Fonte:</a:t>
            </a:r>
            <a:r>
              <a:rPr lang="pt-BR" sz="1600" dirty="0"/>
              <a:t> Paul </a:t>
            </a:r>
            <a:r>
              <a:rPr lang="pt-BR" sz="1600" dirty="0" err="1"/>
              <a:t>Ammann</a:t>
            </a:r>
            <a:r>
              <a:rPr lang="pt-BR" sz="1600" dirty="0"/>
              <a:t> </a:t>
            </a:r>
            <a:r>
              <a:rPr lang="pt-BR" sz="1600" dirty="0" err="1"/>
              <a:t>and</a:t>
            </a:r>
            <a:r>
              <a:rPr lang="pt-BR" sz="1600" dirty="0"/>
              <a:t> Jeff </a:t>
            </a:r>
            <a:r>
              <a:rPr lang="pt-BR" sz="1600" dirty="0" err="1"/>
              <a:t>Offutt</a:t>
            </a:r>
            <a:r>
              <a:rPr lang="pt-BR" sz="1600" dirty="0"/>
              <a:t>. </a:t>
            </a:r>
            <a:r>
              <a:rPr lang="pt-BR" sz="1600" b="1" i="1" dirty="0" err="1"/>
              <a:t>Introduction</a:t>
            </a:r>
            <a:r>
              <a:rPr lang="pt-BR" sz="1600" b="1" i="1" dirty="0"/>
              <a:t> </a:t>
            </a:r>
            <a:r>
              <a:rPr lang="pt-BR" sz="1600" b="1" i="1" dirty="0" err="1"/>
              <a:t>to</a:t>
            </a:r>
            <a:r>
              <a:rPr lang="pt-BR" sz="1600" b="1" i="1" dirty="0"/>
              <a:t> Software </a:t>
            </a:r>
            <a:r>
              <a:rPr lang="pt-BR" sz="1600" b="1" i="1" dirty="0" err="1"/>
              <a:t>Testing</a:t>
            </a:r>
            <a:r>
              <a:rPr lang="pt-BR" sz="1600" dirty="0"/>
              <a:t>. 2nd </a:t>
            </a:r>
            <a:r>
              <a:rPr lang="pt-BR" sz="1600" dirty="0" err="1"/>
              <a:t>edition</a:t>
            </a:r>
            <a:r>
              <a:rPr lang="pt-BR" sz="1600" dirty="0"/>
              <a:t>. 2017.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1600" dirty="0">
                <a:hlinkClick r:id="rId2"/>
              </a:rPr>
              <a:t>https://cs.gmu.edu/~offutt/softwaretest/</a:t>
            </a:r>
            <a:endParaRPr lang="pt-BR" sz="16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3DE2139-65DA-3244-B1AD-EE64853608E6}"/>
              </a:ext>
            </a:extLst>
          </p:cNvPr>
          <p:cNvSpPr/>
          <p:nvPr/>
        </p:nvSpPr>
        <p:spPr>
          <a:xfrm>
            <a:off x="210102" y="6043415"/>
            <a:ext cx="7562298" cy="584775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CE48C1-30BE-1B4B-8B92-1EE54BDB02B9}"/>
              </a:ext>
            </a:extLst>
          </p:cNvPr>
          <p:cNvSpPr txBox="1"/>
          <p:nvPr/>
        </p:nvSpPr>
        <p:spPr>
          <a:xfrm>
            <a:off x="670942" y="2659701"/>
            <a:ext cx="4263666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400" i="1" dirty="0"/>
              <a:t>Safety critical</a:t>
            </a:r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600" i="1" dirty="0"/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400" i="1" dirty="0"/>
              <a:t>Real-time software</a:t>
            </a:r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600" i="1" dirty="0"/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400" i="1" dirty="0"/>
              <a:t>Embedded software</a:t>
            </a:r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600" i="1" dirty="0"/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400" i="1" dirty="0"/>
              <a:t>Enterprise applications</a:t>
            </a:r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600" i="1" dirty="0"/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400" i="1" dirty="0"/>
              <a:t>Security</a:t>
            </a:r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600" i="1" dirty="0"/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400" i="1" dirty="0"/>
              <a:t>Web</a:t>
            </a:r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600" i="1" dirty="0"/>
          </a:p>
          <a:p>
            <a:pPr marL="342900" indent="-3429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400" i="1" dirty="0"/>
              <a:t>Mobile</a:t>
            </a:r>
            <a:endParaRPr lang="en-US" sz="2200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42CA7-B4EE-2B4A-9FF6-0147235F669C}"/>
              </a:ext>
            </a:extLst>
          </p:cNvPr>
          <p:cNvSpPr txBox="1"/>
          <p:nvPr/>
        </p:nvSpPr>
        <p:spPr>
          <a:xfrm>
            <a:off x="670941" y="1205985"/>
            <a:ext cx="1074329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i="1" dirty="0"/>
              <a:t>“A </a:t>
            </a:r>
            <a:r>
              <a:rPr lang="en-US" sz="2600" i="1" dirty="0" err="1"/>
              <a:t>qualidade</a:t>
            </a:r>
            <a:r>
              <a:rPr lang="en-US" sz="2600" i="1" dirty="0"/>
              <a:t> do software </a:t>
            </a:r>
            <a:r>
              <a:rPr lang="en-US" sz="2600" i="1" dirty="0" err="1"/>
              <a:t>está</a:t>
            </a:r>
            <a:r>
              <a:rPr lang="en-US" sz="2600" i="1" dirty="0"/>
              <a:t> se </a:t>
            </a:r>
            <a:r>
              <a:rPr lang="en-US" sz="2600" i="1" dirty="0" err="1"/>
              <a:t>tornando</a:t>
            </a:r>
            <a:r>
              <a:rPr lang="en-US" sz="2600" i="1" dirty="0"/>
              <a:t> </a:t>
            </a:r>
            <a:r>
              <a:rPr lang="en-US" sz="2600" i="1" dirty="0" err="1"/>
              <a:t>cada</a:t>
            </a:r>
            <a:r>
              <a:rPr lang="en-US" sz="2600" i="1" dirty="0"/>
              <a:t> </a:t>
            </a:r>
            <a:r>
              <a:rPr lang="en-US" sz="2600" i="1" dirty="0" err="1"/>
              <a:t>vez</a:t>
            </a:r>
            <a:r>
              <a:rPr lang="en-US" sz="2600" i="1" dirty="0"/>
              <a:t> </a:t>
            </a:r>
            <a:r>
              <a:rPr lang="en-US" sz="2600" i="1" dirty="0" err="1"/>
              <a:t>mais</a:t>
            </a:r>
            <a:r>
              <a:rPr lang="en-US" sz="2600" i="1" dirty="0"/>
              <a:t> </a:t>
            </a:r>
            <a:r>
              <a:rPr lang="en-US" sz="2600" i="1" dirty="0" err="1"/>
              <a:t>essencial</a:t>
            </a:r>
            <a:r>
              <a:rPr lang="en-US" sz="2600" i="1" dirty="0"/>
              <a:t> para </a:t>
            </a:r>
            <a:r>
              <a:rPr lang="en-US" sz="2600" i="1" dirty="0" err="1"/>
              <a:t>todas</a:t>
            </a:r>
            <a:r>
              <a:rPr lang="en-US" sz="2600" i="1" dirty="0"/>
              <a:t> as </a:t>
            </a:r>
            <a:r>
              <a:rPr lang="en-US" sz="2600" i="1" dirty="0" err="1"/>
              <a:t>empresas</a:t>
            </a:r>
            <a:r>
              <a:rPr lang="en-US" sz="2600" i="1" dirty="0"/>
              <a:t> e o </a:t>
            </a:r>
            <a:r>
              <a:rPr lang="en-US" sz="2600" i="1" dirty="0" err="1"/>
              <a:t>conhecimento</a:t>
            </a:r>
            <a:r>
              <a:rPr lang="en-US" sz="2600" i="1" dirty="0"/>
              <a:t> de teste de software </a:t>
            </a:r>
            <a:r>
              <a:rPr lang="en-US" sz="2600" i="1" dirty="0" err="1"/>
              <a:t>está</a:t>
            </a:r>
            <a:r>
              <a:rPr lang="en-US" sz="2600" i="1" dirty="0"/>
              <a:t> se </a:t>
            </a:r>
            <a:r>
              <a:rPr lang="en-US" sz="2600" i="1" dirty="0" err="1"/>
              <a:t>tornando</a:t>
            </a:r>
            <a:r>
              <a:rPr lang="en-US" sz="2600" i="1" dirty="0"/>
              <a:t> </a:t>
            </a:r>
            <a:r>
              <a:rPr lang="en-US" sz="2600" i="1" dirty="0" err="1"/>
              <a:t>necessário</a:t>
            </a:r>
            <a:r>
              <a:rPr lang="en-US" sz="2600" i="1" dirty="0"/>
              <a:t> para </a:t>
            </a:r>
            <a:r>
              <a:rPr lang="en-US" sz="2600" i="1" dirty="0" err="1"/>
              <a:t>todos</a:t>
            </a:r>
            <a:r>
              <a:rPr lang="en-US" sz="2600" i="1" dirty="0"/>
              <a:t> </a:t>
            </a:r>
            <a:r>
              <a:rPr lang="en-US" sz="2600" i="1" dirty="0" err="1"/>
              <a:t>os</a:t>
            </a:r>
            <a:r>
              <a:rPr lang="en-US" sz="2600" i="1" dirty="0"/>
              <a:t> </a:t>
            </a:r>
            <a:r>
              <a:rPr lang="en-US" sz="2600" i="1" dirty="0" err="1"/>
              <a:t>engenheiros</a:t>
            </a:r>
            <a:r>
              <a:rPr lang="en-US" sz="2600" i="1" dirty="0"/>
              <a:t> de software*”</a:t>
            </a:r>
          </a:p>
        </p:txBody>
      </p:sp>
    </p:spTree>
    <p:extLst>
      <p:ext uri="{BB962C8B-B14F-4D97-AF65-F5344CB8AC3E}">
        <p14:creationId xmlns:p14="http://schemas.microsoft.com/office/powerpoint/2010/main" val="885422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CUSCO DO TESTE DE SOFTWARE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384F5-735C-534B-8A2D-C2F44C1553EC}"/>
              </a:ext>
            </a:extLst>
          </p:cNvPr>
          <p:cNvSpPr txBox="1"/>
          <p:nvPr/>
        </p:nvSpPr>
        <p:spPr>
          <a:xfrm>
            <a:off x="192899" y="6053554"/>
            <a:ext cx="106418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Robert E. Park, </a:t>
            </a:r>
            <a:r>
              <a:rPr lang="pt-BR" sz="1600" dirty="0" err="1"/>
              <a:t>Wolfhart</a:t>
            </a:r>
            <a:r>
              <a:rPr lang="pt-BR" sz="1600" dirty="0"/>
              <a:t> B. </a:t>
            </a:r>
            <a:r>
              <a:rPr lang="pt-BR" sz="1600" dirty="0" err="1"/>
              <a:t>Goethert</a:t>
            </a:r>
            <a:r>
              <a:rPr lang="pt-BR" sz="1600" dirty="0"/>
              <a:t> </a:t>
            </a:r>
            <a:r>
              <a:rPr lang="pt-BR" sz="1600" dirty="0" err="1"/>
              <a:t>and</a:t>
            </a:r>
            <a:r>
              <a:rPr lang="pt-BR" sz="1600" dirty="0"/>
              <a:t> William A. </a:t>
            </a:r>
            <a:r>
              <a:rPr lang="pt-BR" sz="1600" dirty="0" err="1"/>
              <a:t>Florac</a:t>
            </a:r>
            <a:r>
              <a:rPr lang="pt-BR" sz="1600" dirty="0"/>
              <a:t>. </a:t>
            </a:r>
            <a:r>
              <a:rPr lang="pt-BR" sz="1600" b="1" dirty="0" err="1"/>
              <a:t>Goal-Driven</a:t>
            </a:r>
            <a:r>
              <a:rPr lang="pt-BR" sz="1600" b="1" dirty="0"/>
              <a:t> Software </a:t>
            </a:r>
            <a:r>
              <a:rPr lang="pt-BR" sz="1600" b="1" dirty="0" err="1"/>
              <a:t>Measurement</a:t>
            </a:r>
            <a:r>
              <a:rPr lang="pt-BR" sz="1600" b="1" dirty="0"/>
              <a:t> — A </a:t>
            </a:r>
            <a:r>
              <a:rPr lang="pt-BR" sz="1600" b="1" dirty="0" err="1"/>
              <a:t>Guidebook</a:t>
            </a:r>
            <a:r>
              <a:rPr lang="pt-BR" sz="1600" dirty="0"/>
              <a:t>. 1996.</a:t>
            </a:r>
          </a:p>
          <a:p>
            <a:pPr marL="285750" indent="-28575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1600" dirty="0">
                <a:hlinkClick r:id="rId2"/>
              </a:rPr>
              <a:t>https://resources.sei.cmu.edu/asset_files/Handbook/1996_002_001_16436.pdf</a:t>
            </a:r>
            <a:endParaRPr lang="pt-BR" sz="16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3DE2139-65DA-3244-B1AD-EE64853608E6}"/>
              </a:ext>
            </a:extLst>
          </p:cNvPr>
          <p:cNvSpPr/>
          <p:nvPr/>
        </p:nvSpPr>
        <p:spPr>
          <a:xfrm>
            <a:off x="158342" y="6053554"/>
            <a:ext cx="10624675" cy="584775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42CA7-B4EE-2B4A-9FF6-0147235F669C}"/>
              </a:ext>
            </a:extLst>
          </p:cNvPr>
          <p:cNvSpPr txBox="1"/>
          <p:nvPr/>
        </p:nvSpPr>
        <p:spPr>
          <a:xfrm>
            <a:off x="210102" y="1017813"/>
            <a:ext cx="1176022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600" dirty="0" err="1"/>
              <a:t>Mudança</a:t>
            </a:r>
            <a:r>
              <a:rPr lang="en-US" sz="2600" dirty="0"/>
              <a:t> </a:t>
            </a:r>
            <a:r>
              <a:rPr lang="en-US" sz="2600" dirty="0" err="1"/>
              <a:t>nas</a:t>
            </a:r>
            <a:r>
              <a:rPr lang="en-US" sz="2600" dirty="0"/>
              <a:t> </a:t>
            </a:r>
            <a:r>
              <a:rPr lang="en-US" sz="2600" dirty="0" err="1"/>
              <a:t>distribuições</a:t>
            </a:r>
            <a:r>
              <a:rPr lang="en-US" sz="2600" dirty="0"/>
              <a:t> de </a:t>
            </a:r>
            <a:r>
              <a:rPr lang="en-US" sz="2600" dirty="0" err="1"/>
              <a:t>falhas</a:t>
            </a:r>
            <a:r>
              <a:rPr lang="en-US" sz="2600" dirty="0"/>
              <a:t> </a:t>
            </a:r>
            <a:r>
              <a:rPr lang="en-US" sz="2600" dirty="0" err="1"/>
              <a:t>conforme</a:t>
            </a:r>
            <a:r>
              <a:rPr lang="en-US" sz="2600" dirty="0"/>
              <a:t> </a:t>
            </a:r>
            <a:r>
              <a:rPr lang="en-US" sz="2600" dirty="0" err="1"/>
              <a:t>aumenta</a:t>
            </a:r>
            <a:r>
              <a:rPr lang="en-US" sz="2600" dirty="0"/>
              <a:t> a </a:t>
            </a:r>
            <a:r>
              <a:rPr lang="en-US" sz="2600" dirty="0" err="1"/>
              <a:t>maturidade</a:t>
            </a:r>
            <a:r>
              <a:rPr lang="en-US" sz="2600" dirty="0"/>
              <a:t> do </a:t>
            </a:r>
            <a:r>
              <a:rPr lang="en-US" sz="2600" dirty="0" err="1"/>
              <a:t>processo</a:t>
            </a:r>
            <a:endParaRPr lang="en-US" sz="2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AC8BEB-36DA-1F44-99E6-32B449F5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91" y="1754770"/>
            <a:ext cx="5938020" cy="4066504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32005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DEFINIÇÃO DE TESTE DE SOFTWARE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1C135C-BDF9-F44B-8CCD-5B713BC40904}"/>
              </a:ext>
            </a:extLst>
          </p:cNvPr>
          <p:cNvSpPr txBox="1"/>
          <p:nvPr/>
        </p:nvSpPr>
        <p:spPr>
          <a:xfrm>
            <a:off x="192899" y="6090130"/>
            <a:ext cx="77529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*Fonte:</a:t>
            </a:r>
            <a:r>
              <a:rPr lang="pt-BR" sz="1600" dirty="0"/>
              <a:t> Paul </a:t>
            </a:r>
            <a:r>
              <a:rPr lang="pt-BR" sz="1600" dirty="0" err="1"/>
              <a:t>Ammann</a:t>
            </a:r>
            <a:r>
              <a:rPr lang="pt-BR" sz="1600" dirty="0"/>
              <a:t> </a:t>
            </a:r>
            <a:r>
              <a:rPr lang="pt-BR" sz="1600" dirty="0" err="1"/>
              <a:t>and</a:t>
            </a:r>
            <a:r>
              <a:rPr lang="pt-BR" sz="1600" dirty="0"/>
              <a:t> Jeff </a:t>
            </a:r>
            <a:r>
              <a:rPr lang="pt-BR" sz="1600" dirty="0" err="1"/>
              <a:t>Offutt</a:t>
            </a:r>
            <a:r>
              <a:rPr lang="pt-BR" sz="1600" dirty="0"/>
              <a:t>. </a:t>
            </a:r>
            <a:r>
              <a:rPr lang="pt-BR" sz="1600" b="1" i="1" dirty="0" err="1"/>
              <a:t>Introduction</a:t>
            </a:r>
            <a:r>
              <a:rPr lang="pt-BR" sz="1600" b="1" i="1" dirty="0"/>
              <a:t> </a:t>
            </a:r>
            <a:r>
              <a:rPr lang="pt-BR" sz="1600" b="1" i="1" dirty="0" err="1"/>
              <a:t>to</a:t>
            </a:r>
            <a:r>
              <a:rPr lang="pt-BR" sz="1600" b="1" i="1" dirty="0"/>
              <a:t> Software </a:t>
            </a:r>
            <a:r>
              <a:rPr lang="pt-BR" sz="1600" b="1" i="1" dirty="0" err="1"/>
              <a:t>Testing</a:t>
            </a:r>
            <a:r>
              <a:rPr lang="pt-BR" sz="1600" dirty="0"/>
              <a:t>. 2nd </a:t>
            </a:r>
            <a:r>
              <a:rPr lang="pt-BR" sz="1600" dirty="0" err="1"/>
              <a:t>edition</a:t>
            </a:r>
            <a:r>
              <a:rPr lang="pt-BR" sz="1600" dirty="0"/>
              <a:t>. 2017.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1600" dirty="0">
                <a:hlinkClick r:id="rId2"/>
              </a:rPr>
              <a:t>https://cs.gmu.edu/~offutt/softwaretest/</a:t>
            </a:r>
            <a:endParaRPr lang="pt-BR" sz="16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8C540EF-4A6B-5840-956A-2174D27442D1}"/>
              </a:ext>
            </a:extLst>
          </p:cNvPr>
          <p:cNvSpPr/>
          <p:nvPr/>
        </p:nvSpPr>
        <p:spPr>
          <a:xfrm>
            <a:off x="210102" y="6079991"/>
            <a:ext cx="7562298" cy="584775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79F6F6-BABF-2741-94A1-1B8126E6C87F}"/>
              </a:ext>
            </a:extLst>
          </p:cNvPr>
          <p:cNvSpPr txBox="1"/>
          <p:nvPr/>
        </p:nvSpPr>
        <p:spPr>
          <a:xfrm>
            <a:off x="315898" y="1026590"/>
            <a:ext cx="1138031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b="1" dirty="0">
                <a:solidFill>
                  <a:schemeClr val="accent4">
                    <a:lumMod val="75000"/>
                  </a:schemeClr>
                </a:solidFill>
              </a:rPr>
              <a:t>Teste</a:t>
            </a:r>
            <a:r>
              <a:rPr lang="en-US" sz="2800" dirty="0"/>
              <a:t>: </a:t>
            </a:r>
            <a:r>
              <a:rPr lang="en-US" sz="2800" dirty="0" err="1"/>
              <a:t>processo</a:t>
            </a:r>
            <a:r>
              <a:rPr lang="en-US" sz="2800" dirty="0"/>
              <a:t> de </a:t>
            </a:r>
            <a:r>
              <a:rPr lang="en-US" sz="2800" dirty="0" err="1"/>
              <a:t>encontrar</a:t>
            </a:r>
            <a:r>
              <a:rPr lang="en-US" sz="2800" dirty="0"/>
              <a:t> entradas para </a:t>
            </a:r>
            <a:r>
              <a:rPr lang="en-US" sz="2800" dirty="0" err="1"/>
              <a:t>verificar</a:t>
            </a:r>
            <a:r>
              <a:rPr lang="en-US" sz="2800" dirty="0"/>
              <a:t> um software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2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600" dirty="0"/>
              <a:t>Um </a:t>
            </a:r>
            <a:r>
              <a:rPr lang="en-US" sz="2600" dirty="0" err="1"/>
              <a:t>caso</a:t>
            </a:r>
            <a:r>
              <a:rPr lang="en-US" sz="2600" dirty="0"/>
              <a:t> de teste </a:t>
            </a:r>
            <a:r>
              <a:rPr lang="en-US" sz="2600" dirty="0" err="1"/>
              <a:t>consiste</a:t>
            </a:r>
            <a:r>
              <a:rPr lang="en-US" sz="2600" dirty="0"/>
              <a:t> de </a:t>
            </a:r>
            <a:r>
              <a:rPr lang="en-US" sz="2600" dirty="0" err="1"/>
              <a:t>estímulos</a:t>
            </a:r>
            <a:r>
              <a:rPr lang="en-US" sz="2600" dirty="0"/>
              <a:t> de entrada e </a:t>
            </a:r>
            <a:r>
              <a:rPr lang="en-US" sz="2600" dirty="0" err="1"/>
              <a:t>saídas</a:t>
            </a:r>
            <a:r>
              <a:rPr lang="en-US" sz="2600" dirty="0"/>
              <a:t> </a:t>
            </a:r>
            <a:r>
              <a:rPr lang="en-US" sz="2600" dirty="0" err="1"/>
              <a:t>esperadas</a:t>
            </a:r>
            <a:endParaRPr lang="en-US" sz="2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2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600" dirty="0"/>
              <a:t>Teste </a:t>
            </a:r>
            <a:r>
              <a:rPr lang="en-US" sz="2600" dirty="0" err="1"/>
              <a:t>somente</a:t>
            </a:r>
            <a:r>
              <a:rPr lang="en-US" sz="2600" dirty="0"/>
              <a:t> </a:t>
            </a:r>
            <a:r>
              <a:rPr lang="en-US" sz="2600" dirty="0" err="1"/>
              <a:t>mostra</a:t>
            </a:r>
            <a:r>
              <a:rPr lang="en-US" sz="2600" dirty="0"/>
              <a:t> a </a:t>
            </a:r>
            <a:r>
              <a:rPr lang="en-US" sz="2600" dirty="0" err="1"/>
              <a:t>presença</a:t>
            </a:r>
            <a:r>
              <a:rPr lang="en-US" sz="2600" dirty="0"/>
              <a:t> de </a:t>
            </a:r>
            <a:r>
              <a:rPr lang="en-US" sz="2600" dirty="0" err="1"/>
              <a:t>falhas</a:t>
            </a:r>
            <a:r>
              <a:rPr lang="en-US" sz="2600" dirty="0"/>
              <a:t>, </a:t>
            </a:r>
            <a:r>
              <a:rPr lang="en-US" sz="2600" dirty="0" err="1"/>
              <a:t>não</a:t>
            </a:r>
            <a:r>
              <a:rPr lang="en-US" sz="2600" dirty="0"/>
              <a:t> a </a:t>
            </a:r>
            <a:r>
              <a:rPr lang="en-US" sz="2600" dirty="0" err="1"/>
              <a:t>ausência</a:t>
            </a:r>
            <a:endParaRPr lang="en-US" sz="2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2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600" dirty="0" err="1"/>
              <a:t>Nem</a:t>
            </a:r>
            <a:r>
              <a:rPr lang="en-US" sz="2600" dirty="0"/>
              <a:t> </a:t>
            </a:r>
            <a:r>
              <a:rPr lang="en-US" sz="2600" dirty="0" err="1"/>
              <a:t>todos</a:t>
            </a:r>
            <a:r>
              <a:rPr lang="en-US" sz="2600" dirty="0"/>
              <a:t> </a:t>
            </a:r>
            <a:r>
              <a:rPr lang="en-US" sz="2600" dirty="0" err="1"/>
              <a:t>os</a:t>
            </a:r>
            <a:r>
              <a:rPr lang="en-US" sz="2600" dirty="0"/>
              <a:t> </a:t>
            </a:r>
            <a:r>
              <a:rPr lang="en-US" sz="2600" dirty="0" err="1"/>
              <a:t>estímulos</a:t>
            </a:r>
            <a:r>
              <a:rPr lang="en-US" sz="2600" dirty="0"/>
              <a:t> </a:t>
            </a:r>
            <a:r>
              <a:rPr lang="en-US" sz="2600" dirty="0" err="1"/>
              <a:t>vão</a:t>
            </a:r>
            <a:r>
              <a:rPr lang="en-US" sz="2600" dirty="0"/>
              <a:t> </a:t>
            </a:r>
            <a:r>
              <a:rPr lang="en-US" sz="2600" dirty="0" err="1"/>
              <a:t>causar</a:t>
            </a:r>
            <a:r>
              <a:rPr lang="en-US" sz="2600" dirty="0"/>
              <a:t> </a:t>
            </a:r>
            <a:r>
              <a:rPr lang="en-US" sz="2600" dirty="0" err="1"/>
              <a:t>uma</a:t>
            </a:r>
            <a:r>
              <a:rPr lang="en-US" sz="2600" dirty="0"/>
              <a:t> </a:t>
            </a:r>
            <a:r>
              <a:rPr lang="en-US" sz="2600" dirty="0" err="1"/>
              <a:t>falha</a:t>
            </a:r>
            <a:r>
              <a:rPr lang="en-US" sz="2600" dirty="0"/>
              <a:t> !!!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b="1" dirty="0">
                <a:solidFill>
                  <a:schemeClr val="accent4">
                    <a:lumMod val="75000"/>
                  </a:schemeClr>
                </a:solidFill>
              </a:rPr>
              <a:t>Debug</a:t>
            </a:r>
            <a:r>
              <a:rPr lang="en-US" sz="2800" dirty="0"/>
              <a:t>: </a:t>
            </a:r>
            <a:r>
              <a:rPr lang="en-US" sz="2800" dirty="0" err="1"/>
              <a:t>processo</a:t>
            </a:r>
            <a:r>
              <a:rPr lang="en-US" sz="2800" dirty="0"/>
              <a:t> de </a:t>
            </a:r>
            <a:r>
              <a:rPr lang="en-US" sz="2800" dirty="0" err="1"/>
              <a:t>encontrar</a:t>
            </a:r>
            <a:r>
              <a:rPr lang="en-US" sz="2800" dirty="0"/>
              <a:t> um </a:t>
            </a:r>
            <a:r>
              <a:rPr lang="en-US" sz="2800" dirty="0" err="1"/>
              <a:t>defeito</a:t>
            </a:r>
            <a:r>
              <a:rPr lang="en-US" sz="2800" dirty="0"/>
              <a:t> </a:t>
            </a:r>
            <a:r>
              <a:rPr lang="en-US" sz="2800" dirty="0" err="1"/>
              <a:t>causador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falha</a:t>
            </a:r>
            <a:endParaRPr lang="en-US" sz="26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606EF3A-AA02-6046-B489-F20E189C0E9E}"/>
              </a:ext>
            </a:extLst>
          </p:cNvPr>
          <p:cNvSpPr/>
          <p:nvPr/>
        </p:nvSpPr>
        <p:spPr>
          <a:xfrm>
            <a:off x="1831998" y="4869119"/>
            <a:ext cx="1792224" cy="67432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Valores</a:t>
            </a:r>
            <a:r>
              <a:rPr lang="en-US" dirty="0">
                <a:solidFill>
                  <a:schemeClr val="tx1"/>
                </a:solidFill>
              </a:rPr>
              <a:t> de teste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(entrada)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90058B8-5DFE-214A-89B9-73FD03273D50}"/>
              </a:ext>
            </a:extLst>
          </p:cNvPr>
          <p:cNvSpPr/>
          <p:nvPr/>
        </p:nvSpPr>
        <p:spPr>
          <a:xfrm>
            <a:off x="4407408" y="4632277"/>
            <a:ext cx="1493094" cy="1138507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Programa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7B344E3-C1BD-CB42-9368-9589472919AE}"/>
              </a:ext>
            </a:extLst>
          </p:cNvPr>
          <p:cNvSpPr/>
          <p:nvPr/>
        </p:nvSpPr>
        <p:spPr>
          <a:xfrm>
            <a:off x="6683688" y="5306597"/>
            <a:ext cx="2389078" cy="46418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Resultados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Esperados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2585F45-6C29-944C-9613-B0A7630761DC}"/>
              </a:ext>
            </a:extLst>
          </p:cNvPr>
          <p:cNvSpPr/>
          <p:nvPr/>
        </p:nvSpPr>
        <p:spPr>
          <a:xfrm>
            <a:off x="6683688" y="4632277"/>
            <a:ext cx="2389078" cy="47368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Resultados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Extraídos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82FC66-6C52-E945-B6DB-E6253AF1D26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624222" y="5201531"/>
            <a:ext cx="783186" cy="474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A7A8442C-3144-D143-9D32-3CD845A9FEFD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5900502" y="4869119"/>
            <a:ext cx="783186" cy="332412"/>
          </a:xfrm>
          <a:prstGeom prst="bentConnector3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CEE339CC-CB17-8744-8043-D2C9931EAE69}"/>
              </a:ext>
            </a:extLst>
          </p:cNvPr>
          <p:cNvSpPr/>
          <p:nvPr/>
        </p:nvSpPr>
        <p:spPr>
          <a:xfrm>
            <a:off x="9091054" y="4498848"/>
            <a:ext cx="400418" cy="1408176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1A437D-E66D-DC45-A2FC-1196FE2BDA61}"/>
              </a:ext>
            </a:extLst>
          </p:cNvPr>
          <p:cNvSpPr txBox="1"/>
          <p:nvPr/>
        </p:nvSpPr>
        <p:spPr>
          <a:xfrm>
            <a:off x="9491472" y="4998576"/>
            <a:ext cx="1456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Comparar</a:t>
            </a:r>
            <a:r>
              <a:rPr lang="en-US" dirty="0"/>
              <a:t>!!!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6D0B45-DD40-224C-BE35-58AD85670BBE}"/>
              </a:ext>
            </a:extLst>
          </p:cNvPr>
          <p:cNvSpPr txBox="1"/>
          <p:nvPr/>
        </p:nvSpPr>
        <p:spPr>
          <a:xfrm>
            <a:off x="517067" y="3526026"/>
            <a:ext cx="1127452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2600" i="1" dirty="0">
                <a:solidFill>
                  <a:srgbClr val="FF0000"/>
                </a:solidFill>
              </a:rPr>
              <a:t>“O </a:t>
            </a:r>
            <a:r>
              <a:rPr lang="en-US" sz="2600" i="1" dirty="0" err="1">
                <a:solidFill>
                  <a:srgbClr val="FF0000"/>
                </a:solidFill>
              </a:rPr>
              <a:t>verdadeiro</a:t>
            </a:r>
            <a:r>
              <a:rPr lang="en-US" sz="2600" i="1" dirty="0">
                <a:solidFill>
                  <a:srgbClr val="FF0000"/>
                </a:solidFill>
              </a:rPr>
              <a:t> </a:t>
            </a:r>
            <a:r>
              <a:rPr lang="en-US" sz="2600" i="1" dirty="0" err="1">
                <a:solidFill>
                  <a:srgbClr val="FF0000"/>
                </a:solidFill>
              </a:rPr>
              <a:t>objetivo</a:t>
            </a:r>
            <a:r>
              <a:rPr lang="en-US" sz="2600" i="1" dirty="0">
                <a:solidFill>
                  <a:srgbClr val="FF0000"/>
                </a:solidFill>
              </a:rPr>
              <a:t> do </a:t>
            </a:r>
            <a:r>
              <a:rPr lang="en-US" sz="2600" i="1" dirty="0" err="1">
                <a:solidFill>
                  <a:srgbClr val="FF0000"/>
                </a:solidFill>
              </a:rPr>
              <a:t>testador</a:t>
            </a:r>
            <a:r>
              <a:rPr lang="en-US" sz="2600" i="1" dirty="0">
                <a:solidFill>
                  <a:srgbClr val="FF0000"/>
                </a:solidFill>
              </a:rPr>
              <a:t> </a:t>
            </a:r>
            <a:r>
              <a:rPr lang="en-US" sz="2600" i="1" dirty="0" err="1">
                <a:solidFill>
                  <a:srgbClr val="FF0000"/>
                </a:solidFill>
              </a:rPr>
              <a:t>não</a:t>
            </a:r>
            <a:r>
              <a:rPr lang="en-US" sz="2600" i="1" dirty="0">
                <a:solidFill>
                  <a:srgbClr val="FF0000"/>
                </a:solidFill>
              </a:rPr>
              <a:t> </a:t>
            </a:r>
            <a:r>
              <a:rPr lang="en-US" sz="2600" i="1" dirty="0" err="1">
                <a:solidFill>
                  <a:srgbClr val="FF0000"/>
                </a:solidFill>
              </a:rPr>
              <a:t>é</a:t>
            </a:r>
            <a:r>
              <a:rPr lang="en-US" sz="2600" i="1" dirty="0">
                <a:solidFill>
                  <a:srgbClr val="FF0000"/>
                </a:solidFill>
              </a:rPr>
              <a:t> </a:t>
            </a:r>
            <a:r>
              <a:rPr lang="en-US" sz="2600" i="1" dirty="0" err="1">
                <a:solidFill>
                  <a:srgbClr val="FF0000"/>
                </a:solidFill>
              </a:rPr>
              <a:t>realizar</a:t>
            </a:r>
            <a:r>
              <a:rPr lang="en-US" sz="2600" i="1" dirty="0">
                <a:solidFill>
                  <a:srgbClr val="FF0000"/>
                </a:solidFill>
              </a:rPr>
              <a:t> </a:t>
            </a:r>
            <a:r>
              <a:rPr lang="en-US" sz="2600" i="1" dirty="0" err="1">
                <a:solidFill>
                  <a:srgbClr val="FF0000"/>
                </a:solidFill>
              </a:rPr>
              <a:t>os</a:t>
            </a:r>
            <a:r>
              <a:rPr lang="en-US" sz="2600" i="1" dirty="0">
                <a:solidFill>
                  <a:srgbClr val="FF0000"/>
                </a:solidFill>
              </a:rPr>
              <a:t> testes, mas se </a:t>
            </a:r>
            <a:r>
              <a:rPr lang="en-US" sz="2600" i="1" dirty="0" err="1">
                <a:solidFill>
                  <a:srgbClr val="FF0000"/>
                </a:solidFill>
              </a:rPr>
              <a:t>preocupar</a:t>
            </a:r>
            <a:r>
              <a:rPr lang="en-US" sz="2600" i="1" dirty="0">
                <a:solidFill>
                  <a:srgbClr val="FF0000"/>
                </a:solidFill>
              </a:rPr>
              <a:t> com o </a:t>
            </a:r>
            <a:r>
              <a:rPr lang="en-US" sz="2600" i="1" dirty="0" err="1">
                <a:solidFill>
                  <a:srgbClr val="FF0000"/>
                </a:solidFill>
              </a:rPr>
              <a:t>desenvolvimento</a:t>
            </a:r>
            <a:r>
              <a:rPr lang="en-US" sz="2600" i="1" dirty="0">
                <a:solidFill>
                  <a:srgbClr val="FF0000"/>
                </a:solidFill>
              </a:rPr>
              <a:t> dos </a:t>
            </a:r>
            <a:r>
              <a:rPr lang="en-US" sz="2600" i="1" dirty="0" err="1">
                <a:solidFill>
                  <a:srgbClr val="FF0000"/>
                </a:solidFill>
              </a:rPr>
              <a:t>casos</a:t>
            </a:r>
            <a:r>
              <a:rPr lang="en-US" sz="2600" i="1" dirty="0">
                <a:solidFill>
                  <a:srgbClr val="FF0000"/>
                </a:solidFill>
              </a:rPr>
              <a:t> de teste!”</a:t>
            </a:r>
          </a:p>
        </p:txBody>
      </p:sp>
    </p:spTree>
    <p:extLst>
      <p:ext uri="{BB962C8B-B14F-4D97-AF65-F5344CB8AC3E}">
        <p14:creationId xmlns:p14="http://schemas.microsoft.com/office/powerpoint/2010/main" val="1481116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EXPLOSÃO DE ESPAÇO DE ESTADOS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2A354B-89EB-D74B-8B61-1691A23EA386}"/>
              </a:ext>
            </a:extLst>
          </p:cNvPr>
          <p:cNvSpPr txBox="1"/>
          <p:nvPr/>
        </p:nvSpPr>
        <p:spPr>
          <a:xfrm>
            <a:off x="407338" y="1246046"/>
            <a:ext cx="111689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/>
              <a:t>Se teste </a:t>
            </a:r>
            <a:r>
              <a:rPr lang="en-US" sz="2800" dirty="0" err="1"/>
              <a:t>é</a:t>
            </a:r>
            <a:r>
              <a:rPr lang="en-US" sz="2800" dirty="0"/>
              <a:t> o </a:t>
            </a:r>
            <a:r>
              <a:rPr lang="en-US" sz="2800" dirty="0" err="1"/>
              <a:t>processo</a:t>
            </a:r>
            <a:r>
              <a:rPr lang="en-US" sz="2800" dirty="0"/>
              <a:t> de </a:t>
            </a:r>
            <a:r>
              <a:rPr lang="en-US" sz="2800" b="1" dirty="0" err="1">
                <a:solidFill>
                  <a:schemeClr val="accent4">
                    <a:lumMod val="75000"/>
                  </a:schemeClr>
                </a:solidFill>
              </a:rPr>
              <a:t>encontrar</a:t>
            </a:r>
            <a:r>
              <a:rPr lang="en-US" sz="2800" b="1" dirty="0">
                <a:solidFill>
                  <a:schemeClr val="accent4">
                    <a:lumMod val="75000"/>
                  </a:schemeClr>
                </a:solidFill>
              </a:rPr>
              <a:t> entradas </a:t>
            </a:r>
            <a:r>
              <a:rPr lang="en-US" sz="2800" dirty="0"/>
              <a:t>para </a:t>
            </a:r>
            <a:r>
              <a:rPr lang="en-US" sz="2800" dirty="0" err="1"/>
              <a:t>verificar</a:t>
            </a:r>
            <a:r>
              <a:rPr lang="en-US" sz="2800" dirty="0"/>
              <a:t> um software, </a:t>
            </a:r>
            <a:r>
              <a:rPr lang="en-US" sz="2800" dirty="0" err="1"/>
              <a:t>como</a:t>
            </a:r>
            <a:r>
              <a:rPr lang="en-US" sz="2800" dirty="0"/>
              <a:t> lidar com a </a:t>
            </a:r>
            <a:r>
              <a:rPr lang="en-US" sz="2800" dirty="0" err="1"/>
              <a:t>complexidade</a:t>
            </a:r>
            <a:r>
              <a:rPr lang="en-US" sz="2800" dirty="0"/>
              <a:t> ?!?!?</a:t>
            </a:r>
            <a:endParaRPr lang="en-US" sz="2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DF025-3471-FE42-90BC-9BDB31606CD0}"/>
              </a:ext>
            </a:extLst>
          </p:cNvPr>
          <p:cNvSpPr txBox="1"/>
          <p:nvPr/>
        </p:nvSpPr>
        <p:spPr>
          <a:xfrm>
            <a:off x="421452" y="2702230"/>
            <a:ext cx="11168966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 err="1"/>
              <a:t>Mesmo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 </a:t>
            </a:r>
            <a:r>
              <a:rPr lang="en-US" sz="2800" dirty="0" err="1"/>
              <a:t>problemas</a:t>
            </a:r>
            <a:r>
              <a:rPr lang="en-US" sz="2800" dirty="0"/>
              <a:t> </a:t>
            </a:r>
            <a:r>
              <a:rPr lang="en-US" sz="2800" dirty="0" err="1"/>
              <a:t>mais</a:t>
            </a:r>
            <a:r>
              <a:rPr lang="en-US" sz="2800" dirty="0"/>
              <a:t> simples </a:t>
            </a:r>
            <a:r>
              <a:rPr lang="en-US" sz="2800" dirty="0" err="1"/>
              <a:t>possuem</a:t>
            </a:r>
            <a:r>
              <a:rPr lang="en-US" sz="2800" dirty="0"/>
              <a:t> um </a:t>
            </a:r>
            <a:r>
              <a:rPr lang="en-US" sz="2800" dirty="0" err="1"/>
              <a:t>espaço</a:t>
            </a:r>
            <a:r>
              <a:rPr lang="en-US" sz="2800" dirty="0"/>
              <a:t> de </a:t>
            </a:r>
            <a:r>
              <a:rPr lang="en-US" sz="2800" dirty="0" err="1"/>
              <a:t>estados</a:t>
            </a:r>
            <a:r>
              <a:rPr lang="en-US" sz="2800" dirty="0"/>
              <a:t> </a:t>
            </a:r>
            <a:r>
              <a:rPr lang="en-US" sz="2800" dirty="0" err="1"/>
              <a:t>gigante</a:t>
            </a:r>
            <a:endParaRPr lang="en-US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600" dirty="0" err="1"/>
              <a:t>Considere</a:t>
            </a:r>
            <a:r>
              <a:rPr lang="en-US" sz="2600" dirty="0"/>
              <a:t> a </a:t>
            </a:r>
            <a:r>
              <a:rPr lang="en-US" sz="2600" dirty="0" err="1"/>
              <a:t>função</a:t>
            </a:r>
            <a:r>
              <a:rPr lang="en-US" sz="2600" dirty="0"/>
              <a:t> para </a:t>
            </a:r>
            <a:r>
              <a:rPr lang="en-US" sz="2600" dirty="0" err="1"/>
              <a:t>calcular</a:t>
            </a:r>
            <a:r>
              <a:rPr lang="en-US" sz="2600" dirty="0"/>
              <a:t> a </a:t>
            </a:r>
            <a:r>
              <a:rPr lang="en-US" sz="2600" dirty="0" err="1"/>
              <a:t>média</a:t>
            </a:r>
            <a:r>
              <a:rPr lang="en-US" sz="2600" dirty="0"/>
              <a:t> entre 3 </a:t>
            </a:r>
            <a:r>
              <a:rPr lang="en-US" sz="2600" dirty="0" err="1"/>
              <a:t>inteiros</a:t>
            </a:r>
            <a:endParaRPr lang="en-US" sz="2600" dirty="0"/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endParaRPr lang="en-US" sz="400" dirty="0"/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2400" i="1" dirty="0" err="1"/>
              <a:t>int</a:t>
            </a:r>
            <a:r>
              <a:rPr lang="en-US" sz="2400" i="1" dirty="0"/>
              <a:t> average(</a:t>
            </a:r>
            <a:r>
              <a:rPr lang="en-US" sz="2400" i="1" dirty="0" err="1"/>
              <a:t>int</a:t>
            </a:r>
            <a:r>
              <a:rPr lang="en-US" sz="2400" i="1" dirty="0"/>
              <a:t> a, </a:t>
            </a:r>
            <a:r>
              <a:rPr lang="en-US" sz="2400" i="1" dirty="0" err="1"/>
              <a:t>int</a:t>
            </a:r>
            <a:r>
              <a:rPr lang="en-US" sz="2400" i="1" dirty="0"/>
              <a:t> b, </a:t>
            </a:r>
            <a:r>
              <a:rPr lang="en-US" sz="2400" i="1" dirty="0" err="1"/>
              <a:t>int</a:t>
            </a:r>
            <a:r>
              <a:rPr lang="en-US" sz="2400" i="1" dirty="0"/>
              <a:t> c)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600" dirty="0" err="1"/>
              <a:t>Cada</a:t>
            </a:r>
            <a:r>
              <a:rPr lang="en-US" sz="2600" dirty="0"/>
              <a:t> </a:t>
            </a:r>
            <a:r>
              <a:rPr lang="en-US" sz="2600" dirty="0" err="1"/>
              <a:t>variável</a:t>
            </a:r>
            <a:r>
              <a:rPr lang="en-US" sz="2600" dirty="0"/>
              <a:t> de 32-bits </a:t>
            </a:r>
            <a:r>
              <a:rPr lang="en-US" sz="2600" dirty="0" err="1"/>
              <a:t>pode</a:t>
            </a:r>
            <a:r>
              <a:rPr lang="en-US" sz="2600" dirty="0"/>
              <a:t> </a:t>
            </a:r>
            <a:r>
              <a:rPr lang="en-US" sz="2600" dirty="0" err="1"/>
              <a:t>ter</a:t>
            </a:r>
            <a:r>
              <a:rPr lang="en-US" sz="2600" dirty="0"/>
              <a:t> 4 </a:t>
            </a:r>
            <a:r>
              <a:rPr lang="en-US" sz="2600" dirty="0" err="1"/>
              <a:t>bilhões</a:t>
            </a:r>
            <a:r>
              <a:rPr lang="en-US" sz="2600" dirty="0"/>
              <a:t> de </a:t>
            </a:r>
            <a:r>
              <a:rPr lang="en-US" sz="2600" dirty="0" err="1"/>
              <a:t>valores</a:t>
            </a:r>
            <a:r>
              <a:rPr lang="en-US" sz="2600" dirty="0"/>
              <a:t> </a:t>
            </a:r>
            <a:r>
              <a:rPr lang="en-US" sz="2600" dirty="0" err="1"/>
              <a:t>possíveis</a:t>
            </a:r>
            <a:endParaRPr lang="en-US" sz="2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600" dirty="0" err="1"/>
              <a:t>Combinação</a:t>
            </a:r>
            <a:r>
              <a:rPr lang="en-US" sz="2600" dirty="0"/>
              <a:t> de C(3,4Bilhões) &gt; </a:t>
            </a:r>
            <a:r>
              <a:rPr lang="en-US" sz="2600" b="1" dirty="0">
                <a:solidFill>
                  <a:srgbClr val="FF0000"/>
                </a:solidFill>
              </a:rPr>
              <a:t>80 </a:t>
            </a:r>
            <a:r>
              <a:rPr lang="en-US" sz="2600" b="1" dirty="0" err="1">
                <a:solidFill>
                  <a:srgbClr val="FF0000"/>
                </a:solidFill>
              </a:rPr>
              <a:t>octilhões</a:t>
            </a:r>
            <a:r>
              <a:rPr lang="en-US" sz="2600" b="1" dirty="0">
                <a:solidFill>
                  <a:srgbClr val="FF0000"/>
                </a:solidFill>
              </a:rPr>
              <a:t> </a:t>
            </a:r>
            <a:r>
              <a:rPr lang="en-US" sz="2600" dirty="0"/>
              <a:t>de testes </a:t>
            </a:r>
            <a:r>
              <a:rPr lang="en-US" sz="2600" dirty="0" err="1"/>
              <a:t>possíveis</a:t>
            </a:r>
            <a:r>
              <a:rPr lang="en-US" sz="2600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3641868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QUANTO </a:t>
            </a:r>
            <a:r>
              <a:rPr lang="en-US" sz="2800" b="1" dirty="0" err="1">
                <a:solidFill>
                  <a:schemeClr val="bg1"/>
                </a:solidFill>
              </a:rPr>
              <a:t>É</a:t>
            </a:r>
            <a:r>
              <a:rPr lang="en-US" sz="2800" b="1" dirty="0">
                <a:solidFill>
                  <a:schemeClr val="bg1"/>
                </a:solidFill>
              </a:rPr>
              <a:t> UM OCTILHÃO ?!?!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17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2763769-0307-7C4E-B6B4-3D58B281A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852680"/>
              </p:ext>
            </p:extLst>
          </p:nvPr>
        </p:nvGraphicFramePr>
        <p:xfrm>
          <a:off x="2849603" y="1021367"/>
          <a:ext cx="6916189" cy="5557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730147">
                  <a:extLst>
                    <a:ext uri="{9D8B030D-6E8A-4147-A177-3AD203B41FA5}">
                      <a16:colId xmlns:a16="http://schemas.microsoft.com/office/drawing/2014/main" val="1229560541"/>
                    </a:ext>
                  </a:extLst>
                </a:gridCol>
                <a:gridCol w="5186042">
                  <a:extLst>
                    <a:ext uri="{9D8B030D-6E8A-4147-A177-3AD203B41FA5}">
                      <a16:colId xmlns:a16="http://schemas.microsoft.com/office/drawing/2014/main" val="40253405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NÚMERO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7484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533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Dez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371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362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375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067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Trilhão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63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Quatrilhão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432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Quintilhão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350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Sextilhão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1.000.000.000.000.000.000.000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938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Septilhão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1.000.000.000.000.000.000.000.000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286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solidFill>
                            <a:srgbClr val="FF0000"/>
                          </a:solidFill>
                        </a:rPr>
                        <a:t>Octilhão</a:t>
                      </a:r>
                      <a:endParaRPr 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solidFill>
                            <a:srgbClr val="FF0000"/>
                          </a:solidFill>
                        </a:rPr>
                        <a:t>1.000.000.000.000.000.000.000.000.000</a:t>
                      </a:r>
                      <a:endParaRPr 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561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Nonilhão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1.000.000.000.000.000.000.000.000.000.000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156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Decilhão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1.000.000.000.000.000.000.000.000.000.000.000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8107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308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EXPLOSÃO DE ESPAÇO DE ESTADOS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FEF1CA-23D6-4343-9A69-BE7CD6AC9427}"/>
              </a:ext>
            </a:extLst>
          </p:cNvPr>
          <p:cNvSpPr txBox="1"/>
          <p:nvPr/>
        </p:nvSpPr>
        <p:spPr>
          <a:xfrm>
            <a:off x="443914" y="1246046"/>
            <a:ext cx="1116896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3200" dirty="0" err="1"/>
              <a:t>Considere</a:t>
            </a:r>
            <a:r>
              <a:rPr lang="en-US" sz="3200" dirty="0"/>
              <a:t> o teste da </a:t>
            </a:r>
            <a:r>
              <a:rPr lang="en-US" sz="3200" dirty="0" err="1"/>
              <a:t>função</a:t>
            </a:r>
            <a:r>
              <a:rPr lang="en-US" sz="3200" dirty="0"/>
              <a:t> 𝑥</a:t>
            </a:r>
            <a:r>
              <a:rPr lang="en-US" sz="3200" baseline="30000" dirty="0"/>
              <a:t>𝑦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/>
              <a:t>O </a:t>
            </a:r>
            <a:r>
              <a:rPr lang="en-US" sz="2800" dirty="0" err="1"/>
              <a:t>domínio</a:t>
            </a:r>
            <a:r>
              <a:rPr lang="en-US" sz="2800" dirty="0"/>
              <a:t> de entrada </a:t>
            </a:r>
            <a:r>
              <a:rPr lang="en-US" sz="2800" dirty="0" err="1"/>
              <a:t>é</a:t>
            </a:r>
            <a:r>
              <a:rPr lang="en-US" sz="2800" dirty="0"/>
              <a:t> </a:t>
            </a:r>
            <a:r>
              <a:rPr lang="en-US" sz="2800" dirty="0" err="1"/>
              <a:t>formado</a:t>
            </a:r>
            <a:r>
              <a:rPr lang="en-US" sz="2800" dirty="0"/>
              <a:t> </a:t>
            </a:r>
            <a:r>
              <a:rPr lang="en-US" sz="2800" dirty="0" err="1"/>
              <a:t>pelo</a:t>
            </a:r>
            <a:r>
              <a:rPr lang="en-US" sz="2800" dirty="0"/>
              <a:t> par (</a:t>
            </a:r>
            <a:r>
              <a:rPr lang="en-US" sz="2800" dirty="0" err="1"/>
              <a:t>x,y</a:t>
            </a:r>
            <a:r>
              <a:rPr lang="en-US" sz="28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 err="1"/>
              <a:t>Cardinalidade</a:t>
            </a:r>
            <a:r>
              <a:rPr lang="en-US" sz="2800" dirty="0"/>
              <a:t> </a:t>
            </a:r>
            <a:r>
              <a:rPr lang="en-US" sz="2800" dirty="0" err="1"/>
              <a:t>é</a:t>
            </a:r>
            <a:r>
              <a:rPr lang="en-US" sz="2800" dirty="0"/>
              <a:t> 2</a:t>
            </a:r>
            <a:r>
              <a:rPr lang="en-US" sz="2800" baseline="30000" dirty="0"/>
              <a:t>𝑛</a:t>
            </a:r>
            <a:r>
              <a:rPr lang="en-US" sz="2800" dirty="0"/>
              <a:t> ∗ 2</a:t>
            </a:r>
            <a:r>
              <a:rPr lang="en-US" sz="2800" baseline="30000" dirty="0"/>
              <a:t>𝑛</a:t>
            </a:r>
            <a:endParaRPr lang="en-US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/>
              <a:t>Se </a:t>
            </a:r>
            <a:r>
              <a:rPr lang="en-US" sz="2800" i="1" dirty="0"/>
              <a:t>n</a:t>
            </a:r>
            <a:r>
              <a:rPr lang="en-US" sz="2800" dirty="0"/>
              <a:t> for 32 bits, </a:t>
            </a:r>
            <a:r>
              <a:rPr lang="en-US" sz="2800" dirty="0" err="1"/>
              <a:t>isso</a:t>
            </a:r>
            <a:r>
              <a:rPr lang="en-US" sz="2800" dirty="0"/>
              <a:t> </a:t>
            </a:r>
            <a:r>
              <a:rPr lang="en-US" sz="2800" dirty="0" err="1"/>
              <a:t>representa</a:t>
            </a:r>
            <a:r>
              <a:rPr lang="en-US" sz="2800" dirty="0"/>
              <a:t> 2</a:t>
            </a:r>
            <a:r>
              <a:rPr lang="en-US" sz="2800" baseline="30000" dirty="0"/>
              <a:t>64</a:t>
            </a:r>
            <a:r>
              <a:rPr lang="en-US" sz="2800" dirty="0"/>
              <a:t> = 18446744073709551616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/>
              <a:t>Se </a:t>
            </a:r>
            <a:r>
              <a:rPr lang="en-US" sz="2800" dirty="0" err="1"/>
              <a:t>cada</a:t>
            </a:r>
            <a:r>
              <a:rPr lang="en-US" sz="2800" dirty="0"/>
              <a:t> </a:t>
            </a:r>
            <a:r>
              <a:rPr lang="en-US" sz="2800" dirty="0" err="1"/>
              <a:t>caso</a:t>
            </a:r>
            <a:r>
              <a:rPr lang="en-US" sz="2800" dirty="0"/>
              <a:t> de teste for </a:t>
            </a:r>
            <a:r>
              <a:rPr lang="en-US" sz="2800" dirty="0" err="1"/>
              <a:t>executado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1 </a:t>
            </a:r>
            <a:r>
              <a:rPr lang="en-US" sz="2800" dirty="0" err="1"/>
              <a:t>ms</a:t>
            </a:r>
            <a:r>
              <a:rPr lang="en-US" sz="2800" dirty="0"/>
              <a:t>, </a:t>
            </a:r>
            <a:r>
              <a:rPr lang="en-US" sz="2800" dirty="0" err="1"/>
              <a:t>vai</a:t>
            </a:r>
            <a:r>
              <a:rPr lang="en-US" sz="2800" dirty="0"/>
              <a:t> </a:t>
            </a:r>
            <a:r>
              <a:rPr lang="en-US" sz="2800" dirty="0" err="1"/>
              <a:t>levar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FF0000"/>
                </a:solidFill>
              </a:rPr>
              <a:t>5.849.424 </a:t>
            </a:r>
            <a:r>
              <a:rPr lang="en-US" sz="2800" b="1" dirty="0" err="1">
                <a:solidFill>
                  <a:srgbClr val="FF0000"/>
                </a:solidFill>
              </a:rPr>
              <a:t>séculos</a:t>
            </a:r>
            <a:r>
              <a:rPr lang="en-US" sz="2800" b="1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para </a:t>
            </a:r>
            <a:r>
              <a:rPr lang="en-US" sz="2800" dirty="0" err="1"/>
              <a:t>executar</a:t>
            </a:r>
            <a:r>
              <a:rPr lang="en-US" sz="2800" dirty="0"/>
              <a:t> </a:t>
            </a:r>
            <a:r>
              <a:rPr lang="en-US" sz="2800" dirty="0" err="1"/>
              <a:t>todos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 testes!</a:t>
            </a:r>
            <a:endParaRPr lang="en-US" sz="2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F0CD5D-BF05-1B4D-931E-278429DDCCBB}"/>
              </a:ext>
            </a:extLst>
          </p:cNvPr>
          <p:cNvSpPr txBox="1"/>
          <p:nvPr/>
        </p:nvSpPr>
        <p:spPr>
          <a:xfrm>
            <a:off x="174611" y="6090130"/>
            <a:ext cx="77529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Paul </a:t>
            </a:r>
            <a:r>
              <a:rPr lang="pt-BR" sz="1600" dirty="0" err="1"/>
              <a:t>Ammann</a:t>
            </a:r>
            <a:r>
              <a:rPr lang="pt-BR" sz="1600" dirty="0"/>
              <a:t> </a:t>
            </a:r>
            <a:r>
              <a:rPr lang="pt-BR" sz="1600" dirty="0" err="1"/>
              <a:t>and</a:t>
            </a:r>
            <a:r>
              <a:rPr lang="pt-BR" sz="1600" dirty="0"/>
              <a:t> Jeff </a:t>
            </a:r>
            <a:r>
              <a:rPr lang="pt-BR" sz="1600" dirty="0" err="1"/>
              <a:t>Offutt</a:t>
            </a:r>
            <a:r>
              <a:rPr lang="pt-BR" sz="1600" dirty="0"/>
              <a:t>. </a:t>
            </a:r>
            <a:r>
              <a:rPr lang="pt-BR" sz="1600" b="1" i="1" dirty="0" err="1"/>
              <a:t>Introduction</a:t>
            </a:r>
            <a:r>
              <a:rPr lang="pt-BR" sz="1600" b="1" i="1" dirty="0"/>
              <a:t> </a:t>
            </a:r>
            <a:r>
              <a:rPr lang="pt-BR" sz="1600" b="1" i="1" dirty="0" err="1"/>
              <a:t>to</a:t>
            </a:r>
            <a:r>
              <a:rPr lang="pt-BR" sz="1600" b="1" i="1" dirty="0"/>
              <a:t> Software </a:t>
            </a:r>
            <a:r>
              <a:rPr lang="pt-BR" sz="1600" b="1" i="1" dirty="0" err="1"/>
              <a:t>Testing</a:t>
            </a:r>
            <a:r>
              <a:rPr lang="pt-BR" sz="1600" dirty="0"/>
              <a:t>. 2nd </a:t>
            </a:r>
            <a:r>
              <a:rPr lang="pt-BR" sz="1600" dirty="0" err="1"/>
              <a:t>edition</a:t>
            </a:r>
            <a:r>
              <a:rPr lang="pt-BR" sz="1600" dirty="0"/>
              <a:t>. 2017.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1600" dirty="0">
                <a:hlinkClick r:id="rId2"/>
              </a:rPr>
              <a:t>https://cs.gmu.edu/~offutt/softwaretest/</a:t>
            </a:r>
            <a:endParaRPr lang="pt-BR" sz="16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D9A7273-3ED7-3144-9C81-12D3FF7F97DA}"/>
              </a:ext>
            </a:extLst>
          </p:cNvPr>
          <p:cNvSpPr/>
          <p:nvPr/>
        </p:nvSpPr>
        <p:spPr>
          <a:xfrm>
            <a:off x="156323" y="6090797"/>
            <a:ext cx="7562298" cy="584775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81065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CUSTO DO TESTE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D09133-AC8F-3E44-8A0F-D4B7CC22C6FB}"/>
              </a:ext>
            </a:extLst>
          </p:cNvPr>
          <p:cNvSpPr txBox="1"/>
          <p:nvPr/>
        </p:nvSpPr>
        <p:spPr>
          <a:xfrm>
            <a:off x="174611" y="6090130"/>
            <a:ext cx="77529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Paul </a:t>
            </a:r>
            <a:r>
              <a:rPr lang="pt-BR" sz="1600" dirty="0" err="1"/>
              <a:t>Ammann</a:t>
            </a:r>
            <a:r>
              <a:rPr lang="pt-BR" sz="1600" dirty="0"/>
              <a:t> </a:t>
            </a:r>
            <a:r>
              <a:rPr lang="pt-BR" sz="1600" dirty="0" err="1"/>
              <a:t>and</a:t>
            </a:r>
            <a:r>
              <a:rPr lang="pt-BR" sz="1600" dirty="0"/>
              <a:t> Jeff </a:t>
            </a:r>
            <a:r>
              <a:rPr lang="pt-BR" sz="1600" dirty="0" err="1"/>
              <a:t>Offutt</a:t>
            </a:r>
            <a:r>
              <a:rPr lang="pt-BR" sz="1600" dirty="0"/>
              <a:t>. </a:t>
            </a:r>
            <a:r>
              <a:rPr lang="pt-BR" sz="1600" b="1" i="1" dirty="0" err="1"/>
              <a:t>Introduction</a:t>
            </a:r>
            <a:r>
              <a:rPr lang="pt-BR" sz="1600" b="1" i="1" dirty="0"/>
              <a:t> </a:t>
            </a:r>
            <a:r>
              <a:rPr lang="pt-BR" sz="1600" b="1" i="1" dirty="0" err="1"/>
              <a:t>to</a:t>
            </a:r>
            <a:r>
              <a:rPr lang="pt-BR" sz="1600" b="1" i="1" dirty="0"/>
              <a:t> Software </a:t>
            </a:r>
            <a:r>
              <a:rPr lang="pt-BR" sz="1600" b="1" i="1" dirty="0" err="1"/>
              <a:t>Testing</a:t>
            </a:r>
            <a:r>
              <a:rPr lang="pt-BR" sz="1600" dirty="0"/>
              <a:t>. 2nd </a:t>
            </a:r>
            <a:r>
              <a:rPr lang="pt-BR" sz="1600" dirty="0" err="1"/>
              <a:t>edition</a:t>
            </a:r>
            <a:r>
              <a:rPr lang="pt-BR" sz="1600" dirty="0"/>
              <a:t>. 2017.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1600" dirty="0">
                <a:hlinkClick r:id="rId2"/>
              </a:rPr>
              <a:t>https://cs.gmu.edu/~offutt/softwaretest/</a:t>
            </a:r>
            <a:endParaRPr lang="pt-BR" sz="1600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EEB595-AA8C-6D41-8838-5229C081B2DF}"/>
              </a:ext>
            </a:extLst>
          </p:cNvPr>
          <p:cNvSpPr/>
          <p:nvPr/>
        </p:nvSpPr>
        <p:spPr>
          <a:xfrm>
            <a:off x="156323" y="6090797"/>
            <a:ext cx="7562298" cy="584775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949286E-A0D7-459B-9132-7FD2C9843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016" y="1207177"/>
            <a:ext cx="8315967" cy="444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225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OBJETIVO DO TESTADOR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A6CD8C-17D2-7244-A468-20927E9DB47C}"/>
              </a:ext>
            </a:extLst>
          </p:cNvPr>
          <p:cNvSpPr txBox="1"/>
          <p:nvPr/>
        </p:nvSpPr>
        <p:spPr>
          <a:xfrm>
            <a:off x="553642" y="1264334"/>
            <a:ext cx="11168966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sz="3200" dirty="0"/>
              <a:t>O </a:t>
            </a:r>
            <a:r>
              <a:rPr lang="en-US" sz="3200" dirty="0" err="1"/>
              <a:t>objetivo</a:t>
            </a:r>
            <a:r>
              <a:rPr lang="en-US" sz="3200" dirty="0"/>
              <a:t> </a:t>
            </a:r>
            <a:r>
              <a:rPr lang="en-US" sz="3200" dirty="0" err="1"/>
              <a:t>é</a:t>
            </a:r>
            <a:r>
              <a:rPr lang="en-US" sz="3200" dirty="0"/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eliminar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os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defeitos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mais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cedo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possível</a:t>
            </a:r>
            <a:endParaRPr lang="en-US" sz="3200" b="1" dirty="0">
              <a:solidFill>
                <a:srgbClr val="FF0000"/>
              </a:solidFill>
            </a:endParaRP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 err="1"/>
              <a:t>Melhorar</a:t>
            </a:r>
            <a:r>
              <a:rPr lang="en-US" sz="3000" dirty="0"/>
              <a:t> a </a:t>
            </a:r>
            <a:r>
              <a:rPr lang="en-US" sz="3000" dirty="0" err="1"/>
              <a:t>qualidade</a:t>
            </a:r>
            <a:endParaRPr lang="en-US" sz="30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 err="1"/>
              <a:t>Reduzir</a:t>
            </a:r>
            <a:r>
              <a:rPr lang="en-US" sz="3000" dirty="0"/>
              <a:t> </a:t>
            </a:r>
            <a:r>
              <a:rPr lang="en-US" sz="3000" dirty="0" err="1"/>
              <a:t>custos</a:t>
            </a:r>
            <a:endParaRPr lang="en-US" sz="30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 err="1"/>
              <a:t>Preservar</a:t>
            </a:r>
            <a:r>
              <a:rPr lang="en-US" sz="3000" dirty="0"/>
              <a:t> </a:t>
            </a:r>
            <a:r>
              <a:rPr lang="en-US" sz="3000" dirty="0" err="1"/>
              <a:t>satisfação</a:t>
            </a:r>
            <a:r>
              <a:rPr lang="en-US" sz="3000" dirty="0"/>
              <a:t> do </a:t>
            </a:r>
            <a:r>
              <a:rPr lang="en-US" sz="3000" dirty="0" err="1"/>
              <a:t>usuário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786583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DINÂMICO E TESTE ESTÁTICO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776F37-9230-A444-AD3B-BF1BA6986118}"/>
              </a:ext>
            </a:extLst>
          </p:cNvPr>
          <p:cNvSpPr txBox="1"/>
          <p:nvPr/>
        </p:nvSpPr>
        <p:spPr>
          <a:xfrm>
            <a:off x="407338" y="1282622"/>
            <a:ext cx="113803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b="1" dirty="0">
                <a:solidFill>
                  <a:schemeClr val="accent4">
                    <a:lumMod val="75000"/>
                  </a:schemeClr>
                </a:solidFill>
              </a:rPr>
              <a:t>Teste </a:t>
            </a:r>
            <a:r>
              <a:rPr lang="en-US" sz="3000" b="1" dirty="0" err="1">
                <a:solidFill>
                  <a:schemeClr val="accent4">
                    <a:lumMod val="75000"/>
                  </a:schemeClr>
                </a:solidFill>
              </a:rPr>
              <a:t>Estático</a:t>
            </a:r>
            <a:r>
              <a:rPr lang="en-US" sz="3000" dirty="0"/>
              <a:t>: </a:t>
            </a:r>
            <a:r>
              <a:rPr lang="en-US" sz="3000" dirty="0" err="1"/>
              <a:t>testa</a:t>
            </a:r>
            <a:r>
              <a:rPr lang="en-US" sz="3000" dirty="0"/>
              <a:t> </a:t>
            </a:r>
            <a:r>
              <a:rPr lang="en-US" sz="3000" dirty="0" err="1"/>
              <a:t>sem</a:t>
            </a:r>
            <a:r>
              <a:rPr lang="en-US" sz="3000" dirty="0"/>
              <a:t> </a:t>
            </a:r>
            <a:r>
              <a:rPr lang="en-US" sz="3000" dirty="0" err="1"/>
              <a:t>executar</a:t>
            </a:r>
            <a:r>
              <a:rPr lang="en-US" sz="3000" dirty="0"/>
              <a:t> o software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Realiza</a:t>
            </a:r>
            <a:r>
              <a:rPr lang="en-US" sz="2800" dirty="0"/>
              <a:t> </a:t>
            </a:r>
            <a:r>
              <a:rPr lang="en-US" sz="2800" dirty="0" err="1"/>
              <a:t>inspeção</a:t>
            </a:r>
            <a:r>
              <a:rPr lang="en-US" sz="2800" dirty="0"/>
              <a:t> de software e </a:t>
            </a:r>
            <a:r>
              <a:rPr lang="en-US" sz="2800" dirty="0" err="1"/>
              <a:t>análise</a:t>
            </a:r>
            <a:r>
              <a:rPr lang="en-US" sz="2800" dirty="0"/>
              <a:t> (formal)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u="sng" dirty="0" err="1"/>
              <a:t>Exemplos</a:t>
            </a:r>
            <a:r>
              <a:rPr lang="en-US" sz="2800" u="sng" dirty="0"/>
              <a:t>:</a:t>
            </a:r>
            <a:r>
              <a:rPr lang="en-US" sz="2800" dirty="0"/>
              <a:t> </a:t>
            </a:r>
            <a:r>
              <a:rPr lang="en-US" sz="2800" dirty="0" err="1"/>
              <a:t>verificação</a:t>
            </a:r>
            <a:r>
              <a:rPr lang="en-US" sz="2800" dirty="0"/>
              <a:t> formal, lint checkers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Vamos</a:t>
            </a:r>
            <a:r>
              <a:rPr lang="en-US" sz="2800" dirty="0"/>
              <a:t> </a:t>
            </a:r>
            <a:r>
              <a:rPr lang="en-US" sz="2800" dirty="0" err="1"/>
              <a:t>ver</a:t>
            </a:r>
            <a:r>
              <a:rPr lang="en-US" sz="2800" dirty="0"/>
              <a:t> </a:t>
            </a:r>
            <a:r>
              <a:rPr lang="en-US" sz="2800" dirty="0" err="1"/>
              <a:t>algumas</a:t>
            </a:r>
            <a:r>
              <a:rPr lang="en-US" sz="2800" dirty="0"/>
              <a:t> ferramentas, mas </a:t>
            </a:r>
            <a:r>
              <a:rPr lang="en-US" sz="2800" dirty="0" err="1"/>
              <a:t>não</a:t>
            </a:r>
            <a:r>
              <a:rPr lang="en-US" sz="2800" dirty="0"/>
              <a:t> </a:t>
            </a:r>
            <a:r>
              <a:rPr lang="en-US" sz="2800" dirty="0" err="1"/>
              <a:t>é</a:t>
            </a:r>
            <a:r>
              <a:rPr lang="en-US" sz="2800" dirty="0"/>
              <a:t> o </a:t>
            </a:r>
            <a:r>
              <a:rPr lang="en-US" sz="2800" dirty="0" err="1"/>
              <a:t>foco</a:t>
            </a:r>
            <a:r>
              <a:rPr lang="en-US" sz="2800" dirty="0"/>
              <a:t> da </a:t>
            </a:r>
            <a:r>
              <a:rPr lang="en-US" sz="2800" dirty="0" err="1"/>
              <a:t>disciplina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301462-A939-CA44-B444-84FF77F97D63}"/>
              </a:ext>
            </a:extLst>
          </p:cNvPr>
          <p:cNvSpPr txBox="1"/>
          <p:nvPr/>
        </p:nvSpPr>
        <p:spPr>
          <a:xfrm>
            <a:off x="407338" y="3903102"/>
            <a:ext cx="11380316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b="1" dirty="0">
                <a:solidFill>
                  <a:schemeClr val="accent4">
                    <a:lumMod val="75000"/>
                  </a:schemeClr>
                </a:solidFill>
              </a:rPr>
              <a:t>Teste </a:t>
            </a:r>
            <a:r>
              <a:rPr lang="en-US" sz="3000" b="1" dirty="0" err="1">
                <a:solidFill>
                  <a:schemeClr val="accent4">
                    <a:lumMod val="75000"/>
                  </a:schemeClr>
                </a:solidFill>
              </a:rPr>
              <a:t>dinâmico</a:t>
            </a:r>
            <a:r>
              <a:rPr lang="en-US" sz="3000" dirty="0"/>
              <a:t>: teste </a:t>
            </a:r>
            <a:r>
              <a:rPr lang="en-US" sz="3000" dirty="0" err="1"/>
              <a:t>executando</a:t>
            </a:r>
            <a:r>
              <a:rPr lang="en-US" sz="3000" dirty="0"/>
              <a:t> o </a:t>
            </a:r>
            <a:r>
              <a:rPr lang="en-US" sz="3000" dirty="0" err="1"/>
              <a:t>programa</a:t>
            </a:r>
            <a:r>
              <a:rPr lang="en-US" sz="3000" dirty="0"/>
              <a:t> com entradas </a:t>
            </a:r>
            <a:r>
              <a:rPr lang="en-US" sz="3000" dirty="0" err="1"/>
              <a:t>reais</a:t>
            </a:r>
            <a:endParaRPr lang="en-US" sz="30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É</a:t>
            </a:r>
            <a:r>
              <a:rPr lang="en-US" sz="2800" dirty="0"/>
              <a:t> o </a:t>
            </a:r>
            <a:r>
              <a:rPr lang="en-US" sz="2800" b="1" dirty="0" err="1">
                <a:solidFill>
                  <a:srgbClr val="FF0000"/>
                </a:solidFill>
              </a:rPr>
              <a:t>foco</a:t>
            </a:r>
            <a:r>
              <a:rPr lang="en-US" sz="2800" dirty="0"/>
              <a:t> da </a:t>
            </a:r>
            <a:r>
              <a:rPr lang="en-US" sz="2800" dirty="0" err="1"/>
              <a:t>disciplina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1531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VALIDAÇÃO E VERIFICAÇÃO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DE66D6-B269-2E47-98B8-34259150D9C9}"/>
              </a:ext>
            </a:extLst>
          </p:cNvPr>
          <p:cNvSpPr txBox="1"/>
          <p:nvPr/>
        </p:nvSpPr>
        <p:spPr>
          <a:xfrm>
            <a:off x="410101" y="1424513"/>
            <a:ext cx="111803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200" b="1" dirty="0" err="1">
                <a:solidFill>
                  <a:schemeClr val="accent4">
                    <a:lumMod val="75000"/>
                  </a:schemeClr>
                </a:solidFill>
              </a:rPr>
              <a:t>Validação</a:t>
            </a:r>
            <a:r>
              <a:rPr lang="en-US" sz="3200" dirty="0"/>
              <a:t>: </a:t>
            </a:r>
            <a:r>
              <a:rPr lang="en-US" sz="3200" dirty="0" err="1"/>
              <a:t>realizado</a:t>
            </a:r>
            <a:r>
              <a:rPr lang="en-US" sz="3200" dirty="0"/>
              <a:t> no final do </a:t>
            </a:r>
            <a:r>
              <a:rPr lang="en-US" sz="3200" dirty="0" err="1"/>
              <a:t>processo</a:t>
            </a:r>
            <a:r>
              <a:rPr lang="en-US" sz="3200" dirty="0"/>
              <a:t> de </a:t>
            </a:r>
            <a:r>
              <a:rPr lang="en-US" sz="3200" dirty="0" err="1"/>
              <a:t>desenvolvimento</a:t>
            </a:r>
            <a:r>
              <a:rPr lang="en-US" sz="3200" dirty="0"/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por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usuários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para </a:t>
            </a:r>
            <a:r>
              <a:rPr lang="en-US" sz="3200" dirty="0" err="1"/>
              <a:t>verificar</a:t>
            </a:r>
            <a:r>
              <a:rPr lang="en-US" sz="3200" dirty="0"/>
              <a:t> se o software </a:t>
            </a:r>
            <a:r>
              <a:rPr lang="en-US" sz="3200" dirty="0" err="1"/>
              <a:t>atende</a:t>
            </a:r>
            <a:r>
              <a:rPr lang="en-US" sz="3200" dirty="0"/>
              <a:t> as </a:t>
            </a:r>
            <a:r>
              <a:rPr lang="en-US" sz="3200" dirty="0" err="1"/>
              <a:t>necessidades</a:t>
            </a: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46A907-053C-0F46-ACEF-2C2CBFB34998}"/>
              </a:ext>
            </a:extLst>
          </p:cNvPr>
          <p:cNvSpPr txBox="1"/>
          <p:nvPr/>
        </p:nvSpPr>
        <p:spPr>
          <a:xfrm>
            <a:off x="410100" y="3620555"/>
            <a:ext cx="111803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200" b="1" dirty="0" err="1">
                <a:solidFill>
                  <a:schemeClr val="accent4">
                    <a:lumMod val="75000"/>
                  </a:schemeClr>
                </a:solidFill>
              </a:rPr>
              <a:t>Verificação</a:t>
            </a:r>
            <a:r>
              <a:rPr lang="en-US" sz="3200" dirty="0"/>
              <a:t>: </a:t>
            </a:r>
            <a:r>
              <a:rPr lang="en-US" sz="3200" dirty="0" err="1"/>
              <a:t>realizado</a:t>
            </a:r>
            <a:r>
              <a:rPr lang="en-US" sz="3200" dirty="0"/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por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b="1" dirty="0" err="1">
                <a:solidFill>
                  <a:srgbClr val="FF0000"/>
                </a:solidFill>
              </a:rPr>
              <a:t>desenvolvedores</a:t>
            </a:r>
            <a:r>
              <a:rPr lang="en-US" sz="3200" b="1" dirty="0">
                <a:solidFill>
                  <a:srgbClr val="FF0000"/>
                </a:solidFill>
              </a:rPr>
              <a:t> </a:t>
            </a:r>
            <a:r>
              <a:rPr lang="en-US" sz="3200" dirty="0" err="1"/>
              <a:t>durante</a:t>
            </a:r>
            <a:r>
              <a:rPr lang="en-US" sz="3200" dirty="0"/>
              <a:t> o </a:t>
            </a:r>
            <a:r>
              <a:rPr lang="en-US" sz="3200" dirty="0" err="1"/>
              <a:t>desenvolvimento</a:t>
            </a:r>
            <a:r>
              <a:rPr lang="en-US" sz="3200" dirty="0"/>
              <a:t> do software para </a:t>
            </a:r>
            <a:r>
              <a:rPr lang="en-US" sz="3200" dirty="0" err="1"/>
              <a:t>verificar</a:t>
            </a:r>
            <a:r>
              <a:rPr lang="en-US" sz="3200" dirty="0"/>
              <a:t> se </a:t>
            </a:r>
            <a:r>
              <a:rPr lang="en-US" sz="3200" dirty="0" err="1"/>
              <a:t>atende</a:t>
            </a:r>
            <a:r>
              <a:rPr lang="en-US" sz="3200" dirty="0"/>
              <a:t> </a:t>
            </a:r>
            <a:r>
              <a:rPr lang="en-US" sz="3200" dirty="0" err="1"/>
              <a:t>os</a:t>
            </a:r>
            <a:r>
              <a:rPr lang="en-US" sz="3200" dirty="0"/>
              <a:t> </a:t>
            </a:r>
            <a:r>
              <a:rPr lang="en-US" sz="3200" dirty="0" err="1"/>
              <a:t>requisitos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65685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V-MODEL DESENVOLVIMENTO DE SOFTWARE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8B2FA0-E316-1046-85A0-13C39C1896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199" y="1196162"/>
            <a:ext cx="8991600" cy="5245100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98396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8B470CC1-7BE5-7C17-94A4-E0FAED4568B4}"/>
              </a:ext>
            </a:extLst>
          </p:cNvPr>
          <p:cNvSpPr txBox="1"/>
          <p:nvPr/>
        </p:nvSpPr>
        <p:spPr>
          <a:xfrm>
            <a:off x="3325091" y="129309"/>
            <a:ext cx="86452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3200" b="1" dirty="0">
                <a:solidFill>
                  <a:schemeClr val="bg1"/>
                </a:solidFill>
              </a:rPr>
              <a:t>Evolução dos Testes de Software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06CD3B-CB40-C583-E10F-974613C39A07}"/>
              </a:ext>
            </a:extLst>
          </p:cNvPr>
          <p:cNvSpPr txBox="1"/>
          <p:nvPr/>
        </p:nvSpPr>
        <p:spPr>
          <a:xfrm>
            <a:off x="333682" y="852113"/>
            <a:ext cx="1070548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/>
              <a:t>Se considerarmos os últimos 30 anos da computação...</a:t>
            </a:r>
          </a:p>
          <a:p>
            <a:r>
              <a:rPr lang="pt-BR" sz="3200" dirty="0"/>
              <a:t>O teste de software se tornou mais </a:t>
            </a:r>
            <a:r>
              <a:rPr lang="pt-BR" sz="3200" b="1" dirty="0">
                <a:solidFill>
                  <a:srgbClr val="2E00C0"/>
                </a:solidFill>
              </a:rPr>
              <a:t>fácil </a:t>
            </a:r>
            <a:r>
              <a:rPr lang="pt-BR" sz="3200" dirty="0"/>
              <a:t>e </a:t>
            </a:r>
            <a:r>
              <a:rPr lang="pt-BR" sz="3200" b="1" dirty="0">
                <a:solidFill>
                  <a:srgbClr val="FF0000"/>
                </a:solidFill>
              </a:rPr>
              <a:t>difícil</a:t>
            </a:r>
            <a:r>
              <a:rPr lang="pt-BR" sz="3200" dirty="0"/>
              <a:t> do que nunca!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CED130-B2B4-FB36-7BC9-ADD08D96B0BB}"/>
              </a:ext>
            </a:extLst>
          </p:cNvPr>
          <p:cNvSpPr txBox="1"/>
          <p:nvPr/>
        </p:nvSpPr>
        <p:spPr>
          <a:xfrm>
            <a:off x="436308" y="1990780"/>
            <a:ext cx="1115715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rgbClr val="FF0000"/>
                </a:solidFill>
              </a:rPr>
              <a:t>Difícil pois...</a:t>
            </a:r>
            <a:endParaRPr lang="pt-BR" sz="2800" dirty="0">
              <a:solidFill>
                <a:srgbClr val="FF000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800" dirty="0"/>
              <a:t>Vasta gama de linguagens de programação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800" dirty="0"/>
              <a:t>Muitas plataformas de hardware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800" dirty="0"/>
              <a:t>Diversos Sistemas Operacionais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800" dirty="0"/>
              <a:t>Onipresença do software (altamente difundido na sociedade)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6D77C0-35A0-7BB0-BCA1-B2656E713A90}"/>
              </a:ext>
            </a:extLst>
          </p:cNvPr>
          <p:cNvSpPr txBox="1"/>
          <p:nvPr/>
        </p:nvSpPr>
        <p:spPr>
          <a:xfrm>
            <a:off x="436308" y="4377948"/>
            <a:ext cx="1115715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rgbClr val="2E00C0"/>
                </a:solidFill>
              </a:rPr>
              <a:t>Fácil pois...</a:t>
            </a:r>
            <a:endParaRPr lang="pt-BR" sz="2800" dirty="0">
              <a:solidFill>
                <a:srgbClr val="2E00C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800" dirty="0"/>
              <a:t>Sistemas Operacionais modernos (serviços e rotinas bem testadas)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800" dirty="0" err="1"/>
              <a:t>GUIs</a:t>
            </a:r>
            <a:r>
              <a:rPr lang="pt-BR" sz="2800" dirty="0"/>
              <a:t>, por exemplo, facilmente desenvolvidas a partir de bibliotecas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800" dirty="0"/>
              <a:t>Necessidade reduzida de testar objetos pré-programados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800" dirty="0"/>
              <a:t>Inteligência Artificial para ajudar no desenvolvimento dos testes</a:t>
            </a:r>
          </a:p>
        </p:txBody>
      </p:sp>
    </p:spTree>
    <p:extLst>
      <p:ext uri="{BB962C8B-B14F-4D97-AF65-F5344CB8AC3E}">
        <p14:creationId xmlns:p14="http://schemas.microsoft.com/office/powerpoint/2010/main" val="3670236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08522AF-6BC2-E973-9E11-6A055A1FF5F3}"/>
              </a:ext>
            </a:extLst>
          </p:cNvPr>
          <p:cNvSpPr txBox="1"/>
          <p:nvPr/>
        </p:nvSpPr>
        <p:spPr>
          <a:xfrm>
            <a:off x="245193" y="976980"/>
            <a:ext cx="116936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000" dirty="0"/>
              <a:t>Agora, antes de começarmos… Vamos fazer um teste! </a:t>
            </a:r>
          </a:p>
          <a:p>
            <a:r>
              <a:rPr lang="pt-BR" sz="3000" dirty="0"/>
              <a:t>Escreva um conjunto de </a:t>
            </a:r>
            <a:r>
              <a:rPr lang="pt-BR" sz="3000" b="1" u="sng" dirty="0"/>
              <a:t>casos de teste</a:t>
            </a:r>
            <a:r>
              <a:rPr lang="pt-BR" sz="3000" dirty="0"/>
              <a:t> – </a:t>
            </a:r>
            <a:r>
              <a:rPr lang="pt-BR" sz="3000" i="1" dirty="0"/>
              <a:t>conjuntos específicos de dados</a:t>
            </a:r>
            <a:r>
              <a:rPr lang="pt-BR" sz="3000" dirty="0"/>
              <a:t> – para testar adequadamente um programa relativamente simples: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F4C7BA-7705-4C54-68F7-69A42CB37EA0}"/>
              </a:ext>
            </a:extLst>
          </p:cNvPr>
          <p:cNvSpPr txBox="1"/>
          <p:nvPr/>
        </p:nvSpPr>
        <p:spPr>
          <a:xfrm>
            <a:off x="686722" y="2548618"/>
            <a:ext cx="10810567" cy="206210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3200" i="1" dirty="0"/>
              <a:t>O programa recebe três valores inteiros. Os três valores representam os comprimentos dos lados de um triângulo. O programa exibe uma mensagem informando se o triângulo é escaleno, isósceles ou equilátero.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ACB401-1C35-6118-9949-2E0720692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17876"/>
            <a:ext cx="5866023" cy="172628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579A955-210B-AF6B-F33A-DCF1424BB018}"/>
              </a:ext>
            </a:extLst>
          </p:cNvPr>
          <p:cNvSpPr txBox="1"/>
          <p:nvPr/>
        </p:nvSpPr>
        <p:spPr>
          <a:xfrm>
            <a:off x="5657851" y="4950403"/>
            <a:ext cx="60947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Lembre-se de que um triângulo </a:t>
            </a:r>
            <a:r>
              <a:rPr lang="pt-BR" sz="1600" b="1" dirty="0"/>
              <a:t>escaleno</a:t>
            </a:r>
            <a:r>
              <a:rPr lang="pt-BR" sz="1600" dirty="0"/>
              <a:t> é aquele em que </a:t>
            </a:r>
            <a:r>
              <a:rPr lang="pt-BR" sz="1600" u="sng" dirty="0"/>
              <a:t>não há dois lados iguais</a:t>
            </a:r>
            <a:r>
              <a:rPr lang="pt-BR" sz="1600" dirty="0"/>
              <a:t>, enquanto um triângulo </a:t>
            </a:r>
            <a:r>
              <a:rPr lang="pt-BR" sz="1600" b="1" dirty="0"/>
              <a:t>isósceles</a:t>
            </a:r>
            <a:r>
              <a:rPr lang="pt-BR" sz="1600" dirty="0"/>
              <a:t> tem </a:t>
            </a:r>
            <a:r>
              <a:rPr lang="pt-BR" sz="1600" u="sng" dirty="0"/>
              <a:t>dois lados iguais </a:t>
            </a:r>
            <a:r>
              <a:rPr lang="pt-BR" sz="1600" dirty="0"/>
              <a:t>e um triângulo </a:t>
            </a:r>
            <a:r>
              <a:rPr lang="pt-BR" sz="1600" b="1" dirty="0"/>
              <a:t>equilátero</a:t>
            </a:r>
            <a:r>
              <a:rPr lang="pt-BR" sz="1600" dirty="0"/>
              <a:t> tem </a:t>
            </a:r>
            <a:r>
              <a:rPr lang="pt-BR" sz="1600" u="sng" dirty="0"/>
              <a:t>três lados de comprimento igual</a:t>
            </a:r>
            <a:r>
              <a:rPr lang="pt-BR" sz="1600" dirty="0"/>
              <a:t>.</a:t>
            </a:r>
          </a:p>
          <a:p>
            <a:r>
              <a:rPr lang="pt-BR" sz="1600" dirty="0"/>
              <a:t>Além disso, os ângulos opostos aos lados iguais num triângulo isósceles também são iguais, e todos os ângulos num triângulo equilátero são iguais.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455878-117E-257F-A3AE-43C471BDE6F5}"/>
              </a:ext>
            </a:extLst>
          </p:cNvPr>
          <p:cNvSpPr txBox="1"/>
          <p:nvPr/>
        </p:nvSpPr>
        <p:spPr>
          <a:xfrm>
            <a:off x="10640965" y="14749"/>
            <a:ext cx="153785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b="1" dirty="0">
                <a:solidFill>
                  <a:schemeClr val="bg1"/>
                </a:solidFill>
              </a:rPr>
              <a:t>TESTE</a:t>
            </a:r>
            <a:endParaRPr lang="en-US" sz="4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3986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D8455878-117E-257F-A3AE-43C471BDE6F5}"/>
              </a:ext>
            </a:extLst>
          </p:cNvPr>
          <p:cNvSpPr txBox="1"/>
          <p:nvPr/>
        </p:nvSpPr>
        <p:spPr>
          <a:xfrm>
            <a:off x="8037873" y="14749"/>
            <a:ext cx="41567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b="1" dirty="0">
                <a:solidFill>
                  <a:schemeClr val="bg1"/>
                </a:solidFill>
              </a:rPr>
              <a:t>TESTE - avaliação</a:t>
            </a:r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A7C9A8-97DB-C063-8C7E-0EA9486215C4}"/>
              </a:ext>
            </a:extLst>
          </p:cNvPr>
          <p:cNvSpPr txBox="1"/>
          <p:nvPr/>
        </p:nvSpPr>
        <p:spPr>
          <a:xfrm>
            <a:off x="0" y="784190"/>
            <a:ext cx="90817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Vamos avaliar as respostas (1 ponto para cada “sim”):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21DEC8-8DBF-AC0B-BA16-81050D811724}"/>
              </a:ext>
            </a:extLst>
          </p:cNvPr>
          <p:cNvSpPr txBox="1"/>
          <p:nvPr/>
        </p:nvSpPr>
        <p:spPr>
          <a:xfrm>
            <a:off x="204634" y="1497799"/>
            <a:ext cx="113581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1) </a:t>
            </a:r>
            <a:r>
              <a:rPr lang="en-US" sz="2400" b="1" dirty="0" err="1"/>
              <a:t>Você</a:t>
            </a:r>
            <a:r>
              <a:rPr lang="en-US" sz="2400" b="1" dirty="0"/>
              <a:t> </a:t>
            </a:r>
            <a:r>
              <a:rPr lang="en-US" sz="2400" b="1" dirty="0" err="1"/>
              <a:t>tem</a:t>
            </a:r>
            <a:r>
              <a:rPr lang="en-US" sz="2400" b="1" dirty="0"/>
              <a:t> um </a:t>
            </a:r>
            <a:r>
              <a:rPr lang="en-US" sz="2400" b="1" dirty="0" err="1"/>
              <a:t>caso</a:t>
            </a:r>
            <a:r>
              <a:rPr lang="en-US" sz="2400" b="1" dirty="0"/>
              <a:t> de teste que </a:t>
            </a:r>
            <a:r>
              <a:rPr lang="en-US" sz="2400" b="1" dirty="0" err="1"/>
              <a:t>representa</a:t>
            </a:r>
            <a:r>
              <a:rPr lang="en-US" sz="2400" b="1" dirty="0"/>
              <a:t> um </a:t>
            </a:r>
            <a:r>
              <a:rPr lang="en-US" sz="2400" b="1" dirty="0" err="1"/>
              <a:t>triângulo</a:t>
            </a:r>
            <a:r>
              <a:rPr lang="en-US" sz="2400" b="1" dirty="0"/>
              <a:t> </a:t>
            </a:r>
            <a:r>
              <a:rPr lang="en-US" sz="2400" b="1" dirty="0" err="1"/>
              <a:t>escaleno</a:t>
            </a:r>
            <a:r>
              <a:rPr lang="en-US" sz="2400" b="1" dirty="0"/>
              <a:t> </a:t>
            </a:r>
            <a:r>
              <a:rPr lang="en-US" sz="2400" b="1" dirty="0" err="1"/>
              <a:t>válido</a:t>
            </a:r>
            <a:r>
              <a:rPr lang="en-US" sz="2400" b="1" dirty="0"/>
              <a:t>? </a:t>
            </a:r>
            <a:br>
              <a:rPr lang="en-US" sz="2400" b="1" dirty="0"/>
            </a:br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26B9E-A169-3129-D6DC-002696874387}"/>
              </a:ext>
            </a:extLst>
          </p:cNvPr>
          <p:cNvSpPr txBox="1"/>
          <p:nvPr/>
        </p:nvSpPr>
        <p:spPr>
          <a:xfrm>
            <a:off x="49775" y="1909812"/>
            <a:ext cx="118669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(Observe que </a:t>
            </a:r>
            <a:r>
              <a:rPr lang="en-US" sz="1600" dirty="0" err="1"/>
              <a:t>casos</a:t>
            </a:r>
            <a:r>
              <a:rPr lang="en-US" sz="1600" dirty="0"/>
              <a:t> de teste </a:t>
            </a:r>
            <a:r>
              <a:rPr lang="en-US" sz="1600" dirty="0" err="1"/>
              <a:t>como</a:t>
            </a:r>
            <a:r>
              <a:rPr lang="en-US" sz="1600" dirty="0"/>
              <a:t> 1, 2, 3 e 2, 5, 10 </a:t>
            </a:r>
            <a:r>
              <a:rPr lang="en-US" sz="1600" dirty="0" err="1"/>
              <a:t>não</a:t>
            </a:r>
            <a:r>
              <a:rPr lang="en-US" sz="1600" dirty="0"/>
              <a:t> </a:t>
            </a:r>
            <a:r>
              <a:rPr lang="en-US" sz="1600" dirty="0" err="1"/>
              <a:t>garantem</a:t>
            </a:r>
            <a:r>
              <a:rPr lang="en-US" sz="1600" dirty="0"/>
              <a:t> </a:t>
            </a:r>
            <a:r>
              <a:rPr lang="en-US" sz="1600" dirty="0" err="1"/>
              <a:t>uma</a:t>
            </a:r>
            <a:r>
              <a:rPr lang="en-US" sz="1600" dirty="0"/>
              <a:t> </a:t>
            </a:r>
            <a:r>
              <a:rPr lang="en-US" sz="1600" dirty="0" err="1"/>
              <a:t>resposta</a:t>
            </a:r>
            <a:r>
              <a:rPr lang="en-US" sz="1600" dirty="0"/>
              <a:t> sim </a:t>
            </a:r>
            <a:r>
              <a:rPr lang="en-US" sz="1600" dirty="0" err="1"/>
              <a:t>porque</a:t>
            </a:r>
            <a:r>
              <a:rPr lang="en-US" sz="1600" dirty="0"/>
              <a:t> um </a:t>
            </a:r>
            <a:r>
              <a:rPr lang="en-US" sz="1600" dirty="0" err="1"/>
              <a:t>triângulo</a:t>
            </a:r>
            <a:r>
              <a:rPr lang="en-US" sz="1600" dirty="0"/>
              <a:t> com </a:t>
            </a:r>
            <a:r>
              <a:rPr lang="en-US" sz="1600" dirty="0" err="1"/>
              <a:t>essas</a:t>
            </a:r>
            <a:r>
              <a:rPr lang="en-US" sz="1600" dirty="0"/>
              <a:t> </a:t>
            </a:r>
            <a:r>
              <a:rPr lang="en-US" sz="1600" dirty="0" err="1"/>
              <a:t>dimensões</a:t>
            </a:r>
            <a:r>
              <a:rPr lang="en-US" sz="1600" dirty="0"/>
              <a:t> </a:t>
            </a:r>
            <a:r>
              <a:rPr lang="en-US" sz="1600" dirty="0" err="1"/>
              <a:t>não</a:t>
            </a:r>
            <a:r>
              <a:rPr lang="en-US" sz="1600" dirty="0"/>
              <a:t> é </a:t>
            </a:r>
            <a:r>
              <a:rPr lang="en-US" sz="1600" dirty="0" err="1"/>
              <a:t>válido</a:t>
            </a:r>
            <a:r>
              <a:rPr lang="en-US" sz="1600" dirty="0"/>
              <a:t>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FFDF9D-51DB-9393-EB1E-9EECDD2B7C89}"/>
              </a:ext>
            </a:extLst>
          </p:cNvPr>
          <p:cNvSpPr txBox="1"/>
          <p:nvPr/>
        </p:nvSpPr>
        <p:spPr>
          <a:xfrm>
            <a:off x="204634" y="2358888"/>
            <a:ext cx="11358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2) </a:t>
            </a:r>
            <a:r>
              <a:rPr lang="pt-BR" sz="2400" b="1" dirty="0"/>
              <a:t>Você tem um caso de teste que representa um triângulo equilátero válido?</a:t>
            </a:r>
            <a:endParaRPr 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82E37D-5CB4-481D-E0A7-B1BA3AECE382}"/>
              </a:ext>
            </a:extLst>
          </p:cNvPr>
          <p:cNvSpPr txBox="1"/>
          <p:nvPr/>
        </p:nvSpPr>
        <p:spPr>
          <a:xfrm>
            <a:off x="204634" y="2910713"/>
            <a:ext cx="11358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3) </a:t>
            </a:r>
            <a:r>
              <a:rPr lang="pt-BR" sz="2400" b="1" dirty="0"/>
              <a:t>Você tem um caso de teste que representa um triângulo isósceles válido?</a:t>
            </a:r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882B46-BD13-1043-0F21-3E54510318E4}"/>
              </a:ext>
            </a:extLst>
          </p:cNvPr>
          <p:cNvSpPr txBox="1"/>
          <p:nvPr/>
        </p:nvSpPr>
        <p:spPr>
          <a:xfrm>
            <a:off x="49774" y="3280417"/>
            <a:ext cx="118669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(Observe que um caso de teste representando 2, 2, 4 não contaria porque não é um triângulo válido.)</a:t>
            </a:r>
            <a:endParaRPr 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094A5D-D27D-F1FB-E7EE-B31C3D2282FD}"/>
              </a:ext>
            </a:extLst>
          </p:cNvPr>
          <p:cNvSpPr txBox="1"/>
          <p:nvPr/>
        </p:nvSpPr>
        <p:spPr>
          <a:xfrm>
            <a:off x="204634" y="3601409"/>
            <a:ext cx="11358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4) </a:t>
            </a:r>
            <a:r>
              <a:rPr lang="pt-BR" sz="2400" b="1" dirty="0"/>
              <a:t>Você tem pelo menos três casos de teste que representam triângulos isósceles válidos, de modo que você tentou todas as três permutações de dois lados iguais?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194C6D-B803-F948-2DB5-E1ED194222C2}"/>
              </a:ext>
            </a:extLst>
          </p:cNvPr>
          <p:cNvSpPr txBox="1"/>
          <p:nvPr/>
        </p:nvSpPr>
        <p:spPr>
          <a:xfrm>
            <a:off x="49773" y="4333619"/>
            <a:ext cx="118669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(Por exemplo: 3, 3, 4; 3, 4, 3; 4, 3, 3.)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A14D52-F8B8-B350-E4EE-593935AC81E8}"/>
              </a:ext>
            </a:extLst>
          </p:cNvPr>
          <p:cNvSpPr txBox="1"/>
          <p:nvPr/>
        </p:nvSpPr>
        <p:spPr>
          <a:xfrm>
            <a:off x="204634" y="4661437"/>
            <a:ext cx="11358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5) </a:t>
            </a:r>
            <a:r>
              <a:rPr lang="pt-BR" sz="2400" b="1" dirty="0"/>
              <a:t>Você tem um caso de teste em que um lado tem valor zero?</a:t>
            </a:r>
            <a:endParaRPr 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9B7ABA-DB01-A906-E6F9-2E61A1D26506}"/>
              </a:ext>
            </a:extLst>
          </p:cNvPr>
          <p:cNvSpPr txBox="1"/>
          <p:nvPr/>
        </p:nvSpPr>
        <p:spPr>
          <a:xfrm>
            <a:off x="204634" y="5227811"/>
            <a:ext cx="11358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6) </a:t>
            </a:r>
            <a:r>
              <a:rPr lang="pt-BR" sz="2400" b="1" dirty="0"/>
              <a:t>Você tem um caso de teste em que um lado tem um valor negativo?</a:t>
            </a:r>
            <a:endParaRPr lang="en-US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678F32-3288-881C-2470-44B0DA8BAD3A}"/>
              </a:ext>
            </a:extLst>
          </p:cNvPr>
          <p:cNvSpPr txBox="1"/>
          <p:nvPr/>
        </p:nvSpPr>
        <p:spPr>
          <a:xfrm>
            <a:off x="204634" y="5698322"/>
            <a:ext cx="11358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7) </a:t>
            </a:r>
            <a:r>
              <a:rPr lang="pt-BR" sz="2400" b="1" dirty="0"/>
              <a:t>Você tem um caso de teste com três inteiros maiores que zero, tal que a soma de dois números é igual ao terceiro?</a:t>
            </a:r>
            <a:endParaRPr lang="en-US" sz="2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2870EB-33E3-358F-7925-EF043CD67C96}"/>
              </a:ext>
            </a:extLst>
          </p:cNvPr>
          <p:cNvSpPr txBox="1"/>
          <p:nvPr/>
        </p:nvSpPr>
        <p:spPr>
          <a:xfrm>
            <a:off x="49772" y="6363055"/>
            <a:ext cx="118669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(Ou seja, se o programa dissesse que 1, 2, 3 representa um triângulo escaleno, conteria um bug.)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1406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2" grpId="0"/>
      <p:bldP spid="13" grpId="0"/>
      <p:bldP spid="14" grpId="0"/>
      <p:bldP spid="16" grpId="0"/>
      <p:bldP spid="19" grpId="0"/>
      <p:bldP spid="20" grpId="0"/>
      <p:bldP spid="21" grpId="0"/>
      <p:bldP spid="24" grpId="0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D8455878-117E-257F-A3AE-43C471BDE6F5}"/>
              </a:ext>
            </a:extLst>
          </p:cNvPr>
          <p:cNvSpPr txBox="1"/>
          <p:nvPr/>
        </p:nvSpPr>
        <p:spPr>
          <a:xfrm>
            <a:off x="8037873" y="14749"/>
            <a:ext cx="41567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b="1" dirty="0">
                <a:solidFill>
                  <a:schemeClr val="bg1"/>
                </a:solidFill>
              </a:rPr>
              <a:t>TESTE - avaliação</a:t>
            </a:r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A7C9A8-97DB-C063-8C7E-0EA9486215C4}"/>
              </a:ext>
            </a:extLst>
          </p:cNvPr>
          <p:cNvSpPr txBox="1"/>
          <p:nvPr/>
        </p:nvSpPr>
        <p:spPr>
          <a:xfrm>
            <a:off x="0" y="784190"/>
            <a:ext cx="90817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Vamos avaliar as respostas (1 ponto para cada “sim”):</a:t>
            </a:r>
            <a:endParaRPr lang="en-US" sz="3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FFDF9D-51DB-9393-EB1E-9EECDD2B7C89}"/>
              </a:ext>
            </a:extLst>
          </p:cNvPr>
          <p:cNvSpPr txBox="1"/>
          <p:nvPr/>
        </p:nvSpPr>
        <p:spPr>
          <a:xfrm>
            <a:off x="204634" y="1513938"/>
            <a:ext cx="11358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8) </a:t>
            </a:r>
            <a:r>
              <a:rPr lang="pt-BR" sz="2400" b="1" dirty="0"/>
              <a:t>Você tem um caso de teste com três números inteiros maiores que zero, de modo que a soma de dois números seja menor que o terceiro?</a:t>
            </a:r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882B46-BD13-1043-0F21-3E54510318E4}"/>
              </a:ext>
            </a:extLst>
          </p:cNvPr>
          <p:cNvSpPr txBox="1"/>
          <p:nvPr/>
        </p:nvSpPr>
        <p:spPr>
          <a:xfrm>
            <a:off x="49774" y="2192117"/>
            <a:ext cx="118669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 (Como 1, 2, 4 ou 12, 15, 30)</a:t>
            </a:r>
            <a:endParaRPr 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094A5D-D27D-F1FB-E7EE-B31C3D2282FD}"/>
              </a:ext>
            </a:extLst>
          </p:cNvPr>
          <p:cNvSpPr txBox="1"/>
          <p:nvPr/>
        </p:nvSpPr>
        <p:spPr>
          <a:xfrm>
            <a:off x="204634" y="2608979"/>
            <a:ext cx="11358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9) </a:t>
            </a:r>
            <a:r>
              <a:rPr lang="pt-BR" sz="2400" b="1" dirty="0"/>
              <a:t>Você tem pelo menos três casos de teste na categoria 9, de modo que tenha tentado todas as três permutações?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194C6D-B803-F948-2DB5-E1ED194222C2}"/>
              </a:ext>
            </a:extLst>
          </p:cNvPr>
          <p:cNvSpPr txBox="1"/>
          <p:nvPr/>
        </p:nvSpPr>
        <p:spPr>
          <a:xfrm>
            <a:off x="49773" y="3363311"/>
            <a:ext cx="118669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/>
              <a:t>(Por exemplo, 1, 2, 4; 1, 4, 2; e 4, 1, 2)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A14D52-F8B8-B350-E4EE-593935AC81E8}"/>
              </a:ext>
            </a:extLst>
          </p:cNvPr>
          <p:cNvSpPr txBox="1"/>
          <p:nvPr/>
        </p:nvSpPr>
        <p:spPr>
          <a:xfrm>
            <a:off x="204634" y="3735373"/>
            <a:ext cx="11358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10) </a:t>
            </a:r>
            <a:r>
              <a:rPr lang="pt-BR" sz="2400" b="1" dirty="0"/>
              <a:t>Você tem um caso de teste em que todos os lados são zero (0, 0, 0)?</a:t>
            </a:r>
            <a:endParaRPr 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9B7ABA-DB01-A906-E6F9-2E61A1D26506}"/>
              </a:ext>
            </a:extLst>
          </p:cNvPr>
          <p:cNvSpPr txBox="1"/>
          <p:nvPr/>
        </p:nvSpPr>
        <p:spPr>
          <a:xfrm>
            <a:off x="204634" y="4205885"/>
            <a:ext cx="11358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11) </a:t>
            </a:r>
            <a:r>
              <a:rPr lang="pt-BR" sz="2400" b="1" dirty="0"/>
              <a:t>Você tem pelo menos um caso de teste especificando valores não inteiros?</a:t>
            </a:r>
            <a:endParaRPr lang="en-US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678F32-3288-881C-2470-44B0DA8BAD3A}"/>
              </a:ext>
            </a:extLst>
          </p:cNvPr>
          <p:cNvSpPr txBox="1"/>
          <p:nvPr/>
        </p:nvSpPr>
        <p:spPr>
          <a:xfrm>
            <a:off x="204634" y="4698518"/>
            <a:ext cx="113581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12) Você tem pelo menos um caso de teste especificando o número errado de valores?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341E43-DBFD-E2D7-6FB6-375C62FACE39}"/>
              </a:ext>
            </a:extLst>
          </p:cNvPr>
          <p:cNvSpPr txBox="1"/>
          <p:nvPr/>
        </p:nvSpPr>
        <p:spPr>
          <a:xfrm>
            <a:off x="204634" y="5146907"/>
            <a:ext cx="11358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13) Para cada caso de teste você especificou a saída esperada do programa além dos valores de entrada?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661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6" grpId="0"/>
      <p:bldP spid="19" grpId="0"/>
      <p:bldP spid="20" grpId="0"/>
      <p:bldP spid="21" grpId="0"/>
      <p:bldP spid="24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D8455878-117E-257F-A3AE-43C471BDE6F5}"/>
              </a:ext>
            </a:extLst>
          </p:cNvPr>
          <p:cNvSpPr txBox="1"/>
          <p:nvPr/>
        </p:nvSpPr>
        <p:spPr>
          <a:xfrm>
            <a:off x="8037873" y="14749"/>
            <a:ext cx="41567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b="1" dirty="0">
                <a:solidFill>
                  <a:schemeClr val="bg1"/>
                </a:solidFill>
              </a:rPr>
              <a:t>TESTE - avaliação</a:t>
            </a:r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668542-6AC1-0DC2-266B-1EB397331557}"/>
              </a:ext>
            </a:extLst>
          </p:cNvPr>
          <p:cNvSpPr txBox="1"/>
          <p:nvPr/>
        </p:nvSpPr>
        <p:spPr>
          <a:xfrm>
            <a:off x="2255044" y="3705476"/>
            <a:ext cx="76819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/>
              <a:t>E então, qual foi sua pontuação???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7C8FC0-58B3-70F0-6714-D160766A3DD9}"/>
              </a:ext>
            </a:extLst>
          </p:cNvPr>
          <p:cNvSpPr txBox="1"/>
          <p:nvPr/>
        </p:nvSpPr>
        <p:spPr>
          <a:xfrm>
            <a:off x="317089" y="1663245"/>
            <a:ext cx="116069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É claro que um conjunto de </a:t>
            </a:r>
            <a:r>
              <a:rPr lang="en-US" sz="2400" dirty="0" err="1"/>
              <a:t>casos</a:t>
            </a:r>
            <a:r>
              <a:rPr lang="en-US" sz="2400" dirty="0"/>
              <a:t> de teste que </a:t>
            </a:r>
            <a:r>
              <a:rPr lang="en-US" sz="2400" dirty="0" err="1"/>
              <a:t>satisfaça</a:t>
            </a:r>
            <a:r>
              <a:rPr lang="en-US" sz="2400" dirty="0"/>
              <a:t> </a:t>
            </a:r>
            <a:r>
              <a:rPr lang="en-US" sz="2400" dirty="0" err="1"/>
              <a:t>essas</a:t>
            </a:r>
            <a:r>
              <a:rPr lang="en-US" sz="2400" dirty="0"/>
              <a:t> </a:t>
            </a:r>
            <a:r>
              <a:rPr lang="en-US" sz="2400" dirty="0" err="1"/>
              <a:t>condições</a:t>
            </a:r>
            <a:r>
              <a:rPr lang="en-US" sz="2400" dirty="0"/>
              <a:t> </a:t>
            </a:r>
            <a:r>
              <a:rPr lang="en-US" sz="2400" u="sng" dirty="0" err="1"/>
              <a:t>não</a:t>
            </a:r>
            <a:r>
              <a:rPr lang="en-US" sz="2400" u="sng" dirty="0"/>
              <a:t> </a:t>
            </a:r>
            <a:r>
              <a:rPr lang="en-US" sz="2400" u="sng" dirty="0" err="1"/>
              <a:t>garante</a:t>
            </a:r>
            <a:r>
              <a:rPr lang="en-US" sz="2400" u="sng" dirty="0"/>
              <a:t> que </a:t>
            </a:r>
            <a:r>
              <a:rPr lang="en-US" sz="2400" u="sng" dirty="0" err="1"/>
              <a:t>você</a:t>
            </a:r>
            <a:r>
              <a:rPr lang="en-US" sz="2400" u="sng" dirty="0"/>
              <a:t> </a:t>
            </a:r>
            <a:r>
              <a:rPr lang="en-US" sz="2400" u="sng" dirty="0" err="1"/>
              <a:t>encontrará</a:t>
            </a:r>
            <a:r>
              <a:rPr lang="en-US" sz="2400" u="sng" dirty="0"/>
              <a:t> </a:t>
            </a:r>
            <a:r>
              <a:rPr lang="en-US" sz="2400" u="sng" dirty="0" err="1"/>
              <a:t>todos</a:t>
            </a:r>
            <a:r>
              <a:rPr lang="en-US" sz="2400" u="sng" dirty="0"/>
              <a:t> </a:t>
            </a:r>
            <a:r>
              <a:rPr lang="en-US" sz="2400" u="sng" dirty="0" err="1"/>
              <a:t>os</a:t>
            </a:r>
            <a:r>
              <a:rPr lang="en-US" sz="2400" u="sng" dirty="0"/>
              <a:t> </a:t>
            </a:r>
            <a:r>
              <a:rPr lang="en-US" sz="2400" u="sng" dirty="0" err="1"/>
              <a:t>erros</a:t>
            </a:r>
            <a:r>
              <a:rPr lang="en-US" sz="2400" u="sng" dirty="0"/>
              <a:t> </a:t>
            </a:r>
            <a:r>
              <a:rPr lang="en-US" sz="2400" u="sng" dirty="0" err="1"/>
              <a:t>possíveis</a:t>
            </a:r>
            <a:r>
              <a:rPr lang="en-US" sz="2400" dirty="0"/>
              <a:t>!</a:t>
            </a:r>
          </a:p>
          <a:p>
            <a:r>
              <a:rPr lang="en-US" sz="2400" dirty="0" err="1"/>
              <a:t>Entretanto</a:t>
            </a:r>
            <a:r>
              <a:rPr lang="en-US" sz="2400" dirty="0"/>
              <a:t>, as </a:t>
            </a:r>
            <a:r>
              <a:rPr lang="en-US" sz="2400" dirty="0" err="1"/>
              <a:t>questões</a:t>
            </a:r>
            <a:r>
              <a:rPr lang="en-US" sz="2400" dirty="0"/>
              <a:t> de 1 a 13 </a:t>
            </a:r>
            <a:r>
              <a:rPr lang="en-US" sz="2400" dirty="0" err="1"/>
              <a:t>representam</a:t>
            </a:r>
            <a:r>
              <a:rPr lang="en-US" sz="2400" dirty="0"/>
              <a:t> </a:t>
            </a:r>
            <a:r>
              <a:rPr lang="en-US" sz="2400" b="1" u="sng" dirty="0" err="1"/>
              <a:t>erros</a:t>
            </a:r>
            <a:r>
              <a:rPr lang="en-US" sz="2400" b="1" u="sng" dirty="0"/>
              <a:t> que </a:t>
            </a:r>
            <a:r>
              <a:rPr lang="en-US" sz="2400" b="1" u="sng" dirty="0" err="1"/>
              <a:t>realmente</a:t>
            </a:r>
            <a:r>
              <a:rPr lang="en-US" sz="2400" b="1" u="sng" dirty="0"/>
              <a:t> </a:t>
            </a:r>
            <a:r>
              <a:rPr lang="en-US" sz="2400" b="1" u="sng" dirty="0" err="1"/>
              <a:t>ocorreram</a:t>
            </a:r>
            <a:r>
              <a:rPr lang="en-US" sz="2400" b="1" u="sng" dirty="0"/>
              <a:t> </a:t>
            </a:r>
            <a:r>
              <a:rPr lang="en-US" sz="2400" b="1" u="sng" dirty="0" err="1"/>
              <a:t>em</a:t>
            </a:r>
            <a:r>
              <a:rPr lang="en-US" sz="2400" b="1" u="sng" dirty="0"/>
              <a:t> </a:t>
            </a:r>
            <a:r>
              <a:rPr lang="en-US" sz="2400" b="1" u="sng" dirty="0" err="1"/>
              <a:t>diferentes</a:t>
            </a:r>
            <a:r>
              <a:rPr lang="en-US" sz="2400" b="1" u="sng" dirty="0"/>
              <a:t> </a:t>
            </a:r>
            <a:r>
              <a:rPr lang="en-US" sz="2400" b="1" u="sng" dirty="0" err="1"/>
              <a:t>versões</a:t>
            </a:r>
            <a:r>
              <a:rPr lang="en-US" sz="2400" b="1" u="sng" dirty="0"/>
              <a:t> </a:t>
            </a:r>
            <a:r>
              <a:rPr lang="en-US" sz="2400" b="1" u="sng" dirty="0" err="1"/>
              <a:t>deste</a:t>
            </a:r>
            <a:r>
              <a:rPr lang="en-US" sz="2400" b="1" u="sng" dirty="0"/>
              <a:t> </a:t>
            </a:r>
            <a:r>
              <a:rPr lang="en-US" sz="2400" b="1" u="sng" dirty="0" err="1"/>
              <a:t>programa</a:t>
            </a:r>
            <a:r>
              <a:rPr lang="en-US" sz="2400" dirty="0"/>
              <a:t>, um teste </a:t>
            </a:r>
            <a:r>
              <a:rPr lang="en-US" sz="2400" dirty="0" err="1"/>
              <a:t>adequado</a:t>
            </a:r>
            <a:r>
              <a:rPr lang="en-US" sz="2400" dirty="0"/>
              <a:t> </a:t>
            </a:r>
            <a:r>
              <a:rPr lang="en-US" sz="2400" dirty="0" err="1"/>
              <a:t>deste</a:t>
            </a:r>
            <a:r>
              <a:rPr lang="en-US" sz="2400" dirty="0"/>
              <a:t> </a:t>
            </a:r>
            <a:r>
              <a:rPr lang="en-US" sz="2400" dirty="0" err="1"/>
              <a:t>programa</a:t>
            </a:r>
            <a:r>
              <a:rPr lang="en-US" sz="2400" dirty="0"/>
              <a:t> </a:t>
            </a:r>
            <a:r>
              <a:rPr lang="en-US" sz="2400" dirty="0" err="1"/>
              <a:t>deve</a:t>
            </a:r>
            <a:r>
              <a:rPr lang="en-US" sz="2400" dirty="0"/>
              <a:t> </a:t>
            </a:r>
            <a:r>
              <a:rPr lang="en-US" sz="2400" dirty="0" err="1"/>
              <a:t>expor</a:t>
            </a:r>
            <a:r>
              <a:rPr lang="en-US" sz="2400" dirty="0"/>
              <a:t> </a:t>
            </a:r>
            <a:r>
              <a:rPr lang="en-US" sz="2400" dirty="0" err="1"/>
              <a:t>pelo</a:t>
            </a:r>
            <a:r>
              <a:rPr lang="en-US" sz="2400" dirty="0"/>
              <a:t> </a:t>
            </a:r>
            <a:r>
              <a:rPr lang="en-US" sz="2400" dirty="0" err="1"/>
              <a:t>menos</a:t>
            </a:r>
            <a:r>
              <a:rPr lang="en-US" sz="2400" dirty="0"/>
              <a:t> esses </a:t>
            </a:r>
            <a:r>
              <a:rPr lang="en-US" sz="2400" dirty="0" err="1"/>
              <a:t>erros</a:t>
            </a:r>
            <a:r>
              <a:rPr lang="en-US" sz="24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FDCAC9-4151-AF6E-167D-27DA9E5B44D8}"/>
              </a:ext>
            </a:extLst>
          </p:cNvPr>
          <p:cNvSpPr txBox="1"/>
          <p:nvPr/>
        </p:nvSpPr>
        <p:spPr>
          <a:xfrm>
            <a:off x="317089" y="4650728"/>
            <a:ext cx="116069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/>
              <a:t>Programadores profissionais altamente qualificados pontuam, em média, apenas </a:t>
            </a:r>
            <a:r>
              <a:rPr lang="pt-BR" sz="2800" b="1" dirty="0"/>
              <a:t>7,8/14</a:t>
            </a:r>
            <a:r>
              <a:rPr lang="pt-BR" sz="2800" dirty="0"/>
              <a:t>.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7BD49F-E1A6-F03E-D9B5-0B8638A3B13F}"/>
              </a:ext>
            </a:extLst>
          </p:cNvPr>
          <p:cNvSpPr txBox="1"/>
          <p:nvPr/>
        </p:nvSpPr>
        <p:spPr>
          <a:xfrm>
            <a:off x="290052" y="5461853"/>
            <a:ext cx="62016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i="1" dirty="0">
                <a:solidFill>
                  <a:srgbClr val="002060"/>
                </a:solidFill>
              </a:rPr>
              <a:t>[The </a:t>
            </a:r>
            <a:r>
              <a:rPr lang="pt-BR" sz="1400" b="1" i="1" dirty="0" err="1">
                <a:solidFill>
                  <a:srgbClr val="002060"/>
                </a:solidFill>
              </a:rPr>
              <a:t>Art</a:t>
            </a:r>
            <a:r>
              <a:rPr lang="pt-BR" sz="1400" b="1" i="1" dirty="0">
                <a:solidFill>
                  <a:srgbClr val="002060"/>
                </a:solidFill>
              </a:rPr>
              <a:t> </a:t>
            </a:r>
            <a:r>
              <a:rPr lang="pt-BR" sz="1400" b="1" i="1" dirty="0" err="1">
                <a:solidFill>
                  <a:srgbClr val="002060"/>
                </a:solidFill>
              </a:rPr>
              <a:t>of</a:t>
            </a:r>
            <a:r>
              <a:rPr lang="pt-BR" sz="1400" b="1" i="1" dirty="0">
                <a:solidFill>
                  <a:srgbClr val="002060"/>
                </a:solidFill>
              </a:rPr>
              <a:t> Software </a:t>
            </a:r>
            <a:r>
              <a:rPr lang="pt-BR" sz="1400" b="1" i="1" dirty="0" err="1">
                <a:solidFill>
                  <a:srgbClr val="002060"/>
                </a:solidFill>
              </a:rPr>
              <a:t>Testing</a:t>
            </a:r>
            <a:r>
              <a:rPr lang="pt-BR" sz="1400" b="1" i="1" dirty="0">
                <a:solidFill>
                  <a:srgbClr val="002060"/>
                </a:solidFill>
              </a:rPr>
              <a:t>]</a:t>
            </a:r>
            <a:endParaRPr lang="en-US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1061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A47A8879-7B91-B277-348C-6035EB485C63}"/>
              </a:ext>
            </a:extLst>
          </p:cNvPr>
          <p:cNvSpPr txBox="1"/>
          <p:nvPr/>
        </p:nvSpPr>
        <p:spPr>
          <a:xfrm>
            <a:off x="288822" y="1094702"/>
            <a:ext cx="1161435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pt-BR" sz="2800" dirty="0"/>
              <a:t>O objetivo do teste que fizemos é ilustrar que testar um programa trivial como este já não é uma tarefa fácil.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pt-BR" sz="2800" dirty="0"/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pt-BR" sz="2800" dirty="0"/>
              <a:t>Dado que isto é verdade, imaginemos a dificuldade de testar um sistema de controle de tráfego aéreo com 100.000 requisitos, um compilador ou mesmo um programa de folha de pagamento.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31DB6-FF2C-DC22-D2D4-C96D297C509B}"/>
              </a:ext>
            </a:extLst>
          </p:cNvPr>
          <p:cNvSpPr txBox="1"/>
          <p:nvPr/>
        </p:nvSpPr>
        <p:spPr>
          <a:xfrm>
            <a:off x="288822" y="3989804"/>
            <a:ext cx="1161435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pt-BR" sz="2800" dirty="0"/>
              <a:t>Ao trabalhar com este exemplo, pode parecer assustador testar minuciosamente um programa complexo do mundo real. </a:t>
            </a:r>
          </a:p>
          <a:p>
            <a:endParaRPr lang="pt-BR" sz="2800" dirty="0"/>
          </a:p>
          <a:p>
            <a:r>
              <a:rPr lang="pt-BR" sz="2800" dirty="0"/>
              <a:t>Embora a tarefa possa ser assustadora, o teste adequado de programas é uma parte </a:t>
            </a:r>
            <a:r>
              <a:rPr lang="pt-BR" sz="2800" b="1" u="sng" dirty="0"/>
              <a:t>muito necessária</a:t>
            </a:r>
            <a:r>
              <a:rPr lang="pt-BR" sz="2800" b="1" dirty="0"/>
              <a:t> </a:t>
            </a:r>
            <a:r>
              <a:rPr lang="pt-BR" sz="2800" dirty="0"/>
              <a:t>— </a:t>
            </a:r>
            <a:r>
              <a:rPr lang="pt-BR" sz="2800" b="1" dirty="0"/>
              <a:t>e alcançável</a:t>
            </a:r>
            <a:r>
              <a:rPr lang="pt-BR" sz="2800" dirty="0"/>
              <a:t> — do desenvolvimento de software, como veremos nesta disciplina.</a:t>
            </a:r>
          </a:p>
        </p:txBody>
      </p:sp>
    </p:spTree>
    <p:extLst>
      <p:ext uri="{BB962C8B-B14F-4D97-AF65-F5344CB8AC3E}">
        <p14:creationId xmlns:p14="http://schemas.microsoft.com/office/powerpoint/2010/main" val="3750624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DE UNIDADE – </a:t>
            </a:r>
            <a:r>
              <a:rPr lang="en-US" sz="2800" b="1" i="1" dirty="0">
                <a:solidFill>
                  <a:schemeClr val="bg1"/>
                </a:solidFill>
              </a:rPr>
              <a:t>UNIT TESTING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486176" y="1286057"/>
            <a:ext cx="110699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Consiste em chamar uma função ou método de uma classe (</a:t>
            </a:r>
            <a:r>
              <a:rPr lang="pt-BR" sz="2600" i="1" dirty="0" err="1"/>
              <a:t>unit</a:t>
            </a:r>
            <a:r>
              <a:rPr lang="pt-BR" sz="2600" dirty="0"/>
              <a:t>) e executá-la com um conjunto de parâmetros conhecidos.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O resultado é então comparado com o resultado esperado.</a:t>
            </a:r>
          </a:p>
        </p:txBody>
      </p:sp>
    </p:spTree>
    <p:extLst>
      <p:ext uri="{BB962C8B-B14F-4D97-AF65-F5344CB8AC3E}">
        <p14:creationId xmlns:p14="http://schemas.microsoft.com/office/powerpoint/2010/main" val="7782270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NOÇÕES BÁSICAS DE TESTE DE UNIDADE – </a:t>
            </a:r>
            <a:r>
              <a:rPr lang="en-US" sz="2800" b="1" i="1" dirty="0">
                <a:solidFill>
                  <a:schemeClr val="bg1"/>
                </a:solidFill>
              </a:rPr>
              <a:t>FOO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17709" y="1175699"/>
            <a:ext cx="1103841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Se essa expressão </a:t>
            </a:r>
            <a:r>
              <a:rPr lang="pt-BR" sz="2600" i="1">
                <a:solidFill>
                  <a:schemeClr val="accent4">
                    <a:lumMod val="75000"/>
                  </a:schemeClr>
                </a:solidFill>
              </a:rPr>
              <a:t>assert</a:t>
            </a:r>
            <a:r>
              <a:rPr lang="pt-BR" sz="2600"/>
              <a:t> for avaliada como 0, isso causará uma falha (</a:t>
            </a:r>
            <a:r>
              <a:rPr lang="pt-BR" sz="2600" i="1">
                <a:solidFill>
                  <a:schemeClr val="accent4">
                    <a:lumMod val="75000"/>
                  </a:schemeClr>
                </a:solidFill>
              </a:rPr>
              <a:t>assertion failure</a:t>
            </a:r>
            <a:r>
              <a:rPr lang="pt-BR" sz="2600"/>
              <a:t>) que encerrará o programa.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B5E1FD-800A-2F47-88FE-A154DD632C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569" y="2409503"/>
            <a:ext cx="8451225" cy="3648112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03877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ATRIBUTOS DOS TESTES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450315" y="1142621"/>
            <a:ext cx="11239659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dirty="0"/>
              <a:t>Segundo o livro, os testes devem ser </a:t>
            </a:r>
            <a:r>
              <a:rPr lang="pt-BR" sz="2400" b="1" dirty="0">
                <a:solidFill>
                  <a:srgbClr val="FF0000"/>
                </a:solidFill>
              </a:rPr>
              <a:t>FIRST</a:t>
            </a:r>
            <a:r>
              <a:rPr lang="pt-BR" sz="2400" dirty="0"/>
              <a:t>: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b="1" dirty="0">
                <a:solidFill>
                  <a:srgbClr val="FF0000"/>
                </a:solidFill>
              </a:rPr>
              <a:t>F</a:t>
            </a:r>
            <a:r>
              <a:rPr lang="pt-BR" sz="2200" dirty="0">
                <a:solidFill>
                  <a:schemeClr val="accent4">
                    <a:lumMod val="75000"/>
                  </a:schemeClr>
                </a:solidFill>
              </a:rPr>
              <a:t>ast</a:t>
            </a:r>
            <a:r>
              <a:rPr lang="pt-BR" sz="2200" dirty="0"/>
              <a:t>: Os testes devem ser rápidos, rápidos o suficiente para que os desenvolvedores os executem em cada pequena alteração, sem esperar a fim de não interromperem o fluxo do projeto.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b="1" dirty="0" err="1">
                <a:solidFill>
                  <a:srgbClr val="FF0000"/>
                </a:solidFill>
              </a:rPr>
              <a:t>I</a:t>
            </a:r>
            <a:r>
              <a:rPr lang="pt-BR" sz="2200" dirty="0" err="1">
                <a:solidFill>
                  <a:schemeClr val="accent4">
                    <a:lumMod val="75000"/>
                  </a:schemeClr>
                </a:solidFill>
              </a:rPr>
              <a:t>solated</a:t>
            </a:r>
            <a:r>
              <a:rPr lang="pt-BR" sz="2200" dirty="0"/>
              <a:t>: Os testes devem ser isolados. Um teste não deve impactar o próximo teste. Os testes também isolam as falhas.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b="1" dirty="0" err="1">
                <a:solidFill>
                  <a:srgbClr val="FF0000"/>
                </a:solidFill>
              </a:rPr>
              <a:t>R</a:t>
            </a:r>
            <a:r>
              <a:rPr lang="pt-BR" sz="2200" dirty="0" err="1">
                <a:solidFill>
                  <a:schemeClr val="accent4">
                    <a:lumMod val="75000"/>
                  </a:schemeClr>
                </a:solidFill>
              </a:rPr>
              <a:t>epeatable</a:t>
            </a:r>
            <a:r>
              <a:rPr lang="pt-BR" sz="2200" dirty="0"/>
              <a:t>: Os testes são repetíveis, repetível significa automatizado. Os testes são executados em um loop sempre dando o mesmo resultado.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b="1" dirty="0">
                <a:solidFill>
                  <a:srgbClr val="FF0000"/>
                </a:solidFill>
              </a:rPr>
              <a:t>S</a:t>
            </a:r>
            <a:r>
              <a:rPr lang="pt-BR" sz="2200" dirty="0">
                <a:solidFill>
                  <a:schemeClr val="accent4">
                    <a:lumMod val="75000"/>
                  </a:schemeClr>
                </a:solidFill>
              </a:rPr>
              <a:t>elf-</a:t>
            </a:r>
            <a:r>
              <a:rPr lang="pt-BR" sz="2200" dirty="0" err="1">
                <a:solidFill>
                  <a:schemeClr val="accent4">
                    <a:lumMod val="75000"/>
                  </a:schemeClr>
                </a:solidFill>
              </a:rPr>
              <a:t>verifying</a:t>
            </a:r>
            <a:r>
              <a:rPr lang="pt-BR" sz="2200" dirty="0"/>
              <a:t>: Os testes verificam seus resultados, relatando um simples "</a:t>
            </a:r>
            <a:r>
              <a:rPr lang="pt-BR" sz="2200" i="1" dirty="0"/>
              <a:t>OK</a:t>
            </a:r>
            <a:r>
              <a:rPr lang="pt-BR" sz="2200" dirty="0"/>
              <a:t>" quando são aprovados, enquanto fornecem detalhes concisos quando eles falham.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b="1" dirty="0" err="1">
                <a:solidFill>
                  <a:srgbClr val="FF0000"/>
                </a:solidFill>
              </a:rPr>
              <a:t>T</a:t>
            </a:r>
            <a:r>
              <a:rPr lang="pt-BR" sz="2200" dirty="0" err="1">
                <a:solidFill>
                  <a:schemeClr val="accent4">
                    <a:lumMod val="75000"/>
                  </a:schemeClr>
                </a:solidFill>
              </a:rPr>
              <a:t>imely</a:t>
            </a:r>
            <a:r>
              <a:rPr lang="pt-BR" sz="2200" dirty="0"/>
              <a:t>: Os testes são feitos a tempo. Os programadores escrevem os testes em uma etapa diferente, isto é, normalmente ele é escrito um pouco antes do código de produção, evitando bugs.</a:t>
            </a:r>
          </a:p>
        </p:txBody>
      </p:sp>
    </p:spTree>
    <p:extLst>
      <p:ext uri="{BB962C8B-B14F-4D97-AF65-F5344CB8AC3E}">
        <p14:creationId xmlns:p14="http://schemas.microsoft.com/office/powerpoint/2010/main" val="1638565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3181"/>
            <a:ext cx="86452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DESENVOLVIMENTO ORIENTADO A TESTES</a:t>
            </a:r>
          </a:p>
          <a:p>
            <a:pPr algn="r"/>
            <a:r>
              <a:rPr lang="en-US" sz="2400" b="1" dirty="0">
                <a:solidFill>
                  <a:schemeClr val="bg1"/>
                </a:solidFill>
              </a:rPr>
              <a:t>(</a:t>
            </a:r>
            <a:r>
              <a:rPr lang="en-US" sz="2400" b="1" i="1" dirty="0">
                <a:solidFill>
                  <a:schemeClr val="bg1"/>
                </a:solidFill>
              </a:rPr>
              <a:t>Test-Driven Development</a:t>
            </a:r>
            <a:r>
              <a:rPr lang="en-US" sz="2400" b="1" dirty="0">
                <a:solidFill>
                  <a:schemeClr val="bg1"/>
                </a:solidFill>
              </a:rPr>
              <a:t>)</a:t>
            </a:r>
            <a:endParaRPr lang="pt-BR" sz="24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486176" y="1286057"/>
            <a:ext cx="11069947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É uma técnica para desenvolvimento de software incremental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u="sng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u="sng"/>
              <a:t>Filosofia: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u="sng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400"/>
              <a:t>Desenvolva o teste antes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60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400"/>
              <a:t>Execute o teste, gerando falhas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60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400"/>
              <a:t>Só depois desenvolva o código até que os testes passem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60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400"/>
              <a:t>Repita o processo para novas funcionalidades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O teste representa o comportamento desejado do código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A cada mudança no código, execute novamente os testes</a:t>
            </a:r>
          </a:p>
        </p:txBody>
      </p:sp>
    </p:spTree>
    <p:extLst>
      <p:ext uri="{BB962C8B-B14F-4D97-AF65-F5344CB8AC3E}">
        <p14:creationId xmlns:p14="http://schemas.microsoft.com/office/powerpoint/2010/main" val="3891735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3F3F7D-30D5-4746-A917-E7033A7149EE}"/>
              </a:ext>
            </a:extLst>
          </p:cNvPr>
          <p:cNvSpPr txBox="1"/>
          <p:nvPr/>
        </p:nvSpPr>
        <p:spPr>
          <a:xfrm>
            <a:off x="724662" y="1719622"/>
            <a:ext cx="10165842" cy="3418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000000"/>
                </a:solidFill>
                <a:latin typeface="CMSS10"/>
              </a:rPr>
              <a:t>A chave é começar pequeno. Testes simples.
Aumente seu código lentamente.
Só torne seu código mais complexo se os testes exigirem isso. 
Pense em uma boa sequência de testes</a:t>
            </a:r>
            <a:endParaRPr lang="pt-BR" sz="2800" dirty="0"/>
          </a:p>
        </p:txBody>
      </p:sp>
      <p:sp>
        <p:nvSpPr>
          <p:cNvPr id="4" name="CaixaDeTexto 4">
            <a:extLst>
              <a:ext uri="{FF2B5EF4-FFF2-40B4-BE49-F238E27FC236}">
                <a16:creationId xmlns:a16="http://schemas.microsoft.com/office/drawing/2014/main" id="{0086302B-8A7D-40FC-B668-13CEF126CE6E}"/>
              </a:ext>
            </a:extLst>
          </p:cNvPr>
          <p:cNvSpPr txBox="1"/>
          <p:nvPr/>
        </p:nvSpPr>
        <p:spPr>
          <a:xfrm>
            <a:off x="3325091" y="3181"/>
            <a:ext cx="86452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DESENVOLVIMENTO ORIENTADO A TESTES</a:t>
            </a:r>
          </a:p>
          <a:p>
            <a:pPr algn="r"/>
            <a:r>
              <a:rPr lang="en-US" sz="2400" b="1" dirty="0">
                <a:solidFill>
                  <a:schemeClr val="bg1"/>
                </a:solidFill>
              </a:rPr>
              <a:t>(</a:t>
            </a:r>
            <a:r>
              <a:rPr lang="en-US" sz="2400" b="1" i="1" dirty="0">
                <a:solidFill>
                  <a:schemeClr val="bg1"/>
                </a:solidFill>
              </a:rPr>
              <a:t>Test-Driven Development</a:t>
            </a:r>
            <a:r>
              <a:rPr lang="en-US" sz="2400" b="1" dirty="0">
                <a:solidFill>
                  <a:schemeClr val="bg1"/>
                </a:solidFill>
              </a:rPr>
              <a:t>)</a:t>
            </a:r>
            <a:endParaRPr lang="pt-BR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7187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3181"/>
            <a:ext cx="86452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DESENVOLVIMENTO ORIENTADO A TESTES</a:t>
            </a:r>
          </a:p>
          <a:p>
            <a:pPr algn="r"/>
            <a:r>
              <a:rPr lang="en-US" sz="2400" b="1" dirty="0">
                <a:solidFill>
                  <a:schemeClr val="bg1"/>
                </a:solidFill>
              </a:rPr>
              <a:t>(</a:t>
            </a:r>
            <a:r>
              <a:rPr lang="en-US" sz="2400" b="1" i="1" dirty="0">
                <a:solidFill>
                  <a:schemeClr val="bg1"/>
                </a:solidFill>
              </a:rPr>
              <a:t>Test-Driven Development</a:t>
            </a:r>
            <a:r>
              <a:rPr lang="en-US" sz="2400" b="1" dirty="0">
                <a:solidFill>
                  <a:schemeClr val="bg1"/>
                </a:solidFill>
              </a:rPr>
              <a:t>)</a:t>
            </a:r>
            <a:endParaRPr lang="pt-BR" sz="24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6730EA-C153-D346-A156-DDBF43A25408}"/>
              </a:ext>
            </a:extLst>
          </p:cNvPr>
          <p:cNvSpPr txBox="1"/>
          <p:nvPr/>
        </p:nvSpPr>
        <p:spPr>
          <a:xfrm>
            <a:off x="444271" y="115815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Máquina de Estados do TDD:</a:t>
            </a:r>
            <a:endParaRPr lang="pt-BR" sz="240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9A1C86B-37B3-4D86-71F8-9820FCB60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0931" y="1866255"/>
            <a:ext cx="5890137" cy="4622305"/>
          </a:xfrm>
          <a:prstGeom prst="rect">
            <a:avLst/>
          </a:prstGeom>
          <a:noFill/>
          <a:ln w="38100">
            <a:solidFill>
              <a:schemeClr val="accent4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607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2333297" y="181183"/>
            <a:ext cx="96370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i="1" dirty="0">
                <a:solidFill>
                  <a:schemeClr val="bg1"/>
                </a:solidFill>
              </a:rPr>
              <a:t>FRAMEWORK</a:t>
            </a:r>
            <a:r>
              <a:rPr lang="en-US" sz="2400" b="1" dirty="0">
                <a:solidFill>
                  <a:schemeClr val="bg1"/>
                </a:solidFill>
              </a:rPr>
              <a:t> PARA TESTE DE UNIDADE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486176" y="1286057"/>
            <a:ext cx="1106994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É um software que permite o programador expressar o comportamento dos testes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u="sng" dirty="0"/>
              <a:t>Deve possuir: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800" dirty="0"/>
              <a:t>Uma linguagem para descrever os testes e valores esperados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7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800" dirty="0"/>
              <a:t>Mecanismo para executar os testes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7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800" dirty="0"/>
              <a:t>Relatórios dos teste</a:t>
            </a:r>
          </a:p>
        </p:txBody>
      </p:sp>
    </p:spTree>
    <p:extLst>
      <p:ext uri="{BB962C8B-B14F-4D97-AF65-F5344CB8AC3E}">
        <p14:creationId xmlns:p14="http://schemas.microsoft.com/office/powerpoint/2010/main" val="1256907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253400"/>
            <a:ext cx="1106994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Framework para Teste de Unidade em C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>
                <a:hlinkClick r:id="rId3"/>
              </a:rPr>
              <a:t>https://github.com/ThrowTheSwitch/Unity</a:t>
            </a:r>
            <a:endParaRPr lang="pt-BR" sz="2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u="sng" dirty="0"/>
              <a:t>Motivação: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Pouca dependência de bibliotecas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Pode ser utilizado para testar Sistemas Embarcados - </a:t>
            </a:r>
            <a:r>
              <a:rPr lang="pt-BR" sz="2400" b="1" dirty="0" err="1"/>
              <a:t>Baremetal</a:t>
            </a:r>
            <a:r>
              <a:rPr lang="pt-BR" sz="2400" dirty="0"/>
              <a:t>, isto é (</a:t>
            </a:r>
            <a:r>
              <a:rPr lang="pt-BR" sz="2400" i="1" dirty="0"/>
              <a:t>sem OS</a:t>
            </a:r>
            <a:r>
              <a:rPr lang="pt-BR" sz="2400" dirty="0"/>
              <a:t>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Livro: James W. </a:t>
            </a:r>
            <a:r>
              <a:rPr lang="pt-BR" sz="2600" dirty="0" err="1"/>
              <a:t>Grenning</a:t>
            </a:r>
            <a:r>
              <a:rPr lang="pt-BR" sz="2600" dirty="0"/>
              <a:t>. </a:t>
            </a:r>
            <a:r>
              <a:rPr lang="pt-BR" sz="2600" b="1" i="1" dirty="0"/>
              <a:t>Test-</a:t>
            </a:r>
            <a:r>
              <a:rPr lang="pt-BR" sz="2600" b="1" i="1" dirty="0" err="1"/>
              <a:t>Driven</a:t>
            </a:r>
            <a:r>
              <a:rPr lang="pt-BR" sz="2600" b="1" i="1" dirty="0"/>
              <a:t> </a:t>
            </a:r>
            <a:r>
              <a:rPr lang="pt-BR" sz="2600" b="1" i="1" dirty="0" err="1"/>
              <a:t>Development</a:t>
            </a:r>
            <a:r>
              <a:rPr lang="pt-BR" sz="2600" b="1" i="1" dirty="0"/>
              <a:t> for </a:t>
            </a:r>
            <a:r>
              <a:rPr lang="pt-BR" sz="2600" b="1" i="1" dirty="0" err="1"/>
              <a:t>Embedded</a:t>
            </a:r>
            <a:r>
              <a:rPr lang="pt-BR" sz="2600" b="1" i="1" dirty="0"/>
              <a:t> C</a:t>
            </a:r>
            <a:r>
              <a:rPr lang="pt-BR" sz="2600" dirty="0"/>
              <a:t>. 2011.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Capítulo 3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u="sng" dirty="0"/>
              <a:t>Fonte:</a:t>
            </a:r>
            <a:r>
              <a:rPr lang="pt-BR" sz="2400" dirty="0"/>
              <a:t> </a:t>
            </a:r>
            <a:r>
              <a:rPr lang="pt-BR" sz="2400" dirty="0">
                <a:hlinkClick r:id="rId4"/>
              </a:rPr>
              <a:t>https://pragprog.com/titles/jgade/source_code</a:t>
            </a:r>
            <a:endParaRPr lang="pt-BR" sz="2400" dirty="0"/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i="1" dirty="0">
                <a:solidFill>
                  <a:schemeClr val="bg1"/>
                </a:solidFill>
              </a:rPr>
              <a:t>UNITY</a:t>
            </a:r>
            <a:endParaRPr lang="pt-BR" sz="28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4186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DEBF-30BE-8F8B-0CEF-0F02544D7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FB8214-20D1-6D45-1AB2-19C980F4C158}"/>
              </a:ext>
            </a:extLst>
          </p:cNvPr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45656A-9AB9-FA93-B8FD-BCDC87A54151}"/>
              </a:ext>
            </a:extLst>
          </p:cNvPr>
          <p:cNvSpPr txBox="1"/>
          <p:nvPr/>
        </p:nvSpPr>
        <p:spPr>
          <a:xfrm>
            <a:off x="520471" y="1234350"/>
            <a:ext cx="11069947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Abra o terminal e vá para o diretório onde você vai guardar o projeto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u="sng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u="sng" dirty="0"/>
              <a:t>Execute: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u="sng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 err="1"/>
              <a:t>git</a:t>
            </a:r>
            <a:r>
              <a:rPr lang="pt-BR" sz="2600" dirty="0"/>
              <a:t> clone </a:t>
            </a:r>
            <a:r>
              <a:rPr lang="pt-BR" sz="2600" dirty="0">
                <a:hlinkClick r:id="rId3"/>
              </a:rPr>
              <a:t>https://github.com/iacanaw/Unity.git</a:t>
            </a: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 err="1"/>
              <a:t>cd</a:t>
            </a:r>
            <a:r>
              <a:rPr lang="pt-BR" sz="2600" dirty="0"/>
              <a:t> Unity/</a:t>
            </a:r>
            <a:r>
              <a:rPr lang="pt-BR" sz="2600" dirty="0" err="1"/>
              <a:t>examples</a:t>
            </a:r>
            <a:r>
              <a:rPr lang="pt-BR" sz="2600" dirty="0"/>
              <a:t>/</a:t>
            </a:r>
            <a:r>
              <a:rPr lang="pt-BR" sz="2600" dirty="0" err="1"/>
              <a:t>foo</a:t>
            </a: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make </a:t>
            </a:r>
            <a:r>
              <a:rPr lang="pt-BR" sz="2600" dirty="0" err="1"/>
              <a:t>all</a:t>
            </a:r>
            <a:endParaRPr lang="pt-BR" sz="2600" dirty="0"/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49DA240A-7F54-1B31-87EF-6F058EBBA1E9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DO TESTE DO </a:t>
            </a:r>
            <a:r>
              <a:rPr lang="en-US" sz="2800" b="1" i="1" dirty="0">
                <a:solidFill>
                  <a:schemeClr val="bg1"/>
                </a:solidFill>
              </a:rPr>
              <a:t>FOO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7252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159525" y="979954"/>
            <a:ext cx="1155176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400" b="1" dirty="0" err="1"/>
              <a:t>sprintf</a:t>
            </a:r>
            <a:endParaRPr lang="pt-BR" sz="2600" b="1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400" b="1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000" dirty="0"/>
              <a:t>Compõe uma </a:t>
            </a:r>
            <a:r>
              <a:rPr lang="pt-BR" sz="2000" dirty="0" err="1"/>
              <a:t>string</a:t>
            </a:r>
            <a:r>
              <a:rPr lang="pt-BR" sz="2000" dirty="0"/>
              <a:t> com o mesmo texto que seria impresso se fosse usado em </a:t>
            </a:r>
            <a:r>
              <a:rPr lang="pt-BR" sz="2000" dirty="0" err="1"/>
              <a:t>printf</a:t>
            </a:r>
            <a:r>
              <a:rPr lang="pt-BR" sz="2000" dirty="0"/>
              <a:t>, mas em vez de ser impresso, o conteúdo é armazenado como uma </a:t>
            </a:r>
            <a:r>
              <a:rPr lang="pt-BR" sz="2000" dirty="0" err="1"/>
              <a:t>string</a:t>
            </a:r>
            <a:r>
              <a:rPr lang="pt-BR" sz="2000" dirty="0"/>
              <a:t> C no buffer apontado pelo 1º argumento.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000" dirty="0"/>
              <a:t>Retorna o número de bytes que foi copiado para essa </a:t>
            </a:r>
            <a:r>
              <a:rPr lang="pt-BR" sz="2000" dirty="0" err="1"/>
              <a:t>string</a:t>
            </a:r>
            <a:r>
              <a:rPr lang="pt-BR" sz="2000" dirty="0"/>
              <a:t>!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970D5C-EF99-6042-BA90-8ECEC78E0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836" y="4061330"/>
            <a:ext cx="6897681" cy="1976861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D45D20-1B9F-D64D-8585-CDA17661F2E6}"/>
              </a:ext>
            </a:extLst>
          </p:cNvPr>
          <p:cNvSpPr txBox="1"/>
          <p:nvPr/>
        </p:nvSpPr>
        <p:spPr>
          <a:xfrm>
            <a:off x="165317" y="6328692"/>
            <a:ext cx="8108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</a:t>
            </a:r>
            <a:r>
              <a:rPr lang="pt-BR" sz="1600" dirty="0">
                <a:hlinkClick r:id="rId4"/>
              </a:rPr>
              <a:t>https://media.pragprog.com/titles/jgade/code/unity/stdio/SprintfTest.c</a:t>
            </a:r>
            <a:endParaRPr lang="pt-BR" sz="16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B8F61CF-0219-1E47-ADFA-8A0CB964C531}"/>
              </a:ext>
            </a:extLst>
          </p:cNvPr>
          <p:cNvSpPr/>
          <p:nvPr/>
        </p:nvSpPr>
        <p:spPr>
          <a:xfrm>
            <a:off x="165317" y="6344458"/>
            <a:ext cx="6645385" cy="322788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8B25E2-EE63-4948-A5B4-44A6AE74D588}"/>
              </a:ext>
            </a:extLst>
          </p:cNvPr>
          <p:cNvSpPr txBox="1"/>
          <p:nvPr/>
        </p:nvSpPr>
        <p:spPr>
          <a:xfrm>
            <a:off x="746836" y="2815484"/>
            <a:ext cx="48450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1600" dirty="0"/>
              <a:t>TEST (&lt;group-of-test&gt;, &lt;test-name&gt;)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4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1600" dirty="0"/>
              <a:t>TEST_ASSERT_EQUAL – </a:t>
            </a:r>
            <a:r>
              <a:rPr lang="en-US" sz="1600" dirty="0" err="1"/>
              <a:t>compara</a:t>
            </a:r>
            <a:r>
              <a:rPr lang="en-US" sz="1600" dirty="0"/>
              <a:t> 2 </a:t>
            </a:r>
            <a:r>
              <a:rPr lang="en-US" sz="1600" dirty="0" err="1"/>
              <a:t>inteiros</a:t>
            </a:r>
            <a:endParaRPr lang="en-US" sz="1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4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1600" dirty="0"/>
              <a:t>TEST_ASSERT_EQUAL_STRING – </a:t>
            </a:r>
            <a:r>
              <a:rPr lang="en-US" sz="1600" dirty="0" err="1"/>
              <a:t>compara</a:t>
            </a:r>
            <a:r>
              <a:rPr lang="en-US" sz="1600" dirty="0"/>
              <a:t> string C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5BCEC60-4D2B-154A-9274-A698B1320FCC}"/>
              </a:ext>
            </a:extLst>
          </p:cNvPr>
          <p:cNvSpPr/>
          <p:nvPr/>
        </p:nvSpPr>
        <p:spPr>
          <a:xfrm>
            <a:off x="746836" y="2779899"/>
            <a:ext cx="4660737" cy="1005458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675408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19625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E se sprintf usar mais de 12 bytes ?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31FE9D6-233A-5749-A53B-E4628F4B1BA4}"/>
              </a:ext>
            </a:extLst>
          </p:cNvPr>
          <p:cNvGrpSpPr/>
          <p:nvPr/>
        </p:nvGrpSpPr>
        <p:grpSpPr>
          <a:xfrm>
            <a:off x="758094" y="2451113"/>
            <a:ext cx="10670900" cy="2746820"/>
            <a:chOff x="558572" y="2419351"/>
            <a:chExt cx="10670900" cy="274682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8DA28EA-BD67-B74F-B748-D6D1FB52F177}"/>
                </a:ext>
              </a:extLst>
            </p:cNvPr>
            <p:cNvSpPr/>
            <p:nvPr/>
          </p:nvSpPr>
          <p:spPr>
            <a:xfrm>
              <a:off x="558572" y="2419351"/>
              <a:ext cx="10670900" cy="27468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A5DBB28-B49C-4A47-991D-F2C95828B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886" y="2505520"/>
              <a:ext cx="10426235" cy="262255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44251AF-4987-AA43-8523-A9C3AC52A761}"/>
              </a:ext>
            </a:extLst>
          </p:cNvPr>
          <p:cNvSpPr txBox="1"/>
          <p:nvPr/>
        </p:nvSpPr>
        <p:spPr>
          <a:xfrm>
            <a:off x="165317" y="6328692"/>
            <a:ext cx="8108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</a:t>
            </a:r>
            <a:r>
              <a:rPr lang="pt-BR" sz="1600" dirty="0">
                <a:hlinkClick r:id="rId4"/>
              </a:rPr>
              <a:t>https://media.pragprog.com/titles/jgade/code/unity/stdio/SprintfTest.c</a:t>
            </a:r>
            <a:endParaRPr lang="pt-BR" sz="1600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4FC21B4-C446-C348-8BDA-ADB5FC9FED0A}"/>
              </a:ext>
            </a:extLst>
          </p:cNvPr>
          <p:cNvSpPr/>
          <p:nvPr/>
        </p:nvSpPr>
        <p:spPr>
          <a:xfrm>
            <a:off x="165317" y="6329709"/>
            <a:ext cx="6645385" cy="322788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823840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838200" y="2138799"/>
            <a:ext cx="10210800" cy="3363934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19625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Esse teste verifica bytes após a string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FDBA11-A2B0-984A-B0C7-BB6C59FB01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761" y="2195949"/>
            <a:ext cx="9986565" cy="327303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355B268-4546-9D45-84B9-E4EFF79E0ADD}"/>
              </a:ext>
            </a:extLst>
          </p:cNvPr>
          <p:cNvGrpSpPr/>
          <p:nvPr/>
        </p:nvGrpSpPr>
        <p:grpSpPr>
          <a:xfrm>
            <a:off x="7078718" y="3177787"/>
            <a:ext cx="2530981" cy="584775"/>
            <a:chOff x="7078718" y="3177787"/>
            <a:chExt cx="2530981" cy="584775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563F81E-5133-BA4C-87C4-495468DA8A07}"/>
                </a:ext>
              </a:extLst>
            </p:cNvPr>
            <p:cNvSpPr txBox="1"/>
            <p:nvPr/>
          </p:nvSpPr>
          <p:spPr>
            <a:xfrm>
              <a:off x="7575948" y="3177787"/>
              <a:ext cx="203375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600" dirty="0" err="1">
                  <a:solidFill>
                    <a:srgbClr val="FF0000"/>
                  </a:solidFill>
                </a:rPr>
                <a:t>Copio</a:t>
              </a:r>
              <a:r>
                <a:rPr lang="en-US" sz="1600" dirty="0">
                  <a:solidFill>
                    <a:srgbClr val="FF0000"/>
                  </a:solidFill>
                </a:rPr>
                <a:t> 0xaa </a:t>
              </a:r>
              <a:r>
                <a:rPr lang="en-US" sz="1600" dirty="0" err="1">
                  <a:solidFill>
                    <a:srgbClr val="FF0000"/>
                  </a:solidFill>
                </a:rPr>
                <a:t>em</a:t>
              </a:r>
              <a:r>
                <a:rPr lang="en-US" sz="1600" dirty="0">
                  <a:solidFill>
                    <a:srgbClr val="FF0000"/>
                  </a:solidFill>
                </a:rPr>
                <a:t> </a:t>
              </a:r>
              <a:r>
                <a:rPr lang="en-US" sz="1600" dirty="0" err="1">
                  <a:solidFill>
                    <a:srgbClr val="FF0000"/>
                  </a:solidFill>
                </a:rPr>
                <a:t>todas</a:t>
              </a:r>
              <a:r>
                <a:rPr lang="en-US" sz="1600" dirty="0">
                  <a:solidFill>
                    <a:srgbClr val="FF0000"/>
                  </a:solidFill>
                </a:rPr>
                <a:t> as </a:t>
              </a:r>
              <a:r>
                <a:rPr lang="en-US" sz="1600" dirty="0" err="1">
                  <a:solidFill>
                    <a:srgbClr val="FF0000"/>
                  </a:solidFill>
                </a:rPr>
                <a:t>posições</a:t>
              </a:r>
              <a:r>
                <a:rPr lang="en-US" sz="1600" dirty="0">
                  <a:solidFill>
                    <a:srgbClr val="FF0000"/>
                  </a:solidFill>
                </a:rPr>
                <a:t> do output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4207A74-637F-3942-818E-206AFDCC3F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718" y="3470175"/>
              <a:ext cx="42566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F8D3FBC-1D0D-E644-B3F7-E756AE7B1577}"/>
              </a:ext>
            </a:extLst>
          </p:cNvPr>
          <p:cNvGrpSpPr/>
          <p:nvPr/>
        </p:nvGrpSpPr>
        <p:grpSpPr>
          <a:xfrm>
            <a:off x="7893269" y="4642445"/>
            <a:ext cx="3155731" cy="584775"/>
            <a:chOff x="7893269" y="4642445"/>
            <a:chExt cx="3155731" cy="584775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718F6C4-CD80-054C-931A-65F3DF62B5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93269" y="4883817"/>
              <a:ext cx="42566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BCF555-29A7-BB46-82AC-AEBFADB38843}"/>
                </a:ext>
              </a:extLst>
            </p:cNvPr>
            <p:cNvSpPr txBox="1"/>
            <p:nvPr/>
          </p:nvSpPr>
          <p:spPr>
            <a:xfrm>
              <a:off x="8342588" y="4642445"/>
              <a:ext cx="270641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600" dirty="0" err="1">
                  <a:solidFill>
                    <a:srgbClr val="FF0000"/>
                  </a:solidFill>
                </a:rPr>
                <a:t>Faço</a:t>
              </a:r>
              <a:r>
                <a:rPr lang="en-US" sz="1600" dirty="0">
                  <a:solidFill>
                    <a:srgbClr val="FF0000"/>
                  </a:solidFill>
                </a:rPr>
                <a:t> a </a:t>
              </a:r>
              <a:r>
                <a:rPr lang="en-US" sz="1600" dirty="0" err="1">
                  <a:solidFill>
                    <a:srgbClr val="FF0000"/>
                  </a:solidFill>
                </a:rPr>
                <a:t>verificação</a:t>
              </a:r>
              <a:r>
                <a:rPr lang="en-US" sz="1600" dirty="0">
                  <a:solidFill>
                    <a:srgbClr val="FF0000"/>
                  </a:solidFill>
                </a:rPr>
                <a:t> se as </a:t>
              </a:r>
              <a:r>
                <a:rPr lang="en-US" sz="1600" dirty="0" err="1">
                  <a:solidFill>
                    <a:srgbClr val="FF0000"/>
                  </a:solidFill>
                </a:rPr>
                <a:t>outras</a:t>
              </a:r>
              <a:r>
                <a:rPr lang="en-US" sz="1600" dirty="0">
                  <a:solidFill>
                    <a:srgbClr val="FF0000"/>
                  </a:solidFill>
                </a:rPr>
                <a:t> </a:t>
              </a:r>
              <a:r>
                <a:rPr lang="en-US" sz="1600" dirty="0" err="1">
                  <a:solidFill>
                    <a:srgbClr val="FF0000"/>
                  </a:solidFill>
                </a:rPr>
                <a:t>posições</a:t>
              </a:r>
              <a:r>
                <a:rPr lang="en-US" sz="1600" dirty="0">
                  <a:solidFill>
                    <a:srgbClr val="FF0000"/>
                  </a:solidFill>
                </a:rPr>
                <a:t> </a:t>
              </a:r>
              <a:r>
                <a:rPr lang="en-US" sz="1600" dirty="0" err="1">
                  <a:solidFill>
                    <a:srgbClr val="FF0000"/>
                  </a:solidFill>
                </a:rPr>
                <a:t>não</a:t>
              </a:r>
              <a:r>
                <a:rPr lang="en-US" sz="1600" dirty="0">
                  <a:solidFill>
                    <a:srgbClr val="FF0000"/>
                  </a:solidFill>
                </a:rPr>
                <a:t> </a:t>
              </a:r>
              <a:r>
                <a:rPr lang="en-US" sz="1600" dirty="0" err="1">
                  <a:solidFill>
                    <a:srgbClr val="FF0000"/>
                  </a:solidFill>
                </a:rPr>
                <a:t>foram</a:t>
              </a:r>
              <a:r>
                <a:rPr lang="en-US" sz="1600" dirty="0">
                  <a:solidFill>
                    <a:srgbClr val="FF0000"/>
                  </a:solidFill>
                </a:rPr>
                <a:t> </a:t>
              </a:r>
              <a:r>
                <a:rPr lang="en-US" sz="1600" dirty="0" err="1">
                  <a:solidFill>
                    <a:srgbClr val="FF0000"/>
                  </a:solidFill>
                </a:rPr>
                <a:t>alteradas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1BF6E47-2271-784A-A373-7CF90B82C520}"/>
              </a:ext>
            </a:extLst>
          </p:cNvPr>
          <p:cNvSpPr txBox="1"/>
          <p:nvPr/>
        </p:nvSpPr>
        <p:spPr>
          <a:xfrm>
            <a:off x="165317" y="6328692"/>
            <a:ext cx="8108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</a:t>
            </a:r>
            <a:r>
              <a:rPr lang="pt-BR" sz="1600" dirty="0">
                <a:hlinkClick r:id="rId4"/>
              </a:rPr>
              <a:t>https://media.pragprog.com/titles/jgade/code/unity/stdio/SprintfTest.c</a:t>
            </a:r>
            <a:endParaRPr lang="pt-BR" sz="1600" dirty="0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6CDF343-5729-554D-BF28-924BD7379124}"/>
              </a:ext>
            </a:extLst>
          </p:cNvPr>
          <p:cNvSpPr/>
          <p:nvPr/>
        </p:nvSpPr>
        <p:spPr>
          <a:xfrm>
            <a:off x="165317" y="6344458"/>
            <a:ext cx="6645385" cy="322788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34544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1079671" y="1991731"/>
            <a:ext cx="5304706" cy="416574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06290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Evitando duplicação de código entre os testes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06DA67-4332-5C47-8899-C6D5B5921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871" y="2042677"/>
            <a:ext cx="5080000" cy="4076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DCA59E-63B7-5145-B851-10F09C97E753}"/>
              </a:ext>
            </a:extLst>
          </p:cNvPr>
          <p:cNvSpPr txBox="1"/>
          <p:nvPr/>
        </p:nvSpPr>
        <p:spPr>
          <a:xfrm>
            <a:off x="165317" y="6328692"/>
            <a:ext cx="8108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</a:t>
            </a:r>
            <a:r>
              <a:rPr lang="pt-BR" sz="1600" dirty="0">
                <a:hlinkClick r:id="rId4"/>
              </a:rPr>
              <a:t>https://media.pragprog.com/titles/jgade/code/unity/stdio/SprintfTest.c</a:t>
            </a:r>
            <a:endParaRPr lang="pt-BR" sz="16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16B99DC-40E1-AB46-885F-DEC11BA3A41C}"/>
              </a:ext>
            </a:extLst>
          </p:cNvPr>
          <p:cNvSpPr/>
          <p:nvPr/>
        </p:nvSpPr>
        <p:spPr>
          <a:xfrm>
            <a:off x="165317" y="6344458"/>
            <a:ext cx="6645385" cy="322788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517679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1870794" y="2143906"/>
            <a:ext cx="8340006" cy="3475844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06290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Evitando duplicação de código entre os testes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1B2459-C9AA-4C4C-A1C3-8EBE845A9B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144" y="2294520"/>
            <a:ext cx="8102600" cy="3200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82AC686-0DBA-3B4E-B629-F34452C0B934}"/>
              </a:ext>
            </a:extLst>
          </p:cNvPr>
          <p:cNvSpPr txBox="1"/>
          <p:nvPr/>
        </p:nvSpPr>
        <p:spPr>
          <a:xfrm>
            <a:off x="165317" y="6328692"/>
            <a:ext cx="8108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</a:t>
            </a:r>
            <a:r>
              <a:rPr lang="pt-BR" sz="1600" dirty="0">
                <a:hlinkClick r:id="rId4"/>
              </a:rPr>
              <a:t>https://media.pragprog.com/titles/jgade/code/unity/stdio/SprintfTest.c</a:t>
            </a:r>
            <a:endParaRPr lang="pt-BR" sz="1600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02C44B3-3E31-EB41-A971-746144C56DD6}"/>
              </a:ext>
            </a:extLst>
          </p:cNvPr>
          <p:cNvSpPr/>
          <p:nvPr/>
        </p:nvSpPr>
        <p:spPr>
          <a:xfrm>
            <a:off x="165317" y="6344458"/>
            <a:ext cx="6645385" cy="322788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279450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2432050" y="1929628"/>
            <a:ext cx="7302500" cy="3861572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06290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Evitando duplicação de código entre os testes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867845-7622-EC42-968B-9C7C47697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300" y="2060964"/>
            <a:ext cx="7082340" cy="36540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835C2F-C835-0647-BCB4-1E9CACEEDB56}"/>
              </a:ext>
            </a:extLst>
          </p:cNvPr>
          <p:cNvSpPr txBox="1"/>
          <p:nvPr/>
        </p:nvSpPr>
        <p:spPr>
          <a:xfrm>
            <a:off x="165317" y="6328692"/>
            <a:ext cx="8108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1600" u="sng" dirty="0"/>
              <a:t>Fonte:</a:t>
            </a:r>
            <a:r>
              <a:rPr lang="pt-BR" sz="1600" dirty="0"/>
              <a:t> </a:t>
            </a:r>
            <a:r>
              <a:rPr lang="pt-BR" sz="1600" dirty="0">
                <a:hlinkClick r:id="rId4"/>
              </a:rPr>
              <a:t>https://media.pragprog.com/titles/jgade/code/unity/stdio/SprintfTest.c</a:t>
            </a:r>
            <a:endParaRPr lang="pt-BR" sz="1600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9F2B1A6-9C3F-3848-81ED-EB6A4C4E67D3}"/>
              </a:ext>
            </a:extLst>
          </p:cNvPr>
          <p:cNvSpPr/>
          <p:nvPr/>
        </p:nvSpPr>
        <p:spPr>
          <a:xfrm>
            <a:off x="165317" y="6344458"/>
            <a:ext cx="6645385" cy="322788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057833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1892298" y="2214063"/>
            <a:ext cx="8128001" cy="3082684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06290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Agrupando testes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45D20-1B9F-D64D-8585-CDA17661F2E6}"/>
              </a:ext>
            </a:extLst>
          </p:cNvPr>
          <p:cNvSpPr txBox="1"/>
          <p:nvPr/>
        </p:nvSpPr>
        <p:spPr>
          <a:xfrm>
            <a:off x="196849" y="6234097"/>
            <a:ext cx="9956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u="sng" dirty="0"/>
              <a:t>Fonte:</a:t>
            </a:r>
            <a:r>
              <a:rPr lang="pt-BR" dirty="0"/>
              <a:t> </a:t>
            </a:r>
            <a:r>
              <a:rPr lang="pt-BR" dirty="0">
                <a:hlinkClick r:id="rId3"/>
              </a:rPr>
              <a:t>https://media.pragprog.com/titles/jgade/code/unity/stdio/SprintfTestRunner.c</a:t>
            </a:r>
            <a:endParaRPr lang="pt-BR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B8F61CF-0219-1E47-ADFA-8A0CB964C531}"/>
              </a:ext>
            </a:extLst>
          </p:cNvPr>
          <p:cNvSpPr/>
          <p:nvPr/>
        </p:nvSpPr>
        <p:spPr>
          <a:xfrm>
            <a:off x="196849" y="6238151"/>
            <a:ext cx="8108951" cy="369332"/>
          </a:xfrm>
          <a:prstGeom prst="roundRect">
            <a:avLst>
              <a:gd name="adj" fmla="val 4074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901DF-FEAD-4449-9535-7D65103C4A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8499" y="2290263"/>
            <a:ext cx="7911949" cy="289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598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2197099" y="1836315"/>
            <a:ext cx="7044114" cy="4116809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06290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/>
              <a:t>Função </a:t>
            </a:r>
            <a:r>
              <a:rPr lang="pt-BR" sz="2600" i="1"/>
              <a:t>main</a:t>
            </a:r>
            <a:r>
              <a:rPr lang="pt-BR" sz="2600"/>
              <a:t> do teste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F5871A-ADDD-3A46-A559-77F72811B2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6950" y="1934421"/>
            <a:ext cx="6955212" cy="392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1286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3325091" y="2103015"/>
            <a:ext cx="5461001" cy="3494967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06290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i="1"/>
              <a:t>Unity output </a:t>
            </a:r>
            <a:r>
              <a:rPr lang="pt-BR" sz="2600" b="1"/>
              <a:t>sem erros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4148FE-4283-9446-831C-A168447561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7165" y="2194313"/>
            <a:ext cx="5235085" cy="340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750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B030DA0-9A24-0B47-8F39-6F49BED42844}"/>
              </a:ext>
            </a:extLst>
          </p:cNvPr>
          <p:cNvSpPr/>
          <p:nvPr/>
        </p:nvSpPr>
        <p:spPr>
          <a:xfrm>
            <a:off x="7474616" y="1935190"/>
            <a:ext cx="4431406" cy="3494967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20471" y="1062900"/>
            <a:ext cx="110699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i="1"/>
              <a:t>Unity output </a:t>
            </a:r>
            <a:r>
              <a:rPr lang="pt-BR" sz="2600" b="1"/>
              <a:t>com</a:t>
            </a:r>
            <a:r>
              <a:rPr lang="pt-BR" sz="2600"/>
              <a:t> </a:t>
            </a:r>
            <a:r>
              <a:rPr lang="pt-BR" sz="2600" b="1"/>
              <a:t>erros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</a:t>
            </a:r>
            <a:r>
              <a:rPr lang="en-US" sz="2800" b="1" i="1" dirty="0">
                <a:solidFill>
                  <a:schemeClr val="bg1"/>
                </a:solidFill>
              </a:rPr>
              <a:t>SPRINTF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F51E87C-D732-A44A-9C33-B4ECF544D771}"/>
              </a:ext>
            </a:extLst>
          </p:cNvPr>
          <p:cNvGrpSpPr/>
          <p:nvPr/>
        </p:nvGrpSpPr>
        <p:grpSpPr>
          <a:xfrm>
            <a:off x="196849" y="2533905"/>
            <a:ext cx="6349335" cy="2297535"/>
            <a:chOff x="438585" y="2331615"/>
            <a:chExt cx="6349335" cy="229753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0FB9FDF-2898-1449-854B-A58B9D1D18B3}"/>
                </a:ext>
              </a:extLst>
            </p:cNvPr>
            <p:cNvSpPr/>
            <p:nvPr/>
          </p:nvSpPr>
          <p:spPr>
            <a:xfrm>
              <a:off x="438585" y="2331615"/>
              <a:ext cx="6349335" cy="229753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BAD5ABE-2F19-B140-9B05-32F0F67D6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471" y="2429117"/>
              <a:ext cx="6172200" cy="2082800"/>
            </a:xfrm>
            <a:prstGeom prst="rect">
              <a:avLst/>
            </a:prstGeom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389BE38B-5D52-4243-88A6-0E3D840B83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8916" y="2103015"/>
            <a:ext cx="4229100" cy="3175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4DF4596-083F-1942-BB4F-0B3AF0EB158F}"/>
              </a:ext>
            </a:extLst>
          </p:cNvPr>
          <p:cNvSpPr/>
          <p:nvPr/>
        </p:nvSpPr>
        <p:spPr>
          <a:xfrm>
            <a:off x="10656968" y="4991100"/>
            <a:ext cx="800100" cy="3246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86B369E7-AF1A-2844-AEE5-89E262BDDEDF}"/>
              </a:ext>
            </a:extLst>
          </p:cNvPr>
          <p:cNvSpPr/>
          <p:nvPr/>
        </p:nvSpPr>
        <p:spPr>
          <a:xfrm>
            <a:off x="6661483" y="3475620"/>
            <a:ext cx="641684" cy="582030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845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3EF685-7ADD-EF4E-BFA9-9B5BF8CB7DBA}"/>
              </a:ext>
            </a:extLst>
          </p:cNvPr>
          <p:cNvSpPr/>
          <p:nvPr/>
        </p:nvSpPr>
        <p:spPr>
          <a:xfrm>
            <a:off x="0" y="2857499"/>
            <a:ext cx="12192000" cy="177981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ATIVIDADE</a:t>
            </a:r>
          </a:p>
        </p:txBody>
      </p:sp>
    </p:spTree>
    <p:extLst>
      <p:ext uri="{BB962C8B-B14F-4D97-AF65-F5344CB8AC3E}">
        <p14:creationId xmlns:p14="http://schemas.microsoft.com/office/powerpoint/2010/main" val="15560549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425221" y="1339435"/>
            <a:ext cx="11266036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600" dirty="0"/>
              <a:t>Fazer o clone do repositório </a:t>
            </a:r>
            <a:r>
              <a:rPr lang="pt-BR" sz="2600" b="1" dirty="0">
                <a:solidFill>
                  <a:schemeClr val="accent4">
                    <a:lumMod val="75000"/>
                  </a:schemeClr>
                </a:solidFill>
              </a:rPr>
              <a:t>Unity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400" b="1" dirty="0">
              <a:solidFill>
                <a:schemeClr val="accent4">
                  <a:lumMod val="75000"/>
                </a:schemeClr>
              </a:solidFill>
            </a:endParaRP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u="sng" dirty="0"/>
              <a:t>Referência:</a:t>
            </a:r>
            <a:r>
              <a:rPr lang="pt-BR" sz="2200" dirty="0"/>
              <a:t> </a:t>
            </a:r>
            <a:r>
              <a:rPr lang="pt-BR" sz="2200" dirty="0">
                <a:hlinkClick r:id="rId3"/>
              </a:rPr>
              <a:t>https://github.com/iacanaw/Unity.git</a:t>
            </a:r>
            <a:endParaRPr lang="pt-BR" sz="2200" u="sng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2200" u="sng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 startAt="2"/>
            </a:pPr>
            <a:r>
              <a:rPr lang="pt-BR" sz="2400" dirty="0"/>
              <a:t>Replicar a pasta </a:t>
            </a:r>
            <a:r>
              <a:rPr lang="pt-BR" sz="2400" dirty="0" err="1"/>
              <a:t>foo</a:t>
            </a:r>
            <a:r>
              <a:rPr lang="pt-BR" sz="2400" dirty="0"/>
              <a:t> e adaptar para a </a:t>
            </a:r>
            <a:r>
              <a:rPr lang="pt-BR" sz="2600" i="1" dirty="0">
                <a:solidFill>
                  <a:schemeClr val="accent4">
                    <a:lumMod val="75000"/>
                  </a:schemeClr>
                </a:solidFill>
              </a:rPr>
              <a:t>função dos triângulos.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400" b="1" dirty="0">
              <a:solidFill>
                <a:schemeClr val="accent4">
                  <a:lumMod val="75000"/>
                </a:schemeClr>
              </a:solidFill>
            </a:endParaRP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b="1" dirty="0" err="1"/>
              <a:t>cd</a:t>
            </a:r>
            <a:r>
              <a:rPr lang="pt-BR" sz="2200" b="1" dirty="0"/>
              <a:t> Unity/</a:t>
            </a:r>
            <a:r>
              <a:rPr lang="pt-BR" sz="2200" b="1" dirty="0" err="1"/>
              <a:t>examples</a:t>
            </a:r>
            <a:endParaRPr lang="pt-BR" sz="2200" b="1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b="1" dirty="0" err="1"/>
              <a:t>cp</a:t>
            </a:r>
            <a:r>
              <a:rPr lang="pt-BR" sz="2200" b="1" dirty="0"/>
              <a:t> –</a:t>
            </a:r>
            <a:r>
              <a:rPr lang="pt-BR" sz="2200" b="1" dirty="0" err="1"/>
              <a:t>fr</a:t>
            </a:r>
            <a:r>
              <a:rPr lang="pt-BR" sz="2200" b="1" dirty="0"/>
              <a:t> </a:t>
            </a:r>
            <a:r>
              <a:rPr lang="pt-BR" sz="2200" b="1" dirty="0" err="1"/>
              <a:t>foo</a:t>
            </a:r>
            <a:r>
              <a:rPr lang="pt-BR" sz="2200" b="1" dirty="0"/>
              <a:t> </a:t>
            </a:r>
            <a:r>
              <a:rPr lang="pt-BR" sz="2200" b="1" dirty="0" err="1"/>
              <a:t>triangulos</a:t>
            </a:r>
            <a:endParaRPr lang="pt-BR" sz="2200" b="1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marL="514350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 startAt="3"/>
            </a:pPr>
            <a:r>
              <a:rPr lang="pt-BR" sz="2600" dirty="0"/>
              <a:t>Implementar os </a:t>
            </a:r>
            <a:r>
              <a:rPr lang="pt-BR" sz="2600" b="1" dirty="0"/>
              <a:t>testes unitários </a:t>
            </a:r>
            <a:r>
              <a:rPr lang="pt-BR" sz="2600" dirty="0"/>
              <a:t>para a função </a:t>
            </a:r>
            <a:r>
              <a:rPr lang="pt-BR" sz="2600" i="1" dirty="0" err="1">
                <a:solidFill>
                  <a:schemeClr val="accent4">
                    <a:lumMod val="75000"/>
                  </a:schemeClr>
                </a:solidFill>
              </a:rPr>
              <a:t>função</a:t>
            </a:r>
            <a:r>
              <a:rPr lang="pt-BR" sz="2600" i="1" dirty="0">
                <a:solidFill>
                  <a:schemeClr val="accent4">
                    <a:lumMod val="75000"/>
                  </a:schemeClr>
                </a:solidFill>
              </a:rPr>
              <a:t> dos triângulos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400" i="1" dirty="0">
              <a:solidFill>
                <a:schemeClr val="accent4">
                  <a:lumMod val="75000"/>
                </a:schemeClr>
              </a:solidFill>
            </a:endParaRP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200" dirty="0"/>
              <a:t>O arquivo </a:t>
            </a:r>
            <a:r>
              <a:rPr lang="pt-BR" sz="2200" b="1" dirty="0"/>
              <a:t>UnityAssertionsReference.md </a:t>
            </a:r>
            <a:r>
              <a:rPr lang="pt-BR" sz="2200" dirty="0"/>
              <a:t>em </a:t>
            </a:r>
            <a:r>
              <a:rPr lang="pt-BR" sz="2200" b="1" dirty="0"/>
              <a:t>Unity/</a:t>
            </a:r>
            <a:r>
              <a:rPr lang="pt-BR" sz="2200" b="1" dirty="0" err="1"/>
              <a:t>docs</a:t>
            </a:r>
            <a:r>
              <a:rPr lang="pt-BR" sz="2200" b="1" dirty="0"/>
              <a:t> </a:t>
            </a:r>
            <a:r>
              <a:rPr lang="pt-BR" sz="2200" dirty="0"/>
              <a:t>apresenta referências à todas as </a:t>
            </a:r>
            <a:r>
              <a:rPr lang="pt-BR" sz="2200" i="1" dirty="0" err="1"/>
              <a:t>assertions</a:t>
            </a:r>
            <a:r>
              <a:rPr lang="pt-BR" sz="2200" dirty="0"/>
              <a:t> disponíveis.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2200" dirty="0"/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26F1A34D-D799-C940-BBF3-D87ECF991C22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ATIVIDADE</a:t>
            </a:r>
            <a:endParaRPr lang="pt-BR" sz="28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2465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REFERÊNCIAS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763" y="1531096"/>
            <a:ext cx="10845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dirty="0"/>
              <a:t>DELAMARO, M.E.; MALDONADO J.C.; JINO, M.. </a:t>
            </a:r>
            <a:r>
              <a:rPr lang="pt-BR" sz="2400" b="1" i="1" dirty="0"/>
              <a:t>Introdução ao Teste de Software</a:t>
            </a:r>
            <a:r>
              <a:rPr lang="pt-BR" sz="2400" dirty="0"/>
              <a:t>. </a:t>
            </a:r>
            <a:r>
              <a:rPr lang="pt-BR" sz="2400" dirty="0" err="1"/>
              <a:t>Elsevier</a:t>
            </a:r>
            <a:r>
              <a:rPr lang="pt-BR" sz="2400" dirty="0"/>
              <a:t>. 2007.</a:t>
            </a:r>
            <a:endParaRPr lang="pt-BR" sz="800" dirty="0"/>
          </a:p>
          <a:p>
            <a:pPr marL="800100" lvl="1" indent="-3429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Capítulo 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07A2EDD-0CBD-A245-9483-4752ED01A9CB}"/>
              </a:ext>
            </a:extLst>
          </p:cNvPr>
          <p:cNvSpPr/>
          <p:nvPr/>
        </p:nvSpPr>
        <p:spPr>
          <a:xfrm>
            <a:off x="603575" y="1326189"/>
            <a:ext cx="10984850" cy="1571867"/>
          </a:xfrm>
          <a:prstGeom prst="roundRect">
            <a:avLst>
              <a:gd name="adj" fmla="val 8337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44771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NÍVEIS DE TESTE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206EB3-2678-AC4A-A72F-A6A4BB1B8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151" y="1040524"/>
            <a:ext cx="9350908" cy="5448036"/>
          </a:xfrm>
          <a:prstGeom prst="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375992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TÉCNICAS DE TESTE DE UNIDADE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26D21-1023-EF4E-BC40-33BB2F67FB2E}"/>
              </a:ext>
            </a:extLst>
          </p:cNvPr>
          <p:cNvSpPr txBox="1"/>
          <p:nvPr/>
        </p:nvSpPr>
        <p:spPr>
          <a:xfrm>
            <a:off x="439072" y="1107567"/>
            <a:ext cx="11154215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u="sng" dirty="0" err="1"/>
              <a:t>Técnicas</a:t>
            </a:r>
            <a:r>
              <a:rPr lang="en-US" sz="3000" u="sng" dirty="0"/>
              <a:t>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>
                <a:solidFill>
                  <a:srgbClr val="FF0000"/>
                </a:solidFill>
              </a:rPr>
              <a:t>Funcional</a:t>
            </a:r>
            <a:r>
              <a:rPr lang="en-US" sz="2800" dirty="0">
                <a:solidFill>
                  <a:srgbClr val="FF0000"/>
                </a:solidFill>
              </a:rPr>
              <a:t> (</a:t>
            </a:r>
            <a:r>
              <a:rPr lang="en-US" sz="2800" dirty="0" err="1">
                <a:solidFill>
                  <a:srgbClr val="FF0000"/>
                </a:solidFill>
              </a:rPr>
              <a:t>Capítulo</a:t>
            </a:r>
            <a:r>
              <a:rPr lang="en-US" sz="2800" dirty="0">
                <a:solidFill>
                  <a:srgbClr val="FF0000"/>
                </a:solidFill>
              </a:rPr>
              <a:t> 2)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Estrutural</a:t>
            </a:r>
            <a:r>
              <a:rPr lang="en-US" sz="2800" dirty="0"/>
              <a:t> (</a:t>
            </a:r>
            <a:r>
              <a:rPr lang="en-US" sz="2800" dirty="0" err="1"/>
              <a:t>Capítulo</a:t>
            </a:r>
            <a:r>
              <a:rPr lang="en-US" sz="2800" dirty="0"/>
              <a:t> 4)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Baseada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</a:t>
            </a:r>
            <a:r>
              <a:rPr lang="en-US" sz="2800" dirty="0" err="1"/>
              <a:t>Erros</a:t>
            </a:r>
            <a:r>
              <a:rPr lang="en-US" sz="2800" dirty="0"/>
              <a:t> (</a:t>
            </a:r>
            <a:r>
              <a:rPr lang="en-US" sz="2800" dirty="0" err="1"/>
              <a:t>Capítulo</a:t>
            </a:r>
            <a:r>
              <a:rPr lang="en-US" sz="2800" dirty="0"/>
              <a:t> 5)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962284-2527-5446-BD28-FE257FC0C627}"/>
              </a:ext>
            </a:extLst>
          </p:cNvPr>
          <p:cNvSpPr txBox="1"/>
          <p:nvPr/>
        </p:nvSpPr>
        <p:spPr>
          <a:xfrm>
            <a:off x="439072" y="3583238"/>
            <a:ext cx="113803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/>
              <a:t>A </a:t>
            </a:r>
            <a:r>
              <a:rPr lang="en-US" sz="3000" dirty="0" err="1"/>
              <a:t>diferença</a:t>
            </a:r>
            <a:r>
              <a:rPr lang="en-US" sz="3000" dirty="0"/>
              <a:t> </a:t>
            </a:r>
            <a:r>
              <a:rPr lang="en-US" sz="3000" dirty="0" err="1"/>
              <a:t>está</a:t>
            </a:r>
            <a:r>
              <a:rPr lang="en-US" sz="3000" dirty="0"/>
              <a:t> </a:t>
            </a:r>
            <a:r>
              <a:rPr lang="en-US" sz="3000" dirty="0" err="1"/>
              <a:t>na</a:t>
            </a:r>
            <a:r>
              <a:rPr lang="en-US" sz="3000" dirty="0"/>
              <a:t> </a:t>
            </a:r>
            <a:r>
              <a:rPr lang="en-US" sz="3000" dirty="0" err="1"/>
              <a:t>fonte</a:t>
            </a:r>
            <a:r>
              <a:rPr lang="en-US" sz="3000" dirty="0"/>
              <a:t> </a:t>
            </a:r>
            <a:r>
              <a:rPr lang="en-US" sz="3000" dirty="0" err="1"/>
              <a:t>utilizada</a:t>
            </a:r>
            <a:r>
              <a:rPr lang="en-US" sz="3000" dirty="0"/>
              <a:t> para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definir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os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3000" i="1" dirty="0" err="1">
                <a:solidFill>
                  <a:schemeClr val="accent4">
                    <a:lumMod val="75000"/>
                  </a:schemeClr>
                </a:solidFill>
              </a:rPr>
              <a:t>requisitos</a:t>
            </a:r>
            <a:r>
              <a:rPr lang="en-US" sz="3000" i="1" dirty="0">
                <a:solidFill>
                  <a:schemeClr val="accent4">
                    <a:lumMod val="75000"/>
                  </a:schemeClr>
                </a:solidFill>
              </a:rPr>
              <a:t> de teste</a:t>
            </a:r>
            <a:r>
              <a:rPr lang="en-US" sz="3000" dirty="0"/>
              <a:t>!!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7E5F1-F136-EE4D-81CD-2F9A0BD4DD1A}"/>
              </a:ext>
            </a:extLst>
          </p:cNvPr>
          <p:cNvSpPr txBox="1"/>
          <p:nvPr/>
        </p:nvSpPr>
        <p:spPr>
          <a:xfrm>
            <a:off x="439072" y="4429576"/>
            <a:ext cx="1138031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3000" dirty="0"/>
              <a:t>Mas o </a:t>
            </a:r>
            <a:r>
              <a:rPr lang="en-US" sz="3000" b="1" i="1" dirty="0" err="1"/>
              <a:t>objetivo</a:t>
            </a:r>
            <a:r>
              <a:rPr lang="en-US" sz="3000" dirty="0"/>
              <a:t> das </a:t>
            </a:r>
            <a:r>
              <a:rPr lang="en-US" sz="3000" dirty="0" err="1"/>
              <a:t>técnicas</a:t>
            </a:r>
            <a:r>
              <a:rPr lang="en-US" sz="3000" dirty="0"/>
              <a:t> </a:t>
            </a:r>
            <a:r>
              <a:rPr lang="en-US" sz="3000" dirty="0" err="1"/>
              <a:t>é</a:t>
            </a:r>
            <a:r>
              <a:rPr lang="en-US" sz="3000" dirty="0"/>
              <a:t> similar: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Conduzir</a:t>
            </a:r>
            <a:r>
              <a:rPr lang="en-US" sz="2800" dirty="0"/>
              <a:t> o </a:t>
            </a:r>
            <a:r>
              <a:rPr lang="en-US" sz="2800" dirty="0" err="1"/>
              <a:t>processo</a:t>
            </a:r>
            <a:r>
              <a:rPr lang="en-US" sz="2800" dirty="0"/>
              <a:t> de teste de </a:t>
            </a:r>
            <a:r>
              <a:rPr lang="en-US" sz="2800" dirty="0" err="1"/>
              <a:t>uma</a:t>
            </a:r>
            <a:r>
              <a:rPr lang="en-US" sz="2800" dirty="0"/>
              <a:t> forma </a:t>
            </a:r>
            <a:r>
              <a:rPr lang="en-US" sz="2800" dirty="0" err="1"/>
              <a:t>mais</a:t>
            </a:r>
            <a:r>
              <a:rPr lang="en-US" sz="2800" dirty="0"/>
              <a:t> </a:t>
            </a:r>
            <a:r>
              <a:rPr lang="en-US" sz="2800" dirty="0" err="1"/>
              <a:t>sistemática</a:t>
            </a:r>
            <a:endParaRPr lang="en-US" sz="2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en-US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en-US" sz="2800" dirty="0" err="1"/>
              <a:t>Escolher</a:t>
            </a:r>
            <a:r>
              <a:rPr lang="en-US" sz="2800" dirty="0"/>
              <a:t> </a:t>
            </a:r>
            <a:r>
              <a:rPr lang="en-US" sz="2800" dirty="0" err="1"/>
              <a:t>casos</a:t>
            </a:r>
            <a:r>
              <a:rPr lang="en-US" sz="2800" dirty="0"/>
              <a:t> de teste que </a:t>
            </a:r>
            <a:r>
              <a:rPr lang="en-US" sz="2800" dirty="0" err="1"/>
              <a:t>representem</a:t>
            </a:r>
            <a:r>
              <a:rPr lang="en-US" sz="2800" dirty="0"/>
              <a:t> o </a:t>
            </a:r>
            <a:r>
              <a:rPr lang="en-US" sz="2800" dirty="0" err="1"/>
              <a:t>domínio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35266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DEFINIÇÃO DE TESTE DE UNIDADE FUNCIONAL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48623" y="1217751"/>
            <a:ext cx="110417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600" dirty="0"/>
              <a:t>O software </a:t>
            </a:r>
            <a:r>
              <a:rPr lang="en-US" sz="2600" dirty="0" err="1"/>
              <a:t>é</a:t>
            </a:r>
            <a:r>
              <a:rPr lang="en-US" sz="2600" dirty="0"/>
              <a:t> </a:t>
            </a:r>
            <a:r>
              <a:rPr lang="en-US" sz="2600" dirty="0" err="1"/>
              <a:t>considerado</a:t>
            </a:r>
            <a:r>
              <a:rPr lang="en-US" sz="2600" dirty="0"/>
              <a:t> </a:t>
            </a:r>
            <a:r>
              <a:rPr lang="en-US" sz="2600" dirty="0" err="1"/>
              <a:t>uma</a:t>
            </a:r>
            <a:r>
              <a:rPr lang="en-US" sz="2600" dirty="0"/>
              <a:t> </a:t>
            </a:r>
            <a:r>
              <a:rPr lang="en-US" sz="2600" b="1" dirty="0" err="1">
                <a:solidFill>
                  <a:srgbClr val="FF0000"/>
                </a:solidFill>
              </a:rPr>
              <a:t>caixa</a:t>
            </a:r>
            <a:r>
              <a:rPr lang="en-US" sz="2600" b="1" dirty="0">
                <a:solidFill>
                  <a:srgbClr val="FF0000"/>
                </a:solidFill>
              </a:rPr>
              <a:t> </a:t>
            </a:r>
            <a:r>
              <a:rPr lang="en-US" sz="2600" b="1" dirty="0" err="1">
                <a:solidFill>
                  <a:srgbClr val="FF0000"/>
                </a:solidFill>
              </a:rPr>
              <a:t>preta</a:t>
            </a:r>
            <a:endParaRPr lang="en-US" sz="2600" b="1" dirty="0">
              <a:solidFill>
                <a:srgbClr val="FF0000"/>
              </a:solidFill>
            </a:endParaRP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600" dirty="0"/>
              <a:t>No teste </a:t>
            </a:r>
            <a:r>
              <a:rPr lang="en-US" sz="2600" dirty="0" err="1"/>
              <a:t>funcional</a:t>
            </a:r>
            <a:r>
              <a:rPr lang="en-US" sz="2600" dirty="0"/>
              <a:t> </a:t>
            </a:r>
            <a:r>
              <a:rPr lang="en-US" sz="2600" dirty="0" err="1"/>
              <a:t>são</a:t>
            </a:r>
            <a:r>
              <a:rPr lang="en-US" sz="2600" dirty="0"/>
              <a:t> </a:t>
            </a:r>
            <a:r>
              <a:rPr lang="en-US" sz="2600" dirty="0" err="1"/>
              <a:t>verificadas</a:t>
            </a:r>
            <a:r>
              <a:rPr lang="en-US" sz="2600" dirty="0"/>
              <a:t> as </a:t>
            </a:r>
            <a:r>
              <a:rPr lang="en-US" sz="2600" dirty="0" err="1"/>
              <a:t>funções</a:t>
            </a:r>
            <a:r>
              <a:rPr lang="en-US" sz="2600" dirty="0"/>
              <a:t> do </a:t>
            </a:r>
            <a:r>
              <a:rPr lang="en-US" sz="2600" dirty="0" err="1"/>
              <a:t>sistema</a:t>
            </a:r>
            <a:r>
              <a:rPr lang="en-US" sz="2600" dirty="0"/>
              <a:t>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sem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 se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preocupar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 com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os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detalhes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implementação</a:t>
            </a:r>
            <a:endParaRPr lang="en-US" sz="2600" i="1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600" dirty="0"/>
              <a:t>Entradas e </a:t>
            </a:r>
            <a:r>
              <a:rPr lang="en-US" sz="2600" dirty="0" err="1"/>
              <a:t>saídas</a:t>
            </a:r>
            <a:r>
              <a:rPr lang="en-US" sz="2600" dirty="0"/>
              <a:t> </a:t>
            </a:r>
            <a:r>
              <a:rPr lang="en-US" sz="2600" dirty="0" err="1"/>
              <a:t>são</a:t>
            </a:r>
            <a:r>
              <a:rPr lang="en-US" sz="2600" dirty="0"/>
              <a:t> </a:t>
            </a:r>
            <a:r>
              <a:rPr lang="en-US" sz="2600" dirty="0" err="1"/>
              <a:t>definidas</a:t>
            </a:r>
            <a:r>
              <a:rPr lang="en-US" sz="2600" dirty="0"/>
              <a:t> para </a:t>
            </a:r>
            <a:r>
              <a:rPr lang="en-US" sz="2600" dirty="0" err="1"/>
              <a:t>verificar</a:t>
            </a:r>
            <a:r>
              <a:rPr lang="en-US" sz="2600" dirty="0"/>
              <a:t> </a:t>
            </a:r>
            <a:r>
              <a:rPr lang="en-US" sz="2600" dirty="0" err="1"/>
              <a:t>conformidade</a:t>
            </a:r>
            <a:r>
              <a:rPr lang="en-US" sz="2600" dirty="0"/>
              <a:t> com </a:t>
            </a:r>
            <a:r>
              <a:rPr lang="en-US" sz="2600" dirty="0" err="1"/>
              <a:t>objetivos</a:t>
            </a:r>
            <a:r>
              <a:rPr lang="en-US" sz="2600" dirty="0"/>
              <a:t> </a:t>
            </a:r>
            <a:r>
              <a:rPr lang="en-US" sz="2600" dirty="0" err="1"/>
              <a:t>ou</a:t>
            </a:r>
            <a:r>
              <a:rPr lang="en-US" sz="2600" dirty="0"/>
              <a:t> </a:t>
            </a:r>
            <a:r>
              <a:rPr lang="en-US" sz="2600" b="1" dirty="0" err="1">
                <a:solidFill>
                  <a:srgbClr val="FF0000"/>
                </a:solidFill>
              </a:rPr>
              <a:t>especificação</a:t>
            </a:r>
            <a:endParaRPr lang="en-US" sz="2600" b="1" dirty="0">
              <a:solidFill>
                <a:srgbClr val="FF0000"/>
              </a:solidFill>
            </a:endParaRP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en-US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600" dirty="0"/>
              <a:t>O software </a:t>
            </a:r>
            <a:r>
              <a:rPr lang="en-US" sz="2600" dirty="0" err="1"/>
              <a:t>é</a:t>
            </a:r>
            <a:r>
              <a:rPr lang="en-US" sz="2600" dirty="0"/>
              <a:t> </a:t>
            </a:r>
            <a:r>
              <a:rPr lang="en-US" sz="2600" dirty="0" err="1"/>
              <a:t>avaliado</a:t>
            </a:r>
            <a:r>
              <a:rPr lang="en-US" sz="2600" dirty="0"/>
              <a:t> do </a:t>
            </a:r>
            <a:r>
              <a:rPr lang="en-US" sz="2600" dirty="0" err="1"/>
              <a:t>ponto</a:t>
            </a:r>
            <a:r>
              <a:rPr lang="en-US" sz="2600" dirty="0"/>
              <a:t> de vista do </a:t>
            </a:r>
            <a:r>
              <a:rPr lang="en-US" sz="2600" dirty="0" err="1"/>
              <a:t>usuário</a:t>
            </a:r>
            <a:endParaRPr lang="en-US" sz="2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E945A9-260B-1040-87E2-104F390E868C}"/>
              </a:ext>
            </a:extLst>
          </p:cNvPr>
          <p:cNvSpPr txBox="1"/>
          <p:nvPr/>
        </p:nvSpPr>
        <p:spPr>
          <a:xfrm>
            <a:off x="548623" y="4387730"/>
            <a:ext cx="1104179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600" dirty="0"/>
              <a:t>O teste </a:t>
            </a:r>
            <a:r>
              <a:rPr lang="en-US" sz="2600" dirty="0" err="1"/>
              <a:t>funcional</a:t>
            </a:r>
            <a:r>
              <a:rPr lang="en-US" sz="2600" dirty="0"/>
              <a:t> </a:t>
            </a:r>
            <a:r>
              <a:rPr lang="en-US" sz="2600" dirty="0" err="1"/>
              <a:t>envolve</a:t>
            </a:r>
            <a:r>
              <a:rPr lang="en-US" sz="2600" dirty="0"/>
              <a:t>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dois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passos</a:t>
            </a:r>
            <a:r>
              <a:rPr lang="en-US" sz="2600" i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2600" i="1" dirty="0" err="1">
                <a:solidFill>
                  <a:schemeClr val="accent4">
                    <a:lumMod val="75000"/>
                  </a:schemeClr>
                </a:solidFill>
              </a:rPr>
              <a:t>principais</a:t>
            </a:r>
            <a:r>
              <a:rPr lang="en-US" sz="2600" dirty="0"/>
              <a:t>:</a:t>
            </a:r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en-US" sz="600" dirty="0"/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en-US" sz="2400" dirty="0" err="1"/>
              <a:t>Identificar</a:t>
            </a:r>
            <a:r>
              <a:rPr lang="en-US" sz="2400" dirty="0"/>
              <a:t> as </a:t>
            </a:r>
            <a:r>
              <a:rPr lang="en-US" sz="2400" dirty="0" err="1"/>
              <a:t>funções</a:t>
            </a:r>
            <a:r>
              <a:rPr lang="en-US" sz="2400" dirty="0"/>
              <a:t> que o software </a:t>
            </a:r>
            <a:r>
              <a:rPr lang="en-US" sz="2400" dirty="0" err="1"/>
              <a:t>deve</a:t>
            </a:r>
            <a:r>
              <a:rPr lang="en-US" sz="2400" dirty="0"/>
              <a:t> </a:t>
            </a:r>
            <a:r>
              <a:rPr lang="en-US" sz="2400" dirty="0" err="1"/>
              <a:t>realizar</a:t>
            </a:r>
            <a:endParaRPr lang="en-US" sz="2400" dirty="0"/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en-US" sz="600" dirty="0"/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en-US" sz="2400" dirty="0" err="1"/>
              <a:t>Criar</a:t>
            </a:r>
            <a:r>
              <a:rPr lang="en-US" sz="2400" dirty="0"/>
              <a:t> </a:t>
            </a:r>
            <a:r>
              <a:rPr lang="en-US" sz="2400" dirty="0" err="1"/>
              <a:t>casos</a:t>
            </a:r>
            <a:r>
              <a:rPr lang="en-US" sz="2400" dirty="0"/>
              <a:t> de teste </a:t>
            </a:r>
            <a:r>
              <a:rPr lang="en-US" sz="2400" dirty="0" err="1"/>
              <a:t>capazes</a:t>
            </a:r>
            <a:r>
              <a:rPr lang="en-US" sz="2400" dirty="0"/>
              <a:t> de </a:t>
            </a:r>
            <a:r>
              <a:rPr lang="en-US" sz="2400" dirty="0" err="1"/>
              <a:t>checar</a:t>
            </a:r>
            <a:r>
              <a:rPr lang="en-US" sz="2400" dirty="0"/>
              <a:t> se </a:t>
            </a:r>
            <a:r>
              <a:rPr lang="en-US" sz="2400" dirty="0" err="1"/>
              <a:t>essas</a:t>
            </a:r>
            <a:r>
              <a:rPr lang="en-US" sz="2400" dirty="0"/>
              <a:t> </a:t>
            </a:r>
            <a:r>
              <a:rPr lang="en-US" sz="2400" dirty="0" err="1"/>
              <a:t>funções</a:t>
            </a:r>
            <a:r>
              <a:rPr lang="en-US" sz="2400" dirty="0"/>
              <a:t> </a:t>
            </a:r>
            <a:r>
              <a:rPr lang="en-US" sz="2400" dirty="0" err="1"/>
              <a:t>estão</a:t>
            </a:r>
            <a:r>
              <a:rPr lang="en-US" sz="2400" dirty="0"/>
              <a:t> </a:t>
            </a:r>
            <a:r>
              <a:rPr lang="en-US" sz="2400" dirty="0" err="1"/>
              <a:t>sendo</a:t>
            </a:r>
            <a:r>
              <a:rPr lang="en-US" sz="2400" dirty="0"/>
              <a:t> </a:t>
            </a:r>
            <a:r>
              <a:rPr lang="en-US" sz="2400" dirty="0" err="1"/>
              <a:t>realizadas</a:t>
            </a:r>
            <a:r>
              <a:rPr lang="en-US" sz="2400" dirty="0"/>
              <a:t> </a:t>
            </a:r>
            <a:r>
              <a:rPr lang="en-US" sz="2400" dirty="0" err="1"/>
              <a:t>pelo</a:t>
            </a:r>
            <a:r>
              <a:rPr lang="en-US" sz="2400" dirty="0"/>
              <a:t> software</a:t>
            </a:r>
          </a:p>
        </p:txBody>
      </p:sp>
    </p:spTree>
    <p:extLst>
      <p:ext uri="{BB962C8B-B14F-4D97-AF65-F5344CB8AC3E}">
        <p14:creationId xmlns:p14="http://schemas.microsoft.com/office/powerpoint/2010/main" val="21636818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CRITÉRIOS DE TESTE FUNCIONAL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17FD4-53AA-8F46-9747-9B4D0C91013E}"/>
              </a:ext>
            </a:extLst>
          </p:cNvPr>
          <p:cNvSpPr txBox="1"/>
          <p:nvPr/>
        </p:nvSpPr>
        <p:spPr>
          <a:xfrm>
            <a:off x="548623" y="1286056"/>
            <a:ext cx="11041795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800"/>
              <a:t>Particionamento de Equivalência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400"/>
          </a:p>
          <a:p>
            <a:pPr marL="514350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800"/>
              <a:t>Análise do Valor Limite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400"/>
          </a:p>
          <a:p>
            <a:pPr marL="514350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800"/>
              <a:t>Sistemático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400">
              <a:solidFill>
                <a:schemeClr val="bg1">
                  <a:lumMod val="65000"/>
                </a:schemeClr>
              </a:solidFill>
            </a:endParaRPr>
          </a:p>
          <a:p>
            <a:pPr marL="514350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800">
                <a:solidFill>
                  <a:schemeClr val="bg1">
                    <a:lumMod val="65000"/>
                  </a:schemeClr>
                </a:solidFill>
              </a:rPr>
              <a:t>Grafo Causa-Efeito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400">
              <a:solidFill>
                <a:schemeClr val="bg1">
                  <a:lumMod val="65000"/>
                </a:schemeClr>
              </a:solidFill>
            </a:endParaRPr>
          </a:p>
          <a:p>
            <a:pPr marL="514350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800">
                <a:solidFill>
                  <a:schemeClr val="bg1">
                    <a:lumMod val="65000"/>
                  </a:schemeClr>
                </a:solidFill>
              </a:rPr>
              <a:t>Error-Guessing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548623" y="4117320"/>
            <a:ext cx="110417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/>
              <a:t>A qualidade de tais critérios depende fortemente da existência de uma </a:t>
            </a:r>
            <a:r>
              <a:rPr lang="pt-BR" sz="2800" b="1">
                <a:solidFill>
                  <a:srgbClr val="FF0000"/>
                </a:solidFill>
              </a:rPr>
              <a:t>boa especificação </a:t>
            </a:r>
            <a:r>
              <a:rPr lang="pt-BR" sz="2800"/>
              <a:t>de requisitos</a:t>
            </a:r>
            <a:endParaRPr lang="pt-BR" sz="28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F8AD5-807A-364C-876F-4E4E4B382CC3}"/>
              </a:ext>
            </a:extLst>
          </p:cNvPr>
          <p:cNvSpPr txBox="1"/>
          <p:nvPr/>
        </p:nvSpPr>
        <p:spPr>
          <a:xfrm>
            <a:off x="548622" y="5366635"/>
            <a:ext cx="110417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Especificações ausentes ou mesmo incompletas tornarão difícil a aplicação dos critérios funcionais</a:t>
            </a:r>
            <a:endParaRPr lang="pt-BR" sz="28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87474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3212E8F-B6BE-ED41-9693-4350468991E9}"/>
              </a:ext>
            </a:extLst>
          </p:cNvPr>
          <p:cNvSpPr/>
          <p:nvPr/>
        </p:nvSpPr>
        <p:spPr>
          <a:xfrm>
            <a:off x="684647" y="2253343"/>
            <a:ext cx="10858179" cy="2662464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ESTUDO DE CASO DO LIVRO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1DBC1-BC79-B842-92C5-D771247EC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648" y="2274651"/>
            <a:ext cx="10858179" cy="258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182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3EF685-7ADD-EF4E-BFA9-9B5BF8CB7DBA}"/>
              </a:ext>
            </a:extLst>
          </p:cNvPr>
          <p:cNvSpPr/>
          <p:nvPr/>
        </p:nvSpPr>
        <p:spPr>
          <a:xfrm>
            <a:off x="0" y="2857499"/>
            <a:ext cx="12192000" cy="177981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1. PARTICIONAMENTO DE EQUIVALÊNCIA</a:t>
            </a:r>
          </a:p>
        </p:txBody>
      </p:sp>
    </p:spTree>
    <p:extLst>
      <p:ext uri="{BB962C8B-B14F-4D97-AF65-F5344CB8AC3E}">
        <p14:creationId xmlns:p14="http://schemas.microsoft.com/office/powerpoint/2010/main" val="27019691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PARTICIONAMENTO DE EQUIVALÊNCIA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517257" y="1077491"/>
            <a:ext cx="11128025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u="sng" dirty="0"/>
              <a:t>Objetivo:</a:t>
            </a:r>
            <a:r>
              <a:rPr lang="pt-BR" sz="2800" dirty="0"/>
              <a:t> é particionar o domínio de entrada de forma que os casos de testes dos subconjuntos (partições ou subdomínios) seja uma boa representação de todo o domínio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0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Divide o domínio de entrada em </a:t>
            </a:r>
            <a:r>
              <a:rPr lang="pt-BR" sz="2800" b="1" dirty="0">
                <a:solidFill>
                  <a:srgbClr val="FF0000"/>
                </a:solidFill>
              </a:rPr>
              <a:t>classes de equivalência </a:t>
            </a:r>
            <a:r>
              <a:rPr lang="pt-BR" sz="2800" dirty="0"/>
              <a:t>que, de acordo com a especificação do programa, são tratadas da mesma maneira.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Isto é, o valor dentro de uma classe é equivalente a todos os outros valores dentro da mesma classe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Logo, se eu testar um valor de uma classe, eu estarei cobrindo os outros valores dessa mesma classe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0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i="1" u="sng" dirty="0" err="1"/>
              <a:t>Assumption</a:t>
            </a:r>
            <a:r>
              <a:rPr lang="pt-BR" sz="2800" u="sng" dirty="0"/>
              <a:t>:</a:t>
            </a:r>
            <a:r>
              <a:rPr lang="pt-BR" sz="2800" dirty="0"/>
              <a:t> Se um elemento do subconjunto detectar um defeito, qualquer outro também detecta</a:t>
            </a:r>
            <a:endParaRPr lang="pt-BR" sz="28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93873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CLASSES DE EQUIVALÊNCIA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478722" y="1316955"/>
            <a:ext cx="11128025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3000" dirty="0"/>
              <a:t>Pode-se observar a especificação procurando termos como: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800" dirty="0"/>
              <a:t>“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intervalo</a:t>
            </a:r>
            <a:r>
              <a:rPr lang="pt-BR" sz="2800" dirty="0"/>
              <a:t>” e “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conjunto</a:t>
            </a:r>
            <a:r>
              <a:rPr lang="pt-BR" sz="2800" dirty="0"/>
              <a:t>” ou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800" dirty="0"/>
              <a:t>Palavras similares que indiquem que os dados são processados da mesma forma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3000" dirty="0"/>
              <a:t>Representa um conjunto de estados válidos ou inválidos para as condições de entrada</a:t>
            </a:r>
            <a:endParaRPr lang="pt-BR" sz="3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86251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CLASSES DE EQUIVALÊNCIA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315436" y="1029318"/>
            <a:ext cx="11343164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Diretrizes para a definição das classes: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Se a condição de entrada especifica um </a:t>
            </a:r>
            <a:r>
              <a:rPr lang="pt-BR" sz="2400" b="1" dirty="0">
                <a:solidFill>
                  <a:srgbClr val="FF0000"/>
                </a:solidFill>
              </a:rPr>
              <a:t>intervalo de valores</a:t>
            </a:r>
            <a:r>
              <a:rPr lang="pt-BR" sz="2400" dirty="0"/>
              <a:t>, são definidas uma </a:t>
            </a:r>
            <a:r>
              <a:rPr lang="pt-BR" sz="2400" dirty="0" err="1"/>
              <a:t>classa</a:t>
            </a:r>
            <a:r>
              <a:rPr lang="pt-BR" sz="2400" dirty="0"/>
              <a:t> válida e duas inválidas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Se a condição de entrada especifica uma </a:t>
            </a:r>
            <a:r>
              <a:rPr lang="pt-BR" sz="2400" b="1" dirty="0">
                <a:solidFill>
                  <a:srgbClr val="FF0000"/>
                </a:solidFill>
              </a:rPr>
              <a:t>quantidade de valores</a:t>
            </a:r>
            <a:r>
              <a:rPr lang="pt-BR" sz="2400" dirty="0"/>
              <a:t>, são definidas uma classe válida e duas inválidas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Se a condição de entrada especifica um </a:t>
            </a:r>
            <a:r>
              <a:rPr lang="pt-BR" sz="2400" b="1" dirty="0">
                <a:solidFill>
                  <a:srgbClr val="FF0000"/>
                </a:solidFill>
              </a:rPr>
              <a:t>conjunto de valores determinados manipulados de forma diferente</a:t>
            </a:r>
            <a:r>
              <a:rPr lang="pt-BR" sz="2400" dirty="0"/>
              <a:t>, é definida uma classe válida para cada um desses valores e uma classe inválida com outro valor qualquer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6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Se a condição de </a:t>
            </a:r>
            <a:r>
              <a:rPr lang="pt-BR" sz="2400" b="1" dirty="0">
                <a:solidFill>
                  <a:srgbClr val="FF0000"/>
                </a:solidFill>
              </a:rPr>
              <a:t>entrada especifica uma situação do tipo “</a:t>
            </a:r>
            <a:r>
              <a:rPr lang="pt-BR" sz="2400" b="1" i="1" dirty="0">
                <a:solidFill>
                  <a:srgbClr val="FF0000"/>
                </a:solidFill>
              </a:rPr>
              <a:t>deve ser de tal forma</a:t>
            </a:r>
            <a:r>
              <a:rPr lang="pt-BR" sz="2400" b="1" dirty="0">
                <a:solidFill>
                  <a:srgbClr val="FF0000"/>
                </a:solidFill>
              </a:rPr>
              <a:t>”</a:t>
            </a:r>
            <a:r>
              <a:rPr lang="pt-BR" sz="2400" dirty="0"/>
              <a:t>, são definidas uma classe válida e uma inválida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4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Definidas as classes, deve-se definir casos de teste que cubram o maior número de classes</a:t>
            </a:r>
            <a:endParaRPr lang="pt-BR" sz="2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04F3-449B-6B49-8054-1AC4513BA105}"/>
              </a:ext>
            </a:extLst>
          </p:cNvPr>
          <p:cNvSpPr txBox="1"/>
          <p:nvPr/>
        </p:nvSpPr>
        <p:spPr>
          <a:xfrm>
            <a:off x="100872" y="6288505"/>
            <a:ext cx="9536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en-US" u="sng" dirty="0" err="1"/>
              <a:t>Dica</a:t>
            </a:r>
            <a:r>
              <a:rPr lang="en-US" u="sng" dirty="0"/>
              <a:t>:</a:t>
            </a:r>
            <a:r>
              <a:rPr lang="en-US" dirty="0"/>
              <a:t> </a:t>
            </a:r>
            <a:r>
              <a:rPr lang="en-US" dirty="0" err="1"/>
              <a:t>ler</a:t>
            </a:r>
            <a:r>
              <a:rPr lang="en-US" dirty="0"/>
              <a:t> o </a:t>
            </a:r>
            <a:r>
              <a:rPr lang="en-US" dirty="0" err="1"/>
              <a:t>Capítulo</a:t>
            </a:r>
            <a:r>
              <a:rPr lang="en-US" dirty="0"/>
              <a:t> 2 do </a:t>
            </a:r>
            <a:r>
              <a:rPr lang="en-US" dirty="0" err="1"/>
              <a:t>livro</a:t>
            </a:r>
            <a:r>
              <a:rPr lang="en-US" dirty="0"/>
              <a:t>, </a:t>
            </a:r>
            <a:r>
              <a:rPr lang="en-US" dirty="0" err="1"/>
              <a:t>pois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outros </a:t>
            </a:r>
            <a:r>
              <a:rPr lang="en-US" dirty="0" err="1"/>
              <a:t>exempos</a:t>
            </a:r>
            <a:r>
              <a:rPr lang="en-US" dirty="0"/>
              <a:t> </a:t>
            </a:r>
            <a:r>
              <a:rPr lang="en-US" dirty="0" err="1"/>
              <a:t>práticos</a:t>
            </a:r>
            <a:r>
              <a:rPr lang="en-US" dirty="0"/>
              <a:t> </a:t>
            </a:r>
            <a:r>
              <a:rPr lang="en-US" dirty="0" err="1"/>
              <a:t>dessas</a:t>
            </a:r>
            <a:r>
              <a:rPr lang="en-US" dirty="0"/>
              <a:t> classes de </a:t>
            </a:r>
            <a:r>
              <a:rPr lang="en-US" dirty="0" err="1"/>
              <a:t>equivalência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933F586-7C2F-1440-AEC5-E8F78ACFC1AF}"/>
              </a:ext>
            </a:extLst>
          </p:cNvPr>
          <p:cNvSpPr/>
          <p:nvPr/>
        </p:nvSpPr>
        <p:spPr>
          <a:xfrm>
            <a:off x="100872" y="6288505"/>
            <a:ext cx="9244296" cy="369332"/>
          </a:xfrm>
          <a:prstGeom prst="roundRect">
            <a:avLst>
              <a:gd name="adj" fmla="val 2623"/>
            </a:avLst>
          </a:prstGeom>
          <a:solidFill>
            <a:schemeClr val="accent4">
              <a:lumMod val="75000"/>
              <a:alpha val="2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buClr>
                <a:schemeClr val="accent4">
                  <a:lumMod val="75000"/>
                </a:schemeClr>
              </a:buClr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3174788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364423" y="1118799"/>
            <a:ext cx="1134316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u="sng"/>
              <a:t>1º passo:</a:t>
            </a:r>
            <a:r>
              <a:rPr lang="pt-BR" sz="2800"/>
              <a:t> definir classes de equivalência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 u="sng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u="sng"/>
              <a:t>2º passo:</a:t>
            </a:r>
            <a:r>
              <a:rPr lang="pt-BR" sz="2800"/>
              <a:t> definir casos de teste de forma a ter o menor número de casos de teste possível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60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/>
              <a:t>Considerando a especificação dada anteriormente, têm-se </a:t>
            </a:r>
            <a:r>
              <a:rPr lang="pt-BR" sz="2800" b="1">
                <a:solidFill>
                  <a:srgbClr val="FF0000"/>
                </a:solidFill>
              </a:rPr>
              <a:t>quatro entradas</a:t>
            </a:r>
            <a:r>
              <a:rPr lang="pt-BR" sz="2800"/>
              <a:t>: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80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b="1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pt-BR" sz="2600"/>
              <a:t> – tamanho da cadeia de caracteres</a:t>
            </a:r>
          </a:p>
          <a:p>
            <a:pPr lvl="1" algn="just">
              <a:buClr>
                <a:schemeClr val="accent4">
                  <a:lumMod val="75000"/>
                </a:schemeClr>
              </a:buClr>
            </a:pPr>
            <a:endParaRPr lang="pt-BR" sz="800" b="1">
              <a:solidFill>
                <a:schemeClr val="accent4">
                  <a:lumMod val="75000"/>
                </a:schemeClr>
              </a:solidFill>
            </a:endParaRP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b="1">
                <a:solidFill>
                  <a:schemeClr val="accent4">
                    <a:lumMod val="75000"/>
                  </a:schemeClr>
                </a:solidFill>
              </a:rPr>
              <a:t>CC</a:t>
            </a:r>
            <a:r>
              <a:rPr lang="pt-BR" sz="2600"/>
              <a:t> – uma cadeia de caracteres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b="1">
              <a:solidFill>
                <a:schemeClr val="accent4">
                  <a:lumMod val="75000"/>
                </a:schemeClr>
              </a:solidFill>
            </a:endParaRP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b="1">
                <a:solidFill>
                  <a:schemeClr val="accent4">
                    <a:lumMod val="75000"/>
                  </a:schemeClr>
                </a:solidFill>
              </a:rPr>
              <a:t>C</a:t>
            </a:r>
            <a:r>
              <a:rPr lang="pt-BR" sz="2600"/>
              <a:t> – um caractere a ser procurado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b="1">
              <a:solidFill>
                <a:schemeClr val="accent4">
                  <a:lumMod val="75000"/>
                </a:schemeClr>
              </a:solidFill>
            </a:endParaRP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b="1">
                <a:solidFill>
                  <a:schemeClr val="accent4">
                    <a:lumMod val="75000"/>
                  </a:schemeClr>
                </a:solidFill>
              </a:rPr>
              <a:t>O</a:t>
            </a:r>
            <a:r>
              <a:rPr lang="pt-BR" sz="2600"/>
              <a:t> – a opção por procurar mais caracteres</a:t>
            </a:r>
            <a:endParaRPr lang="pt-BR" sz="260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91751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429737" y="1216771"/>
            <a:ext cx="1117987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As variáveis </a:t>
            </a:r>
            <a:r>
              <a:rPr lang="pt-BR" sz="2800" b="1" dirty="0">
                <a:solidFill>
                  <a:srgbClr val="FF0000"/>
                </a:solidFill>
              </a:rPr>
              <a:t>CC e C não determinam classes de equivalência</a:t>
            </a:r>
            <a:r>
              <a:rPr lang="pt-BR" sz="2800" dirty="0"/>
              <a:t>, pois os caracteres podem ser quaisquer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O tamanho da cadeia </a:t>
            </a:r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(T)</a:t>
            </a:r>
            <a:r>
              <a:rPr lang="pt-BR" sz="2800" dirty="0"/>
              <a:t> deve estar no intervalo entre 1 e 20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A opção </a:t>
            </a:r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(O)</a:t>
            </a:r>
            <a:r>
              <a:rPr lang="pt-BR" sz="2800" dirty="0"/>
              <a:t> do usuário pode ser “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sim</a:t>
            </a:r>
            <a:r>
              <a:rPr lang="pt-BR" sz="2800" dirty="0"/>
              <a:t>” ou “</a:t>
            </a:r>
            <a:r>
              <a:rPr lang="pt-BR" sz="2800" i="1" dirty="0">
                <a:solidFill>
                  <a:schemeClr val="accent4">
                    <a:lumMod val="75000"/>
                  </a:schemeClr>
                </a:solidFill>
              </a:rPr>
              <a:t>não</a:t>
            </a:r>
            <a:r>
              <a:rPr lang="pt-BR" sz="2800" dirty="0"/>
              <a:t>”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No domínio de </a:t>
            </a:r>
            <a:r>
              <a:rPr lang="pt-BR" sz="2800" b="1" dirty="0">
                <a:solidFill>
                  <a:srgbClr val="FF0000"/>
                </a:solidFill>
              </a:rPr>
              <a:t>saída</a:t>
            </a:r>
            <a:r>
              <a:rPr lang="pt-BR" sz="2800" dirty="0"/>
              <a:t>, têm-se duas alternativas:</a:t>
            </a:r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600" dirty="0"/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600" dirty="0"/>
              <a:t>A posição na qual o caractere foi encontrado na cadeia de caracteres</a:t>
            </a:r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endParaRPr lang="pt-BR" sz="600" dirty="0"/>
          </a:p>
          <a:p>
            <a:pPr marL="971550" lvl="1" indent="-514350" algn="just">
              <a:buClr>
                <a:schemeClr val="accent4">
                  <a:lumMod val="75000"/>
                </a:schemeClr>
              </a:buClr>
              <a:buFont typeface="+mj-lt"/>
              <a:buAutoNum type="arabicPeriod"/>
            </a:pPr>
            <a:r>
              <a:rPr lang="pt-BR" sz="2600" dirty="0"/>
              <a:t>Uma mensagem declarando que o caractere não foi encontrado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Uma partição </a:t>
            </a:r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(SCC) </a:t>
            </a:r>
            <a:r>
              <a:rPr lang="pt-BR" sz="2800" dirty="0"/>
              <a:t>onde a </a:t>
            </a:r>
            <a:r>
              <a:rPr lang="pt-BR" sz="2800" dirty="0" err="1"/>
              <a:t>string</a:t>
            </a:r>
            <a:r>
              <a:rPr lang="pt-BR" sz="2800" dirty="0"/>
              <a:t> </a:t>
            </a:r>
            <a:r>
              <a:rPr lang="pt-BR" sz="2800" b="1" dirty="0">
                <a:solidFill>
                  <a:srgbClr val="FF0000"/>
                </a:solidFill>
              </a:rPr>
              <a:t>contém o caractere</a:t>
            </a:r>
            <a:r>
              <a:rPr lang="pt-BR" sz="2800" dirty="0"/>
              <a:t>, e outra que </a:t>
            </a:r>
            <a:r>
              <a:rPr lang="pt-BR" sz="2800" b="1" dirty="0">
                <a:solidFill>
                  <a:srgbClr val="FF0000"/>
                </a:solidFill>
              </a:rPr>
              <a:t>não contém</a:t>
            </a:r>
            <a:endParaRPr lang="pt-BR" sz="2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4467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6B832B1-08C8-3849-AECA-8641B7AC433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47411" y="2271575"/>
              <a:ext cx="10144527" cy="256032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029857">
                      <a:extLst>
                        <a:ext uri="{9D8B030D-6E8A-4147-A177-3AD203B41FA5}">
                          <a16:colId xmlns:a16="http://schemas.microsoft.com/office/drawing/2014/main" val="1735836787"/>
                        </a:ext>
                      </a:extLst>
                    </a:gridCol>
                    <a:gridCol w="3477986">
                      <a:extLst>
                        <a:ext uri="{9D8B030D-6E8A-4147-A177-3AD203B41FA5}">
                          <a16:colId xmlns:a16="http://schemas.microsoft.com/office/drawing/2014/main" val="3708458570"/>
                        </a:ext>
                      </a:extLst>
                    </a:gridCol>
                    <a:gridCol w="3636684">
                      <a:extLst>
                        <a:ext uri="{9D8B030D-6E8A-4147-A177-3AD203B41FA5}">
                          <a16:colId xmlns:a16="http://schemas.microsoft.com/office/drawing/2014/main" val="8606047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Variável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0536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≤20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&lt;1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&gt;20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604196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Sim,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Não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Resposta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Inadequada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3031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SCC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Caractere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que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pertence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à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cadeia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Caractere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que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não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pertence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à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cadeia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177537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6B832B1-08C8-3849-AECA-8641B7AC43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7682187"/>
                  </p:ext>
                </p:extLst>
              </p:nvPr>
            </p:nvGraphicFramePr>
            <p:xfrm>
              <a:off x="947411" y="2271575"/>
              <a:ext cx="10144527" cy="256032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029857">
                      <a:extLst>
                        <a:ext uri="{9D8B030D-6E8A-4147-A177-3AD203B41FA5}">
                          <a16:colId xmlns:a16="http://schemas.microsoft.com/office/drawing/2014/main" val="1735836787"/>
                        </a:ext>
                      </a:extLst>
                    </a:gridCol>
                    <a:gridCol w="3477986">
                      <a:extLst>
                        <a:ext uri="{9D8B030D-6E8A-4147-A177-3AD203B41FA5}">
                          <a16:colId xmlns:a16="http://schemas.microsoft.com/office/drawing/2014/main" val="3708458570"/>
                        </a:ext>
                      </a:extLst>
                    </a:gridCol>
                    <a:gridCol w="3636684">
                      <a:extLst>
                        <a:ext uri="{9D8B030D-6E8A-4147-A177-3AD203B41FA5}">
                          <a16:colId xmlns:a16="http://schemas.microsoft.com/office/drawing/2014/main" val="86060473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Variável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05368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7215" t="-186842" r="-105254" b="-306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79062" t="-186842" r="-670" b="-306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6041962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Sim,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Não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Resposta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Inadequada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3031833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SCC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Caractere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que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pertence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à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cadeia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Caractere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que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não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pertence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à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cadeia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177537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3486E19-B6FE-564C-9CAD-189A62906E2B}"/>
              </a:ext>
            </a:extLst>
          </p:cNvPr>
          <p:cNvSpPr txBox="1"/>
          <p:nvPr/>
        </p:nvSpPr>
        <p:spPr>
          <a:xfrm>
            <a:off x="429737" y="1216771"/>
            <a:ext cx="111798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/>
              <a:t>Classes de </a:t>
            </a:r>
            <a:r>
              <a:rPr lang="en-US" sz="2800" dirty="0" err="1"/>
              <a:t>equivalência</a:t>
            </a:r>
            <a:r>
              <a:rPr lang="en-US" sz="2800" dirty="0"/>
              <a:t> da </a:t>
            </a:r>
            <a:r>
              <a:rPr lang="en-US" sz="2800" dirty="0" err="1"/>
              <a:t>especificação</a:t>
            </a:r>
            <a:r>
              <a:rPr lang="en-US" sz="2800" dirty="0"/>
              <a:t> </a:t>
            </a:r>
            <a:r>
              <a:rPr lang="en-US" sz="2800" dirty="0" err="1"/>
              <a:t>Cadeia</a:t>
            </a:r>
            <a:r>
              <a:rPr lang="en-US" sz="2800" dirty="0"/>
              <a:t> de </a:t>
            </a:r>
            <a:r>
              <a:rPr lang="en-US" sz="2800" dirty="0" err="1"/>
              <a:t>Caracteres</a:t>
            </a:r>
            <a:endParaRPr lang="en-US" sz="2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98770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B832B1-08C8-3849-AECA-8641B7AC4335}"/>
              </a:ext>
            </a:extLst>
          </p:cNvPr>
          <p:cNvGraphicFramePr>
            <a:graphicFrameLocks noGrp="1"/>
          </p:cNvGraphicFramePr>
          <p:nvPr/>
        </p:nvGraphicFramePr>
        <p:xfrm>
          <a:off x="996398" y="1993990"/>
          <a:ext cx="9698818" cy="36576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919304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815241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752529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857048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6354696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Variáveis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de entrada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Saída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Esperada</a:t>
                      </a:r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536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0419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Entre com um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inteiro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entre 1 e 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03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Entre com um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inteiro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entre 1 e 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775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abc</a:t>
                      </a:r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c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3 da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&lt;o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programa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deve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continuar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564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k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não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pertence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à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940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&lt;o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programa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deve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encerrar</a:t>
                      </a:r>
                      <a:r>
                        <a:rPr lang="en-US" sz="2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697066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486E19-B6FE-564C-9CAD-189A62906E2B}"/>
              </a:ext>
            </a:extLst>
          </p:cNvPr>
          <p:cNvSpPr txBox="1"/>
          <p:nvPr/>
        </p:nvSpPr>
        <p:spPr>
          <a:xfrm>
            <a:off x="429737" y="1216771"/>
            <a:ext cx="111798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Casos de testes para o critério </a:t>
            </a:r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Particionamento de Equivalência</a:t>
            </a:r>
            <a:endParaRPr lang="pt-BR" sz="26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2381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DISCUSSÃO SOBRE O CRITÉRIO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429737" y="1216771"/>
            <a:ext cx="11179877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Vantagem</a:t>
            </a:r>
            <a:r>
              <a:rPr lang="pt-BR" sz="2800" dirty="0"/>
              <a:t>: resulta em casos de teste reduzidos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OK quando as entradas podem ser facilmente identificadas na especificação do problema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b="1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b="1" dirty="0">
                <a:solidFill>
                  <a:schemeClr val="accent4">
                    <a:lumMod val="75000"/>
                  </a:schemeClr>
                </a:solidFill>
              </a:rPr>
              <a:t>Desvantagem</a:t>
            </a:r>
            <a:r>
              <a:rPr lang="pt-BR" sz="2800" dirty="0"/>
              <a:t>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Quando a entrada é simples, mas o processamento é complexo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Grupos de dados de mesma partição podem não ser processados de forma idêntica</a:t>
            </a:r>
            <a:endParaRPr lang="pt-BR" sz="2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0617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3EF685-7ADD-EF4E-BFA9-9B5BF8CB7DBA}"/>
              </a:ext>
            </a:extLst>
          </p:cNvPr>
          <p:cNvSpPr/>
          <p:nvPr/>
        </p:nvSpPr>
        <p:spPr>
          <a:xfrm>
            <a:off x="0" y="2857499"/>
            <a:ext cx="12192000" cy="177981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2. ANÁLISE DO VALOR LIMITE</a:t>
            </a:r>
          </a:p>
        </p:txBody>
      </p:sp>
    </p:spTree>
    <p:extLst>
      <p:ext uri="{BB962C8B-B14F-4D97-AF65-F5344CB8AC3E}">
        <p14:creationId xmlns:p14="http://schemas.microsoft.com/office/powerpoint/2010/main" val="15551963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ANÁLISE DO VALOR LIMITE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405568" y="1290004"/>
            <a:ext cx="1126152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i="1" u="sng"/>
              <a:t>Assumption</a:t>
            </a:r>
            <a:r>
              <a:rPr lang="pt-BR" sz="2800" u="sng"/>
              <a:t>:</a:t>
            </a:r>
            <a:r>
              <a:rPr lang="pt-BR" sz="2800"/>
              <a:t> Casos de teste que exploram condições limites têm uma maior probabilidade de encontrar defeitos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/>
              <a:t>É usado em conjunto com o particionamento de equivalência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/>
              <a:t>Ao invés de escolher valores aleatórios, os dados de teste devem ser selecionados de forma </a:t>
            </a:r>
            <a:r>
              <a:rPr lang="pt-BR" sz="2800" b="1">
                <a:solidFill>
                  <a:srgbClr val="FF0000"/>
                </a:solidFill>
              </a:rPr>
              <a:t>a explorar os limites de cada classe </a:t>
            </a:r>
            <a:r>
              <a:rPr lang="pt-BR" sz="2800"/>
              <a:t>de equivalência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80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/>
              <a:t>Casos de teste que correspondem a valores </a:t>
            </a:r>
            <a:r>
              <a:rPr lang="pt-BR" sz="2600" b="1" i="1"/>
              <a:t>sobre</a:t>
            </a:r>
            <a:r>
              <a:rPr lang="pt-BR" sz="2600"/>
              <a:t>, </a:t>
            </a:r>
            <a:r>
              <a:rPr lang="pt-BR" sz="2600" b="1" i="1"/>
              <a:t>acima</a:t>
            </a:r>
            <a:r>
              <a:rPr lang="pt-BR" sz="2600"/>
              <a:t>, ou </a:t>
            </a:r>
            <a:r>
              <a:rPr lang="pt-BR" sz="2600" b="1" i="1"/>
              <a:t>abaixo</a:t>
            </a:r>
            <a:r>
              <a:rPr lang="pt-BR" sz="2600"/>
              <a:t> dos valores de limite</a:t>
            </a:r>
            <a:endParaRPr lang="pt-BR" sz="260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6977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DIRETRIZES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478720" y="1290004"/>
            <a:ext cx="11261523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Se uma classe válida estiver </a:t>
            </a:r>
            <a:r>
              <a:rPr lang="pt-BR" sz="2800" b="1" dirty="0">
                <a:solidFill>
                  <a:srgbClr val="FF0000"/>
                </a:solidFill>
              </a:rPr>
              <a:t>no intervalo −1,0 e +1,0</a:t>
            </a:r>
            <a:r>
              <a:rPr lang="pt-BR" sz="2800" dirty="0"/>
              <a:t>, devem ser definidos os seguintes dados de teste: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>
                <a:solidFill>
                  <a:schemeClr val="accent4">
                    <a:lumMod val="75000"/>
                  </a:schemeClr>
                </a:solidFill>
              </a:rPr>
              <a:t>−1,0</a:t>
            </a:r>
            <a:r>
              <a:rPr lang="pt-BR" sz="2600" dirty="0"/>
              <a:t>; </a:t>
            </a:r>
            <a:r>
              <a:rPr lang="pt-BR" sz="2600" dirty="0">
                <a:solidFill>
                  <a:schemeClr val="accent4">
                    <a:lumMod val="75000"/>
                  </a:schemeClr>
                </a:solidFill>
              </a:rPr>
              <a:t>1,0</a:t>
            </a:r>
            <a:r>
              <a:rPr lang="pt-BR" sz="2600" dirty="0"/>
              <a:t>; </a:t>
            </a:r>
            <a:r>
              <a:rPr lang="pt-BR" sz="2600" dirty="0">
                <a:solidFill>
                  <a:schemeClr val="accent4">
                    <a:lumMod val="75000"/>
                  </a:schemeClr>
                </a:solidFill>
              </a:rPr>
              <a:t>−1,001 </a:t>
            </a:r>
            <a:r>
              <a:rPr lang="pt-BR" sz="2600" dirty="0"/>
              <a:t>e </a:t>
            </a:r>
            <a:r>
              <a:rPr lang="pt-BR" sz="2600" dirty="0">
                <a:solidFill>
                  <a:schemeClr val="accent4">
                    <a:lumMod val="75000"/>
                  </a:schemeClr>
                </a:solidFill>
              </a:rPr>
              <a:t>+1,001</a:t>
            </a:r>
            <a:r>
              <a:rPr lang="pt-BR" sz="2600" dirty="0"/>
              <a:t>;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Se é especificada uma </a:t>
            </a:r>
            <a:r>
              <a:rPr lang="pt-BR" sz="2800" b="1" dirty="0">
                <a:solidFill>
                  <a:srgbClr val="FF0000"/>
                </a:solidFill>
              </a:rPr>
              <a:t>quantidade de valores</a:t>
            </a:r>
            <a:r>
              <a:rPr lang="pt-BR" sz="2800" dirty="0"/>
              <a:t>, por exemplo, de 1 a 255, os dados de teste devem ter: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nenhum valor de entrada</a:t>
            </a:r>
          </a:p>
          <a:p>
            <a:pPr marL="628650" lvl="1" indent="-17145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somente um valor de entrada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255 valores de entrada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256 valores de entrada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Repetir as diretrizes para condições de saída</a:t>
            </a:r>
            <a:endParaRPr lang="pt-BR" sz="2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24289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17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B832B1-08C8-3849-AECA-8641B7AC4335}"/>
              </a:ext>
            </a:extLst>
          </p:cNvPr>
          <p:cNvGraphicFramePr>
            <a:graphicFrameLocks noGrp="1"/>
          </p:cNvGraphicFramePr>
          <p:nvPr/>
        </p:nvGraphicFramePr>
        <p:xfrm>
          <a:off x="996397" y="1604712"/>
          <a:ext cx="10022054" cy="2966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04564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2466239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627529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717177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5406545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Variáveis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de entrada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Saída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Esperada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536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0419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Entre com um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inteiro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entre 1 e 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03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Entre com um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inteiro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entre 1 e 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775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a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1 da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&lt;o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programa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deve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continuar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564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x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não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pertence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à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940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&lt;o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programa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deve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encerrar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697066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486E19-B6FE-564C-9CAD-189A62906E2B}"/>
              </a:ext>
            </a:extLst>
          </p:cNvPr>
          <p:cNvSpPr txBox="1"/>
          <p:nvPr/>
        </p:nvSpPr>
        <p:spPr>
          <a:xfrm>
            <a:off x="417485" y="934533"/>
            <a:ext cx="111798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/>
              <a:t>Casos de testes para o critério </a:t>
            </a:r>
            <a:r>
              <a:rPr lang="pt-BR" sz="2800" b="1">
                <a:solidFill>
                  <a:schemeClr val="accent4">
                    <a:lumMod val="75000"/>
                  </a:schemeClr>
                </a:solidFill>
              </a:rPr>
              <a:t>Análise do Valor Limite</a:t>
            </a:r>
            <a:endParaRPr lang="pt-BR" sz="2600" b="1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2B972CF-C0AF-B14B-ADA8-B3638B4A2527}"/>
              </a:ext>
            </a:extLst>
          </p:cNvPr>
          <p:cNvGraphicFramePr>
            <a:graphicFrameLocks noGrp="1"/>
          </p:cNvGraphicFramePr>
          <p:nvPr/>
        </p:nvGraphicFramePr>
        <p:xfrm>
          <a:off x="996397" y="4712053"/>
          <a:ext cx="10022054" cy="1483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0249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2482215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638701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727410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5393479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abcdefghijklmnopqrst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a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1 da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&lt;o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programa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deve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continuar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564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t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20 da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940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&lt;o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programa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deve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encerrar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69706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B23940F-04F7-F941-B215-D3CEEB1C91E3}"/>
              </a:ext>
            </a:extLst>
          </p:cNvPr>
          <p:cNvSpPr txBox="1"/>
          <p:nvPr/>
        </p:nvSpPr>
        <p:spPr>
          <a:xfrm>
            <a:off x="996397" y="6266187"/>
            <a:ext cx="7700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4">
                  <a:lumMod val="75000"/>
                </a:schemeClr>
              </a:buClr>
              <a:buFont typeface="Wingdings" pitchFamily="2" charset="2"/>
              <a:buChar char="Ø"/>
            </a:pPr>
            <a:r>
              <a:rPr lang="pt-BR" dirty="0"/>
              <a:t>Quebra da tabela denota uma segunda execução do programa</a:t>
            </a:r>
          </a:p>
        </p:txBody>
      </p:sp>
    </p:spTree>
    <p:extLst>
      <p:ext uri="{BB962C8B-B14F-4D97-AF65-F5344CB8AC3E}">
        <p14:creationId xmlns:p14="http://schemas.microsoft.com/office/powerpoint/2010/main" val="37139109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3EF685-7ADD-EF4E-BFA9-9B5BF8CB7DBA}"/>
              </a:ext>
            </a:extLst>
          </p:cNvPr>
          <p:cNvSpPr/>
          <p:nvPr/>
        </p:nvSpPr>
        <p:spPr>
          <a:xfrm>
            <a:off x="0" y="2857499"/>
            <a:ext cx="12192000" cy="177981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3. TESTE FUNCIONAL SISTEMÁTICO</a:t>
            </a:r>
          </a:p>
        </p:txBody>
      </p:sp>
    </p:spTree>
    <p:extLst>
      <p:ext uri="{BB962C8B-B14F-4D97-AF65-F5344CB8AC3E}">
        <p14:creationId xmlns:p14="http://schemas.microsoft.com/office/powerpoint/2010/main" val="8989560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TESTE FUNCIONAL SISTEMÁTICO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186509" y="1056351"/>
            <a:ext cx="11700691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Combina os critérios de </a:t>
            </a:r>
            <a:r>
              <a:rPr lang="pt-BR" sz="2600" i="1" dirty="0">
                <a:solidFill>
                  <a:schemeClr val="accent4">
                    <a:lumMod val="75000"/>
                  </a:schemeClr>
                </a:solidFill>
              </a:rPr>
              <a:t>Particionamento de Equivalência </a:t>
            </a:r>
            <a:r>
              <a:rPr lang="pt-BR" sz="2600" b="1" i="1" dirty="0">
                <a:solidFill>
                  <a:schemeClr val="accent4">
                    <a:lumMod val="75000"/>
                  </a:schemeClr>
                </a:solidFill>
              </a:rPr>
              <a:t>&amp;</a:t>
            </a:r>
            <a:r>
              <a:rPr lang="pt-BR" sz="2600" dirty="0"/>
              <a:t> </a:t>
            </a:r>
            <a:r>
              <a:rPr lang="pt-BR" sz="2600" i="1" dirty="0">
                <a:solidFill>
                  <a:schemeClr val="accent4">
                    <a:lumMod val="75000"/>
                  </a:schemeClr>
                </a:solidFill>
              </a:rPr>
              <a:t>Análise do Valor Limite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Este critério requer </a:t>
            </a:r>
            <a:r>
              <a:rPr lang="pt-BR" sz="2600" b="1" i="1" dirty="0">
                <a:solidFill>
                  <a:srgbClr val="FF0000"/>
                </a:solidFill>
              </a:rPr>
              <a:t>ao menos dois casos de teste </a:t>
            </a:r>
            <a:r>
              <a:rPr lang="pt-BR" sz="2600" dirty="0"/>
              <a:t>de cada partição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Minimiza que defeitos coincidentes mascarem falhas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Diretrizes, tanto para valores de entrada quanto de saída: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Para </a:t>
            </a:r>
            <a:r>
              <a:rPr lang="pt-BR" sz="2400" b="1" dirty="0">
                <a:solidFill>
                  <a:srgbClr val="FF0000"/>
                </a:solidFill>
              </a:rPr>
              <a:t>valores discretos</a:t>
            </a:r>
            <a:r>
              <a:rPr lang="pt-BR" sz="2400" dirty="0"/>
              <a:t>: testar todos os valores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4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400" dirty="0"/>
              <a:t>Para </a:t>
            </a:r>
            <a:r>
              <a:rPr lang="pt-BR" sz="2400" b="1" dirty="0">
                <a:solidFill>
                  <a:srgbClr val="FF0000"/>
                </a:solidFill>
              </a:rPr>
              <a:t>intervalos de valores</a:t>
            </a:r>
            <a:r>
              <a:rPr lang="pt-BR" sz="2400" dirty="0"/>
              <a:t>: testar os extremos e um valor no interior</a:t>
            </a:r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endParaRPr lang="pt-BR" sz="200" dirty="0"/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200" dirty="0"/>
              <a:t>Se valor tem 16 bits, os valores -32768 e +32767 devem ser selecionados</a:t>
            </a:r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endParaRPr lang="pt-BR" sz="200" dirty="0"/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200" dirty="0"/>
              <a:t>Números reais: deve-se definir uma margem de erro, selecionar valores bem pequenos e zero</a:t>
            </a:r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endParaRPr lang="pt-BR" sz="200" dirty="0"/>
          </a:p>
          <a:p>
            <a:pPr marL="1371600" lvl="2" indent="-4572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200" dirty="0"/>
              <a:t>Texto: deve explorar comprimentos variáveis, alfabéticos, alfanuméricos, caracteres especiais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600" dirty="0"/>
              <a:t>Valores imediatamente </a:t>
            </a:r>
            <a:r>
              <a:rPr lang="pt-BR" sz="2600" b="1" dirty="0">
                <a:solidFill>
                  <a:srgbClr val="FF0000"/>
                </a:solidFill>
              </a:rPr>
              <a:t>fora do limite </a:t>
            </a:r>
            <a:r>
              <a:rPr lang="pt-BR" sz="2600" dirty="0"/>
              <a:t>para verificar se o software os rejeita</a:t>
            </a:r>
            <a:endParaRPr lang="pt-BR" sz="2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93628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19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B832B1-08C8-3849-AECA-8641B7AC4335}"/>
              </a:ext>
            </a:extLst>
          </p:cNvPr>
          <p:cNvGraphicFramePr>
            <a:graphicFrameLocks noGrp="1"/>
          </p:cNvGraphicFramePr>
          <p:nvPr/>
        </p:nvGraphicFramePr>
        <p:xfrm>
          <a:off x="996396" y="1489429"/>
          <a:ext cx="10022054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04564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2466239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627529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717177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5406545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Variáveis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de entrada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Saída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Esperada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536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0419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Entre com um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inteiro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entre 1 e 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03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Entre com um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inteiro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entre 1 e 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775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!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''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''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não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pertence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à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486E19-B6FE-564C-9CAD-189A62906E2B}"/>
              </a:ext>
            </a:extLst>
          </p:cNvPr>
          <p:cNvSpPr txBox="1"/>
          <p:nvPr/>
        </p:nvSpPr>
        <p:spPr>
          <a:xfrm>
            <a:off x="417485" y="934533"/>
            <a:ext cx="111798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Casos de testes para o critério Funcional Sistemático</a:t>
            </a:r>
            <a:endParaRPr lang="pt-BR" sz="2600" b="1" dirty="0">
              <a:solidFill>
                <a:srgbClr val="FF0000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2B972CF-C0AF-B14B-ADA8-B3638B4A2527}"/>
              </a:ext>
            </a:extLst>
          </p:cNvPr>
          <p:cNvGraphicFramePr>
            <a:graphicFrameLocks noGrp="1"/>
          </p:cNvGraphicFramePr>
          <p:nvPr/>
        </p:nvGraphicFramePr>
        <p:xfrm>
          <a:off x="996396" y="3886995"/>
          <a:ext cx="10022054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0249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2482215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638701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727410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5393479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!"#$%&amp;()*+'/01234567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!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!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1 da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''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''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 da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564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+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10 da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940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6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19 da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6970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7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20 da </a:t>
                      </a:r>
                      <a:r>
                        <a:rPr lang="en-US" sz="18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68957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628D7ED-3823-3D49-B38A-21A0D4251C6F}"/>
              </a:ext>
            </a:extLst>
          </p:cNvPr>
          <p:cNvGraphicFramePr>
            <a:graphicFrameLocks noGrp="1"/>
          </p:cNvGraphicFramePr>
          <p:nvPr/>
        </p:nvGraphicFramePr>
        <p:xfrm>
          <a:off x="996396" y="3429339"/>
          <a:ext cx="10022054" cy="3708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0249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2482215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638701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727410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5393479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}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~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~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não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pertence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à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F4F9C5A-BED9-EF44-A6C4-B384280676A7}"/>
              </a:ext>
            </a:extLst>
          </p:cNvPr>
          <p:cNvGraphicFramePr>
            <a:graphicFrameLocks noGrp="1"/>
          </p:cNvGraphicFramePr>
          <p:nvPr/>
        </p:nvGraphicFramePr>
        <p:xfrm>
          <a:off x="996396" y="5828011"/>
          <a:ext cx="10022054" cy="3708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0249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2482215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638701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727410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5393479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ab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b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 da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59893C-A562-204B-84A9-09CFE7770BB6}"/>
              </a:ext>
            </a:extLst>
          </p:cNvPr>
          <p:cNvGraphicFramePr>
            <a:graphicFrameLocks noGrp="1"/>
          </p:cNvGraphicFramePr>
          <p:nvPr/>
        </p:nvGraphicFramePr>
        <p:xfrm>
          <a:off x="996396" y="6285667"/>
          <a:ext cx="10022054" cy="3708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80249">
                  <a:extLst>
                    <a:ext uri="{9D8B030D-6E8A-4147-A177-3AD203B41FA5}">
                      <a16:colId xmlns:a16="http://schemas.microsoft.com/office/drawing/2014/main" val="1735836787"/>
                    </a:ext>
                  </a:extLst>
                </a:gridCol>
                <a:gridCol w="2482215">
                  <a:extLst>
                    <a:ext uri="{9D8B030D-6E8A-4147-A177-3AD203B41FA5}">
                      <a16:colId xmlns:a16="http://schemas.microsoft.com/office/drawing/2014/main" val="3708458570"/>
                    </a:ext>
                  </a:extLst>
                </a:gridCol>
                <a:gridCol w="638701">
                  <a:extLst>
                    <a:ext uri="{9D8B030D-6E8A-4147-A177-3AD203B41FA5}">
                      <a16:colId xmlns:a16="http://schemas.microsoft.com/office/drawing/2014/main" val="3065588328"/>
                    </a:ext>
                  </a:extLst>
                </a:gridCol>
                <a:gridCol w="727410">
                  <a:extLst>
                    <a:ext uri="{9D8B030D-6E8A-4147-A177-3AD203B41FA5}">
                      <a16:colId xmlns:a16="http://schemas.microsoft.com/office/drawing/2014/main" val="695169819"/>
                    </a:ext>
                  </a:extLst>
                </a:gridCol>
                <a:gridCol w="5393479">
                  <a:extLst>
                    <a:ext uri="{9D8B030D-6E8A-4147-A177-3AD203B41FA5}">
                      <a16:colId xmlns:a16="http://schemas.microsoft.com/office/drawing/2014/main" val="41502575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a2b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caractere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aparece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posição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 da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cadeia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FFF4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274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1968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45E984-7B8A-A73D-701A-DDB912BF28E2}"/>
              </a:ext>
            </a:extLst>
          </p:cNvPr>
          <p:cNvSpPr txBox="1"/>
          <p:nvPr/>
        </p:nvSpPr>
        <p:spPr>
          <a:xfrm>
            <a:off x="191724" y="3266765"/>
            <a:ext cx="6948503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Protótipo:</a:t>
            </a:r>
            <a:r>
              <a:rPr lang="pt-BR" sz="2400" dirty="0"/>
              <a:t> </a:t>
            </a:r>
          </a:p>
          <a:p>
            <a:pPr algn="ctr"/>
            <a:r>
              <a:rPr lang="pt-BR" b="1" dirty="0" err="1">
                <a:latin typeface="Consolas" panose="020B0609020204030204" pitchFamily="49" charset="0"/>
              </a:rPr>
              <a:t>int</a:t>
            </a:r>
            <a:r>
              <a:rPr lang="pt-BR" b="1" dirty="0"/>
              <a:t> </a:t>
            </a:r>
            <a:r>
              <a:rPr lang="pt-BR" b="1" dirty="0" err="1">
                <a:latin typeface="Consolas" panose="020B0609020204030204" pitchFamily="49" charset="0"/>
              </a:rPr>
              <a:t>confAmbiental</a:t>
            </a:r>
            <a:r>
              <a:rPr lang="pt-BR" b="1" dirty="0">
                <a:latin typeface="Consolas" panose="020B0609020204030204" pitchFamily="49" charset="0"/>
              </a:rPr>
              <a:t>(</a:t>
            </a:r>
            <a:r>
              <a:rPr lang="pt-BR" b="1" dirty="0" err="1">
                <a:latin typeface="Consolas" panose="020B0609020204030204" pitchFamily="49" charset="0"/>
              </a:rPr>
              <a:t>float</a:t>
            </a:r>
            <a:r>
              <a:rPr lang="pt-BR" b="1" dirty="0">
                <a:latin typeface="Consolas" panose="020B0609020204030204" pitchFamily="49" charset="0"/>
              </a:rPr>
              <a:t> t, </a:t>
            </a:r>
            <a:r>
              <a:rPr lang="pt-BR" b="1" dirty="0" err="1">
                <a:latin typeface="Consolas" panose="020B0609020204030204" pitchFamily="49" charset="0"/>
              </a:rPr>
              <a:t>float</a:t>
            </a:r>
            <a:r>
              <a:rPr lang="pt-BR" b="1" dirty="0">
                <a:latin typeface="Consolas" panose="020B0609020204030204" pitchFamily="49" charset="0"/>
              </a:rPr>
              <a:t> u, </a:t>
            </a:r>
            <a:r>
              <a:rPr lang="pt-BR" b="1" dirty="0" err="1">
                <a:latin typeface="Consolas" panose="020B0609020204030204" pitchFamily="49" charset="0"/>
              </a:rPr>
              <a:t>float</a:t>
            </a:r>
            <a:r>
              <a:rPr lang="pt-BR" b="1" dirty="0">
                <a:latin typeface="Consolas" panose="020B0609020204030204" pitchFamily="49" charset="0"/>
              </a:rPr>
              <a:t> v)</a:t>
            </a:r>
          </a:p>
          <a:p>
            <a:endParaRPr lang="pt-BR" sz="2000" dirty="0"/>
          </a:p>
          <a:p>
            <a:r>
              <a:rPr lang="pt-BR" b="1" dirty="0"/>
              <a:t>Entradas:</a:t>
            </a:r>
          </a:p>
          <a:p>
            <a:r>
              <a:rPr lang="pt-BR" dirty="0">
                <a:latin typeface="Consolas" panose="020B0609020204030204" pitchFamily="49" charset="0"/>
              </a:rPr>
              <a:t>‘t’ (</a:t>
            </a:r>
            <a:r>
              <a:rPr lang="pt-BR" dirty="0" err="1">
                <a:latin typeface="Consolas" panose="020B0609020204030204" pitchFamily="49" charset="0"/>
              </a:rPr>
              <a:t>float</a:t>
            </a:r>
            <a:r>
              <a:rPr lang="pt-BR" dirty="0">
                <a:latin typeface="Consolas" panose="020B0609020204030204" pitchFamily="49" charset="0"/>
              </a:rPr>
              <a:t>)</a:t>
            </a:r>
            <a:r>
              <a:rPr lang="pt-BR" dirty="0"/>
              <a:t>: um número racional representando a temperatura</a:t>
            </a:r>
          </a:p>
          <a:p>
            <a:r>
              <a:rPr lang="pt-BR" dirty="0">
                <a:latin typeface="Consolas" panose="020B0609020204030204" pitchFamily="49" charset="0"/>
              </a:rPr>
              <a:t>‘u’ (</a:t>
            </a:r>
            <a:r>
              <a:rPr lang="pt-BR" dirty="0" err="1">
                <a:latin typeface="Consolas" panose="020B0609020204030204" pitchFamily="49" charset="0"/>
              </a:rPr>
              <a:t>float</a:t>
            </a:r>
            <a:r>
              <a:rPr lang="pt-BR" dirty="0">
                <a:latin typeface="Consolas" panose="020B0609020204030204" pitchFamily="49" charset="0"/>
              </a:rPr>
              <a:t>)</a:t>
            </a:r>
            <a:r>
              <a:rPr lang="pt-BR" dirty="0"/>
              <a:t>: um número racional representando a umidade</a:t>
            </a:r>
          </a:p>
          <a:p>
            <a:r>
              <a:rPr lang="pt-BR" dirty="0">
                <a:latin typeface="Consolas" panose="020B0609020204030204" pitchFamily="49" charset="0"/>
              </a:rPr>
              <a:t>‘v’ (</a:t>
            </a:r>
            <a:r>
              <a:rPr lang="pt-BR" dirty="0" err="1">
                <a:latin typeface="Consolas" panose="020B0609020204030204" pitchFamily="49" charset="0"/>
              </a:rPr>
              <a:t>float</a:t>
            </a:r>
            <a:r>
              <a:rPr lang="pt-BR" dirty="0">
                <a:latin typeface="Consolas" panose="020B0609020204030204" pitchFamily="49" charset="0"/>
              </a:rPr>
              <a:t>)</a:t>
            </a:r>
            <a:r>
              <a:rPr lang="pt-BR" dirty="0"/>
              <a:t>: um número racional representando a velocidade do ar</a:t>
            </a:r>
          </a:p>
          <a:p>
            <a:endParaRPr lang="pt-BR" dirty="0"/>
          </a:p>
          <a:p>
            <a:r>
              <a:rPr lang="pt-BR" b="1" dirty="0"/>
              <a:t>Saídas:</a:t>
            </a:r>
          </a:p>
          <a:p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/>
              <a:t>: um código (vide tabela) que indica se o ambiente se encontra na zona de conforto (</a:t>
            </a:r>
            <a:r>
              <a:rPr lang="pt-BR" dirty="0" err="1"/>
              <a:t>cod</a:t>
            </a:r>
            <a:r>
              <a:rPr lang="pt-BR" dirty="0"/>
              <a:t>: 7) ou qual parâmetro se encontra desregulado.</a:t>
            </a:r>
          </a:p>
        </p:txBody>
      </p:sp>
      <p:sp>
        <p:nvSpPr>
          <p:cNvPr id="3" name="CaixaDeTexto 4">
            <a:extLst>
              <a:ext uri="{FF2B5EF4-FFF2-40B4-BE49-F238E27FC236}">
                <a16:creationId xmlns:a16="http://schemas.microsoft.com/office/drawing/2014/main" id="{C8C0744A-3D64-9D2F-E911-3C57672D9BE3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EXEMPLO 2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53AA34-96B3-B16B-5DA0-180DF8FB6EE1}"/>
              </a:ext>
            </a:extLst>
          </p:cNvPr>
          <p:cNvSpPr txBox="1"/>
          <p:nvPr/>
        </p:nvSpPr>
        <p:spPr>
          <a:xfrm>
            <a:off x="152819" y="748124"/>
            <a:ext cx="1188636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/>
              <a:t>Sistema de Cálculo da Zona de Conforto Ambiental</a:t>
            </a:r>
          </a:p>
          <a:p>
            <a:r>
              <a:rPr lang="pt-BR" sz="2000" dirty="0"/>
              <a:t>Deve ser desenvolvido um software em linguagem C que calcula se um ambiente está na zona de conforto ambiental definida pela combinação de temperatura, umidade e velocidade do ar. A zona de conforto é definida pelas seguintes regras: A temperatura deve estar entre 20°C e 25°C (inclusos); A umidade relativa entre 40% e 60% (inclusos); A velocidade do ar de até 0.1 m/s (incluso).</a:t>
            </a:r>
          </a:p>
          <a:p>
            <a:r>
              <a:rPr lang="pt-BR" sz="2000" dirty="0"/>
              <a:t>Se todas as condições forem atendidas, o software deve retornar que o ambiente está na zona de conforto. Caso contrário, deve especificar qual condição não foi atendida.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6E7558-3B89-113B-295B-8E9BEE5D72DC}"/>
              </a:ext>
            </a:extLst>
          </p:cNvPr>
          <p:cNvGraphicFramePr>
            <a:graphicFrameLocks noGrp="1"/>
          </p:cNvGraphicFramePr>
          <p:nvPr/>
        </p:nvGraphicFramePr>
        <p:xfrm>
          <a:off x="7259880" y="3273173"/>
          <a:ext cx="4695699" cy="33375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83920">
                  <a:extLst>
                    <a:ext uri="{9D8B030D-6E8A-4147-A177-3AD203B41FA5}">
                      <a16:colId xmlns:a16="http://schemas.microsoft.com/office/drawing/2014/main" val="872760972"/>
                    </a:ext>
                  </a:extLst>
                </a:gridCol>
                <a:gridCol w="1441641">
                  <a:extLst>
                    <a:ext uri="{9D8B030D-6E8A-4147-A177-3AD203B41FA5}">
                      <a16:colId xmlns:a16="http://schemas.microsoft.com/office/drawing/2014/main" val="398797541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44792749"/>
                    </a:ext>
                  </a:extLst>
                </a:gridCol>
                <a:gridCol w="1272858">
                  <a:extLst>
                    <a:ext uri="{9D8B030D-6E8A-4147-A177-3AD203B41FA5}">
                      <a16:colId xmlns:a16="http://schemas.microsoft.com/office/drawing/2014/main" val="6748357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Temperatura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Umidade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Velocidade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967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5893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813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1882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4118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2352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0388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5291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</a:rPr>
                        <a:t>✔</a:t>
                      </a:r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28921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765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2293725-EEFA-EDFA-42CD-535756FEA9B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47411" y="1143325"/>
              <a:ext cx="10144527" cy="219456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029857">
                      <a:extLst>
                        <a:ext uri="{9D8B030D-6E8A-4147-A177-3AD203B41FA5}">
                          <a16:colId xmlns:a16="http://schemas.microsoft.com/office/drawing/2014/main" val="1735836787"/>
                        </a:ext>
                      </a:extLst>
                    </a:gridCol>
                    <a:gridCol w="3477986">
                      <a:extLst>
                        <a:ext uri="{9D8B030D-6E8A-4147-A177-3AD203B41FA5}">
                          <a16:colId xmlns:a16="http://schemas.microsoft.com/office/drawing/2014/main" val="3708458570"/>
                        </a:ext>
                      </a:extLst>
                    </a:gridCol>
                    <a:gridCol w="3636684">
                      <a:extLst>
                        <a:ext uri="{9D8B030D-6E8A-4147-A177-3AD203B41FA5}">
                          <a16:colId xmlns:a16="http://schemas.microsoft.com/office/drawing/2014/main" val="8606047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Variável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05368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20.0≥</m:t>
                                </m:r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𝑇</m:t>
                                </m:r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≥25.0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&gt;25.0</m:t>
                              </m:r>
                            </m:oMath>
                          </a14:m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e </a:t>
                          </a:r>
                          <a14:m>
                            <m:oMath xmlns:m="http://schemas.openxmlformats.org/officeDocument/2006/math"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&lt;20.0</m:t>
                              </m:r>
                            </m:oMath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604196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U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40.0≥</m:t>
                                </m:r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𝑈</m:t>
                                </m:r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≥60.0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&gt;60.0</m:t>
                              </m:r>
                            </m:oMath>
                          </a14:m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e </a:t>
                          </a:r>
                          <a14:m>
                            <m:oMath xmlns:m="http://schemas.openxmlformats.org/officeDocument/2006/math"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&lt;40.0</m:t>
                              </m:r>
                            </m:oMath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3031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𝑉</m:t>
                                </m:r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≤0.1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&gt;0.1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177537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2293725-EEFA-EDFA-42CD-535756FEA9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955435"/>
                  </p:ext>
                </p:extLst>
              </p:nvPr>
            </p:nvGraphicFramePr>
            <p:xfrm>
              <a:off x="947411" y="1143325"/>
              <a:ext cx="10144527" cy="219456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029857">
                      <a:extLst>
                        <a:ext uri="{9D8B030D-6E8A-4147-A177-3AD203B41FA5}">
                          <a16:colId xmlns:a16="http://schemas.microsoft.com/office/drawing/2014/main" val="1735836787"/>
                        </a:ext>
                      </a:extLst>
                    </a:gridCol>
                    <a:gridCol w="3477986">
                      <a:extLst>
                        <a:ext uri="{9D8B030D-6E8A-4147-A177-3AD203B41FA5}">
                          <a16:colId xmlns:a16="http://schemas.microsoft.com/office/drawing/2014/main" val="3708458570"/>
                        </a:ext>
                      </a:extLst>
                    </a:gridCol>
                    <a:gridCol w="3636684">
                      <a:extLst>
                        <a:ext uri="{9D8B030D-6E8A-4147-A177-3AD203B41FA5}">
                          <a16:colId xmlns:a16="http://schemas.microsoft.com/office/drawing/2014/main" val="86060473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Variável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Classes de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equivalência</a:t>
                          </a:r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n-US" sz="2400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inválidas</a:t>
                          </a:r>
                          <a:endParaRPr lang="en-US" sz="2400" dirty="0"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05368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87215" t="-186842" r="-105254" b="-227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79062" t="-186842" r="-670" b="-227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6041962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U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87215" t="-290667" r="-105254" b="-1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79062" t="-290667" r="-670" b="-13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303183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87215" t="-390667" r="-105254" b="-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79062" t="-390667" r="-670" b="-3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77537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C6F1139-4EC1-9EFA-56F8-6327B2C91B27}"/>
              </a:ext>
            </a:extLst>
          </p:cNvPr>
          <p:cNvSpPr txBox="1"/>
          <p:nvPr/>
        </p:nvSpPr>
        <p:spPr>
          <a:xfrm>
            <a:off x="429737" y="695049"/>
            <a:ext cx="111798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/>
              <a:t>Classes de </a:t>
            </a:r>
            <a:r>
              <a:rPr lang="en-US" sz="2800" dirty="0" err="1"/>
              <a:t>equivalência</a:t>
            </a:r>
            <a:r>
              <a:rPr lang="en-US" sz="2800" dirty="0"/>
              <a:t> da </a:t>
            </a:r>
            <a:r>
              <a:rPr lang="en-US" sz="2800" dirty="0" err="1"/>
              <a:t>especificação</a:t>
            </a:r>
            <a:r>
              <a:rPr lang="en-US" sz="2800" dirty="0"/>
              <a:t>:</a:t>
            </a:r>
            <a:endParaRPr lang="en-US" sz="2600" b="1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9A455-BF1C-4841-38A0-B4398791A7C6}"/>
              </a:ext>
            </a:extLst>
          </p:cNvPr>
          <p:cNvSpPr txBox="1"/>
          <p:nvPr/>
        </p:nvSpPr>
        <p:spPr>
          <a:xfrm>
            <a:off x="429735" y="3295698"/>
            <a:ext cx="1117987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en-US" sz="2800" dirty="0" err="1"/>
              <a:t>Análise</a:t>
            </a:r>
            <a:r>
              <a:rPr lang="en-US" sz="2800" dirty="0"/>
              <a:t> do Valor </a:t>
            </a:r>
            <a:r>
              <a:rPr lang="en-US" sz="2800" dirty="0" err="1"/>
              <a:t>Limite</a:t>
            </a:r>
            <a:r>
              <a:rPr lang="en-US" sz="2800" dirty="0"/>
              <a:t>:</a:t>
            </a:r>
          </a:p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b="1" dirty="0"/>
              <a:t>Temperatura (T):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400" dirty="0"/>
              <a:t>Limite Inferior: Testar com 19.9°C (fora) e 20°C (dentro).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400" dirty="0"/>
              <a:t>Limite Superior: Testar com 25°C (dentro) e 25.1°C (fora).  </a:t>
            </a:r>
          </a:p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b="1" dirty="0"/>
              <a:t>Umidade (U):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400" dirty="0"/>
              <a:t>Limite Inferior: Testar com 39.9% (fora) e 40% (dentro).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400" dirty="0"/>
              <a:t>Limite Superior: Testar com 60% (dentro) e 60.1% (fora).</a:t>
            </a:r>
          </a:p>
          <a:p>
            <a:pPr algn="just">
              <a:buClr>
                <a:schemeClr val="accent4">
                  <a:lumMod val="75000"/>
                </a:schemeClr>
              </a:buClr>
            </a:pPr>
            <a:r>
              <a:rPr lang="pt-BR" sz="2400" b="1" dirty="0"/>
              <a:t>Velocidade do Ar (V):</a:t>
            </a:r>
          </a:p>
          <a:p>
            <a:pPr marL="342900" indent="-342900" algn="just">
              <a:buClr>
                <a:schemeClr val="accent4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pt-BR" sz="2400" dirty="0"/>
              <a:t>Limite Único: Testar com 0.1 m/s (dentro) e 0.11 m/s (fora).</a:t>
            </a:r>
            <a:endParaRPr lang="en-US" sz="2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018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DISCUSSÃO SOBRE O CRITÉRIO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496644" y="1283677"/>
            <a:ext cx="11033717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Por ser baseado nos critérios Particionamento de Equivalência e Análise do Valor Limite, o critério Funcional Sistemático apresenta os mesmos problemas que estes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Fornece diretrizes para facilitar a geração de casos de testes e enfatiza mais fortemente a seleção de mais de um caso de teste por partição e/ou limite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12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800" dirty="0"/>
              <a:t>Maior chance de revelar os defeitos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12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800" dirty="0"/>
              <a:t>Maior probabilidade de obter uma melhor cobertura de código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333823080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LIMITAÇÕES DO MÉTODO FUNCIONAL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29471" y="6288505"/>
            <a:ext cx="721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F7B41-4B25-8442-98B8-F851913A1D76}"/>
              </a:ext>
            </a:extLst>
          </p:cNvPr>
          <p:cNvSpPr txBox="1"/>
          <p:nvPr/>
        </p:nvSpPr>
        <p:spPr>
          <a:xfrm>
            <a:off x="355979" y="1194467"/>
            <a:ext cx="11234439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Uma vantagem do teste funcional é que ele se baseia somente na especificação e não depende da forma que o software foi implementado: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Procedimental, orientado a objetos, ou componentes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6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u="sng" dirty="0"/>
              <a:t>ENTRETANTO: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E se a especificação está incompleta?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E se os elementos de uma mesma classe de equivalência NÃO se comportam da mesma maneira?</a:t>
            </a:r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endParaRPr lang="pt-BR" sz="800" dirty="0"/>
          </a:p>
          <a:p>
            <a:pPr marL="914400" lvl="1" indent="-457200" algn="just">
              <a:buClr>
                <a:schemeClr val="accent4">
                  <a:lumMod val="75000"/>
                </a:schemeClr>
              </a:buClr>
              <a:buFont typeface="Courier New" panose="02070309020205020404" pitchFamily="49" charset="0"/>
              <a:buChar char="o"/>
            </a:pPr>
            <a:r>
              <a:rPr lang="pt-BR" sz="2600" dirty="0"/>
              <a:t>Também, esse tipo de teste não assegura que partes do código foram cobertas pelos casos de teste</a:t>
            </a:r>
          </a:p>
        </p:txBody>
      </p:sp>
    </p:spTree>
    <p:extLst>
      <p:ext uri="{BB962C8B-B14F-4D97-AF65-F5344CB8AC3E}">
        <p14:creationId xmlns:p14="http://schemas.microsoft.com/office/powerpoint/2010/main" val="291263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B545305D-2E38-F92D-9D13-7B98CDDC163D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i="1" dirty="0">
                <a:solidFill>
                  <a:schemeClr val="bg1"/>
                </a:solidFill>
              </a:rPr>
              <a:t>ATIVIDADE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410D12-760A-723F-EE05-F40937062345}"/>
              </a:ext>
            </a:extLst>
          </p:cNvPr>
          <p:cNvSpPr txBox="1"/>
          <p:nvPr/>
        </p:nvSpPr>
        <p:spPr>
          <a:xfrm>
            <a:off x="355979" y="1194467"/>
            <a:ext cx="11234439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Façam o particionamento de classes de equivalência do problema dos triângulos visto na aula passada.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Proponham testes baseados no critério Funcional Sistemático (particionamento de classes + análise do valor limite).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dirty="0"/>
              <a:t>Implementem testes no ambiente Unity apresentado na aula passada.</a:t>
            </a:r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endParaRPr lang="pt-BR" sz="2800" dirty="0"/>
          </a:p>
          <a:p>
            <a:pPr marL="457200" indent="-457200" algn="just">
              <a:buClr>
                <a:schemeClr val="accent4">
                  <a:lumMod val="75000"/>
                </a:schemeClr>
              </a:buClr>
              <a:buFont typeface="Wingdings" pitchFamily="2" charset="2"/>
              <a:buChar char="ü"/>
            </a:pPr>
            <a:r>
              <a:rPr lang="pt-BR" sz="2800" b="1" dirty="0"/>
              <a:t>A função fornecida possui algum erro segundo os testes de vocês?</a:t>
            </a:r>
            <a:endParaRPr lang="pt-BR" sz="2600" b="1" dirty="0"/>
          </a:p>
        </p:txBody>
      </p:sp>
    </p:spTree>
    <p:extLst>
      <p:ext uri="{BB962C8B-B14F-4D97-AF65-F5344CB8AC3E}">
        <p14:creationId xmlns:p14="http://schemas.microsoft.com/office/powerpoint/2010/main" val="27451861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4">
            <a:extLst>
              <a:ext uri="{FF2B5EF4-FFF2-40B4-BE49-F238E27FC236}">
                <a16:creationId xmlns:a16="http://schemas.microsoft.com/office/drawing/2014/main" id="{BD24E4AF-6D12-F2A1-1340-1DAEF8BAAE13}"/>
              </a:ext>
            </a:extLst>
          </p:cNvPr>
          <p:cNvSpPr txBox="1"/>
          <p:nvPr/>
        </p:nvSpPr>
        <p:spPr>
          <a:xfrm>
            <a:off x="3325091" y="129309"/>
            <a:ext cx="8645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i="1" dirty="0">
                <a:solidFill>
                  <a:schemeClr val="bg1"/>
                </a:solidFill>
              </a:rPr>
              <a:t>PARTICIONAMENTO DE EQUIVALENCIA</a:t>
            </a:r>
            <a:endParaRPr lang="pt-BR" sz="2800" b="1" i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E4C06FE-1271-C19D-5656-FC9A228F4620}"/>
                  </a:ext>
                </a:extLst>
              </p:cNvPr>
              <p:cNvSpPr txBox="1"/>
              <p:nvPr/>
            </p:nvSpPr>
            <p:spPr>
              <a:xfrm>
                <a:off x="478780" y="953167"/>
                <a:ext cx="11234439" cy="54476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r>
                  <a:rPr lang="pt-BR" sz="2400" b="1" dirty="0"/>
                  <a:t>Entradas Inválidas</a:t>
                </a:r>
              </a:p>
              <a:p>
                <a:pPr marL="971550" lvl="1" indent="-51435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Lado não-positivo: pelo menos um dos lados ≤ 0</a:t>
                </a:r>
              </a:p>
              <a:p>
                <a:pPr marL="971550" lvl="1" indent="-51435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Violação da Desigualdade Triangular:</a:t>
                </a:r>
              </a:p>
              <a:p>
                <a:pPr marL="1428750" lvl="2" indent="-51435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≤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pt-BR" sz="2400" dirty="0"/>
                  <a:t> </a:t>
                </a:r>
              </a:p>
              <a:p>
                <a:pPr marL="1428750" lvl="2" indent="-51435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≤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pt-BR" sz="2400" dirty="0"/>
              </a:p>
              <a:p>
                <a:pPr marL="1428750" lvl="2" indent="-51435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≤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pt-BR" sz="2400" dirty="0"/>
              </a:p>
              <a:p>
                <a:pPr marL="971550" lvl="1" indent="-51435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Risco de overflow: se a soma de dois lados estoura o tipo antes de comparar.</a:t>
                </a:r>
              </a:p>
              <a:p>
                <a:pPr marL="457200" indent="-457200" algn="just">
                  <a:buClr>
                    <a:schemeClr val="accent4">
                      <a:lumMod val="75000"/>
                    </a:schemeClr>
                  </a:buClr>
                  <a:buFont typeface="Wingdings" pitchFamily="2" charset="2"/>
                  <a:buChar char="ü"/>
                </a:pPr>
                <a:r>
                  <a:rPr lang="pt-BR" sz="2400" b="1" dirty="0"/>
                  <a:t>Entradas Válidas</a:t>
                </a:r>
              </a:p>
              <a:p>
                <a:pPr marL="914400" lvl="1" indent="-4572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Que produz saída “Equilátero”</a:t>
                </a:r>
              </a:p>
              <a:p>
                <a:pPr marL="1371600" lvl="2" indent="-4572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lados positivos onde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==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 ==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pt-BR" sz="2400" dirty="0"/>
              </a:p>
              <a:p>
                <a:pPr marL="914400" lvl="1" indent="-4572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Que produz saída “Isósceles”</a:t>
                </a:r>
              </a:p>
              <a:p>
                <a:pPr marL="1371600" lvl="2" indent="-4572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lados positivos, desigualdade satisfeita, e exatamente dois lados iguais</a:t>
                </a:r>
              </a:p>
              <a:p>
                <a:pPr marL="914400" lvl="1" indent="-4572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Que produz saída “Escaleno”</a:t>
                </a:r>
              </a:p>
              <a:p>
                <a:pPr marL="1371600" lvl="2" indent="-457200" algn="just">
                  <a:buClr>
                    <a:schemeClr val="accent4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lados positivos, desigualdade satisfeita, onde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≠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≠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≠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pt-BR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E4C06FE-1271-C19D-5656-FC9A228F4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80" y="953167"/>
                <a:ext cx="11234439" cy="5447645"/>
              </a:xfrm>
              <a:prstGeom prst="rect">
                <a:avLst/>
              </a:prstGeom>
              <a:blipFill>
                <a:blip r:embed="rId2"/>
                <a:stretch>
                  <a:fillRect l="-760" t="-8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45544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4889</TotalTime>
  <Words>4714</Words>
  <Application>Microsoft Office PowerPoint</Application>
  <PresentationFormat>Widescreen</PresentationFormat>
  <Paragraphs>791</Paragraphs>
  <Slides>68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7" baseType="lpstr">
      <vt:lpstr>Arial</vt:lpstr>
      <vt:lpstr>Calibri</vt:lpstr>
      <vt:lpstr>Calibri Light</vt:lpstr>
      <vt:lpstr>Cambria Math</vt:lpstr>
      <vt:lpstr>CMSS10</vt:lpstr>
      <vt:lpstr>Consolas</vt:lpstr>
      <vt:lpstr>Courier New</vt:lpstr>
      <vt:lpstr>Wingdings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PUCRS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Juliana Machado De Souza</dc:creator>
  <cp:lastModifiedBy>Iaçanã Ianiski Weber</cp:lastModifiedBy>
  <cp:revision>791</cp:revision>
  <cp:lastPrinted>2022-08-05T19:54:19Z</cp:lastPrinted>
  <dcterms:created xsi:type="dcterms:W3CDTF">2017-11-07T18:55:33Z</dcterms:created>
  <dcterms:modified xsi:type="dcterms:W3CDTF">2026-03-18T19:06:34Z</dcterms:modified>
</cp:coreProperties>
</file>