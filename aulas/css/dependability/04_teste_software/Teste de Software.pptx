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1"/>
  </p:notesMasterIdLst>
  <p:handoutMasterIdLst>
    <p:handoutMasterId r:id="rId42"/>
  </p:handoutMasterIdLst>
  <p:sldIdLst>
    <p:sldId id="281" r:id="rId2"/>
    <p:sldId id="555" r:id="rId3"/>
    <p:sldId id="580" r:id="rId4"/>
    <p:sldId id="587" r:id="rId5"/>
    <p:sldId id="588" r:id="rId6"/>
    <p:sldId id="595" r:id="rId7"/>
    <p:sldId id="591" r:id="rId8"/>
    <p:sldId id="592" r:id="rId9"/>
    <p:sldId id="593" r:id="rId10"/>
    <p:sldId id="594" r:id="rId11"/>
    <p:sldId id="596" r:id="rId12"/>
    <p:sldId id="597" r:id="rId13"/>
    <p:sldId id="626" r:id="rId14"/>
    <p:sldId id="627" r:id="rId15"/>
    <p:sldId id="628" r:id="rId16"/>
    <p:sldId id="629" r:id="rId17"/>
    <p:sldId id="630" r:id="rId18"/>
    <p:sldId id="631" r:id="rId19"/>
    <p:sldId id="633" r:id="rId20"/>
    <p:sldId id="634" r:id="rId21"/>
    <p:sldId id="623" r:id="rId22"/>
    <p:sldId id="635" r:id="rId23"/>
    <p:sldId id="625" r:id="rId24"/>
    <p:sldId id="622" r:id="rId25"/>
    <p:sldId id="603" r:id="rId26"/>
    <p:sldId id="636" r:id="rId27"/>
    <p:sldId id="637" r:id="rId28"/>
    <p:sldId id="638" r:id="rId29"/>
    <p:sldId id="639" r:id="rId30"/>
    <p:sldId id="640" r:id="rId31"/>
    <p:sldId id="641" r:id="rId32"/>
    <p:sldId id="642" r:id="rId33"/>
    <p:sldId id="643" r:id="rId34"/>
    <p:sldId id="644" r:id="rId35"/>
    <p:sldId id="645" r:id="rId36"/>
    <p:sldId id="646" r:id="rId37"/>
    <p:sldId id="647" r:id="rId38"/>
    <p:sldId id="557" r:id="rId39"/>
    <p:sldId id="616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00FE"/>
    <a:srgbClr val="FAFF7E"/>
    <a:srgbClr val="23FF23"/>
    <a:srgbClr val="8969B2"/>
    <a:srgbClr val="660066"/>
    <a:srgbClr val="1EC4D9"/>
    <a:srgbClr val="37C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15" autoAdjust="0"/>
    <p:restoredTop sz="85601" autoAdjust="0"/>
  </p:normalViewPr>
  <p:slideViewPr>
    <p:cSldViewPr snapToGrid="0">
      <p:cViewPr varScale="1">
        <p:scale>
          <a:sx n="110" d="100"/>
          <a:sy n="110" d="100"/>
        </p:scale>
        <p:origin x="872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993"/>
            <a:ext cx="6858000" cy="51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97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4A89-6BFF-C147-B009-33247CD7572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5B5EE-8431-BF41-8272-8266E62486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25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040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4760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9781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6967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499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29844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3662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Unity - </a:t>
            </a:r>
            <a:r>
              <a:rPr lang="en-US" dirty="0" err="1"/>
              <a:t>Pouca</a:t>
            </a:r>
            <a:r>
              <a:rPr lang="en-US" dirty="0"/>
              <a:t> </a:t>
            </a:r>
            <a:r>
              <a:rPr lang="en-US" dirty="0" err="1"/>
              <a:t>dependencia</a:t>
            </a:r>
            <a:r>
              <a:rPr lang="en-US" dirty="0"/>
              <a:t> da </a:t>
            </a:r>
            <a:r>
              <a:rPr lang="en-US" dirty="0" err="1"/>
              <a:t>LibC</a:t>
            </a:r>
            <a:r>
              <a:rPr lang="en-US" dirty="0"/>
              <a:t>!!! </a:t>
            </a:r>
            <a:r>
              <a:rPr lang="en-US" dirty="0" err="1"/>
              <a:t>Basicamente</a:t>
            </a:r>
            <a:r>
              <a:rPr lang="en-US" dirty="0"/>
              <a:t> o print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4255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942061-1165-F1CE-8380-DDD5758A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620815-91F0-B3A7-7D48-4DCF49F2D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EBA1B-99BA-8250-B429-EAA4606C5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4736E-19A2-42B0-A8BA-7E9D676C2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5086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9322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89761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40020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901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0800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2409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24916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736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802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307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43104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8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944" y="78798"/>
            <a:ext cx="8961583" cy="61393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412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901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81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072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282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656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337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65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77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177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884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.virginia.edu/~up3f/cs3250/syllabus.html" TargetMode="External"/><Relationship Id="rId2" Type="http://schemas.openxmlformats.org/officeDocument/2006/relationships/hyperlink" Target="https://cs.gmu.edu/~offutt/softwaretest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amazon.com.br/Introdu%C3%A7%C3%A3o-Software-M%C3%A1rcio-Eduardo-Delamaro/dp/8535226346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s.gmu.edu/~offutt/softwaretest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s.gmu.edu/~offutt/softwaretest/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cs.gmu.edu/~offutt/softwaretest/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cs.gmu.edu/~offutt/softwaretest/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rowTheSwitch/Unity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ragprog.com/titles/jgade/source_code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acanaw/Unity.gi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a.pragprog.com/titles/jgade/code/unity/stdio/SprintfTest.c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a.pragprog.com/titles/jgade/code/unity/stdio/SprintfTest.c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a.pragprog.com/titles/jgade/code/unity/stdio/SprintfTest.c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a.pragprog.com/titles/jgade/code/unity/stdio/SprintfTest.c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a.pragprog.com/titles/jgade/code/unity/stdio/SprintfTest.c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media.pragprog.com/titles/jgade/code/unity/stdio/SprintfTest.c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a.pragprog.com/titles/jgade/code/unity/stdio/SprintfTestRunner.c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acanaw/Unity.git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267" y="3192565"/>
            <a:ext cx="112098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Teste de Software</a:t>
            </a:r>
          </a:p>
          <a:p>
            <a:pPr algn="ctr"/>
            <a:endParaRPr lang="pt-BR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i="1" dirty="0"/>
              <a:t>Prof. Iaçanã Ianiski Weber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69BEA-7D93-3549-BC1E-537F01DC29A3}"/>
              </a:ext>
            </a:extLst>
          </p:cNvPr>
          <p:cNvSpPr txBox="1"/>
          <p:nvPr/>
        </p:nvSpPr>
        <p:spPr>
          <a:xfrm>
            <a:off x="1122827" y="6457890"/>
            <a:ext cx="102988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tx1"/>
              </a:buClr>
            </a:pPr>
            <a:r>
              <a:rPr lang="pt-BR" sz="2000" i="1" dirty="0"/>
              <a:t>Baseado no material gentilmente cedido pelos Profs. </a:t>
            </a:r>
            <a:r>
              <a:rPr lang="pt-BR" sz="2000" b="1" i="1" dirty="0"/>
              <a:t>Dr. Alexandre </a:t>
            </a:r>
            <a:r>
              <a:rPr lang="pt-BR" sz="2000" b="1" i="1" dirty="0" err="1"/>
              <a:t>Amory</a:t>
            </a:r>
            <a:r>
              <a:rPr lang="pt-BR" sz="2000" b="1" i="1" dirty="0"/>
              <a:t> &amp; Rafael </a:t>
            </a:r>
            <a:r>
              <a:rPr lang="pt-BR" sz="2000" b="1" i="1" dirty="0" err="1"/>
              <a:t>Garibotti</a:t>
            </a:r>
            <a:endParaRPr lang="pt-BR" sz="2000" b="1" i="1" dirty="0"/>
          </a:p>
        </p:txBody>
      </p:sp>
      <p:sp>
        <p:nvSpPr>
          <p:cNvPr id="5" name="Subtítulo 6">
            <a:extLst>
              <a:ext uri="{FF2B5EF4-FFF2-40B4-BE49-F238E27FC236}">
                <a16:creationId xmlns:a16="http://schemas.microsoft.com/office/drawing/2014/main" id="{6B6BB6B0-B7D5-9321-4927-53E0672BD6B5}"/>
              </a:ext>
            </a:extLst>
          </p:cNvPr>
          <p:cNvSpPr txBox="1">
            <a:spLocks/>
          </p:cNvSpPr>
          <p:nvPr/>
        </p:nvSpPr>
        <p:spPr>
          <a:xfrm>
            <a:off x="7053943" y="310244"/>
            <a:ext cx="5138057" cy="1975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98G08-04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CONFIABILIDADE E 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SEGURANÇA </a:t>
            </a:r>
            <a:r>
              <a:rPr lang="pt-BR" sz="2800" b="1">
                <a:solidFill>
                  <a:schemeClr val="bg1"/>
                </a:solidFill>
              </a:rPr>
              <a:t>DE SOFTWARE</a:t>
            </a:r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916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C6CE599-292E-024D-9E4D-17AB18701641}"/>
              </a:ext>
            </a:extLst>
          </p:cNvPr>
          <p:cNvSpPr/>
          <p:nvPr/>
        </p:nvSpPr>
        <p:spPr>
          <a:xfrm>
            <a:off x="413614" y="2754583"/>
            <a:ext cx="11061429" cy="911397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07A2EDD-0CBD-A245-9483-4752ED01A9CB}"/>
              </a:ext>
            </a:extLst>
          </p:cNvPr>
          <p:cNvSpPr/>
          <p:nvPr/>
        </p:nvSpPr>
        <p:spPr>
          <a:xfrm>
            <a:off x="413615" y="1419975"/>
            <a:ext cx="11061429" cy="911397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REFERÊNCIAS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2447" y="1450014"/>
            <a:ext cx="11278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400" dirty="0"/>
              <a:t>Paul </a:t>
            </a:r>
            <a:r>
              <a:rPr lang="pt-BR" sz="2400" dirty="0" err="1"/>
              <a:t>Ammann</a:t>
            </a:r>
            <a:r>
              <a:rPr lang="pt-BR" sz="2400" dirty="0"/>
              <a:t> </a:t>
            </a:r>
            <a:r>
              <a:rPr lang="pt-BR" sz="2400" dirty="0" err="1"/>
              <a:t>and</a:t>
            </a:r>
            <a:r>
              <a:rPr lang="pt-BR" sz="2400" dirty="0"/>
              <a:t> Jeff </a:t>
            </a:r>
            <a:r>
              <a:rPr lang="pt-BR" sz="2400" dirty="0" err="1"/>
              <a:t>Offutt</a:t>
            </a:r>
            <a:r>
              <a:rPr lang="pt-BR" sz="2400" dirty="0"/>
              <a:t>. </a:t>
            </a:r>
            <a:r>
              <a:rPr lang="pt-BR" sz="2400" b="1" i="1" dirty="0" err="1"/>
              <a:t>Introduction</a:t>
            </a:r>
            <a:r>
              <a:rPr lang="pt-BR" sz="2400" b="1" i="1" dirty="0"/>
              <a:t> </a:t>
            </a:r>
            <a:r>
              <a:rPr lang="pt-BR" sz="2400" b="1" i="1" dirty="0" err="1"/>
              <a:t>to</a:t>
            </a:r>
            <a:r>
              <a:rPr lang="pt-BR" sz="2400" b="1" i="1" dirty="0"/>
              <a:t> Software </a:t>
            </a:r>
            <a:r>
              <a:rPr lang="pt-BR" sz="2400" b="1" i="1" dirty="0" err="1"/>
              <a:t>Testing</a:t>
            </a:r>
            <a:r>
              <a:rPr lang="pt-BR" sz="2400" dirty="0"/>
              <a:t>. 2nd </a:t>
            </a:r>
            <a:r>
              <a:rPr lang="pt-BR" sz="2400" dirty="0" err="1"/>
              <a:t>edition</a:t>
            </a:r>
            <a:r>
              <a:rPr lang="pt-BR" sz="2400" dirty="0"/>
              <a:t>. 2017.</a:t>
            </a:r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hlinkClick r:id="rId2"/>
              </a:rPr>
              <a:t>https://cs.gmu.edu/~offutt/softwaretest/</a:t>
            </a:r>
            <a:endParaRPr lang="pt-BR" sz="2400" dirty="0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B563B5B-1C02-4347-9DF1-C720FD73A50B}"/>
              </a:ext>
            </a:extLst>
          </p:cNvPr>
          <p:cNvSpPr/>
          <p:nvPr/>
        </p:nvSpPr>
        <p:spPr>
          <a:xfrm>
            <a:off x="413616" y="4090683"/>
            <a:ext cx="11061429" cy="1679498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CA5C9A-0746-524A-B311-3B30204D4879}"/>
              </a:ext>
            </a:extLst>
          </p:cNvPr>
          <p:cNvSpPr txBox="1"/>
          <p:nvPr/>
        </p:nvSpPr>
        <p:spPr>
          <a:xfrm>
            <a:off x="492446" y="2754583"/>
            <a:ext cx="11278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400" b="1" i="1" dirty="0"/>
              <a:t>Software </a:t>
            </a:r>
            <a:r>
              <a:rPr lang="pt-BR" sz="2400" b="1" i="1" dirty="0" err="1"/>
              <a:t>Testing</a:t>
            </a:r>
            <a:endParaRPr lang="pt-BR" sz="2400" b="1" i="1" dirty="0"/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hlinkClick r:id="rId3"/>
              </a:rPr>
              <a:t>https://www.cs.virginia.edu/~up3f/cs3250/syllabus.html</a:t>
            </a:r>
            <a:endParaRPr lang="pt-BR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F6C99C-96A7-7449-91BE-41B0D74C85DC}"/>
              </a:ext>
            </a:extLst>
          </p:cNvPr>
          <p:cNvSpPr txBox="1"/>
          <p:nvPr/>
        </p:nvSpPr>
        <p:spPr>
          <a:xfrm>
            <a:off x="492446" y="4106449"/>
            <a:ext cx="109060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2400" dirty="0"/>
              <a:t>Márcio Eduardo </a:t>
            </a:r>
            <a:r>
              <a:rPr lang="pt-BR" sz="2400" dirty="0" err="1"/>
              <a:t>Delamaro</a:t>
            </a:r>
            <a:r>
              <a:rPr lang="pt-BR" sz="2400" dirty="0"/>
              <a:t>, José Carlos Maldonado e Mario </a:t>
            </a:r>
            <a:r>
              <a:rPr lang="pt-BR" sz="2400" dirty="0" err="1"/>
              <a:t>Jino</a:t>
            </a:r>
            <a:r>
              <a:rPr lang="pt-BR" sz="2400" dirty="0"/>
              <a:t>. </a:t>
            </a:r>
            <a:r>
              <a:rPr lang="pt-BR" sz="2400" b="1" dirty="0"/>
              <a:t>Introdução ao Teste de Software</a:t>
            </a:r>
            <a:r>
              <a:rPr lang="pt-BR" sz="2400" dirty="0"/>
              <a:t>. 2007.</a:t>
            </a:r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>
                <a:hlinkClick r:id="rId4"/>
              </a:rPr>
              <a:t>https://www.amazon.com.br/Introdu%C3%A7%C3%A3o-Software-M%C3%A1rcio-Eduardo-Delamaro/dp/8535226346/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9737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SOFTWARE ATUALMENTE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1384F5-735C-534B-8A2D-C2F44C1553EC}"/>
              </a:ext>
            </a:extLst>
          </p:cNvPr>
          <p:cNvSpPr txBox="1"/>
          <p:nvPr/>
        </p:nvSpPr>
        <p:spPr>
          <a:xfrm>
            <a:off x="192899" y="6053554"/>
            <a:ext cx="7752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*Fonte:</a:t>
            </a:r>
            <a:r>
              <a:rPr lang="pt-BR" sz="1600" dirty="0"/>
              <a:t> Paul </a:t>
            </a:r>
            <a:r>
              <a:rPr lang="pt-BR" sz="1600" dirty="0" err="1"/>
              <a:t>Ammann</a:t>
            </a:r>
            <a:r>
              <a:rPr lang="pt-BR" sz="1600" dirty="0"/>
              <a:t> </a:t>
            </a:r>
            <a:r>
              <a:rPr lang="pt-BR" sz="1600" dirty="0" err="1"/>
              <a:t>and</a:t>
            </a:r>
            <a:r>
              <a:rPr lang="pt-BR" sz="1600" dirty="0"/>
              <a:t> Jeff </a:t>
            </a:r>
            <a:r>
              <a:rPr lang="pt-BR" sz="1600" dirty="0" err="1"/>
              <a:t>Offutt</a:t>
            </a:r>
            <a:r>
              <a:rPr lang="pt-BR" sz="1600" dirty="0"/>
              <a:t>. </a:t>
            </a:r>
            <a:r>
              <a:rPr lang="pt-BR" sz="1600" b="1" i="1" dirty="0" err="1"/>
              <a:t>Introduction</a:t>
            </a:r>
            <a:r>
              <a:rPr lang="pt-BR" sz="1600" b="1" i="1" dirty="0"/>
              <a:t> </a:t>
            </a:r>
            <a:r>
              <a:rPr lang="pt-BR" sz="1600" b="1" i="1" dirty="0" err="1"/>
              <a:t>to</a:t>
            </a:r>
            <a:r>
              <a:rPr lang="pt-BR" sz="1600" b="1" i="1" dirty="0"/>
              <a:t> Software </a:t>
            </a:r>
            <a:r>
              <a:rPr lang="pt-BR" sz="1600" b="1" i="1" dirty="0" err="1"/>
              <a:t>Testing</a:t>
            </a:r>
            <a:r>
              <a:rPr lang="pt-BR" sz="1600" dirty="0"/>
              <a:t>. 2nd </a:t>
            </a:r>
            <a:r>
              <a:rPr lang="pt-BR" sz="1600" dirty="0" err="1"/>
              <a:t>edition</a:t>
            </a:r>
            <a:r>
              <a:rPr lang="pt-BR" sz="1600" dirty="0"/>
              <a:t>. 2017.</a:t>
            </a:r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1600" dirty="0">
                <a:hlinkClick r:id="rId2"/>
              </a:rPr>
              <a:t>https://cs.gmu.edu/~offutt/softwaretest/</a:t>
            </a:r>
            <a:endParaRPr lang="pt-BR" sz="16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DE2139-65DA-3244-B1AD-EE64853608E6}"/>
              </a:ext>
            </a:extLst>
          </p:cNvPr>
          <p:cNvSpPr/>
          <p:nvPr/>
        </p:nvSpPr>
        <p:spPr>
          <a:xfrm>
            <a:off x="210102" y="6043415"/>
            <a:ext cx="7562298" cy="584775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CE48C1-30BE-1B4B-8B92-1EE54BDB02B9}"/>
              </a:ext>
            </a:extLst>
          </p:cNvPr>
          <p:cNvSpPr txBox="1"/>
          <p:nvPr/>
        </p:nvSpPr>
        <p:spPr>
          <a:xfrm>
            <a:off x="670942" y="2659701"/>
            <a:ext cx="4263666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400" i="1" dirty="0"/>
              <a:t>Safety critical</a:t>
            </a: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600" i="1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400" i="1" dirty="0"/>
              <a:t>Real-time software</a:t>
            </a: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600" i="1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400" i="1" dirty="0"/>
              <a:t>Embedded software</a:t>
            </a: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600" i="1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400" i="1" dirty="0"/>
              <a:t>Enterprise applications</a:t>
            </a: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600" i="1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400" i="1" dirty="0"/>
              <a:t>Security</a:t>
            </a: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600" i="1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400" i="1" dirty="0"/>
              <a:t>Web</a:t>
            </a:r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600" i="1" dirty="0"/>
          </a:p>
          <a:p>
            <a:pPr marL="342900" indent="-3429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400" i="1" dirty="0"/>
              <a:t>Mobile</a:t>
            </a:r>
            <a:endParaRPr lang="en-US" sz="2200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E42CA7-B4EE-2B4A-9FF6-0147235F669C}"/>
              </a:ext>
            </a:extLst>
          </p:cNvPr>
          <p:cNvSpPr txBox="1"/>
          <p:nvPr/>
        </p:nvSpPr>
        <p:spPr>
          <a:xfrm>
            <a:off x="670941" y="1205985"/>
            <a:ext cx="1074329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i="1" dirty="0"/>
              <a:t>“A </a:t>
            </a:r>
            <a:r>
              <a:rPr lang="en-US" sz="2600" i="1" dirty="0" err="1"/>
              <a:t>qualidade</a:t>
            </a:r>
            <a:r>
              <a:rPr lang="en-US" sz="2600" i="1" dirty="0"/>
              <a:t> do software </a:t>
            </a:r>
            <a:r>
              <a:rPr lang="en-US" sz="2600" i="1" dirty="0" err="1"/>
              <a:t>está</a:t>
            </a:r>
            <a:r>
              <a:rPr lang="en-US" sz="2600" i="1" dirty="0"/>
              <a:t> se </a:t>
            </a:r>
            <a:r>
              <a:rPr lang="en-US" sz="2600" i="1" dirty="0" err="1"/>
              <a:t>tornando</a:t>
            </a:r>
            <a:r>
              <a:rPr lang="en-US" sz="2600" i="1" dirty="0"/>
              <a:t> </a:t>
            </a:r>
            <a:r>
              <a:rPr lang="en-US" sz="2600" i="1" dirty="0" err="1"/>
              <a:t>cada</a:t>
            </a:r>
            <a:r>
              <a:rPr lang="en-US" sz="2600" i="1" dirty="0"/>
              <a:t> </a:t>
            </a:r>
            <a:r>
              <a:rPr lang="en-US" sz="2600" i="1" dirty="0" err="1"/>
              <a:t>vez</a:t>
            </a:r>
            <a:r>
              <a:rPr lang="en-US" sz="2600" i="1" dirty="0"/>
              <a:t> </a:t>
            </a:r>
            <a:r>
              <a:rPr lang="en-US" sz="2600" i="1" dirty="0" err="1"/>
              <a:t>mais</a:t>
            </a:r>
            <a:r>
              <a:rPr lang="en-US" sz="2600" i="1" dirty="0"/>
              <a:t> </a:t>
            </a:r>
            <a:r>
              <a:rPr lang="en-US" sz="2600" i="1" dirty="0" err="1"/>
              <a:t>essencial</a:t>
            </a:r>
            <a:r>
              <a:rPr lang="en-US" sz="2600" i="1" dirty="0"/>
              <a:t> para </a:t>
            </a:r>
            <a:r>
              <a:rPr lang="en-US" sz="2600" i="1" dirty="0" err="1"/>
              <a:t>todas</a:t>
            </a:r>
            <a:r>
              <a:rPr lang="en-US" sz="2600" i="1" dirty="0"/>
              <a:t> as </a:t>
            </a:r>
            <a:r>
              <a:rPr lang="en-US" sz="2600" i="1" dirty="0" err="1"/>
              <a:t>empresas</a:t>
            </a:r>
            <a:r>
              <a:rPr lang="en-US" sz="2600" i="1" dirty="0"/>
              <a:t> e o </a:t>
            </a:r>
            <a:r>
              <a:rPr lang="en-US" sz="2600" i="1" dirty="0" err="1"/>
              <a:t>conhecimento</a:t>
            </a:r>
            <a:r>
              <a:rPr lang="en-US" sz="2600" i="1" dirty="0"/>
              <a:t> de teste de software </a:t>
            </a:r>
            <a:r>
              <a:rPr lang="en-US" sz="2600" i="1" dirty="0" err="1"/>
              <a:t>está</a:t>
            </a:r>
            <a:r>
              <a:rPr lang="en-US" sz="2600" i="1" dirty="0"/>
              <a:t> se </a:t>
            </a:r>
            <a:r>
              <a:rPr lang="en-US" sz="2600" i="1" dirty="0" err="1"/>
              <a:t>tornando</a:t>
            </a:r>
            <a:r>
              <a:rPr lang="en-US" sz="2600" i="1" dirty="0"/>
              <a:t> </a:t>
            </a:r>
            <a:r>
              <a:rPr lang="en-US" sz="2600" i="1" dirty="0" err="1"/>
              <a:t>necessário</a:t>
            </a:r>
            <a:r>
              <a:rPr lang="en-US" sz="2600" i="1" dirty="0"/>
              <a:t> para </a:t>
            </a:r>
            <a:r>
              <a:rPr lang="en-US" sz="2600" i="1" dirty="0" err="1"/>
              <a:t>todos</a:t>
            </a:r>
            <a:r>
              <a:rPr lang="en-US" sz="2600" i="1" dirty="0"/>
              <a:t> </a:t>
            </a:r>
            <a:r>
              <a:rPr lang="en-US" sz="2600" i="1" dirty="0" err="1"/>
              <a:t>os</a:t>
            </a:r>
            <a:r>
              <a:rPr lang="en-US" sz="2600" i="1" dirty="0"/>
              <a:t> </a:t>
            </a:r>
            <a:r>
              <a:rPr lang="en-US" sz="2600" i="1" dirty="0" err="1"/>
              <a:t>engenheiros</a:t>
            </a:r>
            <a:r>
              <a:rPr lang="en-US" sz="2600" i="1" dirty="0"/>
              <a:t> de software*”</a:t>
            </a:r>
          </a:p>
        </p:txBody>
      </p:sp>
    </p:spTree>
    <p:extLst>
      <p:ext uri="{BB962C8B-B14F-4D97-AF65-F5344CB8AC3E}">
        <p14:creationId xmlns:p14="http://schemas.microsoft.com/office/powerpoint/2010/main" val="885422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DEFINIÇÃO DE TESTE DE SOFTWARE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1C135C-BDF9-F44B-8CCD-5B713BC40904}"/>
              </a:ext>
            </a:extLst>
          </p:cNvPr>
          <p:cNvSpPr txBox="1"/>
          <p:nvPr/>
        </p:nvSpPr>
        <p:spPr>
          <a:xfrm>
            <a:off x="192899" y="6090130"/>
            <a:ext cx="7752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*Fonte:</a:t>
            </a:r>
            <a:r>
              <a:rPr lang="pt-BR" sz="1600" dirty="0"/>
              <a:t> Paul </a:t>
            </a:r>
            <a:r>
              <a:rPr lang="pt-BR" sz="1600" dirty="0" err="1"/>
              <a:t>Ammann</a:t>
            </a:r>
            <a:r>
              <a:rPr lang="pt-BR" sz="1600" dirty="0"/>
              <a:t> </a:t>
            </a:r>
            <a:r>
              <a:rPr lang="pt-BR" sz="1600" dirty="0" err="1"/>
              <a:t>and</a:t>
            </a:r>
            <a:r>
              <a:rPr lang="pt-BR" sz="1600" dirty="0"/>
              <a:t> Jeff </a:t>
            </a:r>
            <a:r>
              <a:rPr lang="pt-BR" sz="1600" dirty="0" err="1"/>
              <a:t>Offutt</a:t>
            </a:r>
            <a:r>
              <a:rPr lang="pt-BR" sz="1600" dirty="0"/>
              <a:t>. </a:t>
            </a:r>
            <a:r>
              <a:rPr lang="pt-BR" sz="1600" b="1" i="1" dirty="0" err="1"/>
              <a:t>Introduction</a:t>
            </a:r>
            <a:r>
              <a:rPr lang="pt-BR" sz="1600" b="1" i="1" dirty="0"/>
              <a:t> </a:t>
            </a:r>
            <a:r>
              <a:rPr lang="pt-BR" sz="1600" b="1" i="1" dirty="0" err="1"/>
              <a:t>to</a:t>
            </a:r>
            <a:r>
              <a:rPr lang="pt-BR" sz="1600" b="1" i="1" dirty="0"/>
              <a:t> Software </a:t>
            </a:r>
            <a:r>
              <a:rPr lang="pt-BR" sz="1600" b="1" i="1" dirty="0" err="1"/>
              <a:t>Testing</a:t>
            </a:r>
            <a:r>
              <a:rPr lang="pt-BR" sz="1600" dirty="0"/>
              <a:t>. 2nd </a:t>
            </a:r>
            <a:r>
              <a:rPr lang="pt-BR" sz="1600" dirty="0" err="1"/>
              <a:t>edition</a:t>
            </a:r>
            <a:r>
              <a:rPr lang="pt-BR" sz="1600" dirty="0"/>
              <a:t>. 2017.</a:t>
            </a:r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1600" dirty="0">
                <a:hlinkClick r:id="rId2"/>
              </a:rPr>
              <a:t>https://cs.gmu.edu/~offutt/softwaretest/</a:t>
            </a:r>
            <a:endParaRPr lang="pt-BR" sz="16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8C540EF-4A6B-5840-956A-2174D27442D1}"/>
              </a:ext>
            </a:extLst>
          </p:cNvPr>
          <p:cNvSpPr/>
          <p:nvPr/>
        </p:nvSpPr>
        <p:spPr>
          <a:xfrm>
            <a:off x="210102" y="6079991"/>
            <a:ext cx="7562298" cy="584775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79F6F6-BABF-2741-94A1-1B8126E6C87F}"/>
              </a:ext>
            </a:extLst>
          </p:cNvPr>
          <p:cNvSpPr txBox="1"/>
          <p:nvPr/>
        </p:nvSpPr>
        <p:spPr>
          <a:xfrm>
            <a:off x="315898" y="1026590"/>
            <a:ext cx="11380316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Teste</a:t>
            </a:r>
            <a:r>
              <a:rPr lang="en-US" sz="2800" dirty="0"/>
              <a:t>: </a:t>
            </a:r>
            <a:r>
              <a:rPr lang="en-US" sz="2800" dirty="0" err="1"/>
              <a:t>processo</a:t>
            </a:r>
            <a:r>
              <a:rPr lang="en-US" sz="2800" dirty="0"/>
              <a:t> de </a:t>
            </a:r>
            <a:r>
              <a:rPr lang="en-US" sz="2800" dirty="0" err="1"/>
              <a:t>encontrar</a:t>
            </a:r>
            <a:r>
              <a:rPr lang="en-US" sz="2800" dirty="0"/>
              <a:t> entradas para </a:t>
            </a:r>
            <a:r>
              <a:rPr lang="en-US" sz="2800" dirty="0" err="1"/>
              <a:t>verificar</a:t>
            </a:r>
            <a:r>
              <a:rPr lang="en-US" sz="2800" dirty="0"/>
              <a:t> um software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2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600" dirty="0"/>
              <a:t>Um </a:t>
            </a:r>
            <a:r>
              <a:rPr lang="en-US" sz="2600" dirty="0" err="1"/>
              <a:t>caso</a:t>
            </a:r>
            <a:r>
              <a:rPr lang="en-US" sz="2600" dirty="0"/>
              <a:t> de teste </a:t>
            </a:r>
            <a:r>
              <a:rPr lang="en-US" sz="2600" dirty="0" err="1"/>
              <a:t>consiste</a:t>
            </a:r>
            <a:r>
              <a:rPr lang="en-US" sz="2600" dirty="0"/>
              <a:t> de </a:t>
            </a:r>
            <a:r>
              <a:rPr lang="en-US" sz="2600" dirty="0" err="1"/>
              <a:t>estímulos</a:t>
            </a:r>
            <a:r>
              <a:rPr lang="en-US" sz="2600" dirty="0"/>
              <a:t> de entrada e </a:t>
            </a:r>
            <a:r>
              <a:rPr lang="en-US" sz="2600" dirty="0" err="1"/>
              <a:t>saídas</a:t>
            </a:r>
            <a:r>
              <a:rPr lang="en-US" sz="2600" dirty="0"/>
              <a:t> </a:t>
            </a:r>
            <a:r>
              <a:rPr lang="en-US" sz="2600" dirty="0" err="1"/>
              <a:t>esperadas</a:t>
            </a:r>
            <a:endParaRPr lang="en-US" sz="2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2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600" dirty="0"/>
              <a:t>Teste </a:t>
            </a:r>
            <a:r>
              <a:rPr lang="en-US" sz="2600" dirty="0" err="1"/>
              <a:t>somente</a:t>
            </a:r>
            <a:r>
              <a:rPr lang="en-US" sz="2600" dirty="0"/>
              <a:t> </a:t>
            </a:r>
            <a:r>
              <a:rPr lang="en-US" sz="2600" dirty="0" err="1"/>
              <a:t>mostra</a:t>
            </a:r>
            <a:r>
              <a:rPr lang="en-US" sz="2600" dirty="0"/>
              <a:t> a </a:t>
            </a:r>
            <a:r>
              <a:rPr lang="en-US" sz="2600" dirty="0" err="1"/>
              <a:t>presença</a:t>
            </a:r>
            <a:r>
              <a:rPr lang="en-US" sz="2600" dirty="0"/>
              <a:t> de </a:t>
            </a:r>
            <a:r>
              <a:rPr lang="en-US" sz="2600" dirty="0" err="1"/>
              <a:t>falhas</a:t>
            </a:r>
            <a:r>
              <a:rPr lang="en-US" sz="2600" dirty="0"/>
              <a:t>, </a:t>
            </a:r>
            <a:r>
              <a:rPr lang="en-US" sz="2600" dirty="0" err="1"/>
              <a:t>não</a:t>
            </a:r>
            <a:r>
              <a:rPr lang="en-US" sz="2600" dirty="0"/>
              <a:t> a </a:t>
            </a:r>
            <a:r>
              <a:rPr lang="en-US" sz="2600" dirty="0" err="1"/>
              <a:t>ausência</a:t>
            </a:r>
            <a:endParaRPr lang="en-US" sz="2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2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600" dirty="0" err="1"/>
              <a:t>Nem</a:t>
            </a:r>
            <a:r>
              <a:rPr lang="en-US" sz="2600" dirty="0"/>
              <a:t> </a:t>
            </a:r>
            <a:r>
              <a:rPr lang="en-US" sz="2600" dirty="0" err="1"/>
              <a:t>todos</a:t>
            </a:r>
            <a:r>
              <a:rPr lang="en-US" sz="2600" dirty="0"/>
              <a:t> </a:t>
            </a:r>
            <a:r>
              <a:rPr lang="en-US" sz="2600" dirty="0" err="1"/>
              <a:t>os</a:t>
            </a:r>
            <a:r>
              <a:rPr lang="en-US" sz="2600" dirty="0"/>
              <a:t> </a:t>
            </a:r>
            <a:r>
              <a:rPr lang="en-US" sz="2600" dirty="0" err="1"/>
              <a:t>estímulos</a:t>
            </a:r>
            <a:r>
              <a:rPr lang="en-US" sz="2600" dirty="0"/>
              <a:t> </a:t>
            </a:r>
            <a:r>
              <a:rPr lang="en-US" sz="2600" dirty="0" err="1"/>
              <a:t>vão</a:t>
            </a:r>
            <a:r>
              <a:rPr lang="en-US" sz="2600" dirty="0"/>
              <a:t> </a:t>
            </a:r>
            <a:r>
              <a:rPr lang="en-US" sz="2600" dirty="0" err="1"/>
              <a:t>causar</a:t>
            </a:r>
            <a:r>
              <a:rPr lang="en-US" sz="2600" dirty="0"/>
              <a:t> </a:t>
            </a:r>
            <a:r>
              <a:rPr lang="en-US" sz="2600" dirty="0" err="1"/>
              <a:t>uma</a:t>
            </a:r>
            <a:r>
              <a:rPr lang="en-US" sz="2600" dirty="0"/>
              <a:t> </a:t>
            </a:r>
            <a:r>
              <a:rPr lang="en-US" sz="2600" dirty="0" err="1"/>
              <a:t>falha</a:t>
            </a:r>
            <a:r>
              <a:rPr lang="en-US" sz="2600" dirty="0"/>
              <a:t> !!!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Debug</a:t>
            </a:r>
            <a:r>
              <a:rPr lang="en-US" sz="2800" dirty="0"/>
              <a:t>: </a:t>
            </a:r>
            <a:r>
              <a:rPr lang="en-US" sz="2800" dirty="0" err="1"/>
              <a:t>processo</a:t>
            </a:r>
            <a:r>
              <a:rPr lang="en-US" sz="2800" dirty="0"/>
              <a:t> de </a:t>
            </a:r>
            <a:r>
              <a:rPr lang="en-US" sz="2800" dirty="0" err="1"/>
              <a:t>encontrar</a:t>
            </a:r>
            <a:r>
              <a:rPr lang="en-US" sz="2800" dirty="0"/>
              <a:t> um </a:t>
            </a:r>
            <a:r>
              <a:rPr lang="en-US" sz="2800" dirty="0" err="1"/>
              <a:t>defeito</a:t>
            </a:r>
            <a:r>
              <a:rPr lang="en-US" sz="2800" dirty="0"/>
              <a:t> </a:t>
            </a:r>
            <a:r>
              <a:rPr lang="en-US" sz="2800" dirty="0" err="1"/>
              <a:t>causador</a:t>
            </a:r>
            <a:r>
              <a:rPr lang="en-US" sz="2800" dirty="0"/>
              <a:t> de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falha</a:t>
            </a:r>
            <a:endParaRPr lang="en-US" sz="2600" dirty="0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606EF3A-AA02-6046-B489-F20E189C0E9E}"/>
              </a:ext>
            </a:extLst>
          </p:cNvPr>
          <p:cNvSpPr/>
          <p:nvPr/>
        </p:nvSpPr>
        <p:spPr>
          <a:xfrm>
            <a:off x="1831998" y="4869119"/>
            <a:ext cx="1792224" cy="674320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Valores</a:t>
            </a:r>
            <a:r>
              <a:rPr lang="en-US" dirty="0">
                <a:solidFill>
                  <a:schemeClr val="tx1"/>
                </a:solidFill>
              </a:rPr>
              <a:t> de teste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(entrada)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90058B8-5DFE-214A-89B9-73FD03273D50}"/>
              </a:ext>
            </a:extLst>
          </p:cNvPr>
          <p:cNvSpPr/>
          <p:nvPr/>
        </p:nvSpPr>
        <p:spPr>
          <a:xfrm>
            <a:off x="4407408" y="4632277"/>
            <a:ext cx="1493094" cy="1138507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Programa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7B344E3-C1BD-CB42-9368-9589472919AE}"/>
              </a:ext>
            </a:extLst>
          </p:cNvPr>
          <p:cNvSpPr/>
          <p:nvPr/>
        </p:nvSpPr>
        <p:spPr>
          <a:xfrm>
            <a:off x="6683688" y="5306597"/>
            <a:ext cx="2389078" cy="464187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Resultados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Esperados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2585F45-6C29-944C-9613-B0A7630761DC}"/>
              </a:ext>
            </a:extLst>
          </p:cNvPr>
          <p:cNvSpPr/>
          <p:nvPr/>
        </p:nvSpPr>
        <p:spPr>
          <a:xfrm>
            <a:off x="6683688" y="4632277"/>
            <a:ext cx="2389078" cy="473684"/>
          </a:xfrm>
          <a:prstGeom prst="round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Resultados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Extraídos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82FC66-6C52-E945-B6DB-E6253AF1D266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 flipV="1">
            <a:off x="3624222" y="5201531"/>
            <a:ext cx="783186" cy="474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A7A8442C-3144-D143-9D32-3CD845A9FEFD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5900502" y="4869119"/>
            <a:ext cx="783186" cy="332412"/>
          </a:xfrm>
          <a:prstGeom prst="bentConnector3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ight Brace 16">
            <a:extLst>
              <a:ext uri="{FF2B5EF4-FFF2-40B4-BE49-F238E27FC236}">
                <a16:creationId xmlns:a16="http://schemas.microsoft.com/office/drawing/2014/main" id="{CEE339CC-CB17-8744-8043-D2C9931EAE69}"/>
              </a:ext>
            </a:extLst>
          </p:cNvPr>
          <p:cNvSpPr/>
          <p:nvPr/>
        </p:nvSpPr>
        <p:spPr>
          <a:xfrm>
            <a:off x="9091054" y="4498848"/>
            <a:ext cx="400418" cy="140817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A437D-E66D-DC45-A2FC-1196FE2BDA61}"/>
              </a:ext>
            </a:extLst>
          </p:cNvPr>
          <p:cNvSpPr txBox="1"/>
          <p:nvPr/>
        </p:nvSpPr>
        <p:spPr>
          <a:xfrm>
            <a:off x="9491472" y="4998576"/>
            <a:ext cx="1456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Comparar</a:t>
            </a:r>
            <a:r>
              <a:rPr lang="en-US" dirty="0"/>
              <a:t>!!!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6D0B45-DD40-224C-BE35-58AD85670BBE}"/>
              </a:ext>
            </a:extLst>
          </p:cNvPr>
          <p:cNvSpPr txBox="1"/>
          <p:nvPr/>
        </p:nvSpPr>
        <p:spPr>
          <a:xfrm>
            <a:off x="517067" y="3526026"/>
            <a:ext cx="1127452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2600" i="1" dirty="0">
                <a:solidFill>
                  <a:srgbClr val="FF0000"/>
                </a:solidFill>
              </a:rPr>
              <a:t>“O </a:t>
            </a:r>
            <a:r>
              <a:rPr lang="en-US" sz="2600" i="1" dirty="0" err="1">
                <a:solidFill>
                  <a:srgbClr val="FF0000"/>
                </a:solidFill>
              </a:rPr>
              <a:t>verdadeiro</a:t>
            </a:r>
            <a:r>
              <a:rPr lang="en-US" sz="2600" i="1" dirty="0">
                <a:solidFill>
                  <a:srgbClr val="FF0000"/>
                </a:solidFill>
              </a:rPr>
              <a:t> </a:t>
            </a:r>
            <a:r>
              <a:rPr lang="en-US" sz="2600" i="1" dirty="0" err="1">
                <a:solidFill>
                  <a:srgbClr val="FF0000"/>
                </a:solidFill>
              </a:rPr>
              <a:t>objetivo</a:t>
            </a:r>
            <a:r>
              <a:rPr lang="en-US" sz="2600" i="1" dirty="0">
                <a:solidFill>
                  <a:srgbClr val="FF0000"/>
                </a:solidFill>
              </a:rPr>
              <a:t> do </a:t>
            </a:r>
            <a:r>
              <a:rPr lang="en-US" sz="2600" i="1" dirty="0" err="1">
                <a:solidFill>
                  <a:srgbClr val="FF0000"/>
                </a:solidFill>
              </a:rPr>
              <a:t>testador</a:t>
            </a:r>
            <a:r>
              <a:rPr lang="en-US" sz="2600" i="1" dirty="0">
                <a:solidFill>
                  <a:srgbClr val="FF0000"/>
                </a:solidFill>
              </a:rPr>
              <a:t> </a:t>
            </a:r>
            <a:r>
              <a:rPr lang="en-US" sz="2600" i="1" dirty="0" err="1">
                <a:solidFill>
                  <a:srgbClr val="FF0000"/>
                </a:solidFill>
              </a:rPr>
              <a:t>não</a:t>
            </a:r>
            <a:r>
              <a:rPr lang="en-US" sz="2600" i="1" dirty="0">
                <a:solidFill>
                  <a:srgbClr val="FF0000"/>
                </a:solidFill>
              </a:rPr>
              <a:t> </a:t>
            </a:r>
            <a:r>
              <a:rPr lang="en-US" sz="2600" i="1" dirty="0" err="1">
                <a:solidFill>
                  <a:srgbClr val="FF0000"/>
                </a:solidFill>
              </a:rPr>
              <a:t>é</a:t>
            </a:r>
            <a:r>
              <a:rPr lang="en-US" sz="2600" i="1" dirty="0">
                <a:solidFill>
                  <a:srgbClr val="FF0000"/>
                </a:solidFill>
              </a:rPr>
              <a:t> </a:t>
            </a:r>
            <a:r>
              <a:rPr lang="en-US" sz="2600" i="1" dirty="0" err="1">
                <a:solidFill>
                  <a:srgbClr val="FF0000"/>
                </a:solidFill>
              </a:rPr>
              <a:t>realizar</a:t>
            </a:r>
            <a:r>
              <a:rPr lang="en-US" sz="2600" i="1" dirty="0">
                <a:solidFill>
                  <a:srgbClr val="FF0000"/>
                </a:solidFill>
              </a:rPr>
              <a:t> </a:t>
            </a:r>
            <a:r>
              <a:rPr lang="en-US" sz="2600" i="1" dirty="0" err="1">
                <a:solidFill>
                  <a:srgbClr val="FF0000"/>
                </a:solidFill>
              </a:rPr>
              <a:t>os</a:t>
            </a:r>
            <a:r>
              <a:rPr lang="en-US" sz="2600" i="1" dirty="0">
                <a:solidFill>
                  <a:srgbClr val="FF0000"/>
                </a:solidFill>
              </a:rPr>
              <a:t> testes, mas se </a:t>
            </a:r>
            <a:r>
              <a:rPr lang="en-US" sz="2600" i="1" dirty="0" err="1">
                <a:solidFill>
                  <a:srgbClr val="FF0000"/>
                </a:solidFill>
              </a:rPr>
              <a:t>preocupar</a:t>
            </a:r>
            <a:r>
              <a:rPr lang="en-US" sz="2600" i="1" dirty="0">
                <a:solidFill>
                  <a:srgbClr val="FF0000"/>
                </a:solidFill>
              </a:rPr>
              <a:t> com o </a:t>
            </a:r>
            <a:r>
              <a:rPr lang="en-US" sz="2600" i="1" dirty="0" err="1">
                <a:solidFill>
                  <a:srgbClr val="FF0000"/>
                </a:solidFill>
              </a:rPr>
              <a:t>desenvolvimento</a:t>
            </a:r>
            <a:r>
              <a:rPr lang="en-US" sz="2600" i="1" dirty="0">
                <a:solidFill>
                  <a:srgbClr val="FF0000"/>
                </a:solidFill>
              </a:rPr>
              <a:t> dos </a:t>
            </a:r>
            <a:r>
              <a:rPr lang="en-US" sz="2600" i="1" dirty="0" err="1">
                <a:solidFill>
                  <a:srgbClr val="FF0000"/>
                </a:solidFill>
              </a:rPr>
              <a:t>casos</a:t>
            </a:r>
            <a:r>
              <a:rPr lang="en-US" sz="2600" i="1" dirty="0">
                <a:solidFill>
                  <a:srgbClr val="FF0000"/>
                </a:solidFill>
              </a:rPr>
              <a:t> de teste!”</a:t>
            </a:r>
          </a:p>
        </p:txBody>
      </p:sp>
    </p:spTree>
    <p:extLst>
      <p:ext uri="{BB962C8B-B14F-4D97-AF65-F5344CB8AC3E}">
        <p14:creationId xmlns:p14="http://schemas.microsoft.com/office/powerpoint/2010/main" val="1481116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EXPLOSÃO DE ESPAÇO DE ESTADOS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2A354B-89EB-D74B-8B61-1691A23EA386}"/>
              </a:ext>
            </a:extLst>
          </p:cNvPr>
          <p:cNvSpPr txBox="1"/>
          <p:nvPr/>
        </p:nvSpPr>
        <p:spPr>
          <a:xfrm>
            <a:off x="407338" y="1246046"/>
            <a:ext cx="111689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800" dirty="0"/>
              <a:t>Se teste </a:t>
            </a:r>
            <a:r>
              <a:rPr lang="en-US" sz="2800" dirty="0" err="1"/>
              <a:t>é</a:t>
            </a:r>
            <a:r>
              <a:rPr lang="en-US" sz="2800" dirty="0"/>
              <a:t> o </a:t>
            </a:r>
            <a:r>
              <a:rPr lang="en-US" sz="2800" dirty="0" err="1"/>
              <a:t>processo</a:t>
            </a:r>
            <a:r>
              <a:rPr lang="en-US" sz="2800" dirty="0"/>
              <a:t> de </a:t>
            </a:r>
            <a:r>
              <a:rPr lang="en-US" sz="2800" b="1" dirty="0" err="1">
                <a:solidFill>
                  <a:schemeClr val="accent4">
                    <a:lumMod val="75000"/>
                  </a:schemeClr>
                </a:solidFill>
              </a:rPr>
              <a:t>encontrar</a:t>
            </a:r>
            <a:r>
              <a:rPr lang="en-US" sz="2800" b="1" dirty="0">
                <a:solidFill>
                  <a:schemeClr val="accent4">
                    <a:lumMod val="75000"/>
                  </a:schemeClr>
                </a:solidFill>
              </a:rPr>
              <a:t> entradas </a:t>
            </a:r>
            <a:r>
              <a:rPr lang="en-US" sz="2800" dirty="0"/>
              <a:t>para </a:t>
            </a:r>
            <a:r>
              <a:rPr lang="en-US" sz="2800" dirty="0" err="1"/>
              <a:t>verificar</a:t>
            </a:r>
            <a:r>
              <a:rPr lang="en-US" sz="2800" dirty="0"/>
              <a:t> um software, </a:t>
            </a:r>
            <a:r>
              <a:rPr lang="en-US" sz="2800" dirty="0" err="1"/>
              <a:t>como</a:t>
            </a:r>
            <a:r>
              <a:rPr lang="en-US" sz="2800" dirty="0"/>
              <a:t> lidar com a </a:t>
            </a:r>
            <a:r>
              <a:rPr lang="en-US" sz="2800" dirty="0" err="1"/>
              <a:t>complexidade</a:t>
            </a:r>
            <a:r>
              <a:rPr lang="en-US" sz="2800" dirty="0"/>
              <a:t> ?!?!?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8DF025-3471-FE42-90BC-9BDB31606CD0}"/>
              </a:ext>
            </a:extLst>
          </p:cNvPr>
          <p:cNvSpPr txBox="1"/>
          <p:nvPr/>
        </p:nvSpPr>
        <p:spPr>
          <a:xfrm>
            <a:off x="421452" y="2702230"/>
            <a:ext cx="1116896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800" dirty="0" err="1"/>
              <a:t>Mesmo</a:t>
            </a:r>
            <a:r>
              <a:rPr lang="en-US" sz="2800" dirty="0"/>
              <a:t> </a:t>
            </a:r>
            <a:r>
              <a:rPr lang="en-US" sz="2800" dirty="0" err="1"/>
              <a:t>os</a:t>
            </a:r>
            <a:r>
              <a:rPr lang="en-US" sz="2800" dirty="0"/>
              <a:t> </a:t>
            </a:r>
            <a:r>
              <a:rPr lang="en-US" sz="2800" dirty="0" err="1"/>
              <a:t>problemas</a:t>
            </a:r>
            <a:r>
              <a:rPr lang="en-US" sz="2800" dirty="0"/>
              <a:t> </a:t>
            </a:r>
            <a:r>
              <a:rPr lang="en-US" sz="2800" dirty="0" err="1"/>
              <a:t>mais</a:t>
            </a:r>
            <a:r>
              <a:rPr lang="en-US" sz="2800" dirty="0"/>
              <a:t> simples </a:t>
            </a:r>
            <a:r>
              <a:rPr lang="en-US" sz="2800" dirty="0" err="1"/>
              <a:t>possuem</a:t>
            </a:r>
            <a:r>
              <a:rPr lang="en-US" sz="2800" dirty="0"/>
              <a:t> um </a:t>
            </a:r>
            <a:r>
              <a:rPr lang="en-US" sz="2800" dirty="0" err="1"/>
              <a:t>espaço</a:t>
            </a:r>
            <a:r>
              <a:rPr lang="en-US" sz="2800" dirty="0"/>
              <a:t> de </a:t>
            </a:r>
            <a:r>
              <a:rPr lang="en-US" sz="2800" dirty="0" err="1"/>
              <a:t>estados</a:t>
            </a:r>
            <a:r>
              <a:rPr lang="en-US" sz="2800" dirty="0"/>
              <a:t> </a:t>
            </a:r>
            <a:r>
              <a:rPr lang="en-US" sz="2800" dirty="0" err="1"/>
              <a:t>gigante</a:t>
            </a:r>
            <a:endParaRPr lang="en-US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600" dirty="0" err="1"/>
              <a:t>Considere</a:t>
            </a:r>
            <a:r>
              <a:rPr lang="en-US" sz="2600" dirty="0"/>
              <a:t> a </a:t>
            </a:r>
            <a:r>
              <a:rPr lang="en-US" sz="2600" dirty="0" err="1"/>
              <a:t>função</a:t>
            </a:r>
            <a:r>
              <a:rPr lang="en-US" sz="2600" dirty="0"/>
              <a:t> para </a:t>
            </a:r>
            <a:r>
              <a:rPr lang="en-US" sz="2600" dirty="0" err="1"/>
              <a:t>calcular</a:t>
            </a:r>
            <a:r>
              <a:rPr lang="en-US" sz="2600" dirty="0"/>
              <a:t> a </a:t>
            </a:r>
            <a:r>
              <a:rPr lang="en-US" sz="2600" dirty="0" err="1"/>
              <a:t>média</a:t>
            </a:r>
            <a:r>
              <a:rPr lang="en-US" sz="2600" dirty="0"/>
              <a:t> entre 3 </a:t>
            </a:r>
            <a:r>
              <a:rPr lang="en-US" sz="2600" dirty="0" err="1"/>
              <a:t>inteiros</a:t>
            </a:r>
            <a:endParaRPr lang="en-US" sz="2600" dirty="0"/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en-US" sz="400" dirty="0"/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en-US" sz="2400" i="1" dirty="0" err="1"/>
              <a:t>int</a:t>
            </a:r>
            <a:r>
              <a:rPr lang="en-US" sz="2400" i="1" dirty="0"/>
              <a:t> average(</a:t>
            </a:r>
            <a:r>
              <a:rPr lang="en-US" sz="2400" i="1" dirty="0" err="1"/>
              <a:t>int</a:t>
            </a:r>
            <a:r>
              <a:rPr lang="en-US" sz="2400" i="1" dirty="0"/>
              <a:t> a, </a:t>
            </a:r>
            <a:r>
              <a:rPr lang="en-US" sz="2400" i="1" dirty="0" err="1"/>
              <a:t>int</a:t>
            </a:r>
            <a:r>
              <a:rPr lang="en-US" sz="2400" i="1" dirty="0"/>
              <a:t> b, </a:t>
            </a:r>
            <a:r>
              <a:rPr lang="en-US" sz="2400" i="1" dirty="0" err="1"/>
              <a:t>int</a:t>
            </a:r>
            <a:r>
              <a:rPr lang="en-US" sz="2400" i="1" dirty="0"/>
              <a:t> c)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600" dirty="0" err="1"/>
              <a:t>Cada</a:t>
            </a:r>
            <a:r>
              <a:rPr lang="en-US" sz="2600" dirty="0"/>
              <a:t> </a:t>
            </a:r>
            <a:r>
              <a:rPr lang="en-US" sz="2600" dirty="0" err="1"/>
              <a:t>variável</a:t>
            </a:r>
            <a:r>
              <a:rPr lang="en-US" sz="2600" dirty="0"/>
              <a:t> de 32-bits </a:t>
            </a:r>
            <a:r>
              <a:rPr lang="en-US" sz="2600" dirty="0" err="1"/>
              <a:t>pode</a:t>
            </a:r>
            <a:r>
              <a:rPr lang="en-US" sz="2600" dirty="0"/>
              <a:t> </a:t>
            </a:r>
            <a:r>
              <a:rPr lang="en-US" sz="2600" dirty="0" err="1"/>
              <a:t>ter</a:t>
            </a:r>
            <a:r>
              <a:rPr lang="en-US" sz="2600" dirty="0"/>
              <a:t> 4 </a:t>
            </a:r>
            <a:r>
              <a:rPr lang="en-US" sz="2600" dirty="0" err="1"/>
              <a:t>bilhões</a:t>
            </a:r>
            <a:r>
              <a:rPr lang="en-US" sz="2600" dirty="0"/>
              <a:t> de </a:t>
            </a:r>
            <a:r>
              <a:rPr lang="en-US" sz="2600" dirty="0" err="1"/>
              <a:t>valores</a:t>
            </a:r>
            <a:r>
              <a:rPr lang="en-US" sz="2600" dirty="0"/>
              <a:t> </a:t>
            </a:r>
            <a:r>
              <a:rPr lang="en-US" sz="2600" dirty="0" err="1"/>
              <a:t>possíveis</a:t>
            </a:r>
            <a:endParaRPr lang="en-US" sz="2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600" dirty="0" err="1"/>
              <a:t>Combinação</a:t>
            </a:r>
            <a:r>
              <a:rPr lang="en-US" sz="2600" dirty="0"/>
              <a:t> de C(3,4Bilhões) &gt; </a:t>
            </a:r>
            <a:r>
              <a:rPr lang="en-US" sz="2600" b="1" dirty="0">
                <a:solidFill>
                  <a:srgbClr val="FF0000"/>
                </a:solidFill>
              </a:rPr>
              <a:t>80 </a:t>
            </a:r>
            <a:r>
              <a:rPr lang="en-US" sz="2600" b="1" dirty="0" err="1">
                <a:solidFill>
                  <a:srgbClr val="FF0000"/>
                </a:solidFill>
              </a:rPr>
              <a:t>octilhões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dirty="0"/>
              <a:t>de testes </a:t>
            </a:r>
            <a:r>
              <a:rPr lang="en-US" sz="2600" dirty="0" err="1"/>
              <a:t>possíveis</a:t>
            </a:r>
            <a:r>
              <a:rPr lang="en-US" sz="2600" dirty="0"/>
              <a:t> !!!</a:t>
            </a:r>
          </a:p>
        </p:txBody>
      </p:sp>
    </p:spTree>
    <p:extLst>
      <p:ext uri="{BB962C8B-B14F-4D97-AF65-F5344CB8AC3E}">
        <p14:creationId xmlns:p14="http://schemas.microsoft.com/office/powerpoint/2010/main" val="364186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QUANTO </a:t>
            </a:r>
            <a:r>
              <a:rPr lang="en-US" sz="2800" b="1" dirty="0" err="1">
                <a:solidFill>
                  <a:schemeClr val="bg1"/>
                </a:solidFill>
              </a:rPr>
              <a:t>É</a:t>
            </a:r>
            <a:r>
              <a:rPr lang="en-US" sz="2800" b="1" dirty="0">
                <a:solidFill>
                  <a:schemeClr val="bg1"/>
                </a:solidFill>
              </a:rPr>
              <a:t> UM OCTILHÃO ?!?!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17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2763769-0307-7C4E-B6B4-3D58B281A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852680"/>
              </p:ext>
            </p:extLst>
          </p:nvPr>
        </p:nvGraphicFramePr>
        <p:xfrm>
          <a:off x="2849603" y="1021367"/>
          <a:ext cx="6916189" cy="55575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30147">
                  <a:extLst>
                    <a:ext uri="{9D8B030D-6E8A-4147-A177-3AD203B41FA5}">
                      <a16:colId xmlns:a16="http://schemas.microsoft.com/office/drawing/2014/main" val="1229560541"/>
                    </a:ext>
                  </a:extLst>
                </a:gridCol>
                <a:gridCol w="5186042">
                  <a:extLst>
                    <a:ext uri="{9D8B030D-6E8A-4147-A177-3AD203B41FA5}">
                      <a16:colId xmlns:a16="http://schemas.microsoft.com/office/drawing/2014/main" val="40253405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NÚMERO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4842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9533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371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43622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375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673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Trilhão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6303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Quatrilhão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1.000.000.000.000.000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54327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Quintilhão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1.000.000.000.000.000.000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1350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Sextilhão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1.000.000.000.000.000.000.000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9386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Septilhão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1.000.000.000.000.000.000.000.000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7286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solidFill>
                            <a:srgbClr val="FF0000"/>
                          </a:solidFill>
                        </a:rPr>
                        <a:t>Octilhão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FF0000"/>
                          </a:solidFill>
                        </a:rPr>
                        <a:t>1.000.000.000.000.000.000.000.000.000</a:t>
                      </a:r>
                      <a:endParaRPr lang="en-US" b="1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561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Nonilhão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1.000.000.000.000.000.000.000.000.000.000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2156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Decilhão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1.000.000.000.000.000.000.000.000.000.000.000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8107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30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EXPLOSÃO DE ESPAÇO DE ESTADOS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FEF1CA-23D6-4343-9A69-BE7CD6AC9427}"/>
              </a:ext>
            </a:extLst>
          </p:cNvPr>
          <p:cNvSpPr txBox="1"/>
          <p:nvPr/>
        </p:nvSpPr>
        <p:spPr>
          <a:xfrm>
            <a:off x="443914" y="1246046"/>
            <a:ext cx="1116896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3200" dirty="0" err="1"/>
              <a:t>Considere</a:t>
            </a:r>
            <a:r>
              <a:rPr lang="en-US" sz="3200" dirty="0"/>
              <a:t> o teste da </a:t>
            </a:r>
            <a:r>
              <a:rPr lang="en-US" sz="3200" dirty="0" err="1"/>
              <a:t>função</a:t>
            </a:r>
            <a:r>
              <a:rPr lang="en-US" sz="3200" dirty="0"/>
              <a:t> 𝑥</a:t>
            </a:r>
            <a:r>
              <a:rPr lang="en-US" sz="3200" baseline="30000" dirty="0"/>
              <a:t>𝑦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800" dirty="0"/>
              <a:t>O </a:t>
            </a:r>
            <a:r>
              <a:rPr lang="en-US" sz="2800" dirty="0" err="1"/>
              <a:t>domínio</a:t>
            </a:r>
            <a:r>
              <a:rPr lang="en-US" sz="2800" dirty="0"/>
              <a:t> de entrada </a:t>
            </a:r>
            <a:r>
              <a:rPr lang="en-US" sz="2800" dirty="0" err="1"/>
              <a:t>é</a:t>
            </a:r>
            <a:r>
              <a:rPr lang="en-US" sz="2800" dirty="0"/>
              <a:t> </a:t>
            </a:r>
            <a:r>
              <a:rPr lang="en-US" sz="2800" dirty="0" err="1"/>
              <a:t>formado</a:t>
            </a:r>
            <a:r>
              <a:rPr lang="en-US" sz="2800" dirty="0"/>
              <a:t> </a:t>
            </a:r>
            <a:r>
              <a:rPr lang="en-US" sz="2800" dirty="0" err="1"/>
              <a:t>pelo</a:t>
            </a:r>
            <a:r>
              <a:rPr lang="en-US" sz="2800" dirty="0"/>
              <a:t> par (</a:t>
            </a:r>
            <a:r>
              <a:rPr lang="en-US" sz="2800" dirty="0" err="1"/>
              <a:t>x,y</a:t>
            </a:r>
            <a:r>
              <a:rPr lang="en-US" sz="28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800" dirty="0" err="1"/>
              <a:t>Cardinalidade</a:t>
            </a:r>
            <a:r>
              <a:rPr lang="en-US" sz="2800" dirty="0"/>
              <a:t> </a:t>
            </a:r>
            <a:r>
              <a:rPr lang="en-US" sz="2800" dirty="0" err="1"/>
              <a:t>é</a:t>
            </a:r>
            <a:r>
              <a:rPr lang="en-US" sz="2800" dirty="0"/>
              <a:t> 2</a:t>
            </a:r>
            <a:r>
              <a:rPr lang="en-US" sz="2800" baseline="30000" dirty="0"/>
              <a:t>𝑛</a:t>
            </a:r>
            <a:r>
              <a:rPr lang="en-US" sz="2800" dirty="0"/>
              <a:t> ∗ 2</a:t>
            </a:r>
            <a:r>
              <a:rPr lang="en-US" sz="2800" baseline="30000" dirty="0"/>
              <a:t>𝑛</a:t>
            </a:r>
            <a:endParaRPr lang="en-US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800" dirty="0"/>
              <a:t>Se </a:t>
            </a:r>
            <a:r>
              <a:rPr lang="en-US" sz="2800" i="1" dirty="0"/>
              <a:t>n</a:t>
            </a:r>
            <a:r>
              <a:rPr lang="en-US" sz="2800" dirty="0"/>
              <a:t> for 32 bits, </a:t>
            </a:r>
            <a:r>
              <a:rPr lang="en-US" sz="2800" dirty="0" err="1"/>
              <a:t>isso</a:t>
            </a:r>
            <a:r>
              <a:rPr lang="en-US" sz="2800" dirty="0"/>
              <a:t> </a:t>
            </a:r>
            <a:r>
              <a:rPr lang="en-US" sz="2800" dirty="0" err="1"/>
              <a:t>representa</a:t>
            </a:r>
            <a:r>
              <a:rPr lang="en-US" sz="2800" dirty="0"/>
              <a:t> 2</a:t>
            </a:r>
            <a:r>
              <a:rPr lang="en-US" sz="2800" baseline="30000" dirty="0"/>
              <a:t>64</a:t>
            </a:r>
            <a:r>
              <a:rPr lang="en-US" sz="2800" dirty="0"/>
              <a:t> = 18446744073709551616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800" dirty="0"/>
              <a:t>Se </a:t>
            </a:r>
            <a:r>
              <a:rPr lang="en-US" sz="2800" dirty="0" err="1"/>
              <a:t>cada</a:t>
            </a:r>
            <a:r>
              <a:rPr lang="en-US" sz="2800" dirty="0"/>
              <a:t> </a:t>
            </a:r>
            <a:r>
              <a:rPr lang="en-US" sz="2800" dirty="0" err="1"/>
              <a:t>caso</a:t>
            </a:r>
            <a:r>
              <a:rPr lang="en-US" sz="2800" dirty="0"/>
              <a:t> de teste for </a:t>
            </a:r>
            <a:r>
              <a:rPr lang="en-US" sz="2800" dirty="0" err="1"/>
              <a:t>executado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1 </a:t>
            </a:r>
            <a:r>
              <a:rPr lang="en-US" sz="2800" dirty="0" err="1"/>
              <a:t>ms</a:t>
            </a:r>
            <a:r>
              <a:rPr lang="en-US" sz="2800" dirty="0"/>
              <a:t>, </a:t>
            </a:r>
            <a:r>
              <a:rPr lang="en-US" sz="2800" dirty="0" err="1"/>
              <a:t>vai</a:t>
            </a:r>
            <a:r>
              <a:rPr lang="en-US" sz="2800" dirty="0"/>
              <a:t> </a:t>
            </a:r>
            <a:r>
              <a:rPr lang="en-US" sz="2800" dirty="0" err="1"/>
              <a:t>levar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FF0000"/>
                </a:solidFill>
              </a:rPr>
              <a:t>5.849.424 </a:t>
            </a:r>
            <a:r>
              <a:rPr lang="en-US" sz="2800" b="1" dirty="0" err="1">
                <a:solidFill>
                  <a:srgbClr val="FF0000"/>
                </a:solidFill>
              </a:rPr>
              <a:t>séculos</a:t>
            </a:r>
            <a:r>
              <a:rPr lang="en-US" sz="2800" b="1" dirty="0">
                <a:solidFill>
                  <a:srgbClr val="FF0000"/>
                </a:solidFill>
              </a:rPr>
              <a:t> </a:t>
            </a:r>
            <a:r>
              <a:rPr lang="en-US" sz="2800" dirty="0"/>
              <a:t>para </a:t>
            </a:r>
            <a:r>
              <a:rPr lang="en-US" sz="2800" dirty="0" err="1"/>
              <a:t>executar</a:t>
            </a:r>
            <a:r>
              <a:rPr lang="en-US" sz="2800" dirty="0"/>
              <a:t> </a:t>
            </a:r>
            <a:r>
              <a:rPr lang="en-US" sz="2800" dirty="0" err="1"/>
              <a:t>todos</a:t>
            </a:r>
            <a:r>
              <a:rPr lang="en-US" sz="2800" dirty="0"/>
              <a:t> </a:t>
            </a:r>
            <a:r>
              <a:rPr lang="en-US" sz="2800" dirty="0" err="1"/>
              <a:t>os</a:t>
            </a:r>
            <a:r>
              <a:rPr lang="en-US" sz="2800" dirty="0"/>
              <a:t> testes!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F0CD5D-BF05-1B4D-931E-278429DDCCBB}"/>
              </a:ext>
            </a:extLst>
          </p:cNvPr>
          <p:cNvSpPr txBox="1"/>
          <p:nvPr/>
        </p:nvSpPr>
        <p:spPr>
          <a:xfrm>
            <a:off x="174611" y="6090130"/>
            <a:ext cx="7752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Fonte:</a:t>
            </a:r>
            <a:r>
              <a:rPr lang="pt-BR" sz="1600" dirty="0"/>
              <a:t> Paul </a:t>
            </a:r>
            <a:r>
              <a:rPr lang="pt-BR" sz="1600" dirty="0" err="1"/>
              <a:t>Ammann</a:t>
            </a:r>
            <a:r>
              <a:rPr lang="pt-BR" sz="1600" dirty="0"/>
              <a:t> </a:t>
            </a:r>
            <a:r>
              <a:rPr lang="pt-BR" sz="1600" dirty="0" err="1"/>
              <a:t>and</a:t>
            </a:r>
            <a:r>
              <a:rPr lang="pt-BR" sz="1600" dirty="0"/>
              <a:t> Jeff </a:t>
            </a:r>
            <a:r>
              <a:rPr lang="pt-BR" sz="1600" dirty="0" err="1"/>
              <a:t>Offutt</a:t>
            </a:r>
            <a:r>
              <a:rPr lang="pt-BR" sz="1600" dirty="0"/>
              <a:t>. </a:t>
            </a:r>
            <a:r>
              <a:rPr lang="pt-BR" sz="1600" b="1" i="1" dirty="0" err="1"/>
              <a:t>Introduction</a:t>
            </a:r>
            <a:r>
              <a:rPr lang="pt-BR" sz="1600" b="1" i="1" dirty="0"/>
              <a:t> </a:t>
            </a:r>
            <a:r>
              <a:rPr lang="pt-BR" sz="1600" b="1" i="1" dirty="0" err="1"/>
              <a:t>to</a:t>
            </a:r>
            <a:r>
              <a:rPr lang="pt-BR" sz="1600" b="1" i="1" dirty="0"/>
              <a:t> Software </a:t>
            </a:r>
            <a:r>
              <a:rPr lang="pt-BR" sz="1600" b="1" i="1" dirty="0" err="1"/>
              <a:t>Testing</a:t>
            </a:r>
            <a:r>
              <a:rPr lang="pt-BR" sz="1600" dirty="0"/>
              <a:t>. 2nd </a:t>
            </a:r>
            <a:r>
              <a:rPr lang="pt-BR" sz="1600" dirty="0" err="1"/>
              <a:t>edition</a:t>
            </a:r>
            <a:r>
              <a:rPr lang="pt-BR" sz="1600" dirty="0"/>
              <a:t>. 2017.</a:t>
            </a:r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1600" dirty="0">
                <a:hlinkClick r:id="rId2"/>
              </a:rPr>
              <a:t>https://cs.gmu.edu/~offutt/softwaretest/</a:t>
            </a:r>
            <a:endParaRPr lang="pt-BR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D9A7273-3ED7-3144-9C81-12D3FF7F97DA}"/>
              </a:ext>
            </a:extLst>
          </p:cNvPr>
          <p:cNvSpPr/>
          <p:nvPr/>
        </p:nvSpPr>
        <p:spPr>
          <a:xfrm>
            <a:off x="156323" y="6090797"/>
            <a:ext cx="7562298" cy="584775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81065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CUSTO DO TESTE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D09133-AC8F-3E44-8A0F-D4B7CC22C6FB}"/>
              </a:ext>
            </a:extLst>
          </p:cNvPr>
          <p:cNvSpPr txBox="1"/>
          <p:nvPr/>
        </p:nvSpPr>
        <p:spPr>
          <a:xfrm>
            <a:off x="174611" y="6090130"/>
            <a:ext cx="77529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Fonte:</a:t>
            </a:r>
            <a:r>
              <a:rPr lang="pt-BR" sz="1600" dirty="0"/>
              <a:t> Paul </a:t>
            </a:r>
            <a:r>
              <a:rPr lang="pt-BR" sz="1600" dirty="0" err="1"/>
              <a:t>Ammann</a:t>
            </a:r>
            <a:r>
              <a:rPr lang="pt-BR" sz="1600" dirty="0"/>
              <a:t> </a:t>
            </a:r>
            <a:r>
              <a:rPr lang="pt-BR" sz="1600" dirty="0" err="1"/>
              <a:t>and</a:t>
            </a:r>
            <a:r>
              <a:rPr lang="pt-BR" sz="1600" dirty="0"/>
              <a:t> Jeff </a:t>
            </a:r>
            <a:r>
              <a:rPr lang="pt-BR" sz="1600" dirty="0" err="1"/>
              <a:t>Offutt</a:t>
            </a:r>
            <a:r>
              <a:rPr lang="pt-BR" sz="1600" dirty="0"/>
              <a:t>. </a:t>
            </a:r>
            <a:r>
              <a:rPr lang="pt-BR" sz="1600" b="1" i="1" dirty="0" err="1"/>
              <a:t>Introduction</a:t>
            </a:r>
            <a:r>
              <a:rPr lang="pt-BR" sz="1600" b="1" i="1" dirty="0"/>
              <a:t> </a:t>
            </a:r>
            <a:r>
              <a:rPr lang="pt-BR" sz="1600" b="1" i="1" dirty="0" err="1"/>
              <a:t>to</a:t>
            </a:r>
            <a:r>
              <a:rPr lang="pt-BR" sz="1600" b="1" i="1" dirty="0"/>
              <a:t> Software </a:t>
            </a:r>
            <a:r>
              <a:rPr lang="pt-BR" sz="1600" b="1" i="1" dirty="0" err="1"/>
              <a:t>Testing</a:t>
            </a:r>
            <a:r>
              <a:rPr lang="pt-BR" sz="1600" dirty="0"/>
              <a:t>. 2nd </a:t>
            </a:r>
            <a:r>
              <a:rPr lang="pt-BR" sz="1600" dirty="0" err="1"/>
              <a:t>edition</a:t>
            </a:r>
            <a:r>
              <a:rPr lang="pt-BR" sz="1600" dirty="0"/>
              <a:t>. 2017.</a:t>
            </a:r>
          </a:p>
          <a:p>
            <a:pPr marL="342900" indent="-3429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1600" dirty="0">
                <a:hlinkClick r:id="rId2"/>
              </a:rPr>
              <a:t>https://cs.gmu.edu/~offutt/softwaretest/</a:t>
            </a:r>
            <a:endParaRPr lang="pt-BR" sz="1600" dirty="0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7EEB595-AA8C-6D41-8838-5229C081B2DF}"/>
              </a:ext>
            </a:extLst>
          </p:cNvPr>
          <p:cNvSpPr/>
          <p:nvPr/>
        </p:nvSpPr>
        <p:spPr>
          <a:xfrm>
            <a:off x="156323" y="6090797"/>
            <a:ext cx="7562298" cy="584775"/>
          </a:xfrm>
          <a:prstGeom prst="roundRect">
            <a:avLst>
              <a:gd name="adj" fmla="val 8337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949286E-A0D7-459B-9132-7FD2C9843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016" y="1207177"/>
            <a:ext cx="8315967" cy="444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2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OBJETIVO DO TESTADOR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A6CD8C-17D2-7244-A468-20927E9DB47C}"/>
              </a:ext>
            </a:extLst>
          </p:cNvPr>
          <p:cNvSpPr txBox="1"/>
          <p:nvPr/>
        </p:nvSpPr>
        <p:spPr>
          <a:xfrm>
            <a:off x="553642" y="1264334"/>
            <a:ext cx="1116896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sz="3200" dirty="0"/>
              <a:t>O </a:t>
            </a:r>
            <a:r>
              <a:rPr lang="en-US" sz="3200" dirty="0" err="1"/>
              <a:t>objetivo</a:t>
            </a:r>
            <a:r>
              <a:rPr lang="en-US" sz="3200" dirty="0"/>
              <a:t> </a:t>
            </a:r>
            <a:r>
              <a:rPr lang="en-US" sz="3200" dirty="0" err="1"/>
              <a:t>é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eliminar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os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defeitos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mais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cedo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possível</a:t>
            </a:r>
            <a:endParaRPr lang="en-US" sz="3200" b="1" dirty="0">
              <a:solidFill>
                <a:srgbClr val="FF0000"/>
              </a:solidFill>
            </a:endParaRP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 err="1"/>
              <a:t>Melhorar</a:t>
            </a:r>
            <a:r>
              <a:rPr lang="en-US" sz="3000" dirty="0"/>
              <a:t> a </a:t>
            </a:r>
            <a:r>
              <a:rPr lang="en-US" sz="3000" dirty="0" err="1"/>
              <a:t>qualidade</a:t>
            </a:r>
            <a:endParaRPr lang="en-US" sz="30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 err="1"/>
              <a:t>Reduzir</a:t>
            </a:r>
            <a:r>
              <a:rPr lang="en-US" sz="3000" dirty="0"/>
              <a:t> </a:t>
            </a:r>
            <a:r>
              <a:rPr lang="en-US" sz="3000" dirty="0" err="1"/>
              <a:t>custos</a:t>
            </a:r>
            <a:endParaRPr lang="en-US" sz="30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 err="1"/>
              <a:t>Preservar</a:t>
            </a:r>
            <a:r>
              <a:rPr lang="en-US" sz="3000" dirty="0"/>
              <a:t> </a:t>
            </a:r>
            <a:r>
              <a:rPr lang="en-US" sz="3000" dirty="0" err="1"/>
              <a:t>satisfação</a:t>
            </a:r>
            <a:r>
              <a:rPr lang="en-US" sz="3000" dirty="0"/>
              <a:t> do </a:t>
            </a:r>
            <a:r>
              <a:rPr lang="en-US" sz="3000" dirty="0" err="1"/>
              <a:t>usuário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3786583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DINÂMICO E TESTE ESTÁTICO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776F37-9230-A444-AD3B-BF1BA6986118}"/>
              </a:ext>
            </a:extLst>
          </p:cNvPr>
          <p:cNvSpPr txBox="1"/>
          <p:nvPr/>
        </p:nvSpPr>
        <p:spPr>
          <a:xfrm>
            <a:off x="407338" y="1282622"/>
            <a:ext cx="113803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b="1" dirty="0">
                <a:solidFill>
                  <a:schemeClr val="accent4">
                    <a:lumMod val="75000"/>
                  </a:schemeClr>
                </a:solidFill>
              </a:rPr>
              <a:t>Teste </a:t>
            </a:r>
            <a:r>
              <a:rPr lang="en-US" sz="3000" b="1" dirty="0" err="1">
                <a:solidFill>
                  <a:schemeClr val="accent4">
                    <a:lumMod val="75000"/>
                  </a:schemeClr>
                </a:solidFill>
              </a:rPr>
              <a:t>Estático</a:t>
            </a:r>
            <a:r>
              <a:rPr lang="en-US" sz="3000" dirty="0"/>
              <a:t>: </a:t>
            </a:r>
            <a:r>
              <a:rPr lang="en-US" sz="3000" dirty="0" err="1"/>
              <a:t>testa</a:t>
            </a:r>
            <a:r>
              <a:rPr lang="en-US" sz="3000" dirty="0"/>
              <a:t> </a:t>
            </a:r>
            <a:r>
              <a:rPr lang="en-US" sz="3000" dirty="0" err="1"/>
              <a:t>sem</a:t>
            </a:r>
            <a:r>
              <a:rPr lang="en-US" sz="3000" dirty="0"/>
              <a:t> </a:t>
            </a:r>
            <a:r>
              <a:rPr lang="en-US" sz="3000" dirty="0" err="1"/>
              <a:t>executar</a:t>
            </a:r>
            <a:r>
              <a:rPr lang="en-US" sz="3000" dirty="0"/>
              <a:t> o software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Realiza</a:t>
            </a:r>
            <a:r>
              <a:rPr lang="en-US" sz="2800" dirty="0"/>
              <a:t> </a:t>
            </a:r>
            <a:r>
              <a:rPr lang="en-US" sz="2800" dirty="0" err="1"/>
              <a:t>inspeção</a:t>
            </a:r>
            <a:r>
              <a:rPr lang="en-US" sz="2800" dirty="0"/>
              <a:t> de software e </a:t>
            </a:r>
            <a:r>
              <a:rPr lang="en-US" sz="2800" dirty="0" err="1"/>
              <a:t>análise</a:t>
            </a:r>
            <a:r>
              <a:rPr lang="en-US" sz="2800" dirty="0"/>
              <a:t> (formal)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u="sng" dirty="0" err="1"/>
              <a:t>Exemplos</a:t>
            </a:r>
            <a:r>
              <a:rPr lang="en-US" sz="2800" u="sng" dirty="0"/>
              <a:t>:</a:t>
            </a:r>
            <a:r>
              <a:rPr lang="en-US" sz="2800" dirty="0"/>
              <a:t> </a:t>
            </a:r>
            <a:r>
              <a:rPr lang="en-US" sz="2800" dirty="0" err="1"/>
              <a:t>verificação</a:t>
            </a:r>
            <a:r>
              <a:rPr lang="en-US" sz="2800" dirty="0"/>
              <a:t> formal, lint checkers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Vamos</a:t>
            </a:r>
            <a:r>
              <a:rPr lang="en-US" sz="2800" dirty="0"/>
              <a:t> </a:t>
            </a:r>
            <a:r>
              <a:rPr lang="en-US" sz="2800" dirty="0" err="1"/>
              <a:t>ver</a:t>
            </a:r>
            <a:r>
              <a:rPr lang="en-US" sz="2800" dirty="0"/>
              <a:t> </a:t>
            </a:r>
            <a:r>
              <a:rPr lang="en-US" sz="2800" dirty="0" err="1"/>
              <a:t>algumas</a:t>
            </a:r>
            <a:r>
              <a:rPr lang="en-US" sz="2800" dirty="0"/>
              <a:t> ferramentas, mas </a:t>
            </a:r>
            <a:r>
              <a:rPr lang="en-US" sz="2800" dirty="0" err="1"/>
              <a:t>não</a:t>
            </a:r>
            <a:r>
              <a:rPr lang="en-US" sz="2800" dirty="0"/>
              <a:t> </a:t>
            </a:r>
            <a:r>
              <a:rPr lang="en-US" sz="2800" dirty="0" err="1"/>
              <a:t>é</a:t>
            </a:r>
            <a:r>
              <a:rPr lang="en-US" sz="2800" dirty="0"/>
              <a:t> o </a:t>
            </a:r>
            <a:r>
              <a:rPr lang="en-US" sz="2800" dirty="0" err="1"/>
              <a:t>foco</a:t>
            </a:r>
            <a:r>
              <a:rPr lang="en-US" sz="2800" dirty="0"/>
              <a:t> da </a:t>
            </a:r>
            <a:r>
              <a:rPr lang="en-US" sz="2800" dirty="0" err="1"/>
              <a:t>disciplina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5301462-A939-CA44-B444-84FF77F97D63}"/>
              </a:ext>
            </a:extLst>
          </p:cNvPr>
          <p:cNvSpPr txBox="1"/>
          <p:nvPr/>
        </p:nvSpPr>
        <p:spPr>
          <a:xfrm>
            <a:off x="407338" y="3903102"/>
            <a:ext cx="1138031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b="1" dirty="0">
                <a:solidFill>
                  <a:schemeClr val="accent4">
                    <a:lumMod val="75000"/>
                  </a:schemeClr>
                </a:solidFill>
              </a:rPr>
              <a:t>Teste </a:t>
            </a:r>
            <a:r>
              <a:rPr lang="en-US" sz="3000" b="1" dirty="0" err="1">
                <a:solidFill>
                  <a:schemeClr val="accent4">
                    <a:lumMod val="75000"/>
                  </a:schemeClr>
                </a:solidFill>
              </a:rPr>
              <a:t>dinâmico</a:t>
            </a:r>
            <a:r>
              <a:rPr lang="en-US" sz="3000" dirty="0"/>
              <a:t>: teste </a:t>
            </a:r>
            <a:r>
              <a:rPr lang="en-US" sz="3000" dirty="0" err="1"/>
              <a:t>executando</a:t>
            </a:r>
            <a:r>
              <a:rPr lang="en-US" sz="3000" dirty="0"/>
              <a:t> o </a:t>
            </a:r>
            <a:r>
              <a:rPr lang="en-US" sz="3000" dirty="0" err="1"/>
              <a:t>programa</a:t>
            </a:r>
            <a:r>
              <a:rPr lang="en-US" sz="3000" dirty="0"/>
              <a:t> com entradas </a:t>
            </a:r>
            <a:r>
              <a:rPr lang="en-US" sz="3000" dirty="0" err="1"/>
              <a:t>reais</a:t>
            </a:r>
            <a:endParaRPr lang="en-US" sz="30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É</a:t>
            </a:r>
            <a:r>
              <a:rPr lang="en-US" sz="2800" dirty="0"/>
              <a:t> o </a:t>
            </a:r>
            <a:r>
              <a:rPr lang="en-US" sz="2800" b="1" dirty="0" err="1">
                <a:solidFill>
                  <a:srgbClr val="FF0000"/>
                </a:solidFill>
              </a:rPr>
              <a:t>foco</a:t>
            </a:r>
            <a:r>
              <a:rPr lang="en-US" sz="2800" dirty="0"/>
              <a:t> da </a:t>
            </a:r>
            <a:r>
              <a:rPr lang="en-US" sz="2800" dirty="0" err="1"/>
              <a:t>disciplina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1531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VALIDAÇÃO E VERIFICAÇÃO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DE66D6-B269-2E47-98B8-34259150D9C9}"/>
              </a:ext>
            </a:extLst>
          </p:cNvPr>
          <p:cNvSpPr txBox="1"/>
          <p:nvPr/>
        </p:nvSpPr>
        <p:spPr>
          <a:xfrm>
            <a:off x="410101" y="1424513"/>
            <a:ext cx="111803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200" b="1" dirty="0" err="1">
                <a:solidFill>
                  <a:schemeClr val="accent4">
                    <a:lumMod val="75000"/>
                  </a:schemeClr>
                </a:solidFill>
              </a:rPr>
              <a:t>Validação</a:t>
            </a:r>
            <a:r>
              <a:rPr lang="en-US" sz="3200" dirty="0"/>
              <a:t>: </a:t>
            </a:r>
            <a:r>
              <a:rPr lang="en-US" sz="3200" dirty="0" err="1"/>
              <a:t>realizado</a:t>
            </a:r>
            <a:r>
              <a:rPr lang="en-US" sz="3200" dirty="0"/>
              <a:t> no final do </a:t>
            </a:r>
            <a:r>
              <a:rPr lang="en-US" sz="3200" dirty="0" err="1"/>
              <a:t>processo</a:t>
            </a:r>
            <a:r>
              <a:rPr lang="en-US" sz="3200" dirty="0"/>
              <a:t> de </a:t>
            </a:r>
            <a:r>
              <a:rPr lang="en-US" sz="3200" dirty="0" err="1"/>
              <a:t>desenvolvimento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por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usuários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dirty="0"/>
              <a:t>para </a:t>
            </a:r>
            <a:r>
              <a:rPr lang="en-US" sz="3200" dirty="0" err="1"/>
              <a:t>verificar</a:t>
            </a:r>
            <a:r>
              <a:rPr lang="en-US" sz="3200" dirty="0"/>
              <a:t> se o software </a:t>
            </a:r>
            <a:r>
              <a:rPr lang="en-US" sz="3200" dirty="0" err="1"/>
              <a:t>atende</a:t>
            </a:r>
            <a:r>
              <a:rPr lang="en-US" sz="3200" dirty="0"/>
              <a:t> as </a:t>
            </a:r>
            <a:r>
              <a:rPr lang="en-US" sz="3200" dirty="0" err="1"/>
              <a:t>necessidades</a:t>
            </a: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46A907-053C-0F46-ACEF-2C2CBFB34998}"/>
              </a:ext>
            </a:extLst>
          </p:cNvPr>
          <p:cNvSpPr txBox="1"/>
          <p:nvPr/>
        </p:nvSpPr>
        <p:spPr>
          <a:xfrm>
            <a:off x="410100" y="3620555"/>
            <a:ext cx="111803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200" b="1" dirty="0" err="1">
                <a:solidFill>
                  <a:schemeClr val="accent4">
                    <a:lumMod val="75000"/>
                  </a:schemeClr>
                </a:solidFill>
              </a:rPr>
              <a:t>Verificação</a:t>
            </a:r>
            <a:r>
              <a:rPr lang="en-US" sz="3200" dirty="0"/>
              <a:t>: </a:t>
            </a:r>
            <a:r>
              <a:rPr lang="en-US" sz="3200" dirty="0" err="1"/>
              <a:t>realizado</a:t>
            </a:r>
            <a:r>
              <a:rPr lang="en-US" sz="3200" dirty="0"/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por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b="1" dirty="0" err="1">
                <a:solidFill>
                  <a:srgbClr val="FF0000"/>
                </a:solidFill>
              </a:rPr>
              <a:t>desenvolvedores</a:t>
            </a:r>
            <a:r>
              <a:rPr lang="en-US" sz="3200" b="1" dirty="0">
                <a:solidFill>
                  <a:srgbClr val="FF0000"/>
                </a:solidFill>
              </a:rPr>
              <a:t> </a:t>
            </a:r>
            <a:r>
              <a:rPr lang="en-US" sz="3200" dirty="0" err="1"/>
              <a:t>durante</a:t>
            </a:r>
            <a:r>
              <a:rPr lang="en-US" sz="3200" dirty="0"/>
              <a:t> o </a:t>
            </a:r>
            <a:r>
              <a:rPr lang="en-US" sz="3200" dirty="0" err="1"/>
              <a:t>desenvolvimento</a:t>
            </a:r>
            <a:r>
              <a:rPr lang="en-US" sz="3200" dirty="0"/>
              <a:t> do software para </a:t>
            </a:r>
            <a:r>
              <a:rPr lang="en-US" sz="3200" dirty="0" err="1"/>
              <a:t>verificar</a:t>
            </a:r>
            <a:r>
              <a:rPr lang="en-US" sz="3200" dirty="0"/>
              <a:t> se </a:t>
            </a:r>
            <a:r>
              <a:rPr lang="en-US" sz="3200" dirty="0" err="1"/>
              <a:t>atende</a:t>
            </a:r>
            <a:r>
              <a:rPr lang="en-US" sz="3200" dirty="0"/>
              <a:t> </a:t>
            </a:r>
            <a:r>
              <a:rPr lang="en-US" sz="3200" dirty="0" err="1"/>
              <a:t>os</a:t>
            </a:r>
            <a:r>
              <a:rPr lang="en-US" sz="3200" dirty="0"/>
              <a:t> </a:t>
            </a:r>
            <a:r>
              <a:rPr lang="en-US" sz="3200" dirty="0" err="1"/>
              <a:t>requisitos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6568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V-MODEL DESENVOLVIMENTO DE SOFTWARE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8B2FA0-E316-1046-85A0-13C39C189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99" y="1196162"/>
            <a:ext cx="8991600" cy="5245100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8396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8B470CC1-7BE5-7C17-94A4-E0FAED4568B4}"/>
              </a:ext>
            </a:extLst>
          </p:cNvPr>
          <p:cNvSpPr txBox="1"/>
          <p:nvPr/>
        </p:nvSpPr>
        <p:spPr>
          <a:xfrm>
            <a:off x="3325091" y="129309"/>
            <a:ext cx="86452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b="1" dirty="0">
                <a:solidFill>
                  <a:schemeClr val="bg1"/>
                </a:solidFill>
              </a:rPr>
              <a:t>Evolução dos Testes de Software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6CD3B-CB40-C583-E10F-974613C39A07}"/>
              </a:ext>
            </a:extLst>
          </p:cNvPr>
          <p:cNvSpPr txBox="1"/>
          <p:nvPr/>
        </p:nvSpPr>
        <p:spPr>
          <a:xfrm>
            <a:off x="333682" y="852113"/>
            <a:ext cx="107054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/>
              <a:t>Se considerarmos os últimos 30 anos da computação...</a:t>
            </a:r>
          </a:p>
          <a:p>
            <a:r>
              <a:rPr lang="pt-BR" sz="3200" dirty="0"/>
              <a:t>O teste de software se tornou mais </a:t>
            </a:r>
            <a:r>
              <a:rPr lang="pt-BR" sz="3200" b="1" dirty="0">
                <a:solidFill>
                  <a:srgbClr val="2E00C0"/>
                </a:solidFill>
              </a:rPr>
              <a:t>fácil </a:t>
            </a:r>
            <a:r>
              <a:rPr lang="pt-BR" sz="3200" dirty="0"/>
              <a:t>e </a:t>
            </a:r>
            <a:r>
              <a:rPr lang="pt-BR" sz="3200" b="1" dirty="0">
                <a:solidFill>
                  <a:srgbClr val="FF0000"/>
                </a:solidFill>
              </a:rPr>
              <a:t>difícil</a:t>
            </a:r>
            <a:r>
              <a:rPr lang="pt-BR" sz="3200" dirty="0"/>
              <a:t> do que nunca!</a:t>
            </a:r>
            <a:endParaRPr lang="en-US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ED130-B2B4-FB36-7BC9-ADD08D96B0BB}"/>
              </a:ext>
            </a:extLst>
          </p:cNvPr>
          <p:cNvSpPr txBox="1"/>
          <p:nvPr/>
        </p:nvSpPr>
        <p:spPr>
          <a:xfrm>
            <a:off x="436308" y="1990780"/>
            <a:ext cx="1115715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FF0000"/>
                </a:solidFill>
              </a:rPr>
              <a:t>Difícil pois...</a:t>
            </a:r>
            <a:endParaRPr lang="pt-BR" sz="2800" dirty="0">
              <a:solidFill>
                <a:srgbClr val="FF000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Vasta gama de linguagens de programação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Muitas plataformas de hardware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Diversos Sistemas Operacionais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Onipresença do software (altamente difundido na sociedade)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6D77C0-35A0-7BB0-BCA1-B2656E713A90}"/>
              </a:ext>
            </a:extLst>
          </p:cNvPr>
          <p:cNvSpPr txBox="1"/>
          <p:nvPr/>
        </p:nvSpPr>
        <p:spPr>
          <a:xfrm>
            <a:off x="436308" y="4377948"/>
            <a:ext cx="1115715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dirty="0">
                <a:solidFill>
                  <a:srgbClr val="2E00C0"/>
                </a:solidFill>
              </a:rPr>
              <a:t>Fácil pois...</a:t>
            </a:r>
            <a:endParaRPr lang="pt-BR" sz="2800" dirty="0">
              <a:solidFill>
                <a:srgbClr val="2E00C0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Sistemas Operacionais modernos (serviços e rotinas bem testadas)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pt-BR" sz="2800" dirty="0" err="1"/>
              <a:t>GUIs</a:t>
            </a:r>
            <a:r>
              <a:rPr lang="pt-BR" sz="2800" dirty="0"/>
              <a:t>, por exemplo, facilmente desenvolvidas a partir de bibliotecas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Necessidade reduzida de testar objetos pré-programados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800" dirty="0"/>
              <a:t>Inteligência Artificial para ajudar no desenvolvimento dos testes</a:t>
            </a:r>
          </a:p>
        </p:txBody>
      </p:sp>
    </p:spTree>
    <p:extLst>
      <p:ext uri="{BB962C8B-B14F-4D97-AF65-F5344CB8AC3E}">
        <p14:creationId xmlns:p14="http://schemas.microsoft.com/office/powerpoint/2010/main" val="367023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08522AF-6BC2-E973-9E11-6A055A1FF5F3}"/>
              </a:ext>
            </a:extLst>
          </p:cNvPr>
          <p:cNvSpPr txBox="1"/>
          <p:nvPr/>
        </p:nvSpPr>
        <p:spPr>
          <a:xfrm>
            <a:off x="245193" y="976980"/>
            <a:ext cx="116936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000" dirty="0"/>
              <a:t>Agora, antes de começarmos… Vamos fazer um teste! </a:t>
            </a:r>
          </a:p>
          <a:p>
            <a:r>
              <a:rPr lang="pt-BR" sz="3000" dirty="0"/>
              <a:t>Escreva um conjunto de </a:t>
            </a:r>
            <a:r>
              <a:rPr lang="pt-BR" sz="3000" b="1" u="sng" dirty="0"/>
              <a:t>casos de teste</a:t>
            </a:r>
            <a:r>
              <a:rPr lang="pt-BR" sz="3000" dirty="0"/>
              <a:t> – </a:t>
            </a:r>
            <a:r>
              <a:rPr lang="pt-BR" sz="3000" i="1" dirty="0"/>
              <a:t>conjuntos específicos de dados</a:t>
            </a:r>
            <a:r>
              <a:rPr lang="pt-BR" sz="3000" dirty="0"/>
              <a:t> – para testar adequadamente um programa relativamente simples: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4C7BA-7705-4C54-68F7-69A42CB37EA0}"/>
              </a:ext>
            </a:extLst>
          </p:cNvPr>
          <p:cNvSpPr txBox="1"/>
          <p:nvPr/>
        </p:nvSpPr>
        <p:spPr>
          <a:xfrm>
            <a:off x="686722" y="2548618"/>
            <a:ext cx="10810567" cy="206210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3200" i="1" dirty="0"/>
              <a:t>O programa recebe três valores inteiros. Os três valores representam os comprimentos dos lados de um triângulo. O programa exibe uma mensagem informando se o triângulo é escaleno, isósceles ou equilátero.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CACB401-1C35-6118-9949-2E0720692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17876"/>
            <a:ext cx="5866023" cy="172628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579A955-210B-AF6B-F33A-DCF1424BB018}"/>
              </a:ext>
            </a:extLst>
          </p:cNvPr>
          <p:cNvSpPr txBox="1"/>
          <p:nvPr/>
        </p:nvSpPr>
        <p:spPr>
          <a:xfrm>
            <a:off x="5657851" y="4950403"/>
            <a:ext cx="609477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Lembre-se de que um triângulo </a:t>
            </a:r>
            <a:r>
              <a:rPr lang="pt-BR" sz="1600" b="1" dirty="0"/>
              <a:t>escaleno</a:t>
            </a:r>
            <a:r>
              <a:rPr lang="pt-BR" sz="1600" dirty="0"/>
              <a:t> é aquele em que </a:t>
            </a:r>
            <a:r>
              <a:rPr lang="pt-BR" sz="1600" u="sng" dirty="0"/>
              <a:t>não há dois lados iguais</a:t>
            </a:r>
            <a:r>
              <a:rPr lang="pt-BR" sz="1600" dirty="0"/>
              <a:t>, enquanto um triângulo </a:t>
            </a:r>
            <a:r>
              <a:rPr lang="pt-BR" sz="1600" b="1" dirty="0"/>
              <a:t>isósceles</a:t>
            </a:r>
            <a:r>
              <a:rPr lang="pt-BR" sz="1600" dirty="0"/>
              <a:t> tem </a:t>
            </a:r>
            <a:r>
              <a:rPr lang="pt-BR" sz="1600" u="sng" dirty="0"/>
              <a:t>dois lados iguais </a:t>
            </a:r>
            <a:r>
              <a:rPr lang="pt-BR" sz="1600" dirty="0"/>
              <a:t>e um triângulo </a:t>
            </a:r>
            <a:r>
              <a:rPr lang="pt-BR" sz="1600" b="1" dirty="0"/>
              <a:t>equilátero</a:t>
            </a:r>
            <a:r>
              <a:rPr lang="pt-BR" sz="1600" dirty="0"/>
              <a:t> tem </a:t>
            </a:r>
            <a:r>
              <a:rPr lang="pt-BR" sz="1600" u="sng" dirty="0"/>
              <a:t>três lados de comprimento igual</a:t>
            </a:r>
            <a:r>
              <a:rPr lang="pt-BR" sz="1600" dirty="0"/>
              <a:t>.</a:t>
            </a:r>
          </a:p>
          <a:p>
            <a:r>
              <a:rPr lang="pt-BR" sz="1600" dirty="0"/>
              <a:t>Além disso, os ângulos opostos aos lados iguais num triângulo isósceles também são iguais, e todos os ângulos num triângulo equilátero são iguais.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455878-117E-257F-A3AE-43C471BDE6F5}"/>
              </a:ext>
            </a:extLst>
          </p:cNvPr>
          <p:cNvSpPr txBox="1"/>
          <p:nvPr/>
        </p:nvSpPr>
        <p:spPr>
          <a:xfrm>
            <a:off x="10640965" y="14749"/>
            <a:ext cx="15378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</a:rPr>
              <a:t>TESTE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3986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8455878-117E-257F-A3AE-43C471BDE6F5}"/>
              </a:ext>
            </a:extLst>
          </p:cNvPr>
          <p:cNvSpPr txBox="1"/>
          <p:nvPr/>
        </p:nvSpPr>
        <p:spPr>
          <a:xfrm>
            <a:off x="8037873" y="14749"/>
            <a:ext cx="41567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</a:rPr>
              <a:t>TESTE - avaliação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7C9A8-97DB-C063-8C7E-0EA9486215C4}"/>
              </a:ext>
            </a:extLst>
          </p:cNvPr>
          <p:cNvSpPr txBox="1"/>
          <p:nvPr/>
        </p:nvSpPr>
        <p:spPr>
          <a:xfrm>
            <a:off x="0" y="784190"/>
            <a:ext cx="9081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Vamos avaliar as respostas (1 ponto para cada “sim”):</a:t>
            </a:r>
            <a:endParaRPr 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21DEC8-8DBF-AC0B-BA16-81050D811724}"/>
              </a:ext>
            </a:extLst>
          </p:cNvPr>
          <p:cNvSpPr txBox="1"/>
          <p:nvPr/>
        </p:nvSpPr>
        <p:spPr>
          <a:xfrm>
            <a:off x="204634" y="1497799"/>
            <a:ext cx="113581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1) </a:t>
            </a:r>
            <a:r>
              <a:rPr lang="en-US" sz="2400" b="1" dirty="0" err="1"/>
              <a:t>Você</a:t>
            </a:r>
            <a:r>
              <a:rPr lang="en-US" sz="2400" b="1" dirty="0"/>
              <a:t> </a:t>
            </a:r>
            <a:r>
              <a:rPr lang="en-US" sz="2400" b="1" dirty="0" err="1"/>
              <a:t>tem</a:t>
            </a:r>
            <a:r>
              <a:rPr lang="en-US" sz="2400" b="1" dirty="0"/>
              <a:t> um </a:t>
            </a:r>
            <a:r>
              <a:rPr lang="en-US" sz="2400" b="1" dirty="0" err="1"/>
              <a:t>caso</a:t>
            </a:r>
            <a:r>
              <a:rPr lang="en-US" sz="2400" b="1" dirty="0"/>
              <a:t> de teste que </a:t>
            </a:r>
            <a:r>
              <a:rPr lang="en-US" sz="2400" b="1" dirty="0" err="1"/>
              <a:t>representa</a:t>
            </a:r>
            <a:r>
              <a:rPr lang="en-US" sz="2400" b="1" dirty="0"/>
              <a:t> um </a:t>
            </a:r>
            <a:r>
              <a:rPr lang="en-US" sz="2400" b="1" dirty="0" err="1"/>
              <a:t>triângulo</a:t>
            </a:r>
            <a:r>
              <a:rPr lang="en-US" sz="2400" b="1" dirty="0"/>
              <a:t> </a:t>
            </a:r>
            <a:r>
              <a:rPr lang="en-US" sz="2400" b="1" dirty="0" err="1"/>
              <a:t>escaleno</a:t>
            </a:r>
            <a:r>
              <a:rPr lang="en-US" sz="2400" b="1" dirty="0"/>
              <a:t> </a:t>
            </a:r>
            <a:r>
              <a:rPr lang="en-US" sz="2400" b="1" dirty="0" err="1"/>
              <a:t>válido</a:t>
            </a:r>
            <a:r>
              <a:rPr lang="en-US" sz="2400" b="1" dirty="0"/>
              <a:t>? </a:t>
            </a:r>
            <a:br>
              <a:rPr lang="en-US" sz="2400" b="1" dirty="0"/>
            </a:b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026B9E-A169-3129-D6DC-002696874387}"/>
              </a:ext>
            </a:extLst>
          </p:cNvPr>
          <p:cNvSpPr txBox="1"/>
          <p:nvPr/>
        </p:nvSpPr>
        <p:spPr>
          <a:xfrm>
            <a:off x="49775" y="1909812"/>
            <a:ext cx="118669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(Observe que </a:t>
            </a:r>
            <a:r>
              <a:rPr lang="en-US" sz="1600" dirty="0" err="1"/>
              <a:t>casos</a:t>
            </a:r>
            <a:r>
              <a:rPr lang="en-US" sz="1600" dirty="0"/>
              <a:t> de teste </a:t>
            </a:r>
            <a:r>
              <a:rPr lang="en-US" sz="1600" dirty="0" err="1"/>
              <a:t>como</a:t>
            </a:r>
            <a:r>
              <a:rPr lang="en-US" sz="1600" dirty="0"/>
              <a:t> 1, 2, 3 e 2, 5, 10 </a:t>
            </a:r>
            <a:r>
              <a:rPr lang="en-US" sz="1600" dirty="0" err="1"/>
              <a:t>não</a:t>
            </a:r>
            <a:r>
              <a:rPr lang="en-US" sz="1600" dirty="0"/>
              <a:t> </a:t>
            </a:r>
            <a:r>
              <a:rPr lang="en-US" sz="1600" dirty="0" err="1"/>
              <a:t>garantem</a:t>
            </a:r>
            <a:r>
              <a:rPr lang="en-US" sz="1600" dirty="0"/>
              <a:t> </a:t>
            </a:r>
            <a:r>
              <a:rPr lang="en-US" sz="1600" dirty="0" err="1"/>
              <a:t>uma</a:t>
            </a:r>
            <a:r>
              <a:rPr lang="en-US" sz="1600" dirty="0"/>
              <a:t> </a:t>
            </a:r>
            <a:r>
              <a:rPr lang="en-US" sz="1600" dirty="0" err="1"/>
              <a:t>resposta</a:t>
            </a:r>
            <a:r>
              <a:rPr lang="en-US" sz="1600" dirty="0"/>
              <a:t> sim </a:t>
            </a:r>
            <a:r>
              <a:rPr lang="en-US" sz="1600" dirty="0" err="1"/>
              <a:t>porque</a:t>
            </a:r>
            <a:r>
              <a:rPr lang="en-US" sz="1600" dirty="0"/>
              <a:t> um </a:t>
            </a:r>
            <a:r>
              <a:rPr lang="en-US" sz="1600" dirty="0" err="1"/>
              <a:t>triângulo</a:t>
            </a:r>
            <a:r>
              <a:rPr lang="en-US" sz="1600" dirty="0"/>
              <a:t> com </a:t>
            </a:r>
            <a:r>
              <a:rPr lang="en-US" sz="1600" dirty="0" err="1"/>
              <a:t>essas</a:t>
            </a:r>
            <a:r>
              <a:rPr lang="en-US" sz="1600" dirty="0"/>
              <a:t> </a:t>
            </a:r>
            <a:r>
              <a:rPr lang="en-US" sz="1600" dirty="0" err="1"/>
              <a:t>dimensões</a:t>
            </a:r>
            <a:r>
              <a:rPr lang="en-US" sz="1600" dirty="0"/>
              <a:t> </a:t>
            </a:r>
            <a:r>
              <a:rPr lang="en-US" sz="1600" dirty="0" err="1"/>
              <a:t>não</a:t>
            </a:r>
            <a:r>
              <a:rPr lang="en-US" sz="1600" dirty="0"/>
              <a:t> é </a:t>
            </a:r>
            <a:r>
              <a:rPr lang="en-US" sz="1600" dirty="0" err="1"/>
              <a:t>válido</a:t>
            </a:r>
            <a:r>
              <a:rPr lang="en-US" sz="1600" dirty="0"/>
              <a:t>.)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FDF9D-51DB-9393-EB1E-9EECDD2B7C89}"/>
              </a:ext>
            </a:extLst>
          </p:cNvPr>
          <p:cNvSpPr txBox="1"/>
          <p:nvPr/>
        </p:nvSpPr>
        <p:spPr>
          <a:xfrm>
            <a:off x="204634" y="2358888"/>
            <a:ext cx="11358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2) </a:t>
            </a:r>
            <a:r>
              <a:rPr lang="pt-BR" sz="2400" b="1" dirty="0"/>
              <a:t>Você tem um caso de teste que representa um triângulo equilátero válido?</a:t>
            </a:r>
            <a:endParaRPr lang="en-US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82E37D-5CB4-481D-E0A7-B1BA3AECE382}"/>
              </a:ext>
            </a:extLst>
          </p:cNvPr>
          <p:cNvSpPr txBox="1"/>
          <p:nvPr/>
        </p:nvSpPr>
        <p:spPr>
          <a:xfrm>
            <a:off x="204634" y="2910713"/>
            <a:ext cx="11358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3) </a:t>
            </a:r>
            <a:r>
              <a:rPr lang="pt-BR" sz="2400" b="1" dirty="0"/>
              <a:t>Você tem um caso de teste que representa um triângulo isósceles válido?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882B46-BD13-1043-0F21-3E54510318E4}"/>
              </a:ext>
            </a:extLst>
          </p:cNvPr>
          <p:cNvSpPr txBox="1"/>
          <p:nvPr/>
        </p:nvSpPr>
        <p:spPr>
          <a:xfrm>
            <a:off x="49774" y="3280417"/>
            <a:ext cx="118669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(Observe que um caso de teste representando 2, 2, 4 não contaria porque não é um triângulo válido.)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094A5D-D27D-F1FB-E7EE-B31C3D2282FD}"/>
              </a:ext>
            </a:extLst>
          </p:cNvPr>
          <p:cNvSpPr txBox="1"/>
          <p:nvPr/>
        </p:nvSpPr>
        <p:spPr>
          <a:xfrm>
            <a:off x="204634" y="3601409"/>
            <a:ext cx="113581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4) </a:t>
            </a:r>
            <a:r>
              <a:rPr lang="pt-BR" sz="2400" b="1" dirty="0"/>
              <a:t>Você tem pelo menos três casos de teste que representam triângulos isósceles válidos, de modo que você tentou todas as três permutações de dois lados iguais?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194C6D-B803-F948-2DB5-E1ED194222C2}"/>
              </a:ext>
            </a:extLst>
          </p:cNvPr>
          <p:cNvSpPr txBox="1"/>
          <p:nvPr/>
        </p:nvSpPr>
        <p:spPr>
          <a:xfrm>
            <a:off x="49773" y="4333619"/>
            <a:ext cx="118669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(Por exemplo: 3, 3, 4; 3, 4, 3; 4, 3, 3.)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A14D52-F8B8-B350-E4EE-593935AC81E8}"/>
              </a:ext>
            </a:extLst>
          </p:cNvPr>
          <p:cNvSpPr txBox="1"/>
          <p:nvPr/>
        </p:nvSpPr>
        <p:spPr>
          <a:xfrm>
            <a:off x="204634" y="4661437"/>
            <a:ext cx="11358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5) </a:t>
            </a:r>
            <a:r>
              <a:rPr lang="pt-BR" sz="2400" b="1" dirty="0"/>
              <a:t>Você tem um caso de teste em que um lado tem valor zero?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9B7ABA-DB01-A906-E6F9-2E61A1D26506}"/>
              </a:ext>
            </a:extLst>
          </p:cNvPr>
          <p:cNvSpPr txBox="1"/>
          <p:nvPr/>
        </p:nvSpPr>
        <p:spPr>
          <a:xfrm>
            <a:off x="204634" y="5227811"/>
            <a:ext cx="11358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6) </a:t>
            </a:r>
            <a:r>
              <a:rPr lang="pt-BR" sz="2400" b="1" dirty="0"/>
              <a:t>Você tem um caso de teste em que um lado tem um valor negativo?</a:t>
            </a: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678F32-3288-881C-2470-44B0DA8BAD3A}"/>
              </a:ext>
            </a:extLst>
          </p:cNvPr>
          <p:cNvSpPr txBox="1"/>
          <p:nvPr/>
        </p:nvSpPr>
        <p:spPr>
          <a:xfrm>
            <a:off x="204634" y="5698322"/>
            <a:ext cx="113581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7) </a:t>
            </a:r>
            <a:r>
              <a:rPr lang="pt-BR" sz="2400" b="1" dirty="0"/>
              <a:t>Você tem um caso de teste com três inteiros maiores que zero, tal que a soma de dois números é igual ao terceiro?</a:t>
            </a:r>
            <a:endParaRPr lang="en-US" sz="2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2870EB-33E3-358F-7925-EF043CD67C96}"/>
              </a:ext>
            </a:extLst>
          </p:cNvPr>
          <p:cNvSpPr txBox="1"/>
          <p:nvPr/>
        </p:nvSpPr>
        <p:spPr>
          <a:xfrm>
            <a:off x="49772" y="6363055"/>
            <a:ext cx="118669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(Ou seja, se o programa dissesse que 1, 2, 3 representa um triângulo escaleno, conteria um bug.)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406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3" grpId="0"/>
      <p:bldP spid="14" grpId="0"/>
      <p:bldP spid="16" grpId="0"/>
      <p:bldP spid="19" grpId="0"/>
      <p:bldP spid="20" grpId="0"/>
      <p:bldP spid="21" grpId="0"/>
      <p:bldP spid="24" grpId="0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8455878-117E-257F-A3AE-43C471BDE6F5}"/>
              </a:ext>
            </a:extLst>
          </p:cNvPr>
          <p:cNvSpPr txBox="1"/>
          <p:nvPr/>
        </p:nvSpPr>
        <p:spPr>
          <a:xfrm>
            <a:off x="8037873" y="14749"/>
            <a:ext cx="41567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</a:rPr>
              <a:t>TESTE - avaliação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A7C9A8-97DB-C063-8C7E-0EA9486215C4}"/>
              </a:ext>
            </a:extLst>
          </p:cNvPr>
          <p:cNvSpPr txBox="1"/>
          <p:nvPr/>
        </p:nvSpPr>
        <p:spPr>
          <a:xfrm>
            <a:off x="0" y="784190"/>
            <a:ext cx="90817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Vamos avaliar as respostas (1 ponto para cada “sim”):</a:t>
            </a:r>
            <a:endParaRPr 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FFDF9D-51DB-9393-EB1E-9EECDD2B7C89}"/>
              </a:ext>
            </a:extLst>
          </p:cNvPr>
          <p:cNvSpPr txBox="1"/>
          <p:nvPr/>
        </p:nvSpPr>
        <p:spPr>
          <a:xfrm>
            <a:off x="204634" y="1513938"/>
            <a:ext cx="113581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8) </a:t>
            </a:r>
            <a:r>
              <a:rPr lang="pt-BR" sz="2400" b="1" dirty="0"/>
              <a:t>Você tem um caso de teste com três números inteiros maiores que zero, de modo que a soma de dois números seja menor que o terceiro?</a:t>
            </a:r>
            <a:endParaRPr lang="en-US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882B46-BD13-1043-0F21-3E54510318E4}"/>
              </a:ext>
            </a:extLst>
          </p:cNvPr>
          <p:cNvSpPr txBox="1"/>
          <p:nvPr/>
        </p:nvSpPr>
        <p:spPr>
          <a:xfrm>
            <a:off x="49774" y="2192117"/>
            <a:ext cx="118669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 (Como 1, 2, 4 ou 12, 15, 30)</a:t>
            </a:r>
            <a:endParaRPr lang="en-US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4094A5D-D27D-F1FB-E7EE-B31C3D2282FD}"/>
              </a:ext>
            </a:extLst>
          </p:cNvPr>
          <p:cNvSpPr txBox="1"/>
          <p:nvPr/>
        </p:nvSpPr>
        <p:spPr>
          <a:xfrm>
            <a:off x="204634" y="2608979"/>
            <a:ext cx="113581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9) </a:t>
            </a:r>
            <a:r>
              <a:rPr lang="pt-BR" sz="2400" b="1" dirty="0"/>
              <a:t>Você tem pelo menos três casos de teste na categoria 9, de modo que tenha tentado todas as três permutações?</a:t>
            </a:r>
            <a:endParaRPr lang="en-US" sz="2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194C6D-B803-F948-2DB5-E1ED194222C2}"/>
              </a:ext>
            </a:extLst>
          </p:cNvPr>
          <p:cNvSpPr txBox="1"/>
          <p:nvPr/>
        </p:nvSpPr>
        <p:spPr>
          <a:xfrm>
            <a:off x="49773" y="3363311"/>
            <a:ext cx="118669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(Por exemplo, 1, 2, 4; 1, 4, 2; e 4, 1, 2)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A14D52-F8B8-B350-E4EE-593935AC81E8}"/>
              </a:ext>
            </a:extLst>
          </p:cNvPr>
          <p:cNvSpPr txBox="1"/>
          <p:nvPr/>
        </p:nvSpPr>
        <p:spPr>
          <a:xfrm>
            <a:off x="204634" y="3735373"/>
            <a:ext cx="11358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10) </a:t>
            </a:r>
            <a:r>
              <a:rPr lang="pt-BR" sz="2400" b="1" dirty="0"/>
              <a:t>Você tem um caso de teste em que todos os lados são zero (0, 0, 0)?</a:t>
            </a:r>
            <a:endParaRPr lang="en-US" sz="2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9B7ABA-DB01-A906-E6F9-2E61A1D26506}"/>
              </a:ext>
            </a:extLst>
          </p:cNvPr>
          <p:cNvSpPr txBox="1"/>
          <p:nvPr/>
        </p:nvSpPr>
        <p:spPr>
          <a:xfrm>
            <a:off x="204634" y="4205885"/>
            <a:ext cx="11358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11) </a:t>
            </a:r>
            <a:r>
              <a:rPr lang="pt-BR" sz="2400" b="1" dirty="0"/>
              <a:t>Você tem pelo menos um caso de teste especificando valores não inteiros?</a:t>
            </a:r>
            <a:endParaRPr lang="en-US" sz="2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678F32-3288-881C-2470-44B0DA8BAD3A}"/>
              </a:ext>
            </a:extLst>
          </p:cNvPr>
          <p:cNvSpPr txBox="1"/>
          <p:nvPr/>
        </p:nvSpPr>
        <p:spPr>
          <a:xfrm>
            <a:off x="204634" y="4698518"/>
            <a:ext cx="11358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12) Você tem pelo menos um caso de teste especificando o número errado de valores?</a:t>
            </a:r>
            <a:endParaRPr lang="en-US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341E43-DBFD-E2D7-6FB6-375C62FACE39}"/>
              </a:ext>
            </a:extLst>
          </p:cNvPr>
          <p:cNvSpPr txBox="1"/>
          <p:nvPr/>
        </p:nvSpPr>
        <p:spPr>
          <a:xfrm>
            <a:off x="204634" y="5146907"/>
            <a:ext cx="113581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13) Para cada caso de teste você especificou a saída esperada do programa além dos valores de entrada?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7661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6" grpId="0"/>
      <p:bldP spid="19" grpId="0"/>
      <p:bldP spid="20" grpId="0"/>
      <p:bldP spid="21" grpId="0"/>
      <p:bldP spid="24" grpId="0"/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8455878-117E-257F-A3AE-43C471BDE6F5}"/>
              </a:ext>
            </a:extLst>
          </p:cNvPr>
          <p:cNvSpPr txBox="1"/>
          <p:nvPr/>
        </p:nvSpPr>
        <p:spPr>
          <a:xfrm>
            <a:off x="8037873" y="14749"/>
            <a:ext cx="415671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</a:rPr>
              <a:t>TESTE - avaliação</a:t>
            </a:r>
            <a:endParaRPr lang="en-US" sz="44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668542-6AC1-0DC2-266B-1EB397331557}"/>
              </a:ext>
            </a:extLst>
          </p:cNvPr>
          <p:cNvSpPr txBox="1"/>
          <p:nvPr/>
        </p:nvSpPr>
        <p:spPr>
          <a:xfrm>
            <a:off x="2255044" y="3705476"/>
            <a:ext cx="76819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E então, qual foi sua pontuação???</a:t>
            </a:r>
            <a:endParaRPr lang="en-US" sz="4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7C8FC0-58B3-70F0-6714-D160766A3DD9}"/>
              </a:ext>
            </a:extLst>
          </p:cNvPr>
          <p:cNvSpPr txBox="1"/>
          <p:nvPr/>
        </p:nvSpPr>
        <p:spPr>
          <a:xfrm>
            <a:off x="317089" y="1663245"/>
            <a:ext cx="1160698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É claro que um conjunto de </a:t>
            </a:r>
            <a:r>
              <a:rPr lang="en-US" sz="2400" dirty="0" err="1"/>
              <a:t>casos</a:t>
            </a:r>
            <a:r>
              <a:rPr lang="en-US" sz="2400" dirty="0"/>
              <a:t> de teste que </a:t>
            </a:r>
            <a:r>
              <a:rPr lang="en-US" sz="2400" dirty="0" err="1"/>
              <a:t>satisfaça</a:t>
            </a:r>
            <a:r>
              <a:rPr lang="en-US" sz="2400" dirty="0"/>
              <a:t> </a:t>
            </a:r>
            <a:r>
              <a:rPr lang="en-US" sz="2400" dirty="0" err="1"/>
              <a:t>essas</a:t>
            </a:r>
            <a:r>
              <a:rPr lang="en-US" sz="2400" dirty="0"/>
              <a:t> </a:t>
            </a:r>
            <a:r>
              <a:rPr lang="en-US" sz="2400" dirty="0" err="1"/>
              <a:t>condições</a:t>
            </a:r>
            <a:r>
              <a:rPr lang="en-US" sz="2400" dirty="0"/>
              <a:t> </a:t>
            </a:r>
            <a:r>
              <a:rPr lang="en-US" sz="2400" u="sng" dirty="0" err="1"/>
              <a:t>não</a:t>
            </a:r>
            <a:r>
              <a:rPr lang="en-US" sz="2400" u="sng" dirty="0"/>
              <a:t> </a:t>
            </a:r>
            <a:r>
              <a:rPr lang="en-US" sz="2400" u="sng" dirty="0" err="1"/>
              <a:t>garante</a:t>
            </a:r>
            <a:r>
              <a:rPr lang="en-US" sz="2400" u="sng" dirty="0"/>
              <a:t> que </a:t>
            </a:r>
            <a:r>
              <a:rPr lang="en-US" sz="2400" u="sng" dirty="0" err="1"/>
              <a:t>você</a:t>
            </a:r>
            <a:r>
              <a:rPr lang="en-US" sz="2400" u="sng" dirty="0"/>
              <a:t> </a:t>
            </a:r>
            <a:r>
              <a:rPr lang="en-US" sz="2400" u="sng" dirty="0" err="1"/>
              <a:t>encontrará</a:t>
            </a:r>
            <a:r>
              <a:rPr lang="en-US" sz="2400" u="sng" dirty="0"/>
              <a:t> </a:t>
            </a:r>
            <a:r>
              <a:rPr lang="en-US" sz="2400" u="sng" dirty="0" err="1"/>
              <a:t>todos</a:t>
            </a:r>
            <a:r>
              <a:rPr lang="en-US" sz="2400" u="sng" dirty="0"/>
              <a:t> </a:t>
            </a:r>
            <a:r>
              <a:rPr lang="en-US" sz="2400" u="sng" dirty="0" err="1"/>
              <a:t>os</a:t>
            </a:r>
            <a:r>
              <a:rPr lang="en-US" sz="2400" u="sng" dirty="0"/>
              <a:t> </a:t>
            </a:r>
            <a:r>
              <a:rPr lang="en-US" sz="2400" u="sng" dirty="0" err="1"/>
              <a:t>erros</a:t>
            </a:r>
            <a:r>
              <a:rPr lang="en-US" sz="2400" u="sng" dirty="0"/>
              <a:t> </a:t>
            </a:r>
            <a:r>
              <a:rPr lang="en-US" sz="2400" u="sng" dirty="0" err="1"/>
              <a:t>possíveis</a:t>
            </a:r>
            <a:r>
              <a:rPr lang="en-US" sz="2400" dirty="0"/>
              <a:t>!</a:t>
            </a:r>
          </a:p>
          <a:p>
            <a:r>
              <a:rPr lang="en-US" sz="2400" dirty="0" err="1"/>
              <a:t>Entretanto</a:t>
            </a:r>
            <a:r>
              <a:rPr lang="en-US" sz="2400" dirty="0"/>
              <a:t>, as </a:t>
            </a:r>
            <a:r>
              <a:rPr lang="en-US" sz="2400" dirty="0" err="1"/>
              <a:t>questões</a:t>
            </a:r>
            <a:r>
              <a:rPr lang="en-US" sz="2400" dirty="0"/>
              <a:t> de 1 a 13 </a:t>
            </a:r>
            <a:r>
              <a:rPr lang="en-US" sz="2400" dirty="0" err="1"/>
              <a:t>representam</a:t>
            </a:r>
            <a:r>
              <a:rPr lang="en-US" sz="2400" dirty="0"/>
              <a:t> </a:t>
            </a:r>
            <a:r>
              <a:rPr lang="en-US" sz="2400" b="1" u="sng" dirty="0" err="1"/>
              <a:t>erros</a:t>
            </a:r>
            <a:r>
              <a:rPr lang="en-US" sz="2400" b="1" u="sng" dirty="0"/>
              <a:t> que </a:t>
            </a:r>
            <a:r>
              <a:rPr lang="en-US" sz="2400" b="1" u="sng" dirty="0" err="1"/>
              <a:t>realmente</a:t>
            </a:r>
            <a:r>
              <a:rPr lang="en-US" sz="2400" b="1" u="sng" dirty="0"/>
              <a:t> </a:t>
            </a:r>
            <a:r>
              <a:rPr lang="en-US" sz="2400" b="1" u="sng" dirty="0" err="1"/>
              <a:t>ocorreram</a:t>
            </a:r>
            <a:r>
              <a:rPr lang="en-US" sz="2400" b="1" u="sng" dirty="0"/>
              <a:t> </a:t>
            </a:r>
            <a:r>
              <a:rPr lang="en-US" sz="2400" b="1" u="sng" dirty="0" err="1"/>
              <a:t>em</a:t>
            </a:r>
            <a:r>
              <a:rPr lang="en-US" sz="2400" b="1" u="sng" dirty="0"/>
              <a:t> </a:t>
            </a:r>
            <a:r>
              <a:rPr lang="en-US" sz="2400" b="1" u="sng" dirty="0" err="1"/>
              <a:t>diferentes</a:t>
            </a:r>
            <a:r>
              <a:rPr lang="en-US" sz="2400" b="1" u="sng" dirty="0"/>
              <a:t> </a:t>
            </a:r>
            <a:r>
              <a:rPr lang="en-US" sz="2400" b="1" u="sng" dirty="0" err="1"/>
              <a:t>versões</a:t>
            </a:r>
            <a:r>
              <a:rPr lang="en-US" sz="2400" b="1" u="sng" dirty="0"/>
              <a:t> </a:t>
            </a:r>
            <a:r>
              <a:rPr lang="en-US" sz="2400" b="1" u="sng" dirty="0" err="1"/>
              <a:t>deste</a:t>
            </a:r>
            <a:r>
              <a:rPr lang="en-US" sz="2400" b="1" u="sng" dirty="0"/>
              <a:t> </a:t>
            </a:r>
            <a:r>
              <a:rPr lang="en-US" sz="2400" b="1" u="sng" dirty="0" err="1"/>
              <a:t>programa</a:t>
            </a:r>
            <a:r>
              <a:rPr lang="en-US" sz="2400" dirty="0"/>
              <a:t>, um teste </a:t>
            </a:r>
            <a:r>
              <a:rPr lang="en-US" sz="2400" dirty="0" err="1"/>
              <a:t>adequado</a:t>
            </a:r>
            <a:r>
              <a:rPr lang="en-US" sz="2400" dirty="0"/>
              <a:t> </a:t>
            </a:r>
            <a:r>
              <a:rPr lang="en-US" sz="2400" dirty="0" err="1"/>
              <a:t>deste</a:t>
            </a:r>
            <a:r>
              <a:rPr lang="en-US" sz="2400" dirty="0"/>
              <a:t> </a:t>
            </a:r>
            <a:r>
              <a:rPr lang="en-US" sz="2400" dirty="0" err="1"/>
              <a:t>programa</a:t>
            </a:r>
            <a:r>
              <a:rPr lang="en-US" sz="2400" dirty="0"/>
              <a:t> </a:t>
            </a:r>
            <a:r>
              <a:rPr lang="en-US" sz="2400" dirty="0" err="1"/>
              <a:t>deve</a:t>
            </a:r>
            <a:r>
              <a:rPr lang="en-US" sz="2400" dirty="0"/>
              <a:t> </a:t>
            </a:r>
            <a:r>
              <a:rPr lang="en-US" sz="2400" dirty="0" err="1"/>
              <a:t>expor</a:t>
            </a:r>
            <a:r>
              <a:rPr lang="en-US" sz="2400" dirty="0"/>
              <a:t> </a:t>
            </a:r>
            <a:r>
              <a:rPr lang="en-US" sz="2400" dirty="0" err="1"/>
              <a:t>pelo</a:t>
            </a:r>
            <a:r>
              <a:rPr lang="en-US" sz="2400" dirty="0"/>
              <a:t> </a:t>
            </a:r>
            <a:r>
              <a:rPr lang="en-US" sz="2400" dirty="0" err="1"/>
              <a:t>menos</a:t>
            </a:r>
            <a:r>
              <a:rPr lang="en-US" sz="2400" dirty="0"/>
              <a:t> esses </a:t>
            </a:r>
            <a:r>
              <a:rPr lang="en-US" sz="2400" dirty="0" err="1"/>
              <a:t>erros</a:t>
            </a:r>
            <a:r>
              <a:rPr lang="en-US" sz="2400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DCAC9-4151-AF6E-167D-27DA9E5B44D8}"/>
              </a:ext>
            </a:extLst>
          </p:cNvPr>
          <p:cNvSpPr txBox="1"/>
          <p:nvPr/>
        </p:nvSpPr>
        <p:spPr>
          <a:xfrm>
            <a:off x="317089" y="4650728"/>
            <a:ext cx="1160698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Programadores profissionais altamente qualificados pontuam, em média, apenas </a:t>
            </a:r>
            <a:r>
              <a:rPr lang="pt-BR" sz="2800" b="1" dirty="0"/>
              <a:t>7,8/14</a:t>
            </a:r>
            <a:r>
              <a:rPr lang="pt-BR" sz="2800" dirty="0"/>
              <a:t>.</a:t>
            </a:r>
            <a:endParaRPr lang="en-US" sz="2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BD49F-E1A6-F03E-D9B5-0B8638A3B13F}"/>
              </a:ext>
            </a:extLst>
          </p:cNvPr>
          <p:cNvSpPr txBox="1"/>
          <p:nvPr/>
        </p:nvSpPr>
        <p:spPr>
          <a:xfrm>
            <a:off x="290052" y="5461853"/>
            <a:ext cx="62016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>
                <a:solidFill>
                  <a:srgbClr val="002060"/>
                </a:solidFill>
              </a:rPr>
              <a:t>[The </a:t>
            </a:r>
            <a:r>
              <a:rPr lang="pt-BR" sz="1400" b="1" i="1" dirty="0" err="1">
                <a:solidFill>
                  <a:srgbClr val="002060"/>
                </a:solidFill>
              </a:rPr>
              <a:t>Art</a:t>
            </a:r>
            <a:r>
              <a:rPr lang="pt-BR" sz="1400" b="1" i="1" dirty="0">
                <a:solidFill>
                  <a:srgbClr val="002060"/>
                </a:solidFill>
              </a:rPr>
              <a:t> </a:t>
            </a:r>
            <a:r>
              <a:rPr lang="pt-BR" sz="1400" b="1" i="1" dirty="0" err="1">
                <a:solidFill>
                  <a:srgbClr val="002060"/>
                </a:solidFill>
              </a:rPr>
              <a:t>of</a:t>
            </a:r>
            <a:r>
              <a:rPr lang="pt-BR" sz="1400" b="1" i="1" dirty="0">
                <a:solidFill>
                  <a:srgbClr val="002060"/>
                </a:solidFill>
              </a:rPr>
              <a:t> Software </a:t>
            </a:r>
            <a:r>
              <a:rPr lang="pt-BR" sz="1400" b="1" i="1" dirty="0" err="1">
                <a:solidFill>
                  <a:srgbClr val="002060"/>
                </a:solidFill>
              </a:rPr>
              <a:t>Testing</a:t>
            </a:r>
            <a:r>
              <a:rPr lang="pt-BR" sz="1400" b="1" i="1" dirty="0">
                <a:solidFill>
                  <a:srgbClr val="002060"/>
                </a:solidFill>
              </a:rPr>
              <a:t>]</a:t>
            </a:r>
            <a:endParaRPr lang="en-US" sz="1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106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A47A8879-7B91-B277-348C-6035EB485C63}"/>
              </a:ext>
            </a:extLst>
          </p:cNvPr>
          <p:cNvSpPr txBox="1"/>
          <p:nvPr/>
        </p:nvSpPr>
        <p:spPr>
          <a:xfrm>
            <a:off x="288822" y="1094702"/>
            <a:ext cx="1161435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dirty="0"/>
              <a:t>O objetivo do teste que fizemos é ilustrar que testar um programa trivial como este já não é uma tarefa fácil.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endParaRPr lang="pt-BR" sz="2800" dirty="0"/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dirty="0"/>
              <a:t>Dado que isto é verdade, imaginemos a dificuldade de testar um sistema de controle de tráfego aéreo com 100.000 requisitos, um compilador ou mesmo um programa de folha de pagamento.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E31DB6-FF2C-DC22-D2D4-C96D297C509B}"/>
              </a:ext>
            </a:extLst>
          </p:cNvPr>
          <p:cNvSpPr txBox="1"/>
          <p:nvPr/>
        </p:nvSpPr>
        <p:spPr>
          <a:xfrm>
            <a:off x="288822" y="3989804"/>
            <a:ext cx="1161435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pt-BR" sz="2800" dirty="0"/>
              <a:t>Ao trabalhar com este exemplo, pode parecer assustador testar minuciosamente um programa complexo do mundo real. </a:t>
            </a:r>
          </a:p>
          <a:p>
            <a:endParaRPr lang="pt-BR" sz="2800" dirty="0"/>
          </a:p>
          <a:p>
            <a:r>
              <a:rPr lang="pt-BR" sz="2800" dirty="0"/>
              <a:t>Embora a tarefa possa ser assustadora, o teste adequado de programas é uma parte </a:t>
            </a:r>
            <a:r>
              <a:rPr lang="pt-BR" sz="2800" b="1" u="sng" dirty="0"/>
              <a:t>muito necessária</a:t>
            </a:r>
            <a:r>
              <a:rPr lang="pt-BR" sz="2800" b="1" dirty="0"/>
              <a:t> </a:t>
            </a:r>
            <a:r>
              <a:rPr lang="pt-BR" sz="2800" dirty="0"/>
              <a:t>— </a:t>
            </a:r>
            <a:r>
              <a:rPr lang="pt-BR" sz="2800" b="1" dirty="0"/>
              <a:t>e alcançável</a:t>
            </a:r>
            <a:r>
              <a:rPr lang="pt-BR" sz="2800" dirty="0"/>
              <a:t> — do desenvolvimento de software, como veremos nesta disciplina.</a:t>
            </a:r>
          </a:p>
        </p:txBody>
      </p:sp>
    </p:spTree>
    <p:extLst>
      <p:ext uri="{BB962C8B-B14F-4D97-AF65-F5344CB8AC3E}">
        <p14:creationId xmlns:p14="http://schemas.microsoft.com/office/powerpoint/2010/main" val="375062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DE UNIDADE – </a:t>
            </a:r>
            <a:r>
              <a:rPr lang="en-US" sz="2800" b="1" i="1" dirty="0">
                <a:solidFill>
                  <a:schemeClr val="bg1"/>
                </a:solidFill>
              </a:rPr>
              <a:t>UNIT TESTING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486176" y="1286057"/>
            <a:ext cx="110699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Consiste em chamar uma função ou método de uma classe (</a:t>
            </a:r>
            <a:r>
              <a:rPr lang="pt-BR" sz="2600" i="1" dirty="0" err="1"/>
              <a:t>unit</a:t>
            </a:r>
            <a:r>
              <a:rPr lang="pt-BR" sz="2600" dirty="0"/>
              <a:t>) e executá-la com um conjunto de parâmetros conhecidos.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O resultado é então comparado com o resultado esperado.</a:t>
            </a:r>
          </a:p>
        </p:txBody>
      </p:sp>
    </p:spTree>
    <p:extLst>
      <p:ext uri="{BB962C8B-B14F-4D97-AF65-F5344CB8AC3E}">
        <p14:creationId xmlns:p14="http://schemas.microsoft.com/office/powerpoint/2010/main" val="778227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NOÇÕES BÁSICAS DE TESTE DE UNIDADE – </a:t>
            </a:r>
            <a:r>
              <a:rPr lang="en-US" sz="2800" b="1" i="1" dirty="0">
                <a:solidFill>
                  <a:schemeClr val="bg1"/>
                </a:solidFill>
              </a:rPr>
              <a:t>FOO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17709" y="1175699"/>
            <a:ext cx="110384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Se essa expressão </a:t>
            </a:r>
            <a:r>
              <a:rPr lang="pt-BR" sz="2600" i="1">
                <a:solidFill>
                  <a:schemeClr val="accent4">
                    <a:lumMod val="75000"/>
                  </a:schemeClr>
                </a:solidFill>
              </a:rPr>
              <a:t>assert</a:t>
            </a:r>
            <a:r>
              <a:rPr lang="pt-BR" sz="2600"/>
              <a:t> for avaliada como 0, isso causará uma falha (</a:t>
            </a:r>
            <a:r>
              <a:rPr lang="pt-BR" sz="2600" i="1">
                <a:solidFill>
                  <a:schemeClr val="accent4">
                    <a:lumMod val="75000"/>
                  </a:schemeClr>
                </a:solidFill>
              </a:rPr>
              <a:t>assertion failure</a:t>
            </a:r>
            <a:r>
              <a:rPr lang="pt-BR" sz="2600"/>
              <a:t>) que encerrará o programa.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B5E1FD-800A-2F47-88FE-A154DD632C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569" y="2409503"/>
            <a:ext cx="8451225" cy="3648112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038773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ATRIBUTOS DOS TESTES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450315" y="1142621"/>
            <a:ext cx="11239659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dirty="0"/>
              <a:t>Segundo o livro, os testes devem ser </a:t>
            </a:r>
            <a:r>
              <a:rPr lang="pt-BR" sz="2400" b="1" dirty="0">
                <a:solidFill>
                  <a:srgbClr val="FF0000"/>
                </a:solidFill>
              </a:rPr>
              <a:t>FIRST</a:t>
            </a:r>
            <a:r>
              <a:rPr lang="pt-BR" sz="2400" dirty="0"/>
              <a:t>: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b="1" dirty="0">
                <a:solidFill>
                  <a:srgbClr val="FF0000"/>
                </a:solidFill>
              </a:rPr>
              <a:t>F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ast</a:t>
            </a:r>
            <a:r>
              <a:rPr lang="pt-BR" sz="2200" dirty="0"/>
              <a:t>: Os testes devem ser rápidos, rápidos o suficiente para que os desenvolvedores os executem em cada pequena alteração, sem esperar a fim de não interromperem o fluxo do projeto.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b="1" dirty="0" err="1">
                <a:solidFill>
                  <a:srgbClr val="FF0000"/>
                </a:solidFill>
              </a:rPr>
              <a:t>I</a:t>
            </a:r>
            <a:r>
              <a:rPr lang="pt-BR" sz="2200" dirty="0" err="1">
                <a:solidFill>
                  <a:schemeClr val="accent4">
                    <a:lumMod val="75000"/>
                  </a:schemeClr>
                </a:solidFill>
              </a:rPr>
              <a:t>solated</a:t>
            </a:r>
            <a:r>
              <a:rPr lang="pt-BR" sz="2200" dirty="0"/>
              <a:t>: Os testes devem ser isolados. Um teste não deve impactar o próximo teste. Os testes também isolam as falhas.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b="1" dirty="0" err="1">
                <a:solidFill>
                  <a:srgbClr val="FF0000"/>
                </a:solidFill>
              </a:rPr>
              <a:t>R</a:t>
            </a:r>
            <a:r>
              <a:rPr lang="pt-BR" sz="2200" dirty="0" err="1">
                <a:solidFill>
                  <a:schemeClr val="accent4">
                    <a:lumMod val="75000"/>
                  </a:schemeClr>
                </a:solidFill>
              </a:rPr>
              <a:t>epeatable</a:t>
            </a:r>
            <a:r>
              <a:rPr lang="pt-BR" sz="2200" dirty="0"/>
              <a:t>: Os testes são repetíveis, repetível significa automatizado. Os testes são executados em um loop sempre dando o mesmo resultado.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b="1" dirty="0">
                <a:solidFill>
                  <a:srgbClr val="FF0000"/>
                </a:solidFill>
              </a:rPr>
              <a:t>S</a:t>
            </a:r>
            <a:r>
              <a:rPr lang="pt-BR" sz="2200" dirty="0">
                <a:solidFill>
                  <a:schemeClr val="accent4">
                    <a:lumMod val="75000"/>
                  </a:schemeClr>
                </a:solidFill>
              </a:rPr>
              <a:t>elf-</a:t>
            </a:r>
            <a:r>
              <a:rPr lang="pt-BR" sz="2200" dirty="0" err="1">
                <a:solidFill>
                  <a:schemeClr val="accent4">
                    <a:lumMod val="75000"/>
                  </a:schemeClr>
                </a:solidFill>
              </a:rPr>
              <a:t>verifying</a:t>
            </a:r>
            <a:r>
              <a:rPr lang="pt-BR" sz="2200" dirty="0"/>
              <a:t>: Os testes verificam seus resultados, relatando um simples "</a:t>
            </a:r>
            <a:r>
              <a:rPr lang="pt-BR" sz="2200" i="1" dirty="0"/>
              <a:t>OK</a:t>
            </a:r>
            <a:r>
              <a:rPr lang="pt-BR" sz="2200" dirty="0"/>
              <a:t>" quando são aprovados, enquanto fornecem detalhes concisos quando eles falham.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b="1" dirty="0" err="1">
                <a:solidFill>
                  <a:srgbClr val="FF0000"/>
                </a:solidFill>
              </a:rPr>
              <a:t>T</a:t>
            </a:r>
            <a:r>
              <a:rPr lang="pt-BR" sz="2200" dirty="0" err="1">
                <a:solidFill>
                  <a:schemeClr val="accent4">
                    <a:lumMod val="75000"/>
                  </a:schemeClr>
                </a:solidFill>
              </a:rPr>
              <a:t>imely</a:t>
            </a:r>
            <a:r>
              <a:rPr lang="pt-BR" sz="2200" dirty="0"/>
              <a:t>: Os testes são feitos a tempo. Os programadores escrevem os testes em uma etapa diferente, isto é, normalmente ele é escrito um pouco antes do código de produção, evitando bugs.</a:t>
            </a:r>
          </a:p>
        </p:txBody>
      </p:sp>
    </p:spTree>
    <p:extLst>
      <p:ext uri="{BB962C8B-B14F-4D97-AF65-F5344CB8AC3E}">
        <p14:creationId xmlns:p14="http://schemas.microsoft.com/office/powerpoint/2010/main" val="16385656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3181"/>
            <a:ext cx="8645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</a:rPr>
              <a:t>DESENVOLVIMENTO ORIENTADO A TESTES</a:t>
            </a:r>
          </a:p>
          <a:p>
            <a:pPr algn="r"/>
            <a:r>
              <a:rPr lang="en-US" sz="2400" b="1" dirty="0">
                <a:solidFill>
                  <a:schemeClr val="bg1"/>
                </a:solidFill>
              </a:rPr>
              <a:t>(</a:t>
            </a:r>
            <a:r>
              <a:rPr lang="en-US" sz="2400" b="1" i="1" dirty="0">
                <a:solidFill>
                  <a:schemeClr val="bg1"/>
                </a:solidFill>
              </a:rPr>
              <a:t>Test-Driven Development</a:t>
            </a:r>
            <a:r>
              <a:rPr lang="en-US" sz="2400" b="1" dirty="0">
                <a:solidFill>
                  <a:schemeClr val="bg1"/>
                </a:solidFill>
              </a:rPr>
              <a:t>)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486176" y="1286057"/>
            <a:ext cx="11069947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É uma técnica para desenvolvimento de software incremental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u="sng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u="sng"/>
              <a:t>Filosofia: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u="sng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/>
              <a:t>Desenvolva o teste antes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60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/>
              <a:t>Execute o teste, gerando falhas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60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/>
              <a:t>Só depois desenvolva o código até que os testes passem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60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400"/>
              <a:t>Repita o processo para novas funcionalidades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O teste representa o comportamento desejado do código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A cada mudança no código, execute novamente os testes</a:t>
            </a:r>
          </a:p>
        </p:txBody>
      </p:sp>
    </p:spTree>
    <p:extLst>
      <p:ext uri="{BB962C8B-B14F-4D97-AF65-F5344CB8AC3E}">
        <p14:creationId xmlns:p14="http://schemas.microsoft.com/office/powerpoint/2010/main" val="38917356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3F3F7D-30D5-4746-A917-E7033A7149EE}"/>
              </a:ext>
            </a:extLst>
          </p:cNvPr>
          <p:cNvSpPr txBox="1"/>
          <p:nvPr/>
        </p:nvSpPr>
        <p:spPr>
          <a:xfrm>
            <a:off x="724662" y="1719622"/>
            <a:ext cx="10165842" cy="3418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pt-BR" sz="2800" dirty="0">
                <a:solidFill>
                  <a:srgbClr val="000000"/>
                </a:solidFill>
                <a:latin typeface="CMSS10"/>
              </a:rPr>
              <a:t>A chave é começar pequeno. Testes simples.
Aumente seu código lentamente.
Só torne seu código mais complexo se os testes exigirem isso. 
Pense em uma boa sequência de testes</a:t>
            </a:r>
            <a:endParaRPr lang="pt-BR" sz="2800" dirty="0"/>
          </a:p>
        </p:txBody>
      </p:sp>
      <p:sp>
        <p:nvSpPr>
          <p:cNvPr id="4" name="CaixaDeTexto 4">
            <a:extLst>
              <a:ext uri="{FF2B5EF4-FFF2-40B4-BE49-F238E27FC236}">
                <a16:creationId xmlns:a16="http://schemas.microsoft.com/office/drawing/2014/main" id="{0086302B-8A7D-40FC-B668-13CEF126CE6E}"/>
              </a:ext>
            </a:extLst>
          </p:cNvPr>
          <p:cNvSpPr txBox="1"/>
          <p:nvPr/>
        </p:nvSpPr>
        <p:spPr>
          <a:xfrm>
            <a:off x="3325091" y="3181"/>
            <a:ext cx="8645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</a:rPr>
              <a:t>DESENVOLVIMENTO ORIENTADO A TESTES</a:t>
            </a:r>
          </a:p>
          <a:p>
            <a:pPr algn="r"/>
            <a:r>
              <a:rPr lang="en-US" sz="2400" b="1" dirty="0">
                <a:solidFill>
                  <a:schemeClr val="bg1"/>
                </a:solidFill>
              </a:rPr>
              <a:t>(</a:t>
            </a:r>
            <a:r>
              <a:rPr lang="en-US" sz="2400" b="1" i="1" dirty="0">
                <a:solidFill>
                  <a:schemeClr val="bg1"/>
                </a:solidFill>
              </a:rPr>
              <a:t>Test-Driven Development</a:t>
            </a:r>
            <a:r>
              <a:rPr lang="en-US" sz="2400" b="1" dirty="0">
                <a:solidFill>
                  <a:schemeClr val="bg1"/>
                </a:solidFill>
              </a:rPr>
              <a:t>)</a:t>
            </a:r>
            <a:endParaRPr lang="pt-BR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1718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3181"/>
            <a:ext cx="8645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</a:rPr>
              <a:t>DESENVOLVIMENTO ORIENTADO A TESTES</a:t>
            </a:r>
          </a:p>
          <a:p>
            <a:pPr algn="r"/>
            <a:r>
              <a:rPr lang="en-US" sz="2400" b="1" dirty="0">
                <a:solidFill>
                  <a:schemeClr val="bg1"/>
                </a:solidFill>
              </a:rPr>
              <a:t>(</a:t>
            </a:r>
            <a:r>
              <a:rPr lang="en-US" sz="2400" b="1" i="1" dirty="0">
                <a:solidFill>
                  <a:schemeClr val="bg1"/>
                </a:solidFill>
              </a:rPr>
              <a:t>Test-Driven Development</a:t>
            </a:r>
            <a:r>
              <a:rPr lang="en-US" sz="2400" b="1" dirty="0">
                <a:solidFill>
                  <a:schemeClr val="bg1"/>
                </a:solidFill>
              </a:rPr>
              <a:t>)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6730EA-C153-D346-A156-DDBF43A25408}"/>
              </a:ext>
            </a:extLst>
          </p:cNvPr>
          <p:cNvSpPr txBox="1"/>
          <p:nvPr/>
        </p:nvSpPr>
        <p:spPr>
          <a:xfrm>
            <a:off x="444271" y="115815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Máquina de Estados do TDD:</a:t>
            </a:r>
            <a:endParaRPr lang="pt-BR" sz="240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9A1C86B-37B3-4D86-71F8-9820FCB60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0931" y="1866255"/>
            <a:ext cx="5890137" cy="4622305"/>
          </a:xfrm>
          <a:prstGeom prst="rect">
            <a:avLst/>
          </a:prstGeom>
          <a:noFill/>
          <a:ln w="38100">
            <a:solidFill>
              <a:schemeClr val="accent4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607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2333297" y="181183"/>
            <a:ext cx="9637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i="1" dirty="0">
                <a:solidFill>
                  <a:schemeClr val="bg1"/>
                </a:solidFill>
              </a:rPr>
              <a:t>FRAMEWORK</a:t>
            </a:r>
            <a:r>
              <a:rPr lang="en-US" sz="2400" b="1" dirty="0">
                <a:solidFill>
                  <a:schemeClr val="bg1"/>
                </a:solidFill>
              </a:rPr>
              <a:t> PARA TESTE DE UNIDADE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486176" y="1286057"/>
            <a:ext cx="110699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É um software que permite o programador expressar o comportamento dos testes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u="sng" dirty="0"/>
              <a:t>Deve possuir: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Uma linguagem para descrever os testes e valores esperados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7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Mecanismo para executar os testes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7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Relatórios dos teste</a:t>
            </a:r>
          </a:p>
        </p:txBody>
      </p:sp>
    </p:spTree>
    <p:extLst>
      <p:ext uri="{BB962C8B-B14F-4D97-AF65-F5344CB8AC3E}">
        <p14:creationId xmlns:p14="http://schemas.microsoft.com/office/powerpoint/2010/main" val="12569072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253400"/>
            <a:ext cx="110699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Framework para Teste de Unidade em C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>
                <a:hlinkClick r:id="rId3"/>
              </a:rPr>
              <a:t>https://github.com/ThrowTheSwitch/Unity</a:t>
            </a:r>
            <a:endParaRPr lang="pt-BR" sz="24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u="sng" dirty="0"/>
              <a:t>Motivação: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Pouca dependência de bibliotecas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Pode ser utilizado para testar Sistemas Embarcados - </a:t>
            </a:r>
            <a:r>
              <a:rPr lang="pt-BR" sz="2400" b="1" dirty="0" err="1"/>
              <a:t>Baremetal</a:t>
            </a:r>
            <a:r>
              <a:rPr lang="pt-BR" sz="2400" dirty="0"/>
              <a:t>, isto é (</a:t>
            </a:r>
            <a:r>
              <a:rPr lang="pt-BR" sz="2400" i="1" dirty="0"/>
              <a:t>sem OS</a:t>
            </a:r>
            <a:r>
              <a:rPr lang="pt-BR" sz="2400" dirty="0"/>
              <a:t>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Livro: James W. </a:t>
            </a:r>
            <a:r>
              <a:rPr lang="pt-BR" sz="2600" dirty="0" err="1"/>
              <a:t>Grenning</a:t>
            </a:r>
            <a:r>
              <a:rPr lang="pt-BR" sz="2600" dirty="0"/>
              <a:t>. </a:t>
            </a:r>
            <a:r>
              <a:rPr lang="pt-BR" sz="2600" b="1" i="1" dirty="0"/>
              <a:t>Test-</a:t>
            </a:r>
            <a:r>
              <a:rPr lang="pt-BR" sz="2600" b="1" i="1" dirty="0" err="1"/>
              <a:t>Driven</a:t>
            </a:r>
            <a:r>
              <a:rPr lang="pt-BR" sz="2600" b="1" i="1" dirty="0"/>
              <a:t> </a:t>
            </a:r>
            <a:r>
              <a:rPr lang="pt-BR" sz="2600" b="1" i="1" dirty="0" err="1"/>
              <a:t>Development</a:t>
            </a:r>
            <a:r>
              <a:rPr lang="pt-BR" sz="2600" b="1" i="1" dirty="0"/>
              <a:t> for </a:t>
            </a:r>
            <a:r>
              <a:rPr lang="pt-BR" sz="2600" b="1" i="1" dirty="0" err="1"/>
              <a:t>Embedded</a:t>
            </a:r>
            <a:r>
              <a:rPr lang="pt-BR" sz="2600" b="1" i="1" dirty="0"/>
              <a:t> C</a:t>
            </a:r>
            <a:r>
              <a:rPr lang="pt-BR" sz="2600" dirty="0"/>
              <a:t>. 2011.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Capítulo 3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u="sng" dirty="0"/>
              <a:t>Fonte:</a:t>
            </a:r>
            <a:r>
              <a:rPr lang="pt-BR" sz="2400" dirty="0"/>
              <a:t> </a:t>
            </a:r>
            <a:r>
              <a:rPr lang="pt-BR" sz="2400" dirty="0">
                <a:hlinkClick r:id="rId4"/>
              </a:rPr>
              <a:t>https://pragprog.com/titles/jgade/source_code</a:t>
            </a:r>
            <a:endParaRPr lang="pt-BR" sz="2400" dirty="0"/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i="1" dirty="0">
                <a:solidFill>
                  <a:schemeClr val="bg1"/>
                </a:solidFill>
              </a:rPr>
              <a:t>UNITY</a:t>
            </a:r>
            <a:endParaRPr lang="pt-BR" sz="2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41865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DEBF-30BE-8F8B-0CEF-0F02544D7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AFB8214-20D1-6D45-1AB2-19C980F4C158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5656A-9AB9-FA93-B8FD-BCDC87A54151}"/>
              </a:ext>
            </a:extLst>
          </p:cNvPr>
          <p:cNvSpPr txBox="1"/>
          <p:nvPr/>
        </p:nvSpPr>
        <p:spPr>
          <a:xfrm>
            <a:off x="520471" y="1234350"/>
            <a:ext cx="11069947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Abra o terminal e vá para o diretório onde você vai guardar o projeto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u="sng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u="sng" dirty="0"/>
              <a:t>Execute: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u="sng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 err="1"/>
              <a:t>git</a:t>
            </a:r>
            <a:r>
              <a:rPr lang="pt-BR" sz="2600" dirty="0"/>
              <a:t> clone </a:t>
            </a:r>
            <a:r>
              <a:rPr lang="pt-BR" sz="2600" dirty="0">
                <a:hlinkClick r:id="rId3"/>
              </a:rPr>
              <a:t>https://github.com/iacanaw/Unity.git</a:t>
            </a: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 err="1"/>
              <a:t>cd</a:t>
            </a:r>
            <a:r>
              <a:rPr lang="pt-BR" sz="2600" dirty="0"/>
              <a:t> Unity/</a:t>
            </a:r>
            <a:r>
              <a:rPr lang="pt-BR" sz="2600" dirty="0" err="1"/>
              <a:t>examples</a:t>
            </a:r>
            <a:r>
              <a:rPr lang="pt-BR" sz="2600" dirty="0"/>
              <a:t>/</a:t>
            </a:r>
            <a:r>
              <a:rPr lang="pt-BR" sz="2600" dirty="0" err="1"/>
              <a:t>foo</a:t>
            </a: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make </a:t>
            </a:r>
            <a:r>
              <a:rPr lang="pt-BR" sz="2600" dirty="0" err="1"/>
              <a:t>all</a:t>
            </a:r>
            <a:endParaRPr lang="pt-BR" sz="2600" dirty="0"/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49DA240A-7F54-1B31-87EF-6F058EBBA1E9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DO TESTE DO </a:t>
            </a:r>
            <a:r>
              <a:rPr lang="en-US" sz="2800" b="1" i="1" dirty="0">
                <a:solidFill>
                  <a:schemeClr val="bg1"/>
                </a:solidFill>
              </a:rPr>
              <a:t>FOO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252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159525" y="979954"/>
            <a:ext cx="11551762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400" b="1" dirty="0" err="1"/>
              <a:t>sprintf</a:t>
            </a:r>
            <a:endParaRPr lang="pt-BR" sz="2600" b="1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400" b="1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000" dirty="0"/>
              <a:t>Compõe uma </a:t>
            </a:r>
            <a:r>
              <a:rPr lang="pt-BR" sz="2000" dirty="0" err="1"/>
              <a:t>string</a:t>
            </a:r>
            <a:r>
              <a:rPr lang="pt-BR" sz="2000" dirty="0"/>
              <a:t> com o mesmo texto que seria impresso se fosse usado em </a:t>
            </a:r>
            <a:r>
              <a:rPr lang="pt-BR" sz="2000" dirty="0" err="1"/>
              <a:t>printf</a:t>
            </a:r>
            <a:r>
              <a:rPr lang="pt-BR" sz="2000" dirty="0"/>
              <a:t>, mas em vez de ser impresso, o conteúdo é armazenado como uma </a:t>
            </a:r>
            <a:r>
              <a:rPr lang="pt-BR" sz="2000" dirty="0" err="1"/>
              <a:t>string</a:t>
            </a:r>
            <a:r>
              <a:rPr lang="pt-BR" sz="2000" dirty="0"/>
              <a:t> C no buffer apontado pelo 1º argumento.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4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000" dirty="0"/>
              <a:t>Retorna o número de bytes que foi copiado para essa </a:t>
            </a:r>
            <a:r>
              <a:rPr lang="pt-BR" sz="2000" dirty="0" err="1"/>
              <a:t>string</a:t>
            </a:r>
            <a:r>
              <a:rPr lang="pt-BR" sz="2000" dirty="0"/>
              <a:t>!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970D5C-EF99-6042-BA90-8ECEC78E0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836" y="4061330"/>
            <a:ext cx="6897681" cy="1976861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D45D20-1B9F-D64D-8585-CDA17661F2E6}"/>
              </a:ext>
            </a:extLst>
          </p:cNvPr>
          <p:cNvSpPr txBox="1"/>
          <p:nvPr/>
        </p:nvSpPr>
        <p:spPr>
          <a:xfrm>
            <a:off x="165317" y="6328692"/>
            <a:ext cx="8108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Fonte:</a:t>
            </a:r>
            <a:r>
              <a:rPr lang="pt-BR" sz="1600" dirty="0"/>
              <a:t> </a:t>
            </a:r>
            <a:r>
              <a:rPr lang="pt-BR" sz="1600" dirty="0">
                <a:hlinkClick r:id="rId4"/>
              </a:rPr>
              <a:t>https://media.pragprog.com/titles/jgade/code/unity/stdio/SprintfTest.c</a:t>
            </a:r>
            <a:endParaRPr lang="pt-BR" sz="16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8F61CF-0219-1E47-ADFA-8A0CB964C531}"/>
              </a:ext>
            </a:extLst>
          </p:cNvPr>
          <p:cNvSpPr/>
          <p:nvPr/>
        </p:nvSpPr>
        <p:spPr>
          <a:xfrm>
            <a:off x="165317" y="6344458"/>
            <a:ext cx="6645385" cy="322788"/>
          </a:xfrm>
          <a:prstGeom prst="roundRect">
            <a:avLst>
              <a:gd name="adj" fmla="val 4074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B25E2-EE63-4948-A5B4-44A6AE74D588}"/>
              </a:ext>
            </a:extLst>
          </p:cNvPr>
          <p:cNvSpPr txBox="1"/>
          <p:nvPr/>
        </p:nvSpPr>
        <p:spPr>
          <a:xfrm>
            <a:off x="746836" y="2815484"/>
            <a:ext cx="48450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1600" dirty="0"/>
              <a:t>TEST (&lt;group-of-test&gt;, &lt;test-name&gt;)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4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1600" dirty="0"/>
              <a:t>TEST_ASSERT_EQUAL – </a:t>
            </a:r>
            <a:r>
              <a:rPr lang="en-US" sz="1600" dirty="0" err="1"/>
              <a:t>compara</a:t>
            </a:r>
            <a:r>
              <a:rPr lang="en-US" sz="1600" dirty="0"/>
              <a:t> 2 </a:t>
            </a:r>
            <a:r>
              <a:rPr lang="en-US" sz="1600" dirty="0" err="1"/>
              <a:t>inteiros</a:t>
            </a:r>
            <a:endParaRPr lang="en-US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4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1600" dirty="0"/>
              <a:t>TEST_ASSERT_EQUAL_STRING – </a:t>
            </a:r>
            <a:r>
              <a:rPr lang="en-US" sz="1600" dirty="0" err="1"/>
              <a:t>compara</a:t>
            </a:r>
            <a:r>
              <a:rPr lang="en-US" sz="1600" dirty="0"/>
              <a:t> string C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5BCEC60-4D2B-154A-9274-A698B1320FCC}"/>
              </a:ext>
            </a:extLst>
          </p:cNvPr>
          <p:cNvSpPr/>
          <p:nvPr/>
        </p:nvSpPr>
        <p:spPr>
          <a:xfrm>
            <a:off x="746836" y="2779899"/>
            <a:ext cx="4660737" cy="1005458"/>
          </a:xfrm>
          <a:prstGeom prst="roundRect">
            <a:avLst>
              <a:gd name="adj" fmla="val 4074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675408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19625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E se sprintf usar mais de 12 bytes ?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31FE9D6-233A-5749-A53B-E4628F4B1BA4}"/>
              </a:ext>
            </a:extLst>
          </p:cNvPr>
          <p:cNvGrpSpPr/>
          <p:nvPr/>
        </p:nvGrpSpPr>
        <p:grpSpPr>
          <a:xfrm>
            <a:off x="758094" y="2451113"/>
            <a:ext cx="10670900" cy="2746820"/>
            <a:chOff x="558572" y="2419351"/>
            <a:chExt cx="10670900" cy="274682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8DA28EA-BD67-B74F-B748-D6D1FB52F177}"/>
                </a:ext>
              </a:extLst>
            </p:cNvPr>
            <p:cNvSpPr/>
            <p:nvPr/>
          </p:nvSpPr>
          <p:spPr>
            <a:xfrm>
              <a:off x="558572" y="2419351"/>
              <a:ext cx="10670900" cy="274682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A5DBB28-B49C-4A47-991D-F2C95828B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9886" y="2505520"/>
              <a:ext cx="10426235" cy="262255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44251AF-4987-AA43-8523-A9C3AC52A761}"/>
              </a:ext>
            </a:extLst>
          </p:cNvPr>
          <p:cNvSpPr txBox="1"/>
          <p:nvPr/>
        </p:nvSpPr>
        <p:spPr>
          <a:xfrm>
            <a:off x="165317" y="6328692"/>
            <a:ext cx="8108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Fonte:</a:t>
            </a:r>
            <a:r>
              <a:rPr lang="pt-BR" sz="1600" dirty="0"/>
              <a:t> </a:t>
            </a:r>
            <a:r>
              <a:rPr lang="pt-BR" sz="1600" dirty="0">
                <a:hlinkClick r:id="rId4"/>
              </a:rPr>
              <a:t>https://media.pragprog.com/titles/jgade/code/unity/stdio/SprintfTest.c</a:t>
            </a:r>
            <a:endParaRPr lang="pt-BR" sz="1600" dirty="0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4FC21B4-C446-C348-8BDA-ADB5FC9FED0A}"/>
              </a:ext>
            </a:extLst>
          </p:cNvPr>
          <p:cNvSpPr/>
          <p:nvPr/>
        </p:nvSpPr>
        <p:spPr>
          <a:xfrm>
            <a:off x="165317" y="6329709"/>
            <a:ext cx="6645385" cy="322788"/>
          </a:xfrm>
          <a:prstGeom prst="roundRect">
            <a:avLst>
              <a:gd name="adj" fmla="val 4074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82384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030DA0-9A24-0B47-8F39-6F49BED42844}"/>
              </a:ext>
            </a:extLst>
          </p:cNvPr>
          <p:cNvSpPr/>
          <p:nvPr/>
        </p:nvSpPr>
        <p:spPr>
          <a:xfrm>
            <a:off x="838200" y="2138799"/>
            <a:ext cx="10210800" cy="336393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19625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Esse teste verifica bytes após a string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FDBA11-A2B0-984A-B0C7-BB6C59FB01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761" y="2195949"/>
            <a:ext cx="9986565" cy="3273036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355B268-4546-9D45-84B9-E4EFF79E0ADD}"/>
              </a:ext>
            </a:extLst>
          </p:cNvPr>
          <p:cNvGrpSpPr/>
          <p:nvPr/>
        </p:nvGrpSpPr>
        <p:grpSpPr>
          <a:xfrm>
            <a:off x="7078718" y="3177787"/>
            <a:ext cx="2530981" cy="584775"/>
            <a:chOff x="7078718" y="3177787"/>
            <a:chExt cx="2530981" cy="584775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563F81E-5133-BA4C-87C4-495468DA8A07}"/>
                </a:ext>
              </a:extLst>
            </p:cNvPr>
            <p:cNvSpPr txBox="1"/>
            <p:nvPr/>
          </p:nvSpPr>
          <p:spPr>
            <a:xfrm>
              <a:off x="7575948" y="3177787"/>
              <a:ext cx="203375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 err="1">
                  <a:solidFill>
                    <a:srgbClr val="FF0000"/>
                  </a:solidFill>
                </a:rPr>
                <a:t>Copio</a:t>
              </a:r>
              <a:r>
                <a:rPr lang="en-US" sz="1600" dirty="0">
                  <a:solidFill>
                    <a:srgbClr val="FF0000"/>
                  </a:solidFill>
                </a:rPr>
                <a:t> 0xaa </a:t>
              </a:r>
              <a:r>
                <a:rPr lang="en-US" sz="1600" dirty="0" err="1">
                  <a:solidFill>
                    <a:srgbClr val="FF0000"/>
                  </a:solidFill>
                </a:rPr>
                <a:t>em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1600" dirty="0" err="1">
                  <a:solidFill>
                    <a:srgbClr val="FF0000"/>
                  </a:solidFill>
                </a:rPr>
                <a:t>todas</a:t>
              </a:r>
              <a:r>
                <a:rPr lang="en-US" sz="1600" dirty="0">
                  <a:solidFill>
                    <a:srgbClr val="FF0000"/>
                  </a:solidFill>
                </a:rPr>
                <a:t> as </a:t>
              </a:r>
              <a:r>
                <a:rPr lang="en-US" sz="1600" dirty="0" err="1">
                  <a:solidFill>
                    <a:srgbClr val="FF0000"/>
                  </a:solidFill>
                </a:rPr>
                <a:t>posições</a:t>
              </a:r>
              <a:r>
                <a:rPr lang="en-US" sz="1600" dirty="0">
                  <a:solidFill>
                    <a:srgbClr val="FF0000"/>
                  </a:solidFill>
                </a:rPr>
                <a:t> do output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4207A74-637F-3942-818E-206AFDCC3FE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78718" y="3470175"/>
              <a:ext cx="42566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F8D3FBC-1D0D-E644-B3F7-E756AE7B1577}"/>
              </a:ext>
            </a:extLst>
          </p:cNvPr>
          <p:cNvGrpSpPr/>
          <p:nvPr/>
        </p:nvGrpSpPr>
        <p:grpSpPr>
          <a:xfrm>
            <a:off x="7893269" y="4642445"/>
            <a:ext cx="3155731" cy="584775"/>
            <a:chOff x="7893269" y="4642445"/>
            <a:chExt cx="3155731" cy="584775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718F6C4-CD80-054C-931A-65F3DF62B5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93269" y="4883817"/>
              <a:ext cx="42566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BBCF555-29A7-BB46-82AC-AEBFADB38843}"/>
                </a:ext>
              </a:extLst>
            </p:cNvPr>
            <p:cNvSpPr txBox="1"/>
            <p:nvPr/>
          </p:nvSpPr>
          <p:spPr>
            <a:xfrm>
              <a:off x="8342588" y="4642445"/>
              <a:ext cx="270641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en-US" sz="1600" dirty="0" err="1">
                  <a:solidFill>
                    <a:srgbClr val="FF0000"/>
                  </a:solidFill>
                </a:rPr>
                <a:t>Faço</a:t>
              </a:r>
              <a:r>
                <a:rPr lang="en-US" sz="1600" dirty="0">
                  <a:solidFill>
                    <a:srgbClr val="FF0000"/>
                  </a:solidFill>
                </a:rPr>
                <a:t> a </a:t>
              </a:r>
              <a:r>
                <a:rPr lang="en-US" sz="1600" dirty="0" err="1">
                  <a:solidFill>
                    <a:srgbClr val="FF0000"/>
                  </a:solidFill>
                </a:rPr>
                <a:t>verificação</a:t>
              </a:r>
              <a:r>
                <a:rPr lang="en-US" sz="1600" dirty="0">
                  <a:solidFill>
                    <a:srgbClr val="FF0000"/>
                  </a:solidFill>
                </a:rPr>
                <a:t> se as </a:t>
              </a:r>
              <a:r>
                <a:rPr lang="en-US" sz="1600" dirty="0" err="1">
                  <a:solidFill>
                    <a:srgbClr val="FF0000"/>
                  </a:solidFill>
                </a:rPr>
                <a:t>outras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1600" dirty="0" err="1">
                  <a:solidFill>
                    <a:srgbClr val="FF0000"/>
                  </a:solidFill>
                </a:rPr>
                <a:t>posições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1600" dirty="0" err="1">
                  <a:solidFill>
                    <a:srgbClr val="FF0000"/>
                  </a:solidFill>
                </a:rPr>
                <a:t>não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1600" dirty="0" err="1">
                  <a:solidFill>
                    <a:srgbClr val="FF0000"/>
                  </a:solidFill>
                </a:rPr>
                <a:t>foram</a:t>
              </a:r>
              <a:r>
                <a:rPr lang="en-US" sz="1600" dirty="0">
                  <a:solidFill>
                    <a:srgbClr val="FF0000"/>
                  </a:solidFill>
                </a:rPr>
                <a:t> </a:t>
              </a:r>
              <a:r>
                <a:rPr lang="en-US" sz="1600" dirty="0" err="1">
                  <a:solidFill>
                    <a:srgbClr val="FF0000"/>
                  </a:solidFill>
                </a:rPr>
                <a:t>alteradas</a:t>
              </a:r>
              <a:endParaRPr lang="en-US" sz="16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1BF6E47-2271-784A-A373-7CF90B82C520}"/>
              </a:ext>
            </a:extLst>
          </p:cNvPr>
          <p:cNvSpPr txBox="1"/>
          <p:nvPr/>
        </p:nvSpPr>
        <p:spPr>
          <a:xfrm>
            <a:off x="165317" y="6328692"/>
            <a:ext cx="8108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Fonte:</a:t>
            </a:r>
            <a:r>
              <a:rPr lang="pt-BR" sz="1600" dirty="0"/>
              <a:t> </a:t>
            </a:r>
            <a:r>
              <a:rPr lang="pt-BR" sz="1600" dirty="0">
                <a:hlinkClick r:id="rId4"/>
              </a:rPr>
              <a:t>https://media.pragprog.com/titles/jgade/code/unity/stdio/SprintfTest.c</a:t>
            </a:r>
            <a:endParaRPr lang="pt-BR" sz="1600" dirty="0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B6CDF343-5729-554D-BF28-924BD7379124}"/>
              </a:ext>
            </a:extLst>
          </p:cNvPr>
          <p:cNvSpPr/>
          <p:nvPr/>
        </p:nvSpPr>
        <p:spPr>
          <a:xfrm>
            <a:off x="165317" y="6344458"/>
            <a:ext cx="6645385" cy="322788"/>
          </a:xfrm>
          <a:prstGeom prst="roundRect">
            <a:avLst>
              <a:gd name="adj" fmla="val 4074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3454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030DA0-9A24-0B47-8F39-6F49BED42844}"/>
              </a:ext>
            </a:extLst>
          </p:cNvPr>
          <p:cNvSpPr/>
          <p:nvPr/>
        </p:nvSpPr>
        <p:spPr>
          <a:xfrm>
            <a:off x="1079671" y="1991731"/>
            <a:ext cx="5304706" cy="4165746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06290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Evitando duplicação de código entre os testes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06DA67-4332-5C47-8899-C6D5B59210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871" y="2042677"/>
            <a:ext cx="5080000" cy="4076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DCA59E-63B7-5145-B851-10F09C97E753}"/>
              </a:ext>
            </a:extLst>
          </p:cNvPr>
          <p:cNvSpPr txBox="1"/>
          <p:nvPr/>
        </p:nvSpPr>
        <p:spPr>
          <a:xfrm>
            <a:off x="165317" y="6328692"/>
            <a:ext cx="8108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Fonte:</a:t>
            </a:r>
            <a:r>
              <a:rPr lang="pt-BR" sz="1600" dirty="0"/>
              <a:t> </a:t>
            </a:r>
            <a:r>
              <a:rPr lang="pt-BR" sz="1600" dirty="0">
                <a:hlinkClick r:id="rId4"/>
              </a:rPr>
              <a:t>https://media.pragprog.com/titles/jgade/code/unity/stdio/SprintfTest.c</a:t>
            </a:r>
            <a:endParaRPr lang="pt-BR" sz="160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16B99DC-40E1-AB46-885F-DEC11BA3A41C}"/>
              </a:ext>
            </a:extLst>
          </p:cNvPr>
          <p:cNvSpPr/>
          <p:nvPr/>
        </p:nvSpPr>
        <p:spPr>
          <a:xfrm>
            <a:off x="165317" y="6344458"/>
            <a:ext cx="6645385" cy="322788"/>
          </a:xfrm>
          <a:prstGeom prst="roundRect">
            <a:avLst>
              <a:gd name="adj" fmla="val 4074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517679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030DA0-9A24-0B47-8F39-6F49BED42844}"/>
              </a:ext>
            </a:extLst>
          </p:cNvPr>
          <p:cNvSpPr/>
          <p:nvPr/>
        </p:nvSpPr>
        <p:spPr>
          <a:xfrm>
            <a:off x="1870794" y="2143906"/>
            <a:ext cx="8340006" cy="347584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06290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Evitando duplicação de código entre os testes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1B2459-C9AA-4C4C-A1C3-8EBE845A9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4144" y="2294520"/>
            <a:ext cx="8102600" cy="3200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82AC686-0DBA-3B4E-B629-F34452C0B934}"/>
              </a:ext>
            </a:extLst>
          </p:cNvPr>
          <p:cNvSpPr txBox="1"/>
          <p:nvPr/>
        </p:nvSpPr>
        <p:spPr>
          <a:xfrm>
            <a:off x="165317" y="6328692"/>
            <a:ext cx="8108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Fonte:</a:t>
            </a:r>
            <a:r>
              <a:rPr lang="pt-BR" sz="1600" dirty="0"/>
              <a:t> </a:t>
            </a:r>
            <a:r>
              <a:rPr lang="pt-BR" sz="1600" dirty="0">
                <a:hlinkClick r:id="rId4"/>
              </a:rPr>
              <a:t>https://media.pragprog.com/titles/jgade/code/unity/stdio/SprintfTest.c</a:t>
            </a:r>
            <a:endParaRPr lang="pt-BR" sz="16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02C44B3-3E31-EB41-A971-746144C56DD6}"/>
              </a:ext>
            </a:extLst>
          </p:cNvPr>
          <p:cNvSpPr/>
          <p:nvPr/>
        </p:nvSpPr>
        <p:spPr>
          <a:xfrm>
            <a:off x="165317" y="6344458"/>
            <a:ext cx="6645385" cy="322788"/>
          </a:xfrm>
          <a:prstGeom prst="roundRect">
            <a:avLst>
              <a:gd name="adj" fmla="val 4074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27945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030DA0-9A24-0B47-8F39-6F49BED42844}"/>
              </a:ext>
            </a:extLst>
          </p:cNvPr>
          <p:cNvSpPr/>
          <p:nvPr/>
        </p:nvSpPr>
        <p:spPr>
          <a:xfrm>
            <a:off x="2432050" y="1929628"/>
            <a:ext cx="7302500" cy="3861572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06290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Evitando duplicação de código entre os testes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67845-7622-EC42-968B-9C7C47697E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300" y="2060964"/>
            <a:ext cx="7082340" cy="36540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835C2F-C835-0647-BCB4-1E9CACEEDB56}"/>
              </a:ext>
            </a:extLst>
          </p:cNvPr>
          <p:cNvSpPr txBox="1"/>
          <p:nvPr/>
        </p:nvSpPr>
        <p:spPr>
          <a:xfrm>
            <a:off x="165317" y="6328692"/>
            <a:ext cx="81089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sz="1600" u="sng" dirty="0"/>
              <a:t>Fonte:</a:t>
            </a:r>
            <a:r>
              <a:rPr lang="pt-BR" sz="1600" dirty="0"/>
              <a:t> </a:t>
            </a:r>
            <a:r>
              <a:rPr lang="pt-BR" sz="1600" dirty="0">
                <a:hlinkClick r:id="rId4"/>
              </a:rPr>
              <a:t>https://media.pragprog.com/titles/jgade/code/unity/stdio/SprintfTest.c</a:t>
            </a:r>
            <a:endParaRPr lang="pt-BR" sz="1600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E9F2B1A6-9C3F-3848-81ED-EB6A4C4E67D3}"/>
              </a:ext>
            </a:extLst>
          </p:cNvPr>
          <p:cNvSpPr/>
          <p:nvPr/>
        </p:nvSpPr>
        <p:spPr>
          <a:xfrm>
            <a:off x="165317" y="6344458"/>
            <a:ext cx="6645385" cy="322788"/>
          </a:xfrm>
          <a:prstGeom prst="roundRect">
            <a:avLst>
              <a:gd name="adj" fmla="val 4074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05783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030DA0-9A24-0B47-8F39-6F49BED42844}"/>
              </a:ext>
            </a:extLst>
          </p:cNvPr>
          <p:cNvSpPr/>
          <p:nvPr/>
        </p:nvSpPr>
        <p:spPr>
          <a:xfrm>
            <a:off x="1892298" y="2214063"/>
            <a:ext cx="8128001" cy="308268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06290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Agrupando testes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D45D20-1B9F-D64D-8585-CDA17661F2E6}"/>
              </a:ext>
            </a:extLst>
          </p:cNvPr>
          <p:cNvSpPr txBox="1"/>
          <p:nvPr/>
        </p:nvSpPr>
        <p:spPr>
          <a:xfrm>
            <a:off x="196849" y="6234097"/>
            <a:ext cx="9956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pt-BR" u="sng" dirty="0"/>
              <a:t>Fonte:</a:t>
            </a:r>
            <a:r>
              <a:rPr lang="pt-BR" dirty="0"/>
              <a:t> </a:t>
            </a:r>
            <a:r>
              <a:rPr lang="pt-BR" dirty="0">
                <a:hlinkClick r:id="rId3"/>
              </a:rPr>
              <a:t>https://media.pragprog.com/titles/jgade/code/unity/stdio/SprintfTestRunner.c</a:t>
            </a:r>
            <a:endParaRPr lang="pt-BR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B8F61CF-0219-1E47-ADFA-8A0CB964C531}"/>
              </a:ext>
            </a:extLst>
          </p:cNvPr>
          <p:cNvSpPr/>
          <p:nvPr/>
        </p:nvSpPr>
        <p:spPr>
          <a:xfrm>
            <a:off x="196849" y="6238151"/>
            <a:ext cx="8108951" cy="369332"/>
          </a:xfrm>
          <a:prstGeom prst="roundRect">
            <a:avLst>
              <a:gd name="adj" fmla="val 4074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en-US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E901DF-FEAD-4449-9535-7D65103C4A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499" y="2290263"/>
            <a:ext cx="7911949" cy="289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0598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030DA0-9A24-0B47-8F39-6F49BED42844}"/>
              </a:ext>
            </a:extLst>
          </p:cNvPr>
          <p:cNvSpPr/>
          <p:nvPr/>
        </p:nvSpPr>
        <p:spPr>
          <a:xfrm>
            <a:off x="2197099" y="1836315"/>
            <a:ext cx="7044114" cy="4116809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06290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/>
              <a:t>Função </a:t>
            </a:r>
            <a:r>
              <a:rPr lang="pt-BR" sz="2600" i="1"/>
              <a:t>main</a:t>
            </a:r>
            <a:r>
              <a:rPr lang="pt-BR" sz="2600"/>
              <a:t> do teste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5871A-ADDD-3A46-A559-77F72811B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6950" y="1934421"/>
            <a:ext cx="6955212" cy="3923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1286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030DA0-9A24-0B47-8F39-6F49BED42844}"/>
              </a:ext>
            </a:extLst>
          </p:cNvPr>
          <p:cNvSpPr/>
          <p:nvPr/>
        </p:nvSpPr>
        <p:spPr>
          <a:xfrm>
            <a:off x="3325091" y="2103015"/>
            <a:ext cx="5461001" cy="349496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19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06290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i="1"/>
              <a:t>Unity output </a:t>
            </a:r>
            <a:r>
              <a:rPr lang="pt-BR" sz="2600" b="1"/>
              <a:t>sem erros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4148FE-4283-9446-831C-A168447561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165" y="2194313"/>
            <a:ext cx="5235085" cy="340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6750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B030DA0-9A24-0B47-8F39-6F49BED42844}"/>
              </a:ext>
            </a:extLst>
          </p:cNvPr>
          <p:cNvSpPr/>
          <p:nvPr/>
        </p:nvSpPr>
        <p:spPr>
          <a:xfrm>
            <a:off x="7474616" y="1935190"/>
            <a:ext cx="4431406" cy="3494967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20471" y="1062900"/>
            <a:ext cx="1106994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i="1"/>
              <a:t>Unity output </a:t>
            </a:r>
            <a:r>
              <a:rPr lang="pt-BR" sz="2600" b="1"/>
              <a:t>com</a:t>
            </a:r>
            <a:r>
              <a:rPr lang="pt-BR" sz="2600"/>
              <a:t> </a:t>
            </a:r>
            <a:r>
              <a:rPr lang="pt-BR" sz="2600" b="1"/>
              <a:t>erros</a:t>
            </a:r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 </a:t>
            </a:r>
            <a:r>
              <a:rPr lang="en-US" sz="2800" b="1" i="1" dirty="0">
                <a:solidFill>
                  <a:schemeClr val="bg1"/>
                </a:solidFill>
              </a:rPr>
              <a:t>SPRINTF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51E87C-D732-A44A-9C33-B4ECF544D771}"/>
              </a:ext>
            </a:extLst>
          </p:cNvPr>
          <p:cNvGrpSpPr/>
          <p:nvPr/>
        </p:nvGrpSpPr>
        <p:grpSpPr>
          <a:xfrm>
            <a:off x="196849" y="2533905"/>
            <a:ext cx="6349335" cy="2297535"/>
            <a:chOff x="438585" y="2331615"/>
            <a:chExt cx="6349335" cy="2297535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FB9FDF-2898-1449-854B-A58B9D1D18B3}"/>
                </a:ext>
              </a:extLst>
            </p:cNvPr>
            <p:cNvSpPr/>
            <p:nvPr/>
          </p:nvSpPr>
          <p:spPr>
            <a:xfrm>
              <a:off x="438585" y="2331615"/>
              <a:ext cx="6349335" cy="2297535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BAD5ABE-2F19-B140-9B05-32F0F67D6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0471" y="2429117"/>
              <a:ext cx="6172200" cy="2082800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89BE38B-5D52-4243-88A6-0E3D840B83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8916" y="2103015"/>
            <a:ext cx="4229100" cy="3175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4DF4596-083F-1942-BB4F-0B3AF0EB158F}"/>
              </a:ext>
            </a:extLst>
          </p:cNvPr>
          <p:cNvSpPr/>
          <p:nvPr/>
        </p:nvSpPr>
        <p:spPr>
          <a:xfrm>
            <a:off x="10656968" y="4991100"/>
            <a:ext cx="800100" cy="3246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86B369E7-AF1A-2844-AEE5-89E262BDDEDF}"/>
              </a:ext>
            </a:extLst>
          </p:cNvPr>
          <p:cNvSpPr/>
          <p:nvPr/>
        </p:nvSpPr>
        <p:spPr>
          <a:xfrm>
            <a:off x="6661483" y="3475620"/>
            <a:ext cx="641684" cy="582030"/>
          </a:xfrm>
          <a:prstGeom prst="rightArrow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8845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EF685-7ADD-EF4E-BFA9-9B5BF8CB7DBA}"/>
              </a:ext>
            </a:extLst>
          </p:cNvPr>
          <p:cNvSpPr/>
          <p:nvPr/>
        </p:nvSpPr>
        <p:spPr>
          <a:xfrm>
            <a:off x="0" y="2857499"/>
            <a:ext cx="12192000" cy="17798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ATIVIDADE</a:t>
            </a:r>
          </a:p>
        </p:txBody>
      </p:sp>
    </p:spTree>
    <p:extLst>
      <p:ext uri="{BB962C8B-B14F-4D97-AF65-F5344CB8AC3E}">
        <p14:creationId xmlns:p14="http://schemas.microsoft.com/office/powerpoint/2010/main" val="15560549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425221" y="1339435"/>
            <a:ext cx="11266036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600" dirty="0"/>
              <a:t>Fazer o clone do repositório </a:t>
            </a:r>
            <a:r>
              <a:rPr lang="pt-BR" sz="2600" b="1" dirty="0">
                <a:solidFill>
                  <a:schemeClr val="accent4">
                    <a:lumMod val="75000"/>
                  </a:schemeClr>
                </a:solidFill>
              </a:rPr>
              <a:t>Unity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4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u="sng" dirty="0"/>
              <a:t>Referência:</a:t>
            </a:r>
            <a:r>
              <a:rPr lang="pt-BR" sz="2200" dirty="0"/>
              <a:t> </a:t>
            </a:r>
            <a:r>
              <a:rPr lang="pt-BR" sz="2200" dirty="0">
                <a:hlinkClick r:id="rId3"/>
              </a:rPr>
              <a:t>https://github.com/iacanaw/Unity.git</a:t>
            </a:r>
            <a:endParaRPr lang="pt-BR" sz="2200" u="sng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2200" u="sng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 startAt="2"/>
            </a:pPr>
            <a:r>
              <a:rPr lang="pt-BR" sz="2400" dirty="0"/>
              <a:t>Replicar a pasta </a:t>
            </a:r>
            <a:r>
              <a:rPr lang="pt-BR" sz="2400" dirty="0" err="1"/>
              <a:t>foo</a:t>
            </a:r>
            <a:r>
              <a:rPr lang="pt-BR" sz="2400" dirty="0"/>
              <a:t> e adaptar para a </a:t>
            </a:r>
            <a:r>
              <a:rPr lang="pt-BR" sz="2600" i="1" dirty="0">
                <a:solidFill>
                  <a:schemeClr val="accent4">
                    <a:lumMod val="75000"/>
                  </a:schemeClr>
                </a:solidFill>
              </a:rPr>
              <a:t>função dos triângulos.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4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b="1" dirty="0" err="1"/>
              <a:t>cd</a:t>
            </a:r>
            <a:r>
              <a:rPr lang="pt-BR" sz="2200" b="1" dirty="0"/>
              <a:t> Unity/</a:t>
            </a:r>
            <a:r>
              <a:rPr lang="pt-BR" sz="2200" b="1" dirty="0" err="1"/>
              <a:t>examples</a:t>
            </a:r>
            <a:endParaRPr lang="pt-BR" sz="2200" b="1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b="1" dirty="0" err="1"/>
              <a:t>cp</a:t>
            </a:r>
            <a:r>
              <a:rPr lang="pt-BR" sz="2200" b="1" dirty="0"/>
              <a:t> –</a:t>
            </a:r>
            <a:r>
              <a:rPr lang="pt-BR" sz="2200" b="1" dirty="0" err="1"/>
              <a:t>fr</a:t>
            </a:r>
            <a:r>
              <a:rPr lang="pt-BR" sz="2200" b="1" dirty="0"/>
              <a:t> </a:t>
            </a:r>
            <a:r>
              <a:rPr lang="pt-BR" sz="2200" b="1" dirty="0" err="1"/>
              <a:t>foo</a:t>
            </a:r>
            <a:r>
              <a:rPr lang="pt-BR" sz="2200" b="1" dirty="0"/>
              <a:t> </a:t>
            </a:r>
            <a:r>
              <a:rPr lang="pt-BR" sz="2200" b="1" dirty="0" err="1"/>
              <a:t>triangulos</a:t>
            </a:r>
            <a:endParaRPr lang="pt-BR" sz="2200" b="1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22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 startAt="3"/>
            </a:pPr>
            <a:r>
              <a:rPr lang="pt-BR" sz="2600" dirty="0"/>
              <a:t>Implementar os </a:t>
            </a:r>
            <a:r>
              <a:rPr lang="pt-BR" sz="2600" b="1" dirty="0"/>
              <a:t>testes unitários </a:t>
            </a:r>
            <a:r>
              <a:rPr lang="pt-BR" sz="2600" dirty="0"/>
              <a:t>para a função </a:t>
            </a:r>
            <a:r>
              <a:rPr lang="pt-BR" sz="2600" i="1" dirty="0" err="1">
                <a:solidFill>
                  <a:schemeClr val="accent4">
                    <a:lumMod val="75000"/>
                  </a:schemeClr>
                </a:solidFill>
              </a:rPr>
              <a:t>função</a:t>
            </a:r>
            <a:r>
              <a:rPr lang="pt-BR" sz="2600" i="1" dirty="0">
                <a:solidFill>
                  <a:schemeClr val="accent4">
                    <a:lumMod val="75000"/>
                  </a:schemeClr>
                </a:solidFill>
              </a:rPr>
              <a:t> dos triângulos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400" i="1" dirty="0">
              <a:solidFill>
                <a:schemeClr val="accent4">
                  <a:lumMod val="75000"/>
                </a:schemeClr>
              </a:solidFill>
            </a:endParaRP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200" dirty="0"/>
              <a:t>O arquivo </a:t>
            </a:r>
            <a:r>
              <a:rPr lang="pt-BR" sz="2200" b="1" dirty="0"/>
              <a:t>UnityAssertionsReference.md </a:t>
            </a:r>
            <a:r>
              <a:rPr lang="pt-BR" sz="2200" dirty="0"/>
              <a:t>em </a:t>
            </a:r>
            <a:r>
              <a:rPr lang="pt-BR" sz="2200" b="1" dirty="0"/>
              <a:t>Unity/</a:t>
            </a:r>
            <a:r>
              <a:rPr lang="pt-BR" sz="2200" b="1" dirty="0" err="1"/>
              <a:t>docs</a:t>
            </a:r>
            <a:r>
              <a:rPr lang="pt-BR" sz="2200" b="1" dirty="0"/>
              <a:t> </a:t>
            </a:r>
            <a:r>
              <a:rPr lang="pt-BR" sz="2200" dirty="0"/>
              <a:t>apresenta referências à todas as </a:t>
            </a:r>
            <a:r>
              <a:rPr lang="pt-BR" sz="2200" i="1" dirty="0" err="1"/>
              <a:t>assertions</a:t>
            </a:r>
            <a:r>
              <a:rPr lang="pt-BR" sz="2200" dirty="0"/>
              <a:t> disponíveis.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2200" dirty="0"/>
          </a:p>
        </p:txBody>
      </p:sp>
      <p:sp>
        <p:nvSpPr>
          <p:cNvPr id="6" name="CaixaDeTexto 4">
            <a:extLst>
              <a:ext uri="{FF2B5EF4-FFF2-40B4-BE49-F238E27FC236}">
                <a16:creationId xmlns:a16="http://schemas.microsoft.com/office/drawing/2014/main" id="{26F1A34D-D799-C940-BBF3-D87ECF991C22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ATIVIDADE</a:t>
            </a:r>
            <a:endParaRPr lang="pt-BR" sz="2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92465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4893</TotalTime>
  <Words>2483</Words>
  <Application>Microsoft Office PowerPoint</Application>
  <PresentationFormat>Widescreen</PresentationFormat>
  <Paragraphs>363</Paragraphs>
  <Slides>39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Calibri Light</vt:lpstr>
      <vt:lpstr>CMSS10</vt:lpstr>
      <vt:lpstr>Courier New</vt:lpstr>
      <vt:lpstr>Wingdings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Machado De Souza</dc:creator>
  <cp:lastModifiedBy>Iaçanã Ianiski Weber</cp:lastModifiedBy>
  <cp:revision>793</cp:revision>
  <cp:lastPrinted>2022-08-05T19:54:19Z</cp:lastPrinted>
  <dcterms:created xsi:type="dcterms:W3CDTF">2017-11-07T18:55:33Z</dcterms:created>
  <dcterms:modified xsi:type="dcterms:W3CDTF">2026-03-20T17:53:37Z</dcterms:modified>
</cp:coreProperties>
</file>