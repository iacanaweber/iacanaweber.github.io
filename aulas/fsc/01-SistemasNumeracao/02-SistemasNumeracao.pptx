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51"/>
  </p:notesMasterIdLst>
  <p:handoutMasterIdLst>
    <p:handoutMasterId r:id="rId52"/>
  </p:handoutMasterIdLst>
  <p:sldIdLst>
    <p:sldId id="280" r:id="rId2"/>
    <p:sldId id="604" r:id="rId3"/>
    <p:sldId id="605" r:id="rId4"/>
    <p:sldId id="606" r:id="rId5"/>
    <p:sldId id="582" r:id="rId6"/>
    <p:sldId id="258" r:id="rId7"/>
    <p:sldId id="259" r:id="rId8"/>
    <p:sldId id="260" r:id="rId9"/>
    <p:sldId id="607" r:id="rId10"/>
    <p:sldId id="608" r:id="rId11"/>
    <p:sldId id="609" r:id="rId12"/>
    <p:sldId id="262" r:id="rId13"/>
    <p:sldId id="584" r:id="rId14"/>
    <p:sldId id="266" r:id="rId15"/>
    <p:sldId id="267" r:id="rId16"/>
    <p:sldId id="610" r:id="rId17"/>
    <p:sldId id="611" r:id="rId18"/>
    <p:sldId id="268" r:id="rId19"/>
    <p:sldId id="270" r:id="rId20"/>
    <p:sldId id="585" r:id="rId21"/>
    <p:sldId id="271" r:id="rId22"/>
    <p:sldId id="586" r:id="rId23"/>
    <p:sldId id="612" r:id="rId24"/>
    <p:sldId id="588" r:id="rId25"/>
    <p:sldId id="590" r:id="rId26"/>
    <p:sldId id="591" r:id="rId27"/>
    <p:sldId id="592" r:id="rId28"/>
    <p:sldId id="593" r:id="rId29"/>
    <p:sldId id="596" r:id="rId30"/>
    <p:sldId id="595" r:id="rId31"/>
    <p:sldId id="613" r:id="rId32"/>
    <p:sldId id="628" r:id="rId33"/>
    <p:sldId id="629" r:id="rId34"/>
    <p:sldId id="631" r:id="rId35"/>
    <p:sldId id="632" r:id="rId36"/>
    <p:sldId id="633" r:id="rId37"/>
    <p:sldId id="634" r:id="rId38"/>
    <p:sldId id="635" r:id="rId39"/>
    <p:sldId id="636" r:id="rId40"/>
    <p:sldId id="637" r:id="rId41"/>
    <p:sldId id="638" r:id="rId42"/>
    <p:sldId id="639" r:id="rId43"/>
    <p:sldId id="644" r:id="rId44"/>
    <p:sldId id="640" r:id="rId45"/>
    <p:sldId id="645" r:id="rId46"/>
    <p:sldId id="272" r:id="rId47"/>
    <p:sldId id="642" r:id="rId48"/>
    <p:sldId id="643" r:id="rId49"/>
    <p:sldId id="646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6E4"/>
    <a:srgbClr val="23FF23"/>
    <a:srgbClr val="8969B2"/>
    <a:srgbClr val="660066"/>
    <a:srgbClr val="1EC4D9"/>
    <a:srgbClr val="37C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374" autoAdjust="0"/>
  </p:normalViewPr>
  <p:slideViewPr>
    <p:cSldViewPr snapToGrid="0">
      <p:cViewPr varScale="1">
        <p:scale>
          <a:sx n="75" d="100"/>
          <a:sy n="75" d="100"/>
        </p:scale>
        <p:origin x="735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993"/>
            <a:ext cx="6858000" cy="51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97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04A89-6BFF-C147-B009-33247CD7572F}" type="datetimeFigureOut">
              <a:rPr lang="pt-BR" smtClean="0"/>
              <a:t>05/08/2025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5B5EE-8431-BF41-8272-8266E62486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25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598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945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275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944" y="78798"/>
            <a:ext cx="8961583" cy="61393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299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09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084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656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5198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8066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3870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430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540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9222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78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590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78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75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Default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184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n-BR" sz="197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lnSpc>
                <a:spcPct val="90000"/>
              </a:lnSpc>
              <a:spcBef>
                <a:spcPts val="1417"/>
              </a:spcBef>
              <a:buNone/>
              <a:defRPr/>
            </a:lvl1pPr>
          </a:lstStyle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473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0B198-9831-4208-8259-C0FFE3B2B63E}" type="datetimeFigureOut">
              <a:rPr lang="pt-BR" smtClean="0"/>
              <a:t>05/08/2025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55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84" r:id="rId13"/>
    <p:sldLayoutId id="214748369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code.com" TargetMode="External"/><Relationship Id="rId2" Type="http://schemas.openxmlformats.org/officeDocument/2006/relationships/hyperlink" Target="https://en.wikipedia.org/wiki/ASCII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6"/>
          <p:cNvSpPr txBox="1">
            <a:spLocks/>
          </p:cNvSpPr>
          <p:nvPr/>
        </p:nvSpPr>
        <p:spPr>
          <a:xfrm>
            <a:off x="7053943" y="310244"/>
            <a:ext cx="5138057" cy="1975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b="1" noProof="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pt-BR" sz="2800" b="1" noProof="0" dirty="0">
                <a:solidFill>
                  <a:schemeClr val="accent4">
                    <a:lumMod val="75000"/>
                  </a:schemeClr>
                </a:solidFill>
              </a:rPr>
              <a:t>98800-04</a:t>
            </a:r>
          </a:p>
          <a:p>
            <a:r>
              <a:rPr lang="pt-BR" sz="2800" b="1" noProof="0" dirty="0">
                <a:solidFill>
                  <a:schemeClr val="bg1"/>
                </a:solidFill>
              </a:rPr>
              <a:t>FUNDAMENTOS DE SISTEMAS COMPUTACIONAIS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0267" y="3192565"/>
            <a:ext cx="112098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noProof="0" dirty="0">
                <a:solidFill>
                  <a:schemeClr val="accent4">
                    <a:lumMod val="75000"/>
                  </a:schemeClr>
                </a:solidFill>
              </a:rPr>
              <a:t>Sistemas de Numeração</a:t>
            </a:r>
          </a:p>
          <a:p>
            <a:pPr algn="ctr"/>
            <a:endParaRPr lang="pt-BR" sz="1200" b="1" noProof="0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pt-BR" sz="2400" i="1" noProof="0" dirty="0"/>
              <a:t>Prof. Iaçanã Ianiski Weber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16F8E-1F95-9B9A-FACD-20F1DAC090DD}"/>
              </a:ext>
            </a:extLst>
          </p:cNvPr>
          <p:cNvSpPr txBox="1"/>
          <p:nvPr/>
        </p:nvSpPr>
        <p:spPr>
          <a:xfrm>
            <a:off x="2516458" y="6488668"/>
            <a:ext cx="7159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i="1" noProof="0" dirty="0"/>
              <a:t>Baseado no material gentilmente cedido pelo </a:t>
            </a:r>
            <a:r>
              <a:rPr lang="pt-BR" sz="1800" b="1" i="1" noProof="0" dirty="0"/>
              <a:t>Prof. Dr. Sérgio Johann Filho </a:t>
            </a:r>
          </a:p>
        </p:txBody>
      </p:sp>
    </p:spTree>
    <p:extLst>
      <p:ext uri="{BB962C8B-B14F-4D97-AF65-F5344CB8AC3E}">
        <p14:creationId xmlns:p14="http://schemas.microsoft.com/office/powerpoint/2010/main" val="44449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7E713-6638-3759-DC4F-F708C9C30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4;p15">
            <a:extLst>
              <a:ext uri="{FF2B5EF4-FFF2-40B4-BE49-F238E27FC236}">
                <a16:creationId xmlns:a16="http://schemas.microsoft.com/office/drawing/2014/main" id="{3A459378-2173-15C7-86C2-36F2F40D5CD9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667200" cy="7636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>
                <a:solidFill>
                  <a:schemeClr val="bg1"/>
                </a:solidFill>
              </a:rPr>
              <a:t>Toda a base é Base 10…?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3" name="Google Shape;113;p15">
            <a:extLst>
              <a:ext uri="{FF2B5EF4-FFF2-40B4-BE49-F238E27FC236}">
                <a16:creationId xmlns:a16="http://schemas.microsoft.com/office/drawing/2014/main" id="{2F690684-CC49-DE00-0ED4-53ED137E9F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4885" t="78622" r="41880" b="12584"/>
          <a:stretch/>
        </p:blipFill>
        <p:spPr>
          <a:xfrm>
            <a:off x="5297005" y="5178633"/>
            <a:ext cx="1228100" cy="3994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5;p15">
            <a:extLst>
              <a:ext uri="{FF2B5EF4-FFF2-40B4-BE49-F238E27FC236}">
                <a16:creationId xmlns:a16="http://schemas.microsoft.com/office/drawing/2014/main" id="{BF800FEF-7F81-ADCD-5F52-978CD50254D2}"/>
              </a:ext>
            </a:extLst>
          </p:cNvPr>
          <p:cNvSpPr txBox="1"/>
          <p:nvPr/>
        </p:nvSpPr>
        <p:spPr>
          <a:xfrm>
            <a:off x="680195" y="4557333"/>
            <a:ext cx="2104000" cy="1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2667" b="1" dirty="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Quantas </a:t>
            </a:r>
            <a:r>
              <a:rPr lang="en-GB" sz="2667" b="1" dirty="0" err="1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pedras</a:t>
            </a:r>
            <a:r>
              <a:rPr lang="en-GB" sz="2667" b="1" dirty="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sz="2667" b="1" dirty="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Google Shape;112;p15">
            <a:extLst>
              <a:ext uri="{FF2B5EF4-FFF2-40B4-BE49-F238E27FC236}">
                <a16:creationId xmlns:a16="http://schemas.microsoft.com/office/drawing/2014/main" id="{505FB246-6658-FD11-DC1A-B8BEBD7AFC2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30502" y="1091899"/>
            <a:ext cx="6616269" cy="5145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3527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F57290-9779-9FAD-B5A6-535F784DBF3F}"/>
              </a:ext>
            </a:extLst>
          </p:cNvPr>
          <p:cNvSpPr txBox="1"/>
          <p:nvPr/>
        </p:nvSpPr>
        <p:spPr>
          <a:xfrm>
            <a:off x="250371" y="3013501"/>
            <a:ext cx="5377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800" dirty="0"/>
              <a:t>Binário, Decimal, Hexadecimal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015159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17">
            <a:extLst>
              <a:ext uri="{FF2B5EF4-FFF2-40B4-BE49-F238E27FC236}">
                <a16:creationId xmlns:a16="http://schemas.microsoft.com/office/drawing/2014/main" id="{8261CC61-1C8C-0CA3-56B6-D4D5BE7B1EF3}"/>
              </a:ext>
            </a:extLst>
          </p:cNvPr>
          <p:cNvSpPr txBox="1"/>
          <p:nvPr/>
        </p:nvSpPr>
        <p:spPr>
          <a:xfrm>
            <a:off x="674913" y="979714"/>
            <a:ext cx="10646229" cy="3623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60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Numeral</a:t>
            </a:r>
            <a:endParaRPr sz="3600" b="1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 algn="ctr">
              <a:buClr>
                <a:schemeClr val="lt1"/>
              </a:buClr>
              <a:buSzPts val="1100"/>
            </a:pPr>
            <a:r>
              <a:rPr lang="pt-BR" sz="28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Um símbolo ou nome que representa um número</a:t>
            </a:r>
          </a:p>
          <a:p>
            <a:pPr lvl="0" algn="ctr">
              <a:buClr>
                <a:schemeClr val="lt1"/>
              </a:buClr>
              <a:buSzPts val="1100"/>
            </a:pPr>
            <a:r>
              <a:rPr lang="en-GB" sz="2800" i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GB" sz="2800" i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2800" i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r>
              <a:rPr lang="en-GB" sz="2800" i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" sz="2800" i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4, four, quatro, IV, IIII, …</a:t>
            </a:r>
            <a:endParaRPr sz="2800" i="1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 algn="ctr">
              <a:buClr>
                <a:schemeClr val="lt1"/>
              </a:buClr>
              <a:buSzPts val="1100"/>
            </a:pPr>
            <a:r>
              <a:rPr lang="en" sz="28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r>
              <a:rPr lang="pt-BR" sz="28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pt-BR" sz="280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dígitos</a:t>
            </a:r>
            <a:r>
              <a:rPr lang="pt-BR" sz="28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são símbolos que formam numerais</a:t>
            </a: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 algn="ctr">
              <a:buClr>
                <a:schemeClr val="lt1"/>
              </a:buClr>
              <a:buSzPts val="1100"/>
            </a:pPr>
            <a:r>
              <a:rPr lang="pt-BR" sz="280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Acima da linha de abstração</a:t>
            </a:r>
            <a:endParaRPr sz="2800" b="1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Google Shape;127;p17">
            <a:extLst>
              <a:ext uri="{FF2B5EF4-FFF2-40B4-BE49-F238E27FC236}">
                <a16:creationId xmlns:a16="http://schemas.microsoft.com/office/drawing/2014/main" id="{7D9D6CAB-EAF3-43C5-6453-A4C1EB70DD68}"/>
              </a:ext>
            </a:extLst>
          </p:cNvPr>
          <p:cNvSpPr txBox="1"/>
          <p:nvPr/>
        </p:nvSpPr>
        <p:spPr>
          <a:xfrm>
            <a:off x="674913" y="3876904"/>
            <a:ext cx="10646229" cy="3623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BR" sz="280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Abaixo da linha de abstração</a:t>
            </a:r>
            <a:endParaRPr sz="2800" b="1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 algn="ctr"/>
            <a:r>
              <a:rPr lang="en-GB" sz="3600" b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Número</a:t>
            </a:r>
            <a:endParaRPr sz="3600" b="1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 algn="ctr"/>
            <a:r>
              <a:rPr lang="pt-BR" sz="28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A "ideia" em nossas mentes... existe apenas UMA dessas:</a:t>
            </a: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 algn="ctr"/>
            <a:r>
              <a:rPr lang="en-GB" sz="2800" i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GB" sz="2800" i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conceito</a:t>
            </a:r>
            <a:r>
              <a:rPr lang="en-GB" sz="2800" i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de "4"</a:t>
            </a:r>
            <a:endParaRPr sz="2800" i="1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Google Shape;128;p17">
            <a:extLst>
              <a:ext uri="{FF2B5EF4-FFF2-40B4-BE49-F238E27FC236}">
                <a16:creationId xmlns:a16="http://schemas.microsoft.com/office/drawing/2014/main" id="{2EFB6752-F875-27DE-167A-0786FDF73B56}"/>
              </a:ext>
            </a:extLst>
          </p:cNvPr>
          <p:cNvSpPr/>
          <p:nvPr/>
        </p:nvSpPr>
        <p:spPr>
          <a:xfrm>
            <a:off x="2463900" y="3775270"/>
            <a:ext cx="7264200" cy="18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Abstraction Line</a:t>
            </a:r>
            <a:endParaRPr sz="1200" b="1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Google Shape;125;p17">
            <a:extLst>
              <a:ext uri="{FF2B5EF4-FFF2-40B4-BE49-F238E27FC236}">
                <a16:creationId xmlns:a16="http://schemas.microsoft.com/office/drawing/2014/main" id="{17E48A1B-CD6B-05F8-3CE6-EBD5D0396485}"/>
              </a:ext>
            </a:extLst>
          </p:cNvPr>
          <p:cNvSpPr txBox="1">
            <a:spLocks/>
          </p:cNvSpPr>
          <p:nvPr/>
        </p:nvSpPr>
        <p:spPr>
          <a:xfrm>
            <a:off x="832050" y="101074"/>
            <a:ext cx="11272864" cy="878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</a:pPr>
            <a:r>
              <a:rPr lang="en-GB" sz="3600" b="1" dirty="0" err="1">
                <a:solidFill>
                  <a:schemeClr val="bg1"/>
                </a:solidFill>
              </a:rPr>
              <a:t>Número</a:t>
            </a:r>
            <a:r>
              <a:rPr lang="en-GB" sz="3600" b="1" dirty="0">
                <a:solidFill>
                  <a:schemeClr val="bg1"/>
                </a:solidFill>
              </a:rPr>
              <a:t> vs Numeral</a:t>
            </a:r>
          </a:p>
        </p:txBody>
      </p:sp>
    </p:spTree>
    <p:extLst>
      <p:ext uri="{BB962C8B-B14F-4D97-AF65-F5344CB8AC3E}">
        <p14:creationId xmlns:p14="http://schemas.microsoft.com/office/powerpoint/2010/main" val="168774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Shape 2"/>
          <p:cNvSpPr/>
          <p:nvPr/>
        </p:nvSpPr>
        <p:spPr>
          <a:xfrm>
            <a:off x="241609" y="1094678"/>
            <a:ext cx="11593551" cy="5023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2880" indent="-182160" algn="just"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Um Sistema de Numeração é um conjunto de símbolos utilizados para </a:t>
            </a:r>
            <a:r>
              <a:rPr lang="pt-BR" sz="2800" b="1" spc="-1" noProof="0" dirty="0">
                <a:solidFill>
                  <a:srgbClr val="292934"/>
                </a:solidFill>
                <a:latin typeface="Arial"/>
              </a:rPr>
              <a:t>representação de quantidades </a:t>
            </a: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e </a:t>
            </a:r>
            <a:r>
              <a:rPr lang="pt-BR" sz="2800" b="1" spc="-1" noProof="0" dirty="0">
                <a:solidFill>
                  <a:srgbClr val="292934"/>
                </a:solidFill>
                <a:latin typeface="Arial"/>
              </a:rPr>
              <a:t>as regras que definem a forma de representação</a:t>
            </a: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.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 algn="just"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É determinado fundamentalmente pela Base (número de símbolos utilizados).</a:t>
            </a:r>
          </a:p>
          <a:p>
            <a:pPr marL="275040" lvl="1" algn="just">
              <a:spcBef>
                <a:spcPts val="1200"/>
              </a:spcBef>
              <a:buClr>
                <a:srgbClr val="93A299"/>
              </a:buClr>
              <a:buSzPct val="85000"/>
            </a:pP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marL="182880" indent="-182160" algn="just"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Usualmente, tem-se dois tipos de sistemas: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 algn="just"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Sistemas Posicionais e Não-Posicionais.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CustomShape 1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Sistemas de Numeração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115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/>
          <p:cNvSpPr/>
          <p:nvPr/>
        </p:nvSpPr>
        <p:spPr>
          <a:xfrm>
            <a:off x="1981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Shape 2"/>
          <p:cNvSpPr/>
          <p:nvPr/>
        </p:nvSpPr>
        <p:spPr>
          <a:xfrm>
            <a:off x="260195" y="1018477"/>
            <a:ext cx="11627005" cy="55161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720">
              <a:buClr>
                <a:srgbClr val="93A299"/>
              </a:buClr>
              <a:buSzPct val="85000"/>
            </a:pP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Sistemas Não-Posicionais: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 algn="just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São aqueles em que o valor atribuído a um símbolo não se altera, independentemente da posição em que ele se encontra no conjunto de símbolos que está representando uma quantidade.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Ex.: </a:t>
            </a:r>
            <a:r>
              <a:rPr lang="pt-BR" sz="2400" b="1" i="1" spc="-1" noProof="0" dirty="0">
                <a:solidFill>
                  <a:srgbClr val="292934"/>
                </a:solidFill>
                <a:latin typeface="Arial"/>
              </a:rPr>
              <a:t>sistema romano</a:t>
            </a:r>
            <a:endParaRPr lang="pt-BR" sz="2400" b="1" i="1" spc="-1" noProof="0" dirty="0">
              <a:solidFill>
                <a:srgbClr val="000000"/>
              </a:solidFill>
              <a:latin typeface="Arial"/>
            </a:endParaRPr>
          </a:p>
          <a:p>
            <a:pPr marL="731520" lvl="2" indent="-182160">
              <a:buClr>
                <a:srgbClr val="93A299"/>
              </a:buClr>
              <a:buSzPct val="90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I = 1, V = 5, X = 10, L = 50, C = 100, D = 500, M = 1000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/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X </a:t>
            </a:r>
            <a:r>
              <a:rPr lang="pt-BR" sz="2400" spc="-1" noProof="0" dirty="0" err="1">
                <a:solidFill>
                  <a:srgbClr val="292934"/>
                </a:solidFill>
                <a:latin typeface="Arial"/>
              </a:rPr>
              <a:t>X</a:t>
            </a: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 I - 10 10 1 (10+10+1=21)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/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X I X - 10 1 10 (10+10-1=19)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Picture 278"/>
          <p:cNvPicPr/>
          <p:nvPr/>
        </p:nvPicPr>
        <p:blipFill>
          <a:blip r:embed="rId2"/>
          <a:stretch/>
        </p:blipFill>
        <p:spPr>
          <a:xfrm>
            <a:off x="7701828" y="2680009"/>
            <a:ext cx="4185372" cy="3936380"/>
          </a:xfrm>
          <a:prstGeom prst="rect">
            <a:avLst/>
          </a:prstGeom>
          <a:ln w="0">
            <a:noFill/>
          </a:ln>
        </p:spPr>
      </p:pic>
      <p:sp>
        <p:nvSpPr>
          <p:cNvPr id="280" name="CustomShape 2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Sistemas de Numeração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Shape 1"/>
          <p:cNvSpPr/>
          <p:nvPr/>
        </p:nvSpPr>
        <p:spPr>
          <a:xfrm>
            <a:off x="1981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Shape 2"/>
          <p:cNvSpPr/>
          <p:nvPr/>
        </p:nvSpPr>
        <p:spPr>
          <a:xfrm>
            <a:off x="416311" y="1085385"/>
            <a:ext cx="11128917" cy="5493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720">
              <a:buClr>
                <a:srgbClr val="93A299"/>
              </a:buClr>
              <a:buSzPct val="85000"/>
            </a:pP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Sistemas Posicionais: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 algn="just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São aqueles em que o valor atribuído a um símbolo depende da posição em que ele se encontra no conjunto de símbolos que está representando uma quantidade.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 algn="just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Ex.: </a:t>
            </a:r>
            <a:r>
              <a:rPr lang="pt-BR" sz="2000" b="1" i="1" spc="-1" noProof="0" dirty="0">
                <a:solidFill>
                  <a:srgbClr val="292934"/>
                </a:solidFill>
                <a:latin typeface="Arial"/>
              </a:rPr>
              <a:t>sistema decimal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(símbolos 0, 1, 2, 3, 4, 5, 6, 7, 8, 9)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343 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       unidade  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        dezena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	 centena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					</a:t>
            </a:r>
          </a:p>
          <a:p>
            <a:pPr>
              <a:lnSpc>
                <a:spcPct val="100000"/>
              </a:lnSpc>
            </a:pPr>
            <a:endParaRPr lang="pt-BR" sz="2000" spc="-1" noProof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spc="-1" noProof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					300 + 40 + 3 = 343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Line 3"/>
          <p:cNvSpPr/>
          <p:nvPr/>
        </p:nvSpPr>
        <p:spPr>
          <a:xfrm>
            <a:off x="2499853" y="3403699"/>
            <a:ext cx="1592824" cy="1688690"/>
          </a:xfrm>
          <a:prstGeom prst="line">
            <a:avLst/>
          </a:prstGeom>
          <a:ln w="93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Line 4"/>
          <p:cNvSpPr/>
          <p:nvPr/>
        </p:nvSpPr>
        <p:spPr>
          <a:xfrm>
            <a:off x="2499853" y="3750286"/>
            <a:ext cx="1002889" cy="1342103"/>
          </a:xfrm>
          <a:prstGeom prst="line">
            <a:avLst/>
          </a:prstGeom>
          <a:ln w="93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Line 5"/>
          <p:cNvSpPr/>
          <p:nvPr/>
        </p:nvSpPr>
        <p:spPr>
          <a:xfrm>
            <a:off x="2499853" y="4052627"/>
            <a:ext cx="578627" cy="1039761"/>
          </a:xfrm>
          <a:prstGeom prst="line">
            <a:avLst/>
          </a:prstGeom>
          <a:ln w="93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CustomShape 3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Sistemas de Numeração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Shape 1"/>
          <p:cNvSpPr/>
          <p:nvPr/>
        </p:nvSpPr>
        <p:spPr>
          <a:xfrm>
            <a:off x="1981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Shape 2"/>
          <p:cNvSpPr/>
          <p:nvPr/>
        </p:nvSpPr>
        <p:spPr>
          <a:xfrm>
            <a:off x="215711" y="981727"/>
            <a:ext cx="11612136" cy="55830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lvl="1" indent="-182160"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800" b="1" spc="-1" noProof="0" dirty="0">
                <a:solidFill>
                  <a:srgbClr val="292934"/>
                </a:solidFill>
                <a:latin typeface="Arial"/>
              </a:rPr>
              <a:t>Base</a:t>
            </a: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: conjunto de símbolos possíveis a serem utilizados, representado por “b”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800" b="1" spc="-1" noProof="0" dirty="0">
                <a:solidFill>
                  <a:srgbClr val="292934"/>
                </a:solidFill>
                <a:latin typeface="Arial"/>
              </a:rPr>
              <a:t>Princípio</a:t>
            </a: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: cada posição em um número vale “b” vezes o que vale a posição imediatamente posterior à direita.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Um número "x" qualquer numa base "b" é escrito na forma polinomial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Ou seja: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Picture 288"/>
          <p:cNvPicPr/>
          <p:nvPr/>
        </p:nvPicPr>
        <p:blipFill>
          <a:blip r:embed="rId2"/>
          <a:stretch/>
        </p:blipFill>
        <p:spPr>
          <a:xfrm>
            <a:off x="3276840" y="3657600"/>
            <a:ext cx="3276360" cy="609120"/>
          </a:xfrm>
          <a:prstGeom prst="rect">
            <a:avLst/>
          </a:prstGeom>
          <a:ln w="0">
            <a:noFill/>
          </a:ln>
        </p:spPr>
      </p:pic>
      <p:pic>
        <p:nvPicPr>
          <p:cNvPr id="290" name="Picture 289"/>
          <p:cNvPicPr/>
          <p:nvPr/>
        </p:nvPicPr>
        <p:blipFill>
          <a:blip r:embed="rId3"/>
          <a:stretch/>
        </p:blipFill>
        <p:spPr>
          <a:xfrm>
            <a:off x="3276480" y="4940280"/>
            <a:ext cx="6197400" cy="647280"/>
          </a:xfrm>
          <a:prstGeom prst="rect">
            <a:avLst/>
          </a:prstGeom>
          <a:ln w="0">
            <a:noFill/>
          </a:ln>
        </p:spPr>
      </p:pic>
      <p:pic>
        <p:nvPicPr>
          <p:cNvPr id="291" name="Picture 290"/>
          <p:cNvPicPr/>
          <p:nvPr/>
        </p:nvPicPr>
        <p:blipFill>
          <a:blip r:embed="rId4"/>
          <a:stretch/>
        </p:blipFill>
        <p:spPr>
          <a:xfrm>
            <a:off x="3276840" y="5511960"/>
            <a:ext cx="2181600" cy="1163160"/>
          </a:xfrm>
          <a:prstGeom prst="rect">
            <a:avLst/>
          </a:prstGeom>
          <a:ln w="0">
            <a:noFill/>
          </a:ln>
        </p:spPr>
      </p:pic>
      <p:sp>
        <p:nvSpPr>
          <p:cNvPr id="292" name="CustomShape 4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chemeClr val="bg1"/>
                </a:solidFill>
                <a:latin typeface="Calibri Light"/>
                <a:ea typeface="DejaVu Sans"/>
              </a:rPr>
              <a:t>Sistemas de Numeração</a:t>
            </a:r>
            <a:endParaRPr lang="pt-BR" sz="3600" b="1" spc="-1" noProof="0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3;p18">
            <a:extLst>
              <a:ext uri="{FF2B5EF4-FFF2-40B4-BE49-F238E27FC236}">
                <a16:creationId xmlns:a16="http://schemas.microsoft.com/office/drawing/2014/main" id="{B595281E-C35B-8377-D123-5A6924898A18}"/>
              </a:ext>
            </a:extLst>
          </p:cNvPr>
          <p:cNvSpPr txBox="1">
            <a:spLocks/>
          </p:cNvSpPr>
          <p:nvPr/>
        </p:nvSpPr>
        <p:spPr>
          <a:xfrm>
            <a:off x="832049" y="101074"/>
            <a:ext cx="11174893" cy="7480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</a:pPr>
            <a:r>
              <a:rPr lang="pt-BR" sz="3600" b="1" dirty="0">
                <a:solidFill>
                  <a:schemeClr val="bg1"/>
                </a:solidFill>
              </a:rPr>
              <a:t>Decimal: Base 10 (dez)</a:t>
            </a:r>
          </a:p>
        </p:txBody>
      </p:sp>
      <p:sp>
        <p:nvSpPr>
          <p:cNvPr id="3" name="Google Shape;134;p18">
            <a:extLst>
              <a:ext uri="{FF2B5EF4-FFF2-40B4-BE49-F238E27FC236}">
                <a16:creationId xmlns:a16="http://schemas.microsoft.com/office/drawing/2014/main" id="{B69B757E-FADF-AD5E-A7B0-8330C54F9484}"/>
              </a:ext>
            </a:extLst>
          </p:cNvPr>
          <p:cNvSpPr txBox="1">
            <a:spLocks/>
          </p:cNvSpPr>
          <p:nvPr/>
        </p:nvSpPr>
        <p:spPr>
          <a:xfrm>
            <a:off x="311849" y="995939"/>
            <a:ext cx="10769807" cy="22480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lt1"/>
              </a:buClr>
              <a:buSzPts val="1100"/>
              <a:buFont typeface="Arial"/>
              <a:buNone/>
            </a:pPr>
            <a:r>
              <a:rPr lang="en-GB" sz="3200" dirty="0" err="1"/>
              <a:t>Dígitos</a:t>
            </a:r>
            <a:r>
              <a:rPr lang="en-GB" sz="3200" dirty="0"/>
              <a:t>: 0, 1, 2, 3, 4, 5, 6, 7, 8, 9</a:t>
            </a:r>
          </a:p>
          <a:p>
            <a:pPr marL="0" indent="0">
              <a:spcBef>
                <a:spcPts val="0"/>
              </a:spcBef>
              <a:buClr>
                <a:schemeClr val="lt1"/>
              </a:buClr>
              <a:buSzPts val="1100"/>
              <a:buFont typeface="Arial"/>
              <a:buNone/>
            </a:pPr>
            <a:endParaRPr lang="en-GB" sz="3200" dirty="0"/>
          </a:p>
          <a:p>
            <a:pPr marL="0" indent="0">
              <a:spcBef>
                <a:spcPts val="0"/>
              </a:spcBef>
              <a:buClr>
                <a:schemeClr val="lt1"/>
              </a:buClr>
              <a:buSzPts val="1100"/>
              <a:buFont typeface="Arial"/>
              <a:buNone/>
            </a:pPr>
            <a:r>
              <a:rPr lang="en-GB" sz="3200" dirty="0" err="1"/>
              <a:t>Exemplo</a:t>
            </a:r>
            <a:r>
              <a:rPr lang="en-GB" sz="3200" dirty="0"/>
              <a:t>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b="1" dirty="0">
                <a:solidFill>
                  <a:schemeClr val="dk2"/>
                </a:solidFill>
              </a:rPr>
              <a:t>3271</a:t>
            </a:r>
            <a:r>
              <a:rPr lang="en-GB" sz="3200" dirty="0"/>
              <a:t> = </a:t>
            </a:r>
            <a:r>
              <a:rPr lang="en-GB" sz="3200" b="1" dirty="0">
                <a:solidFill>
                  <a:schemeClr val="dk2"/>
                </a:solidFill>
              </a:rPr>
              <a:t>3271</a:t>
            </a:r>
            <a:r>
              <a:rPr lang="en-GB" sz="3200" baseline="-25000" dirty="0"/>
              <a:t>10</a:t>
            </a:r>
            <a:r>
              <a:rPr lang="en-GB" sz="3200" dirty="0"/>
              <a:t> =  (</a:t>
            </a:r>
            <a:r>
              <a:rPr lang="en-GB" sz="3200" b="1" dirty="0">
                <a:solidFill>
                  <a:schemeClr val="dk2"/>
                </a:solidFill>
              </a:rPr>
              <a:t>3</a:t>
            </a:r>
            <a:r>
              <a:rPr lang="en-GB" sz="3200" dirty="0"/>
              <a:t>x10</a:t>
            </a:r>
            <a:r>
              <a:rPr lang="en-GB" sz="3200" baseline="30000" dirty="0"/>
              <a:t>3</a:t>
            </a:r>
            <a:r>
              <a:rPr lang="en-GB" sz="3200" dirty="0"/>
              <a:t>) + (</a:t>
            </a:r>
            <a:r>
              <a:rPr lang="en-GB" sz="3200" b="1" dirty="0">
                <a:solidFill>
                  <a:schemeClr val="dk2"/>
                </a:solidFill>
              </a:rPr>
              <a:t>2</a:t>
            </a:r>
            <a:r>
              <a:rPr lang="en-GB" sz="3200" dirty="0"/>
              <a:t>x10</a:t>
            </a:r>
            <a:r>
              <a:rPr lang="en-GB" sz="3200" baseline="30000" dirty="0"/>
              <a:t>2</a:t>
            </a:r>
            <a:r>
              <a:rPr lang="en-GB" sz="3200" dirty="0"/>
              <a:t>) + (</a:t>
            </a:r>
            <a:r>
              <a:rPr lang="en-GB" sz="3200" b="1" dirty="0">
                <a:solidFill>
                  <a:schemeClr val="dk2"/>
                </a:solidFill>
              </a:rPr>
              <a:t>7</a:t>
            </a:r>
            <a:r>
              <a:rPr lang="en-GB" sz="3200" dirty="0"/>
              <a:t>x10</a:t>
            </a:r>
            <a:r>
              <a:rPr lang="en-GB" sz="3200" baseline="30000" dirty="0"/>
              <a:t>1</a:t>
            </a:r>
            <a:r>
              <a:rPr lang="en-GB" sz="3200" dirty="0"/>
              <a:t>) + (</a:t>
            </a:r>
            <a:r>
              <a:rPr lang="en-GB" sz="3200" b="1" dirty="0">
                <a:solidFill>
                  <a:schemeClr val="dk2"/>
                </a:solidFill>
              </a:rPr>
              <a:t>1</a:t>
            </a:r>
            <a:r>
              <a:rPr lang="en-GB" sz="3200" dirty="0"/>
              <a:t>x10</a:t>
            </a:r>
            <a:r>
              <a:rPr lang="en-GB" sz="3200" baseline="30000" dirty="0"/>
              <a:t>0</a:t>
            </a:r>
            <a:r>
              <a:rPr lang="en-GB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2005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2353B-7DC2-6DAF-31C0-65F1B4BE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3;p18">
            <a:extLst>
              <a:ext uri="{FF2B5EF4-FFF2-40B4-BE49-F238E27FC236}">
                <a16:creationId xmlns:a16="http://schemas.microsoft.com/office/drawing/2014/main" id="{7420A988-13A6-EAA3-39D5-6155E4CE34BC}"/>
              </a:ext>
            </a:extLst>
          </p:cNvPr>
          <p:cNvSpPr txBox="1">
            <a:spLocks/>
          </p:cNvSpPr>
          <p:nvPr/>
        </p:nvSpPr>
        <p:spPr>
          <a:xfrm>
            <a:off x="832049" y="101074"/>
            <a:ext cx="11174893" cy="878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</a:pPr>
            <a:r>
              <a:rPr lang="pt-BR" sz="3600" b="1" dirty="0">
                <a:solidFill>
                  <a:schemeClr val="bg1"/>
                </a:solidFill>
              </a:rPr>
              <a:t>Binário: Base 2 (dois)</a:t>
            </a:r>
          </a:p>
        </p:txBody>
      </p:sp>
      <p:sp>
        <p:nvSpPr>
          <p:cNvPr id="5" name="Google Shape;140;p19">
            <a:extLst>
              <a:ext uri="{FF2B5EF4-FFF2-40B4-BE49-F238E27FC236}">
                <a16:creationId xmlns:a16="http://schemas.microsoft.com/office/drawing/2014/main" id="{166DEAAF-0E89-DA49-7301-8DAFCAD0A0D4}"/>
              </a:ext>
            </a:extLst>
          </p:cNvPr>
          <p:cNvSpPr txBox="1">
            <a:spLocks/>
          </p:cNvSpPr>
          <p:nvPr/>
        </p:nvSpPr>
        <p:spPr>
          <a:xfrm>
            <a:off x="311700" y="952396"/>
            <a:ext cx="11695242" cy="5132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lt1"/>
              </a:buClr>
              <a:buSzPts val="1100"/>
              <a:buFont typeface="Arial"/>
              <a:buNone/>
            </a:pPr>
            <a:r>
              <a:rPr lang="en-GB" sz="3200" dirty="0" err="1"/>
              <a:t>Dígitos</a:t>
            </a:r>
            <a:r>
              <a:rPr lang="en-GB" sz="3200" dirty="0"/>
              <a:t>: 0, 1 (</a:t>
            </a:r>
            <a:r>
              <a:rPr lang="en-GB" sz="3200" b="1" i="1" u="sng" dirty="0">
                <a:solidFill>
                  <a:srgbClr val="FF0000"/>
                </a:solidFill>
              </a:rPr>
              <a:t>bi</a:t>
            </a:r>
            <a:r>
              <a:rPr lang="en-GB" sz="3200" i="1" dirty="0"/>
              <a:t>nary digi</a:t>
            </a:r>
            <a:r>
              <a:rPr lang="en-GB" sz="3200" b="1" i="1" u="sng" dirty="0">
                <a:solidFill>
                  <a:srgbClr val="FF0000"/>
                </a:solidFill>
              </a:rPr>
              <a:t>ts</a:t>
            </a:r>
            <a:r>
              <a:rPr lang="en-GB" sz="3200" dirty="0"/>
              <a:t> -&gt; </a:t>
            </a:r>
            <a:r>
              <a:rPr lang="en-GB" sz="3200" b="1" dirty="0">
                <a:solidFill>
                  <a:srgbClr val="FF0000"/>
                </a:solidFill>
              </a:rPr>
              <a:t>bits</a:t>
            </a:r>
            <a:r>
              <a:rPr lang="en-GB" sz="3200" dirty="0"/>
              <a:t>)</a:t>
            </a:r>
            <a:br>
              <a:rPr lang="en-GB" sz="3200" dirty="0"/>
            </a:br>
            <a:endParaRPr lang="en-GB" sz="3200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dirty="0" err="1"/>
              <a:t>Exemplo</a:t>
            </a:r>
            <a:r>
              <a:rPr lang="en-GB" sz="3200" dirty="0"/>
              <a:t>: </a:t>
            </a:r>
            <a:r>
              <a:rPr lang="en-GB" sz="3200" dirty="0" err="1"/>
              <a:t>Número</a:t>
            </a:r>
            <a:r>
              <a:rPr lang="en-GB" sz="3200" dirty="0"/>
              <a:t> </a:t>
            </a:r>
            <a:r>
              <a:rPr lang="en-GB" sz="3200" dirty="0" err="1"/>
              <a:t>Binário</a:t>
            </a:r>
            <a:r>
              <a:rPr lang="en-GB" sz="3200" dirty="0"/>
              <a:t> “</a:t>
            </a:r>
            <a:r>
              <a:rPr lang="en-GB" sz="3200" b="1" dirty="0">
                <a:solidFill>
                  <a:schemeClr val="dk2"/>
                </a:solidFill>
              </a:rPr>
              <a:t>1101</a:t>
            </a:r>
            <a:r>
              <a:rPr lang="en-GB" sz="3200" dirty="0"/>
              <a:t>”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200" dirty="0"/>
          </a:p>
          <a:p>
            <a:pPr marL="0" indent="0">
              <a:spcBef>
                <a:spcPts val="0"/>
              </a:spcBef>
              <a:buClr>
                <a:schemeClr val="lt1"/>
              </a:buClr>
              <a:buSzPts val="1100"/>
              <a:buFont typeface="Arial"/>
              <a:buNone/>
            </a:pPr>
            <a:r>
              <a:rPr lang="en-GB" sz="3200" dirty="0"/>
              <a:t>Converter para decimal: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b="1" u="sng" dirty="0">
                <a:solidFill>
                  <a:schemeClr val="dk2"/>
                </a:solidFill>
              </a:rPr>
              <a:t>0b</a:t>
            </a:r>
            <a:r>
              <a:rPr lang="en-GB" sz="3200" b="1" dirty="0">
                <a:solidFill>
                  <a:schemeClr val="dk2"/>
                </a:solidFill>
              </a:rPr>
              <a:t>1101</a:t>
            </a:r>
            <a:r>
              <a:rPr lang="en-GB" sz="3200" dirty="0"/>
              <a:t>	= </a:t>
            </a:r>
            <a:r>
              <a:rPr lang="en-GB" sz="3200" b="1" dirty="0">
                <a:solidFill>
                  <a:schemeClr val="dk2"/>
                </a:solidFill>
              </a:rPr>
              <a:t>1101</a:t>
            </a:r>
            <a:r>
              <a:rPr lang="en-GB" sz="3200" baseline="-25000" dirty="0"/>
              <a:t>2</a:t>
            </a:r>
            <a:r>
              <a:rPr lang="en-GB" sz="3200" dirty="0"/>
              <a:t>	= (</a:t>
            </a:r>
            <a:r>
              <a:rPr lang="en-GB" sz="3200" b="1" dirty="0">
                <a:solidFill>
                  <a:schemeClr val="dk2"/>
                </a:solidFill>
              </a:rPr>
              <a:t>1</a:t>
            </a:r>
            <a:r>
              <a:rPr lang="en-GB" sz="3200" dirty="0"/>
              <a:t>x2</a:t>
            </a:r>
            <a:r>
              <a:rPr lang="en-GB" sz="3200" baseline="30000" dirty="0"/>
              <a:t>3</a:t>
            </a:r>
            <a:r>
              <a:rPr lang="en-GB" sz="3200" dirty="0"/>
              <a:t>) + (</a:t>
            </a:r>
            <a:r>
              <a:rPr lang="en-GB" sz="3200" b="1" dirty="0">
                <a:solidFill>
                  <a:schemeClr val="dk2"/>
                </a:solidFill>
              </a:rPr>
              <a:t>1</a:t>
            </a:r>
            <a:r>
              <a:rPr lang="en-GB" sz="3200" dirty="0"/>
              <a:t>x2</a:t>
            </a:r>
            <a:r>
              <a:rPr lang="en-GB" sz="3200" baseline="30000" dirty="0"/>
              <a:t>2</a:t>
            </a:r>
            <a:r>
              <a:rPr lang="en-GB" sz="3200" dirty="0"/>
              <a:t>) + (</a:t>
            </a:r>
            <a:r>
              <a:rPr lang="en-GB" sz="3200" b="1" dirty="0">
                <a:solidFill>
                  <a:schemeClr val="dk2"/>
                </a:solidFill>
              </a:rPr>
              <a:t>0</a:t>
            </a:r>
            <a:r>
              <a:rPr lang="en-GB" sz="3200" dirty="0"/>
              <a:t>x2</a:t>
            </a:r>
            <a:r>
              <a:rPr lang="en-GB" sz="3200" baseline="30000" dirty="0"/>
              <a:t>1</a:t>
            </a:r>
            <a:r>
              <a:rPr lang="en-GB" sz="3200" dirty="0"/>
              <a:t>) + (</a:t>
            </a:r>
            <a:r>
              <a:rPr lang="en-GB" sz="3200" b="1" dirty="0">
                <a:solidFill>
                  <a:schemeClr val="dk2"/>
                </a:solidFill>
              </a:rPr>
              <a:t>1</a:t>
            </a:r>
            <a:r>
              <a:rPr lang="en-GB" sz="3200" dirty="0"/>
              <a:t>x2</a:t>
            </a:r>
            <a:r>
              <a:rPr lang="en-GB" sz="3200" baseline="30000" dirty="0"/>
              <a:t>0</a:t>
            </a:r>
            <a:r>
              <a:rPr lang="en-GB" sz="3200" dirty="0"/>
              <a:t>)</a:t>
            </a:r>
          </a:p>
          <a:p>
            <a:pPr marL="2286000" indent="4572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dirty="0"/>
              <a:t>          =  8   </a:t>
            </a:r>
            <a:r>
              <a:rPr lang="en-GB" sz="3200" baseline="-25000" dirty="0"/>
              <a:t> </a:t>
            </a:r>
            <a:r>
              <a:rPr lang="en-GB" sz="3200" dirty="0"/>
              <a:t> </a:t>
            </a:r>
            <a:r>
              <a:rPr lang="en-GB" sz="3200" baseline="-25000" dirty="0"/>
              <a:t> </a:t>
            </a:r>
            <a:r>
              <a:rPr lang="en-GB" sz="3200" dirty="0"/>
              <a:t> </a:t>
            </a:r>
            <a:r>
              <a:rPr lang="en-GB" sz="3200" baseline="-25000" dirty="0"/>
              <a:t>   </a:t>
            </a:r>
            <a:r>
              <a:rPr lang="en-GB" sz="3200" dirty="0"/>
              <a:t>+  4      </a:t>
            </a:r>
            <a:r>
              <a:rPr lang="en-GB" sz="3200" baseline="-25000" dirty="0"/>
              <a:t>   </a:t>
            </a:r>
            <a:r>
              <a:rPr lang="en-GB" sz="3200" dirty="0"/>
              <a:t>+  0     </a:t>
            </a:r>
            <a:r>
              <a:rPr lang="en-GB" sz="3200" baseline="30000" dirty="0"/>
              <a:t> </a:t>
            </a:r>
            <a:r>
              <a:rPr lang="en-GB" sz="3200" dirty="0"/>
              <a:t> </a:t>
            </a:r>
            <a:r>
              <a:rPr lang="en-GB" sz="3200" baseline="-25000" dirty="0"/>
              <a:t>   </a:t>
            </a:r>
            <a:r>
              <a:rPr lang="en-GB" sz="3200" dirty="0"/>
              <a:t>+  1</a:t>
            </a:r>
          </a:p>
          <a:p>
            <a:pPr marL="2286000" indent="4572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dirty="0"/>
              <a:t>          =  13</a:t>
            </a:r>
          </a:p>
        </p:txBody>
      </p:sp>
    </p:spTree>
    <p:extLst>
      <p:ext uri="{BB962C8B-B14F-4D97-AF65-F5344CB8AC3E}">
        <p14:creationId xmlns:p14="http://schemas.microsoft.com/office/powerpoint/2010/main" val="3199311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5A2C6-D69D-DCF2-7626-3E9B22A8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3;p18">
            <a:extLst>
              <a:ext uri="{FF2B5EF4-FFF2-40B4-BE49-F238E27FC236}">
                <a16:creationId xmlns:a16="http://schemas.microsoft.com/office/drawing/2014/main" id="{B9F97C75-4967-4C1F-2578-A9A9F0D07131}"/>
              </a:ext>
            </a:extLst>
          </p:cNvPr>
          <p:cNvSpPr txBox="1">
            <a:spLocks/>
          </p:cNvSpPr>
          <p:nvPr/>
        </p:nvSpPr>
        <p:spPr>
          <a:xfrm>
            <a:off x="832049" y="101074"/>
            <a:ext cx="11174893" cy="878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</a:pPr>
            <a:r>
              <a:rPr lang="pt-BR" sz="3600" b="1" dirty="0">
                <a:solidFill>
                  <a:schemeClr val="bg1"/>
                </a:solidFill>
              </a:rPr>
              <a:t>Hexadecimal: Base 16 (dezesseis)</a:t>
            </a:r>
          </a:p>
        </p:txBody>
      </p:sp>
      <p:sp>
        <p:nvSpPr>
          <p:cNvPr id="6" name="Google Shape;146;p20">
            <a:extLst>
              <a:ext uri="{FF2B5EF4-FFF2-40B4-BE49-F238E27FC236}">
                <a16:creationId xmlns:a16="http://schemas.microsoft.com/office/drawing/2014/main" id="{10068141-1C04-74BA-A788-22DFA5E72DD1}"/>
              </a:ext>
            </a:extLst>
          </p:cNvPr>
          <p:cNvSpPr txBox="1">
            <a:spLocks/>
          </p:cNvSpPr>
          <p:nvPr/>
        </p:nvSpPr>
        <p:spPr>
          <a:xfrm>
            <a:off x="311699" y="930624"/>
            <a:ext cx="11880301" cy="5826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dirty="0" err="1"/>
              <a:t>Dígitos</a:t>
            </a:r>
            <a:r>
              <a:rPr lang="en-GB" sz="3200" dirty="0"/>
              <a:t>: 0, 1, 2, 3, 4, 5, 6, 7, 8, 9, A, B, C, D, E, F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/>
              <a:t>                                                                              </a:t>
            </a:r>
            <a:r>
              <a:rPr lang="en-GB" sz="2000" dirty="0"/>
              <a:t>10, </a:t>
            </a:r>
            <a:r>
              <a:rPr lang="en-GB" sz="2000" baseline="-25000" dirty="0"/>
              <a:t> </a:t>
            </a:r>
            <a:r>
              <a:rPr lang="en-GB" sz="2000" dirty="0"/>
              <a:t>11, </a:t>
            </a:r>
            <a:r>
              <a:rPr lang="en-GB" sz="2000" baseline="-25000" dirty="0"/>
              <a:t> </a:t>
            </a:r>
            <a:r>
              <a:rPr lang="en-GB" sz="2000" dirty="0"/>
              <a:t>12,  13, 14,</a:t>
            </a:r>
            <a:r>
              <a:rPr lang="en-GB" sz="2000" baseline="-25000" dirty="0"/>
              <a:t>  </a:t>
            </a:r>
            <a:r>
              <a:rPr lang="en-GB" sz="2000" dirty="0"/>
              <a:t>15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200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dirty="0" err="1"/>
              <a:t>Exemplo</a:t>
            </a:r>
            <a:r>
              <a:rPr lang="en-GB" sz="3200" dirty="0"/>
              <a:t>: </a:t>
            </a:r>
            <a:r>
              <a:rPr lang="en-GB" sz="3200" dirty="0" err="1"/>
              <a:t>Número</a:t>
            </a:r>
            <a:r>
              <a:rPr lang="en-GB" sz="3200" dirty="0"/>
              <a:t> hexadecimal “</a:t>
            </a:r>
            <a:r>
              <a:rPr lang="en-GB" sz="3200" b="1" dirty="0">
                <a:solidFill>
                  <a:schemeClr val="dk2"/>
                </a:solidFill>
              </a:rPr>
              <a:t>A5</a:t>
            </a:r>
            <a:r>
              <a:rPr lang="en-GB" sz="3200" dirty="0"/>
              <a:t>”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200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dirty="0"/>
              <a:t>Converter para decimal:</a:t>
            </a:r>
            <a:endParaRPr lang="en-GB" sz="3200" b="1" dirty="0">
              <a:solidFill>
                <a:schemeClr val="dk2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b="1" u="sng" dirty="0">
                <a:solidFill>
                  <a:schemeClr val="dk2"/>
                </a:solidFill>
              </a:rPr>
              <a:t>0x</a:t>
            </a:r>
            <a:r>
              <a:rPr lang="en-GB" sz="3200" b="1" dirty="0">
                <a:solidFill>
                  <a:schemeClr val="dk2"/>
                </a:solidFill>
              </a:rPr>
              <a:t>A5 		</a:t>
            </a:r>
            <a:r>
              <a:rPr lang="en-GB" sz="3200" dirty="0"/>
              <a:t>=</a:t>
            </a:r>
            <a:r>
              <a:rPr lang="en-GB" sz="3200" b="1" dirty="0">
                <a:solidFill>
                  <a:schemeClr val="dk2"/>
                </a:solidFill>
              </a:rPr>
              <a:t> A5</a:t>
            </a:r>
            <a:r>
              <a:rPr lang="en-GB" sz="3200" baseline="-25000" dirty="0"/>
              <a:t>16</a:t>
            </a:r>
            <a:r>
              <a:rPr lang="en-GB" sz="3200" dirty="0"/>
              <a:t> 	= (</a:t>
            </a:r>
            <a:r>
              <a:rPr lang="en-GB" sz="3200" b="1" dirty="0">
                <a:solidFill>
                  <a:schemeClr val="dk2"/>
                </a:solidFill>
              </a:rPr>
              <a:t>10</a:t>
            </a:r>
            <a:r>
              <a:rPr lang="en-GB" sz="3200" dirty="0"/>
              <a:t>x16</a:t>
            </a:r>
            <a:r>
              <a:rPr lang="en-GB" sz="3200" baseline="30000" dirty="0"/>
              <a:t>1</a:t>
            </a:r>
            <a:r>
              <a:rPr lang="en-GB" sz="3200" dirty="0"/>
              <a:t>) + (</a:t>
            </a:r>
            <a:r>
              <a:rPr lang="en-GB" sz="3200" b="1" dirty="0">
                <a:solidFill>
                  <a:schemeClr val="dk2"/>
                </a:solidFill>
              </a:rPr>
              <a:t>5</a:t>
            </a:r>
            <a:r>
              <a:rPr lang="en-GB" sz="3200" dirty="0"/>
              <a:t>x16</a:t>
            </a:r>
            <a:r>
              <a:rPr lang="en-GB" sz="3200" baseline="30000" dirty="0"/>
              <a:t>0</a:t>
            </a:r>
            <a:r>
              <a:rPr lang="en-GB" sz="3200" dirty="0"/>
              <a:t>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dirty="0"/>
              <a:t>        </a:t>
            </a:r>
            <a:r>
              <a:rPr lang="en-GB" sz="3200" baseline="-25000" dirty="0"/>
              <a:t>                     </a:t>
            </a:r>
            <a:r>
              <a:rPr lang="en-GB" sz="3200" dirty="0"/>
              <a:t> 	                    =  160   </a:t>
            </a:r>
            <a:r>
              <a:rPr lang="en-GB" sz="3200" baseline="-25000" dirty="0"/>
              <a:t> </a:t>
            </a:r>
            <a:r>
              <a:rPr lang="en-GB" sz="3200" dirty="0"/>
              <a:t> </a:t>
            </a:r>
            <a:r>
              <a:rPr lang="en-GB" sz="3200" baseline="-25000" dirty="0"/>
              <a:t> </a:t>
            </a:r>
            <a:r>
              <a:rPr lang="en-GB" sz="3200" dirty="0"/>
              <a:t> </a:t>
            </a:r>
            <a:r>
              <a:rPr lang="en-GB" sz="3200" baseline="-25000" dirty="0"/>
              <a:t> </a:t>
            </a:r>
            <a:r>
              <a:rPr lang="en-GB" sz="3200" dirty="0"/>
              <a:t>+  5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3200" dirty="0"/>
              <a:t>        </a:t>
            </a:r>
            <a:r>
              <a:rPr lang="en-GB" sz="3200" baseline="-25000" dirty="0"/>
              <a:t>                     </a:t>
            </a:r>
            <a:r>
              <a:rPr lang="en-GB" sz="3200" dirty="0"/>
              <a:t> 	                    =  165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200" dirty="0"/>
          </a:p>
          <a:p>
            <a:pPr marL="0" indent="0">
              <a:spcBef>
                <a:spcPts val="0"/>
              </a:spcBef>
              <a:buNone/>
            </a:pPr>
            <a:r>
              <a:rPr lang="pt-BR" sz="3200" spc="-1" noProof="0" dirty="0">
                <a:solidFill>
                  <a:srgbClr val="292934"/>
                </a:solidFill>
              </a:rPr>
              <a:t>Um número binário com </a:t>
            </a:r>
            <a:r>
              <a:rPr lang="pt-BR" sz="3200" i="1" spc="-1" noProof="0" dirty="0">
                <a:solidFill>
                  <a:srgbClr val="292934"/>
                </a:solidFill>
              </a:rPr>
              <a:t>n</a:t>
            </a:r>
            <a:r>
              <a:rPr lang="pt-BR" sz="3200" spc="-1" noProof="0" dirty="0">
                <a:solidFill>
                  <a:srgbClr val="292934"/>
                </a:solidFill>
              </a:rPr>
              <a:t>-bits pode acomodar </a:t>
            </a:r>
            <a:r>
              <a:rPr lang="pt-BR" sz="3200" b="1" i="1" spc="-1" noProof="0" dirty="0">
                <a:solidFill>
                  <a:srgbClr val="292934"/>
                </a:solidFill>
              </a:rPr>
              <a:t>2</a:t>
            </a:r>
            <a:r>
              <a:rPr lang="pt-BR" sz="3200" b="1" i="1" spc="-1" baseline="30000" noProof="0" dirty="0">
                <a:solidFill>
                  <a:srgbClr val="292934"/>
                </a:solidFill>
              </a:rPr>
              <a:t>n</a:t>
            </a:r>
            <a:r>
              <a:rPr lang="pt-BR" sz="3200" b="1" i="1" spc="-1" noProof="0" dirty="0">
                <a:solidFill>
                  <a:srgbClr val="292934"/>
                </a:solidFill>
              </a:rPr>
              <a:t> valores</a:t>
            </a:r>
            <a:r>
              <a:rPr lang="pt-BR" sz="3200" spc="-1" noProof="0" dirty="0">
                <a:solidFill>
                  <a:srgbClr val="292934"/>
                </a:solidFill>
              </a:rPr>
              <a:t>.</a:t>
            </a:r>
            <a:endParaRPr lang="pt-BR" sz="3200" spc="-1" noProof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786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Shape 1"/>
          <p:cNvSpPr/>
          <p:nvPr/>
        </p:nvSpPr>
        <p:spPr>
          <a:xfrm>
            <a:off x="1981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Shape 2"/>
          <p:cNvSpPr/>
          <p:nvPr/>
        </p:nvSpPr>
        <p:spPr>
          <a:xfrm>
            <a:off x="282498" y="1085385"/>
            <a:ext cx="11515492" cy="54046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2880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800" b="1" spc="-1" dirty="0">
                <a:solidFill>
                  <a:srgbClr val="292934"/>
                </a:solidFill>
                <a:latin typeface="Arial"/>
              </a:rPr>
              <a:t>Exemplos de representação polinomial</a:t>
            </a:r>
            <a:r>
              <a:rPr lang="pt-BR" sz="2800" spc="-1" dirty="0">
                <a:solidFill>
                  <a:srgbClr val="292934"/>
                </a:solidFill>
                <a:latin typeface="Arial"/>
              </a:rPr>
              <a:t>:</a:t>
            </a:r>
            <a:endParaRPr lang="pt-BR" sz="2800" spc="-1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Sistema Decimal: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(343)</a:t>
            </a:r>
            <a:r>
              <a:rPr lang="pt-BR" sz="2000" spc="-1" baseline="-25000" noProof="0" dirty="0">
                <a:solidFill>
                  <a:srgbClr val="292934"/>
                </a:solidFill>
                <a:latin typeface="Arial"/>
              </a:rPr>
              <a:t>10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marL="731520" lvl="2" indent="-182160">
              <a:spcBef>
                <a:spcPts val="6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valor =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Sistema Binário: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(1011)</a:t>
            </a:r>
            <a:r>
              <a:rPr lang="pt-BR" sz="2000" spc="-1" baseline="-25000" noProof="0" dirty="0">
                <a:solidFill>
                  <a:srgbClr val="292934"/>
                </a:solidFill>
                <a:latin typeface="Arial"/>
              </a:rPr>
              <a:t>2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marL="731520" lvl="2" indent="-182160">
              <a:spcBef>
                <a:spcPts val="6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valor =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Sistema Octal: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(127)</a:t>
            </a:r>
            <a:r>
              <a:rPr lang="pt-BR" sz="2000" spc="-1" baseline="-25000" noProof="0" dirty="0">
                <a:solidFill>
                  <a:srgbClr val="292934"/>
                </a:solidFill>
                <a:latin typeface="Arial"/>
              </a:rPr>
              <a:t>8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marL="731520" lvl="2" indent="-182160">
              <a:spcBef>
                <a:spcPts val="6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valor =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Sistema Hexadecimal: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(3F)</a:t>
            </a:r>
            <a:r>
              <a:rPr lang="pt-BR" sz="2000" spc="-1" baseline="-25000" noProof="0" dirty="0">
                <a:solidFill>
                  <a:srgbClr val="292934"/>
                </a:solidFill>
                <a:latin typeface="Arial"/>
              </a:rPr>
              <a:t>16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marL="731520" lvl="2" indent="-182160">
              <a:spcBef>
                <a:spcPts val="6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valor =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6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Sistemas de Numeração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Shape 1"/>
          <p:cNvSpPr/>
          <p:nvPr/>
        </p:nvSpPr>
        <p:spPr>
          <a:xfrm>
            <a:off x="1981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Shape 2"/>
          <p:cNvSpPr/>
          <p:nvPr/>
        </p:nvSpPr>
        <p:spPr>
          <a:xfrm>
            <a:off x="282498" y="1085385"/>
            <a:ext cx="11515492" cy="54046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2880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800" b="1" spc="-1" noProof="0" dirty="0">
                <a:solidFill>
                  <a:srgbClr val="292934"/>
                </a:solidFill>
                <a:latin typeface="Arial"/>
              </a:rPr>
              <a:t>Exemplos de representação polinomial</a:t>
            </a: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: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Sistema Decimal: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(343)</a:t>
            </a:r>
            <a:r>
              <a:rPr lang="pt-BR" sz="2000" spc="-1" baseline="-25000" noProof="0" dirty="0">
                <a:solidFill>
                  <a:srgbClr val="292934"/>
                </a:solidFill>
                <a:latin typeface="Arial"/>
              </a:rPr>
              <a:t>10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marL="731520" lvl="2" indent="-182160">
              <a:spcBef>
                <a:spcPts val="6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valor = 3.10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2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+ 4.10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1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+ 3.10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0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= 300 + 40 + 3 = 343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Sistema Binário: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(1011)</a:t>
            </a:r>
            <a:r>
              <a:rPr lang="pt-BR" sz="2000" spc="-1" baseline="-25000" noProof="0" dirty="0">
                <a:solidFill>
                  <a:srgbClr val="292934"/>
                </a:solidFill>
                <a:latin typeface="Arial"/>
              </a:rPr>
              <a:t>2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marL="731520" lvl="2" indent="-182160">
              <a:spcBef>
                <a:spcPts val="6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valor = 1.2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3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+ 0.2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2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+ 1.2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1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+ 1. 2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0 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= 8 + 2 + 1 = 11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Sistema Octal: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(127)</a:t>
            </a:r>
            <a:r>
              <a:rPr lang="pt-BR" sz="2000" spc="-1" baseline="-25000" noProof="0" dirty="0">
                <a:solidFill>
                  <a:srgbClr val="292934"/>
                </a:solidFill>
                <a:latin typeface="Arial"/>
              </a:rPr>
              <a:t>8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marL="731520" lvl="2" indent="-182160">
              <a:spcBef>
                <a:spcPts val="6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valor = 1.8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2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+ 2.8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1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+ 7.8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0 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= 64 + 16 + 7 = 87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400" spc="-1" noProof="0" dirty="0">
                <a:solidFill>
                  <a:srgbClr val="292934"/>
                </a:solidFill>
                <a:latin typeface="Arial"/>
              </a:rPr>
              <a:t>Sistema Hexadecimal:</a:t>
            </a:r>
            <a:endParaRPr lang="pt-BR" sz="24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spcBef>
                <a:spcPts val="6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(3F)</a:t>
            </a:r>
            <a:r>
              <a:rPr lang="pt-BR" sz="2000" spc="-1" baseline="-25000" noProof="0" dirty="0">
                <a:solidFill>
                  <a:srgbClr val="292934"/>
                </a:solidFill>
                <a:latin typeface="Arial"/>
              </a:rPr>
              <a:t>16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  <a:p>
            <a:pPr marL="731520" lvl="2" indent="-182160">
              <a:spcBef>
                <a:spcPts val="6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valor = 3.16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1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+ F.16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0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= 3.16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1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 + 15.16</a:t>
            </a:r>
            <a:r>
              <a:rPr lang="pt-BR" sz="2000" spc="-1" baseline="30000" noProof="0" dirty="0">
                <a:solidFill>
                  <a:srgbClr val="292934"/>
                </a:solidFill>
                <a:latin typeface="Arial"/>
              </a:rPr>
              <a:t>0 </a:t>
            </a:r>
            <a:r>
              <a:rPr lang="pt-BR" sz="2000" spc="-1" noProof="0" dirty="0">
                <a:solidFill>
                  <a:srgbClr val="292934"/>
                </a:solidFill>
                <a:latin typeface="Arial"/>
              </a:rPr>
              <a:t>= 48 + 15 = 63</a:t>
            </a:r>
            <a:endParaRPr lang="pt-BR" sz="2000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6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Sistemas de Numeração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5511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Shape 2"/>
          <p:cNvSpPr/>
          <p:nvPr/>
        </p:nvSpPr>
        <p:spPr>
          <a:xfrm>
            <a:off x="304800" y="1120387"/>
            <a:ext cx="11582400" cy="5398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720"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Colocar o número na forma polinomial e resolver o polinômio</a:t>
            </a:r>
          </a:p>
          <a:p>
            <a:pPr marL="720"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000000"/>
                </a:solidFill>
                <a:latin typeface="Arial"/>
              </a:rPr>
              <a:t>Exemplo: </a:t>
            </a: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110001</a:t>
            </a:r>
            <a:r>
              <a:rPr lang="pt-BR" sz="3200" spc="-1" baseline="-25000" noProof="0" dirty="0">
                <a:solidFill>
                  <a:srgbClr val="292934"/>
                </a:solidFill>
                <a:latin typeface="Arial"/>
              </a:rPr>
              <a:t>2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CustomShape 10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Conversão BIN → DEC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43508-4439-C90D-7BBC-52922A71F4C8}"/>
              </a:ext>
            </a:extLst>
          </p:cNvPr>
          <p:cNvSpPr txBox="1"/>
          <p:nvPr/>
        </p:nvSpPr>
        <p:spPr>
          <a:xfrm>
            <a:off x="2119661" y="3081673"/>
            <a:ext cx="79526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200" spc="-1" noProof="0" dirty="0">
                <a:solidFill>
                  <a:srgbClr val="FF0000"/>
                </a:solidFill>
                <a:latin typeface="Arial"/>
              </a:rPr>
              <a:t>= 1.2</a:t>
            </a:r>
            <a:r>
              <a:rPr lang="pt-BR" sz="3200" spc="-1" baseline="30000" noProof="0" dirty="0">
                <a:solidFill>
                  <a:srgbClr val="FF0000"/>
                </a:solidFill>
                <a:latin typeface="Arial"/>
              </a:rPr>
              <a:t>5</a:t>
            </a:r>
            <a:r>
              <a:rPr lang="pt-BR" sz="3200" spc="-1" noProof="0" dirty="0">
                <a:solidFill>
                  <a:srgbClr val="FF0000"/>
                </a:solidFill>
                <a:latin typeface="Arial"/>
              </a:rPr>
              <a:t>+1.2</a:t>
            </a:r>
            <a:r>
              <a:rPr lang="pt-BR" sz="3200" spc="-1" baseline="30000" noProof="0" dirty="0">
                <a:solidFill>
                  <a:srgbClr val="FF0000"/>
                </a:solidFill>
                <a:latin typeface="Arial"/>
              </a:rPr>
              <a:t>4</a:t>
            </a:r>
            <a:r>
              <a:rPr lang="pt-BR" sz="3200" spc="-1" noProof="0" dirty="0">
                <a:solidFill>
                  <a:srgbClr val="FF0000"/>
                </a:solidFill>
                <a:latin typeface="Arial"/>
              </a:rPr>
              <a:t>+0.2</a:t>
            </a:r>
            <a:r>
              <a:rPr lang="pt-BR" sz="3200" spc="-1" baseline="30000" noProof="0" dirty="0">
                <a:solidFill>
                  <a:srgbClr val="FF0000"/>
                </a:solidFill>
                <a:latin typeface="Arial"/>
              </a:rPr>
              <a:t>3</a:t>
            </a:r>
            <a:r>
              <a:rPr lang="pt-BR" sz="3200" spc="-1" noProof="0" dirty="0">
                <a:solidFill>
                  <a:srgbClr val="FF0000"/>
                </a:solidFill>
                <a:latin typeface="Arial"/>
              </a:rPr>
              <a:t>+0.2</a:t>
            </a:r>
            <a:r>
              <a:rPr lang="pt-BR" sz="3200" spc="-1" baseline="30000" noProof="0" dirty="0">
                <a:solidFill>
                  <a:srgbClr val="FF0000"/>
                </a:solidFill>
                <a:latin typeface="Arial"/>
              </a:rPr>
              <a:t>2</a:t>
            </a:r>
            <a:r>
              <a:rPr lang="pt-BR" sz="3200" spc="-1" noProof="0" dirty="0">
                <a:solidFill>
                  <a:srgbClr val="FF0000"/>
                </a:solidFill>
                <a:latin typeface="Arial"/>
              </a:rPr>
              <a:t>+0.2</a:t>
            </a:r>
            <a:r>
              <a:rPr lang="pt-BR" sz="3200" spc="-1" baseline="30000" noProof="0" dirty="0">
                <a:solidFill>
                  <a:srgbClr val="FF0000"/>
                </a:solidFill>
                <a:latin typeface="Arial"/>
              </a:rPr>
              <a:t>1</a:t>
            </a:r>
            <a:r>
              <a:rPr lang="pt-BR" sz="3200" spc="-1" noProof="0" dirty="0">
                <a:solidFill>
                  <a:srgbClr val="FF0000"/>
                </a:solidFill>
                <a:latin typeface="Arial"/>
              </a:rPr>
              <a:t>+1.2</a:t>
            </a:r>
            <a:r>
              <a:rPr lang="pt-BR" sz="3200" spc="-1" baseline="30000" noProof="0" dirty="0">
                <a:solidFill>
                  <a:srgbClr val="FF0000"/>
                </a:solidFill>
                <a:latin typeface="Arial"/>
              </a:rPr>
              <a:t>0</a:t>
            </a:r>
            <a:endParaRPr lang="pt-BR" sz="3200" spc="-1" noProof="0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3200" spc="-1" noProof="0" dirty="0">
                <a:solidFill>
                  <a:srgbClr val="FF0000"/>
                </a:solidFill>
                <a:latin typeface="Arial"/>
              </a:rPr>
              <a:t>= (49)</a:t>
            </a:r>
            <a:r>
              <a:rPr lang="pt-BR" sz="3200" spc="-1" baseline="-25000" noProof="0" dirty="0">
                <a:solidFill>
                  <a:srgbClr val="FF0000"/>
                </a:solidFill>
                <a:latin typeface="Arial"/>
              </a:rPr>
              <a:t>10</a:t>
            </a:r>
            <a:endParaRPr lang="pt-BR" sz="3200" spc="-1" noProof="0" dirty="0">
              <a:solidFill>
                <a:srgbClr val="FF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Shape 2"/>
          <p:cNvSpPr/>
          <p:nvPr/>
        </p:nvSpPr>
        <p:spPr>
          <a:xfrm>
            <a:off x="141249" y="1017181"/>
            <a:ext cx="11909502" cy="2528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Através de divisões sucessivas do número a ser transformado por 2 até obter o quociente zero. Após, toma-se os restos na ordem inversa a que foram obtidos.</a:t>
            </a:r>
            <a:endParaRPr lang="pt-BR" sz="3200" spc="-1" dirty="0">
              <a:solidFill>
                <a:srgbClr val="000000"/>
              </a:solidFill>
              <a:latin typeface="Arial"/>
            </a:endParaRPr>
          </a:p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000000"/>
                </a:solidFill>
                <a:latin typeface="Arial"/>
              </a:rPr>
              <a:t>Exemplo: </a:t>
            </a: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197</a:t>
            </a:r>
            <a:r>
              <a:rPr lang="pt-BR" sz="3200" spc="-1" baseline="-25000" noProof="0" dirty="0">
                <a:solidFill>
                  <a:srgbClr val="292934"/>
                </a:solidFill>
                <a:latin typeface="Arial"/>
              </a:rPr>
              <a:t>10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8" name="Group 12"/>
          <p:cNvGrpSpPr/>
          <p:nvPr/>
        </p:nvGrpSpPr>
        <p:grpSpPr>
          <a:xfrm>
            <a:off x="5019037" y="3058560"/>
            <a:ext cx="354167" cy="563220"/>
            <a:chOff x="2855700" y="3776760"/>
            <a:chExt cx="354167" cy="563220"/>
          </a:xfrm>
        </p:grpSpPr>
        <p:sp>
          <p:nvSpPr>
            <p:cNvPr id="309" name="Elbow Connector 1"/>
            <p:cNvSpPr/>
            <p:nvPr/>
          </p:nvSpPr>
          <p:spPr>
            <a:xfrm rot="16200000" flipH="1">
              <a:off x="2772360" y="3911400"/>
              <a:ext cx="511920" cy="345240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10" name="TextBox 1"/>
            <p:cNvSpPr/>
            <p:nvPr/>
          </p:nvSpPr>
          <p:spPr>
            <a:xfrm>
              <a:off x="2901600" y="3776760"/>
              <a:ext cx="308267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pc="-1" noProof="0" dirty="0">
                  <a:solidFill>
                    <a:srgbClr val="FF0000"/>
                  </a:solidFill>
                  <a:latin typeface="Consolas" panose="020B0609020204030204" pitchFamily="49" charset="0"/>
                  <a:ea typeface="DejaVu Sans"/>
                </a:rPr>
                <a:t>2</a:t>
              </a:r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11" name="Group 15"/>
          <p:cNvGrpSpPr/>
          <p:nvPr/>
        </p:nvGrpSpPr>
        <p:grpSpPr>
          <a:xfrm>
            <a:off x="5364637" y="3331800"/>
            <a:ext cx="354167" cy="563220"/>
            <a:chOff x="3201300" y="4050000"/>
            <a:chExt cx="354167" cy="563220"/>
          </a:xfrm>
        </p:grpSpPr>
        <p:sp>
          <p:nvSpPr>
            <p:cNvPr id="312" name="Elbow Connector 16"/>
            <p:cNvSpPr/>
            <p:nvPr/>
          </p:nvSpPr>
          <p:spPr>
            <a:xfrm rot="16200000" flipH="1">
              <a:off x="3117960" y="4184640"/>
              <a:ext cx="511920" cy="345240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13" name="TextBox 17"/>
            <p:cNvSpPr/>
            <p:nvPr/>
          </p:nvSpPr>
          <p:spPr>
            <a:xfrm>
              <a:off x="3247200" y="4050000"/>
              <a:ext cx="308267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pc="-1" noProof="0" dirty="0">
                  <a:solidFill>
                    <a:srgbClr val="FF0000"/>
                  </a:solidFill>
                  <a:latin typeface="Consolas" panose="020B0609020204030204" pitchFamily="49" charset="0"/>
                  <a:ea typeface="DejaVu Sans"/>
                </a:rPr>
                <a:t>2</a:t>
              </a:r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14" name="Group 18"/>
          <p:cNvGrpSpPr/>
          <p:nvPr/>
        </p:nvGrpSpPr>
        <p:grpSpPr>
          <a:xfrm>
            <a:off x="5710237" y="3605040"/>
            <a:ext cx="354527" cy="563220"/>
            <a:chOff x="3546900" y="4323240"/>
            <a:chExt cx="354527" cy="563220"/>
          </a:xfrm>
        </p:grpSpPr>
        <p:sp>
          <p:nvSpPr>
            <p:cNvPr id="315" name="Elbow Connector 19"/>
            <p:cNvSpPr/>
            <p:nvPr/>
          </p:nvSpPr>
          <p:spPr>
            <a:xfrm rot="16200000" flipH="1">
              <a:off x="3463560" y="4457880"/>
              <a:ext cx="511920" cy="345240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16" name="TextBox 20"/>
            <p:cNvSpPr/>
            <p:nvPr/>
          </p:nvSpPr>
          <p:spPr>
            <a:xfrm>
              <a:off x="3593160" y="4323240"/>
              <a:ext cx="308267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pc="-1" noProof="0" dirty="0">
                  <a:solidFill>
                    <a:srgbClr val="FF0000"/>
                  </a:solidFill>
                  <a:latin typeface="Consolas" panose="020B0609020204030204" pitchFamily="49" charset="0"/>
                  <a:ea typeface="DejaVu Sans"/>
                </a:rPr>
                <a:t>2</a:t>
              </a:r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17" name="Group 21"/>
          <p:cNvGrpSpPr/>
          <p:nvPr/>
        </p:nvGrpSpPr>
        <p:grpSpPr>
          <a:xfrm>
            <a:off x="6055837" y="3903840"/>
            <a:ext cx="354527" cy="563220"/>
            <a:chOff x="3892500" y="4622040"/>
            <a:chExt cx="354527" cy="563220"/>
          </a:xfrm>
        </p:grpSpPr>
        <p:sp>
          <p:nvSpPr>
            <p:cNvPr id="318" name="Elbow Connector 22"/>
            <p:cNvSpPr/>
            <p:nvPr/>
          </p:nvSpPr>
          <p:spPr>
            <a:xfrm rot="16200000" flipH="1">
              <a:off x="3809160" y="4756680"/>
              <a:ext cx="511920" cy="345240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19" name="TextBox 23"/>
            <p:cNvSpPr/>
            <p:nvPr/>
          </p:nvSpPr>
          <p:spPr>
            <a:xfrm>
              <a:off x="3938760" y="4622040"/>
              <a:ext cx="308267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pc="-1" noProof="0" dirty="0">
                  <a:solidFill>
                    <a:srgbClr val="FF0000"/>
                  </a:solidFill>
                  <a:latin typeface="Consolas" panose="020B0609020204030204" pitchFamily="49" charset="0"/>
                  <a:ea typeface="DejaVu Sans"/>
                </a:rPr>
                <a:t>2</a:t>
              </a:r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20" name="Group 24"/>
          <p:cNvGrpSpPr/>
          <p:nvPr/>
        </p:nvGrpSpPr>
        <p:grpSpPr>
          <a:xfrm>
            <a:off x="6401437" y="4168800"/>
            <a:ext cx="354527" cy="563220"/>
            <a:chOff x="4238100" y="4887000"/>
            <a:chExt cx="354527" cy="563220"/>
          </a:xfrm>
        </p:grpSpPr>
        <p:sp>
          <p:nvSpPr>
            <p:cNvPr id="321" name="Elbow Connector 25"/>
            <p:cNvSpPr/>
            <p:nvPr/>
          </p:nvSpPr>
          <p:spPr>
            <a:xfrm rot="16200000" flipH="1">
              <a:off x="4154760" y="5021640"/>
              <a:ext cx="511920" cy="345240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22" name="TextBox 26"/>
            <p:cNvSpPr/>
            <p:nvPr/>
          </p:nvSpPr>
          <p:spPr>
            <a:xfrm>
              <a:off x="4284360" y="4887000"/>
              <a:ext cx="308267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pc="-1" noProof="0" dirty="0">
                  <a:solidFill>
                    <a:srgbClr val="FF0000"/>
                  </a:solidFill>
                  <a:latin typeface="Consolas" panose="020B0609020204030204" pitchFamily="49" charset="0"/>
                  <a:ea typeface="DejaVu Sans"/>
                </a:rPr>
                <a:t>2</a:t>
              </a:r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23" name="TextBox 29"/>
          <p:cNvSpPr/>
          <p:nvPr/>
        </p:nvSpPr>
        <p:spPr>
          <a:xfrm>
            <a:off x="7484497" y="492408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2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324" name="Group 30"/>
          <p:cNvGrpSpPr/>
          <p:nvPr/>
        </p:nvGrpSpPr>
        <p:grpSpPr>
          <a:xfrm>
            <a:off x="6747037" y="4433760"/>
            <a:ext cx="354527" cy="563220"/>
            <a:chOff x="4583700" y="5151960"/>
            <a:chExt cx="354527" cy="563220"/>
          </a:xfrm>
        </p:grpSpPr>
        <p:sp>
          <p:nvSpPr>
            <p:cNvPr id="325" name="Elbow Connector 31"/>
            <p:cNvSpPr/>
            <p:nvPr/>
          </p:nvSpPr>
          <p:spPr>
            <a:xfrm rot="16200000" flipH="1">
              <a:off x="4500360" y="5286600"/>
              <a:ext cx="511920" cy="345240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26" name="TextBox 32"/>
            <p:cNvSpPr/>
            <p:nvPr/>
          </p:nvSpPr>
          <p:spPr>
            <a:xfrm>
              <a:off x="4629960" y="5151960"/>
              <a:ext cx="308267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pc="-1" noProof="0" dirty="0">
                  <a:solidFill>
                    <a:srgbClr val="FF0000"/>
                  </a:solidFill>
                  <a:latin typeface="Consolas" panose="020B0609020204030204" pitchFamily="49" charset="0"/>
                  <a:ea typeface="DejaVu Sans"/>
                </a:rPr>
                <a:t>2</a:t>
              </a:r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27" name="Group 33"/>
          <p:cNvGrpSpPr/>
          <p:nvPr/>
        </p:nvGrpSpPr>
        <p:grpSpPr>
          <a:xfrm>
            <a:off x="7092637" y="4696200"/>
            <a:ext cx="354527" cy="563220"/>
            <a:chOff x="4929300" y="5414400"/>
            <a:chExt cx="354527" cy="563220"/>
          </a:xfrm>
        </p:grpSpPr>
        <p:sp>
          <p:nvSpPr>
            <p:cNvPr id="328" name="Elbow Connector 34"/>
            <p:cNvSpPr/>
            <p:nvPr/>
          </p:nvSpPr>
          <p:spPr>
            <a:xfrm rot="16200000" flipH="1">
              <a:off x="4845960" y="5549040"/>
              <a:ext cx="511920" cy="345240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29" name="TextBox 35"/>
            <p:cNvSpPr/>
            <p:nvPr/>
          </p:nvSpPr>
          <p:spPr>
            <a:xfrm>
              <a:off x="4975560" y="5414400"/>
              <a:ext cx="308267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pc="-1" noProof="0" dirty="0">
                  <a:solidFill>
                    <a:srgbClr val="FF0000"/>
                  </a:solidFill>
                  <a:latin typeface="Consolas" panose="020B0609020204030204" pitchFamily="49" charset="0"/>
                  <a:ea typeface="DejaVu Sans"/>
                </a:rPr>
                <a:t>2</a:t>
              </a:r>
              <a:endParaRPr lang="pt-BR" spc="-1" noProof="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30" name="Straight Connector 14"/>
          <p:cNvSpPr/>
          <p:nvPr/>
        </p:nvSpPr>
        <p:spPr>
          <a:xfrm>
            <a:off x="7443817" y="5259600"/>
            <a:ext cx="345600" cy="36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31" name="TextBox 39"/>
          <p:cNvSpPr/>
          <p:nvPr/>
        </p:nvSpPr>
        <p:spPr>
          <a:xfrm>
            <a:off x="4970257" y="3334320"/>
            <a:ext cx="434776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98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32" name="TextBox 40"/>
          <p:cNvSpPr/>
          <p:nvPr/>
        </p:nvSpPr>
        <p:spPr>
          <a:xfrm>
            <a:off x="4492177" y="3058560"/>
            <a:ext cx="56128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197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33" name="TextBox 41"/>
          <p:cNvSpPr/>
          <p:nvPr/>
        </p:nvSpPr>
        <p:spPr>
          <a:xfrm>
            <a:off x="5678377" y="3904200"/>
            <a:ext cx="434776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24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34" name="TextBox 42"/>
          <p:cNvSpPr/>
          <p:nvPr/>
        </p:nvSpPr>
        <p:spPr>
          <a:xfrm>
            <a:off x="5329897" y="3627360"/>
            <a:ext cx="434776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49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35" name="TextBox 43"/>
          <p:cNvSpPr/>
          <p:nvPr/>
        </p:nvSpPr>
        <p:spPr>
          <a:xfrm>
            <a:off x="6433297" y="445068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6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36" name="TextBox 44"/>
          <p:cNvSpPr/>
          <p:nvPr/>
        </p:nvSpPr>
        <p:spPr>
          <a:xfrm>
            <a:off x="6023977" y="4177440"/>
            <a:ext cx="434776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12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37" name="TextBox 45"/>
          <p:cNvSpPr/>
          <p:nvPr/>
        </p:nvSpPr>
        <p:spPr>
          <a:xfrm>
            <a:off x="6779257" y="470520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3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38" name="TextBox 46"/>
          <p:cNvSpPr/>
          <p:nvPr/>
        </p:nvSpPr>
        <p:spPr>
          <a:xfrm>
            <a:off x="7488457" y="522648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0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39" name="TextBox 47"/>
          <p:cNvSpPr/>
          <p:nvPr/>
        </p:nvSpPr>
        <p:spPr>
          <a:xfrm>
            <a:off x="7134577" y="495828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1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0" name="TextBox 48"/>
          <p:cNvSpPr/>
          <p:nvPr/>
        </p:nvSpPr>
        <p:spPr>
          <a:xfrm>
            <a:off x="6441937" y="467712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0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1" name="TextBox 49"/>
          <p:cNvSpPr/>
          <p:nvPr/>
        </p:nvSpPr>
        <p:spPr>
          <a:xfrm>
            <a:off x="6080497" y="445068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0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2" name="TextBox 50"/>
          <p:cNvSpPr/>
          <p:nvPr/>
        </p:nvSpPr>
        <p:spPr>
          <a:xfrm>
            <a:off x="5729137" y="416880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0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3" name="TextBox 51"/>
          <p:cNvSpPr/>
          <p:nvPr/>
        </p:nvSpPr>
        <p:spPr>
          <a:xfrm>
            <a:off x="4994737" y="362844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0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4" name="TextBox 52"/>
          <p:cNvSpPr/>
          <p:nvPr/>
        </p:nvSpPr>
        <p:spPr>
          <a:xfrm>
            <a:off x="7134577" y="520416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1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5" name="TextBox 53"/>
          <p:cNvSpPr/>
          <p:nvPr/>
        </p:nvSpPr>
        <p:spPr>
          <a:xfrm>
            <a:off x="5409097" y="389556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1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6" name="TextBox 54"/>
          <p:cNvSpPr/>
          <p:nvPr/>
        </p:nvSpPr>
        <p:spPr>
          <a:xfrm>
            <a:off x="6788977" y="494568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1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7" name="TextBox 55"/>
          <p:cNvSpPr/>
          <p:nvPr/>
        </p:nvSpPr>
        <p:spPr>
          <a:xfrm>
            <a:off x="4598377" y="3334320"/>
            <a:ext cx="30826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pc="-1" noProof="0" dirty="0">
                <a:solidFill>
                  <a:srgbClr val="FF0000"/>
                </a:solidFill>
                <a:latin typeface="Consolas" panose="020B0609020204030204" pitchFamily="49" charset="0"/>
                <a:ea typeface="DejaVu Sans"/>
              </a:rPr>
              <a:t>1</a:t>
            </a:r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8" name="Straight Arrow Connector 38"/>
          <p:cNvSpPr/>
          <p:nvPr/>
        </p:nvSpPr>
        <p:spPr>
          <a:xfrm flipH="1" flipV="1">
            <a:off x="4498297" y="3545640"/>
            <a:ext cx="2778840" cy="2027520"/>
          </a:xfrm>
          <a:prstGeom prst="straightConnector1">
            <a:avLst/>
          </a:prstGeom>
          <a:noFill/>
          <a:ln w="25560">
            <a:solidFill>
              <a:srgbClr val="4A7EBB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49" name="CustomShape 11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chemeClr val="bg1"/>
                </a:solidFill>
                <a:latin typeface="Calibri Light"/>
                <a:ea typeface="DejaVu Sans"/>
              </a:rPr>
              <a:t>Conversão DEC → BIN</a:t>
            </a:r>
            <a:endParaRPr lang="pt-BR" sz="3600" b="1" spc="-1" noProof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C108B-149D-6CA3-8357-C5671CD8D6E6}"/>
              </a:ext>
            </a:extLst>
          </p:cNvPr>
          <p:cNvSpPr txBox="1"/>
          <p:nvPr/>
        </p:nvSpPr>
        <p:spPr>
          <a:xfrm>
            <a:off x="3935638" y="5855152"/>
            <a:ext cx="6188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spc="-1" noProof="0" dirty="0">
                <a:solidFill>
                  <a:srgbClr val="FF0000"/>
                </a:solidFill>
                <a:latin typeface="Consolas" panose="020B0609020204030204" pitchFamily="49" charset="0"/>
              </a:rPr>
              <a:t>= (11000101)</a:t>
            </a:r>
            <a:r>
              <a:rPr lang="pt-BR" sz="3200" spc="-1" baseline="-25000" noProof="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endParaRPr lang="pt-BR" sz="3200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" grpId="0"/>
      <p:bldP spid="330" grpId="0" animBg="1"/>
      <p:bldP spid="331" grpId="0"/>
      <p:bldP spid="332" grpId="0"/>
      <p:bldP spid="333" grpId="0"/>
      <p:bldP spid="334" grpId="0"/>
      <p:bldP spid="335" grpId="0"/>
      <p:bldP spid="336" grpId="0"/>
      <p:bldP spid="337" grpId="0"/>
      <p:bldP spid="338" grpId="0"/>
      <p:bldP spid="339" grpId="0"/>
      <p:bldP spid="340" grpId="0"/>
      <p:bldP spid="341" grpId="0"/>
      <p:bldP spid="342" grpId="0"/>
      <p:bldP spid="343" grpId="0"/>
      <p:bldP spid="344" grpId="0"/>
      <p:bldP spid="345" grpId="0"/>
      <p:bldP spid="346" grpId="0"/>
      <p:bldP spid="347" grpId="0"/>
      <p:bldP spid="348" grpId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5;p23">
            <a:extLst>
              <a:ext uri="{FF2B5EF4-FFF2-40B4-BE49-F238E27FC236}">
                <a16:creationId xmlns:a16="http://schemas.microsoft.com/office/drawing/2014/main" id="{FDEE3D5C-E42E-79A7-79D6-79AA166C9F88}"/>
              </a:ext>
            </a:extLst>
          </p:cNvPr>
          <p:cNvSpPr txBox="1">
            <a:spLocks/>
          </p:cNvSpPr>
          <p:nvPr/>
        </p:nvSpPr>
        <p:spPr>
          <a:xfrm>
            <a:off x="832049" y="101074"/>
            <a:ext cx="11174893" cy="818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</a:pPr>
            <a:r>
              <a:rPr lang="en-GB" b="1" dirty="0">
                <a:solidFill>
                  <a:schemeClr val="bg1"/>
                </a:solidFill>
              </a:rPr>
              <a:t>Nibbles e Bytes</a:t>
            </a:r>
          </a:p>
        </p:txBody>
      </p:sp>
      <p:sp>
        <p:nvSpPr>
          <p:cNvPr id="3" name="Google Shape;206;p23">
            <a:extLst>
              <a:ext uri="{FF2B5EF4-FFF2-40B4-BE49-F238E27FC236}">
                <a16:creationId xmlns:a16="http://schemas.microsoft.com/office/drawing/2014/main" id="{C24E727B-0B97-33A0-61E9-314A805FCEEC}"/>
              </a:ext>
            </a:extLst>
          </p:cNvPr>
          <p:cNvSpPr/>
          <p:nvPr/>
        </p:nvSpPr>
        <p:spPr>
          <a:xfrm>
            <a:off x="7897850" y="6165813"/>
            <a:ext cx="2615100" cy="353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Memorize essa tabela</a:t>
            </a:r>
            <a:r>
              <a:rPr lang="en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sz="1800" dirty="0">
              <a:solidFill>
                <a:schemeClr val="bg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4" name="Google Shape;207;p23">
            <a:extLst>
              <a:ext uri="{FF2B5EF4-FFF2-40B4-BE49-F238E27FC236}">
                <a16:creationId xmlns:a16="http://schemas.microsoft.com/office/drawing/2014/main" id="{9302D5E1-8A65-1141-2024-B73D0AC130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5722748"/>
              </p:ext>
            </p:extLst>
          </p:nvPr>
        </p:nvGraphicFramePr>
        <p:xfrm>
          <a:off x="8545286" y="1246472"/>
          <a:ext cx="3073756" cy="46634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47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Dec</a:t>
                      </a:r>
                      <a:endParaRPr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Hex</a:t>
                      </a:r>
                      <a:endParaRPr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Bin</a:t>
                      </a:r>
                      <a:endParaRPr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</a:t>
                      </a:r>
                      <a:endParaRPr dirty="0"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02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03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0011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04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05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06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07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0111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08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09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B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1011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D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E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F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1111</a:t>
                      </a:r>
                      <a:endParaRPr dirty="0"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Google Shape;208;p23">
            <a:extLst>
              <a:ext uri="{FF2B5EF4-FFF2-40B4-BE49-F238E27FC236}">
                <a16:creationId xmlns:a16="http://schemas.microsoft.com/office/drawing/2014/main" id="{7B75B153-1FDA-A52A-F048-4632FE7F438C}"/>
              </a:ext>
            </a:extLst>
          </p:cNvPr>
          <p:cNvSpPr txBox="1">
            <a:spLocks/>
          </p:cNvSpPr>
          <p:nvPr/>
        </p:nvSpPr>
        <p:spPr>
          <a:xfrm>
            <a:off x="289928" y="919899"/>
            <a:ext cx="5664557" cy="2705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55600">
              <a:spcBef>
                <a:spcPts val="0"/>
              </a:spcBef>
              <a:buSzPts val="2000"/>
              <a:buFont typeface="Arial" panose="020B0604020202020204" pitchFamily="34" charset="0"/>
              <a:buChar char="●"/>
            </a:pPr>
            <a:r>
              <a:rPr lang="en-GB" sz="3600" dirty="0"/>
              <a:t>4 Bits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en-GB" sz="3200" dirty="0"/>
              <a:t>1 “</a:t>
            </a:r>
            <a:r>
              <a:rPr lang="en-GB" sz="3200" b="1" dirty="0"/>
              <a:t>Nibble</a:t>
            </a:r>
            <a:r>
              <a:rPr lang="en-GB" sz="3200" dirty="0"/>
              <a:t>”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en-GB" sz="3200" dirty="0"/>
              <a:t>1 Hex Digit = 16 </a:t>
            </a:r>
            <a:r>
              <a:rPr lang="en-GB" sz="3200" dirty="0" err="1"/>
              <a:t>coisas</a:t>
            </a:r>
            <a:endParaRPr lang="en-GB" sz="3200" dirty="0"/>
          </a:p>
          <a:p>
            <a:pPr marL="457200" indent="-355600">
              <a:spcBef>
                <a:spcPts val="0"/>
              </a:spcBef>
              <a:buSzPts val="2000"/>
              <a:buFont typeface="Arial" panose="020B0604020202020204" pitchFamily="34" charset="0"/>
              <a:buChar char="●"/>
            </a:pPr>
            <a:r>
              <a:rPr lang="en-GB" sz="3600" dirty="0"/>
              <a:t>8 Bits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en-GB" sz="3200" dirty="0"/>
              <a:t>1 “</a:t>
            </a:r>
            <a:r>
              <a:rPr lang="en-GB" sz="3200" b="1" dirty="0">
                <a:solidFill>
                  <a:schemeClr val="dk2"/>
                </a:solidFill>
              </a:rPr>
              <a:t>Byte</a:t>
            </a:r>
            <a:r>
              <a:rPr lang="en-GB" sz="3200" dirty="0"/>
              <a:t>”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en-GB" sz="3200" dirty="0"/>
              <a:t>2 Hex Digits = 256 </a:t>
            </a:r>
            <a:r>
              <a:rPr lang="en-GB" sz="3200" dirty="0" err="1"/>
              <a:t>coisas</a:t>
            </a:r>
            <a:endParaRPr lang="en-GB" sz="3200" dirty="0"/>
          </a:p>
          <a:p>
            <a:pPr marL="0" indent="0">
              <a:spcBef>
                <a:spcPts val="0"/>
              </a:spcBef>
              <a:buClr>
                <a:schemeClr val="lt1"/>
              </a:buClr>
              <a:buSzPts val="1100"/>
              <a:buFont typeface="Arial"/>
              <a:buNone/>
            </a:pPr>
            <a:endParaRPr lang="en-GB" sz="3600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200828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2ED82-63FE-598C-D896-628E11D83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5;p23">
            <a:extLst>
              <a:ext uri="{FF2B5EF4-FFF2-40B4-BE49-F238E27FC236}">
                <a16:creationId xmlns:a16="http://schemas.microsoft.com/office/drawing/2014/main" id="{02CCE1BC-4A47-89C2-3E58-138C8E2F2614}"/>
              </a:ext>
            </a:extLst>
          </p:cNvPr>
          <p:cNvSpPr txBox="1">
            <a:spLocks/>
          </p:cNvSpPr>
          <p:nvPr/>
        </p:nvSpPr>
        <p:spPr>
          <a:xfrm>
            <a:off x="832049" y="101074"/>
            <a:ext cx="11174893" cy="818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</a:pPr>
            <a:r>
              <a:rPr lang="en-GB" b="1" dirty="0">
                <a:solidFill>
                  <a:schemeClr val="bg1"/>
                </a:solidFill>
              </a:rPr>
              <a:t>Converter </a:t>
            </a:r>
            <a:r>
              <a:rPr lang="en-GB" b="1" dirty="0" err="1">
                <a:solidFill>
                  <a:schemeClr val="bg1"/>
                </a:solidFill>
              </a:rPr>
              <a:t>Binário</a:t>
            </a:r>
            <a:r>
              <a:rPr lang="en-GB" b="1" dirty="0">
                <a:solidFill>
                  <a:schemeClr val="bg1"/>
                </a:solidFill>
              </a:rPr>
              <a:t> &lt;-&gt; Hexadecimal</a:t>
            </a:r>
          </a:p>
        </p:txBody>
      </p:sp>
      <p:sp>
        <p:nvSpPr>
          <p:cNvPr id="3" name="Google Shape;206;p23">
            <a:extLst>
              <a:ext uri="{FF2B5EF4-FFF2-40B4-BE49-F238E27FC236}">
                <a16:creationId xmlns:a16="http://schemas.microsoft.com/office/drawing/2014/main" id="{B673437C-E308-0206-1B94-697720847C79}"/>
              </a:ext>
            </a:extLst>
          </p:cNvPr>
          <p:cNvSpPr/>
          <p:nvPr/>
        </p:nvSpPr>
        <p:spPr>
          <a:xfrm>
            <a:off x="7897850" y="6165813"/>
            <a:ext cx="2615100" cy="353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Memorize essa tabela</a:t>
            </a:r>
            <a:r>
              <a:rPr lang="en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sz="1800" dirty="0">
              <a:solidFill>
                <a:schemeClr val="bg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4" name="Google Shape;207;p23">
            <a:extLst>
              <a:ext uri="{FF2B5EF4-FFF2-40B4-BE49-F238E27FC236}">
                <a16:creationId xmlns:a16="http://schemas.microsoft.com/office/drawing/2014/main" id="{C5DCF8B9-5F83-909D-08EC-61CD894F6BE4}"/>
              </a:ext>
            </a:extLst>
          </p:cNvPr>
          <p:cNvGraphicFramePr/>
          <p:nvPr/>
        </p:nvGraphicFramePr>
        <p:xfrm>
          <a:off x="8545286" y="1246472"/>
          <a:ext cx="3073756" cy="46634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47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Dec</a:t>
                      </a:r>
                      <a:endParaRPr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Hex</a:t>
                      </a:r>
                      <a:endParaRPr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Bin</a:t>
                      </a:r>
                      <a:endParaRPr>
                        <a:solidFill>
                          <a:schemeClr val="dk2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</a:t>
                      </a:r>
                      <a:endParaRPr dirty="0"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02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03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0011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04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05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06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07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0111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08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09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B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1011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1100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D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1101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E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1110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F</a:t>
                      </a:r>
                      <a:endParaRPr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Source Code Pro Medium"/>
                          <a:ea typeface="Source Code Pro Medium"/>
                          <a:cs typeface="Source Code Pro Medium"/>
                          <a:sym typeface="Source Code Pro Medium"/>
                        </a:rPr>
                        <a:t>1111</a:t>
                      </a:r>
                      <a:endParaRPr dirty="0">
                        <a:solidFill>
                          <a:schemeClr val="dk1"/>
                        </a:solidFill>
                        <a:latin typeface="Source Code Pro Medium"/>
                        <a:ea typeface="Source Code Pro Medium"/>
                        <a:cs typeface="Source Code Pro Medium"/>
                        <a:sym typeface="Source Code Pro Medium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Google Shape;214;p24">
            <a:extLst>
              <a:ext uri="{FF2B5EF4-FFF2-40B4-BE49-F238E27FC236}">
                <a16:creationId xmlns:a16="http://schemas.microsoft.com/office/drawing/2014/main" id="{9F5CB525-B3E1-2326-7657-04FAD66E2889}"/>
              </a:ext>
            </a:extLst>
          </p:cNvPr>
          <p:cNvSpPr txBox="1">
            <a:spLocks/>
          </p:cNvSpPr>
          <p:nvPr/>
        </p:nvSpPr>
        <p:spPr>
          <a:xfrm>
            <a:off x="300813" y="1212631"/>
            <a:ext cx="7134129" cy="5306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55600">
              <a:spcBef>
                <a:spcPts val="0"/>
              </a:spcBef>
              <a:buSzPts val="2000"/>
              <a:buFont typeface="Arial" panose="020B0604020202020204" pitchFamily="34" charset="0"/>
              <a:buChar char="●"/>
            </a:pPr>
            <a:r>
              <a:rPr lang="en-GB" dirty="0" err="1"/>
              <a:t>Binário</a:t>
            </a:r>
            <a:r>
              <a:rPr lang="en-GB" dirty="0"/>
              <a:t> -&gt; Hex? </a:t>
            </a:r>
            <a:r>
              <a:rPr lang="en-GB" b="1" dirty="0" err="1"/>
              <a:t>Fácil</a:t>
            </a:r>
            <a:r>
              <a:rPr lang="en-GB" dirty="0"/>
              <a:t>!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pt-BR" dirty="0"/>
              <a:t>Agrupar em </a:t>
            </a:r>
            <a:r>
              <a:rPr lang="pt-BR" dirty="0" err="1"/>
              <a:t>nibbles</a:t>
            </a:r>
            <a:r>
              <a:rPr lang="pt-BR" dirty="0"/>
              <a:t> (4 bits)</a:t>
            </a:r>
            <a:endParaRPr lang="en-GB" dirty="0"/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en-GB" dirty="0"/>
              <a:t>Se </a:t>
            </a:r>
            <a:r>
              <a:rPr lang="en-GB" dirty="0" err="1"/>
              <a:t>necessário</a:t>
            </a:r>
            <a:r>
              <a:rPr lang="en-GB" dirty="0"/>
              <a:t>, </a:t>
            </a:r>
            <a:r>
              <a:rPr lang="en-GB" dirty="0" err="1"/>
              <a:t>preencha</a:t>
            </a:r>
            <a:r>
              <a:rPr lang="en-GB" dirty="0"/>
              <a:t> com 0’s à </a:t>
            </a:r>
            <a:r>
              <a:rPr lang="en-GB" dirty="0" err="1"/>
              <a:t>esquerda</a:t>
            </a:r>
            <a:endParaRPr lang="en-GB" dirty="0"/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0b11110</a:t>
            </a:r>
            <a:b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</a:br>
            <a: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→ 0b00011110</a:t>
            </a:r>
            <a:b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</a:br>
            <a: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(→ 0b</a:t>
            </a:r>
            <a:r>
              <a:rPr lang="en-GB" b="1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0001</a:t>
            </a:r>
            <a: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en-GB" b="1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1110</a:t>
            </a:r>
            <a: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)</a:t>
            </a:r>
            <a:b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</a:br>
            <a: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en-GB" dirty="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→ </a:t>
            </a:r>
            <a:r>
              <a:rPr lang="en-GB" b="1" dirty="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0x   1    E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 marL="457200" indent="-355600">
              <a:spcBef>
                <a:spcPts val="0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●"/>
            </a:pPr>
            <a:r>
              <a:rPr lang="en-GB" dirty="0"/>
              <a:t>Hex -&gt; </a:t>
            </a:r>
            <a:r>
              <a:rPr lang="en-GB" dirty="0" err="1"/>
              <a:t>Binário</a:t>
            </a:r>
            <a:r>
              <a:rPr lang="en-GB" dirty="0"/>
              <a:t>? </a:t>
            </a:r>
            <a:r>
              <a:rPr lang="en-GB" b="1" dirty="0" err="1"/>
              <a:t>Fácil</a:t>
            </a:r>
            <a:r>
              <a:rPr lang="en-GB" dirty="0"/>
              <a:t>!</a:t>
            </a:r>
          </a:p>
          <a:p>
            <a:pPr marL="914400" lvl="1" indent="-342900">
              <a:spcBef>
                <a:spcPts val="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○"/>
            </a:pPr>
            <a:r>
              <a:rPr lang="en-GB" dirty="0"/>
              <a:t>Basta </a:t>
            </a:r>
            <a:r>
              <a:rPr lang="en-GB" dirty="0" err="1"/>
              <a:t>substituir</a:t>
            </a:r>
            <a:r>
              <a:rPr lang="en-GB" dirty="0"/>
              <a:t>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dígito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um nibble!</a:t>
            </a:r>
          </a:p>
          <a:p>
            <a:pPr marL="914400" lvl="1" indent="-342900">
              <a:spcBef>
                <a:spcPts val="0"/>
              </a:spcBef>
              <a:buClr>
                <a:schemeClr val="accent1"/>
              </a:buClr>
              <a:buSzPts val="1800"/>
              <a:buFont typeface="Source Code Pro Medium"/>
              <a:buChar char="○"/>
            </a:pPr>
            <a: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0x2A</a:t>
            </a:r>
            <a:b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</a:br>
            <a: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→ 0b00101010</a:t>
            </a:r>
            <a:b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</a:br>
            <a:r>
              <a:rPr lang="en-GB" dirty="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→ </a:t>
            </a:r>
            <a:r>
              <a:rPr lang="en-GB" b="1" dirty="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0b101010 </a:t>
            </a:r>
            <a:r>
              <a:rPr lang="en-GB" dirty="0">
                <a:sym typeface="Source Code Pro"/>
              </a:rPr>
              <a:t>(</a:t>
            </a:r>
            <a:r>
              <a:rPr lang="en-GB" dirty="0" err="1">
                <a:sym typeface="Source Code Pro"/>
              </a:rPr>
              <a:t>remova</a:t>
            </a:r>
            <a:r>
              <a:rPr lang="en-GB" dirty="0">
                <a:sym typeface="Source Code Pro"/>
              </a:rPr>
              <a:t> </a:t>
            </a:r>
            <a:r>
              <a:rPr lang="en-GB" dirty="0" err="1">
                <a:sym typeface="Source Code Pro"/>
              </a:rPr>
              <a:t>os</a:t>
            </a:r>
            <a:r>
              <a:rPr lang="en-GB" dirty="0">
                <a:sym typeface="Source Code Pro"/>
              </a:rPr>
              <a:t> zeros à </a:t>
            </a:r>
            <a:r>
              <a:rPr lang="en-GB" dirty="0" err="1">
                <a:sym typeface="Source Code Pro"/>
              </a:rPr>
              <a:t>esquerda</a:t>
            </a:r>
            <a:r>
              <a:rPr lang="en-GB" dirty="0">
                <a:sym typeface="Source Code Pro"/>
              </a:rPr>
              <a:t>)</a:t>
            </a:r>
            <a:endParaRPr lang="en-GB" dirty="0">
              <a:sym typeface="Source Code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14149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Shape 2"/>
          <p:cNvSpPr/>
          <p:nvPr/>
        </p:nvSpPr>
        <p:spPr>
          <a:xfrm>
            <a:off x="267629" y="1003610"/>
            <a:ext cx="11634439" cy="54727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Utilizado como abreviação para números binários.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lvl="1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2800" spc="-1" noProof="0" dirty="0">
                <a:solidFill>
                  <a:srgbClr val="292934"/>
                </a:solidFill>
                <a:latin typeface="Arial"/>
              </a:rPr>
              <a:t>Sequências longas de bits são difíceis de ler e transcrever.</a:t>
            </a:r>
            <a:endParaRPr lang="pt-BR" sz="2800" spc="-1" noProof="0" dirty="0">
              <a:solidFill>
                <a:srgbClr val="000000"/>
              </a:solidFill>
              <a:latin typeface="Arial"/>
            </a:endParaRPr>
          </a:p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Números hexadecimais são chamados de base 16.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Símbolos: </a:t>
            </a:r>
            <a:r>
              <a:rPr lang="pt-BR" sz="3200" b="1" spc="-1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0,1,2,3,4,5,6,7,8,9,A,B,C,D,E,F</a:t>
            </a:r>
          </a:p>
        </p:txBody>
      </p:sp>
      <p:sp>
        <p:nvSpPr>
          <p:cNvPr id="351" name="CustomShape 12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Sistema Hexadecimal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Shape 2"/>
          <p:cNvSpPr/>
          <p:nvPr/>
        </p:nvSpPr>
        <p:spPr>
          <a:xfrm>
            <a:off x="193287" y="1033346"/>
            <a:ext cx="11664175" cy="54430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Separa-se o número, da direita para a esquerda, em grupos de 4 bits (</a:t>
            </a:r>
            <a:r>
              <a:rPr lang="pt-BR" sz="3200" i="1" spc="-1" noProof="0" dirty="0" err="1">
                <a:solidFill>
                  <a:srgbClr val="292934"/>
                </a:solidFill>
                <a:latin typeface="Arial"/>
              </a:rPr>
              <a:t>nibble</a:t>
            </a: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).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Se o último grupo (mais significativo) tiver menos de 4 bits, completar com zeros.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Substitui-se cada grupo pelos respectivos símbolos hexadecimais.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endParaRPr lang="pt-BR" sz="3200" spc="-1" noProof="0" dirty="0">
              <a:solidFill>
                <a:srgbClr val="292934"/>
              </a:solidFill>
              <a:latin typeface="Arial"/>
            </a:endParaRPr>
          </a:p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(1111 0001)</a:t>
            </a:r>
            <a:r>
              <a:rPr lang="pt-BR" sz="3200" spc="-1" baseline="-25000" noProof="0" dirty="0">
                <a:solidFill>
                  <a:srgbClr val="292934"/>
                </a:solidFill>
                <a:latin typeface="Consolas" panose="020B0609020204030204" pitchFamily="49" charset="0"/>
              </a:rPr>
              <a:t>2</a:t>
            </a: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 =</a:t>
            </a:r>
            <a:endParaRPr lang="pt-BR" sz="3200" spc="-1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endParaRPr lang="pt-BR" sz="3200" spc="-1" noProof="0" dirty="0">
              <a:solidFill>
                <a:srgbClr val="292934"/>
              </a:solidFill>
              <a:latin typeface="Consolas" panose="020B0609020204030204" pitchFamily="49" charset="0"/>
            </a:endParaRPr>
          </a:p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(10 1011)</a:t>
            </a:r>
            <a:r>
              <a:rPr lang="pt-BR" sz="3200" spc="-1" baseline="-25000" noProof="0" dirty="0">
                <a:solidFill>
                  <a:srgbClr val="292934"/>
                </a:solidFill>
                <a:latin typeface="Consolas" panose="020B0609020204030204" pitchFamily="49" charset="0"/>
              </a:rPr>
              <a:t>2</a:t>
            </a: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 =</a:t>
            </a:r>
            <a:endParaRPr lang="pt-BR" sz="3200" spc="-1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56" name="CustomShape 14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200" b="1" spc="-1" noProof="0" dirty="0">
                <a:solidFill>
                  <a:schemeClr val="bg1"/>
                </a:solidFill>
                <a:latin typeface="Calibri Light"/>
                <a:ea typeface="DejaVu Sans"/>
              </a:rPr>
              <a:t>Conversão BIN → HEX</a:t>
            </a:r>
            <a:endParaRPr lang="pt-BR" sz="3200" b="1" spc="-1" noProof="0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Shape 2"/>
          <p:cNvSpPr/>
          <p:nvPr/>
        </p:nvSpPr>
        <p:spPr>
          <a:xfrm>
            <a:off x="193287" y="1033346"/>
            <a:ext cx="11664175" cy="54430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Separa-se o número, da direita para a esquerda, em grupos de 4 bits (</a:t>
            </a:r>
            <a:r>
              <a:rPr lang="pt-BR" sz="3200" i="1" spc="-1" noProof="0" dirty="0" err="1">
                <a:solidFill>
                  <a:srgbClr val="292934"/>
                </a:solidFill>
                <a:latin typeface="Arial"/>
              </a:rPr>
              <a:t>nibble</a:t>
            </a: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).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Se o último grupo (mais significativo) tiver menos de 4 bits, completar com zeros.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182880" indent="-18216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Substitui-se cada grupo pelos respectivos símbolos hexadecimais.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endParaRPr lang="pt-BR" sz="3200" spc="-1" noProof="0" dirty="0">
              <a:solidFill>
                <a:srgbClr val="292934"/>
              </a:solidFill>
              <a:latin typeface="Arial"/>
            </a:endParaRPr>
          </a:p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(1111 0001)</a:t>
            </a:r>
            <a:r>
              <a:rPr lang="pt-BR" sz="3200" spc="-1" baseline="-25000" noProof="0" dirty="0">
                <a:solidFill>
                  <a:srgbClr val="292934"/>
                </a:solidFill>
                <a:latin typeface="Consolas" panose="020B0609020204030204" pitchFamily="49" charset="0"/>
              </a:rPr>
              <a:t>2</a:t>
            </a: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 = </a:t>
            </a:r>
            <a:r>
              <a:rPr lang="pt-BR" sz="3200" spc="-1" noProof="0" dirty="0">
                <a:solidFill>
                  <a:srgbClr val="FF0000"/>
                </a:solidFill>
                <a:latin typeface="Consolas" panose="020B0609020204030204" pitchFamily="49" charset="0"/>
              </a:rPr>
              <a:t>(F1)</a:t>
            </a:r>
            <a:r>
              <a:rPr lang="pt-BR" sz="3200" spc="-1" baseline="-25000" noProof="0" dirty="0">
                <a:solidFill>
                  <a:srgbClr val="FF0000"/>
                </a:solidFill>
                <a:latin typeface="Consolas" panose="020B0609020204030204" pitchFamily="49" charset="0"/>
              </a:rPr>
              <a:t>16</a:t>
            </a:r>
            <a:endParaRPr lang="pt-BR" sz="3200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endParaRPr lang="pt-BR" sz="3200" spc="-1" noProof="0" dirty="0">
              <a:solidFill>
                <a:srgbClr val="292934"/>
              </a:solidFill>
              <a:latin typeface="Arial"/>
            </a:endParaRPr>
          </a:p>
          <a:p>
            <a:pPr marL="720">
              <a:lnSpc>
                <a:spcPct val="90000"/>
              </a:lnSpc>
              <a:spcBef>
                <a:spcPts val="1200"/>
              </a:spcBef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(10 1011)</a:t>
            </a:r>
            <a:r>
              <a:rPr lang="pt-BR" sz="3200" spc="-1" baseline="-25000" noProof="0" dirty="0">
                <a:solidFill>
                  <a:srgbClr val="292934"/>
                </a:solidFill>
                <a:latin typeface="Consolas" panose="020B0609020204030204" pitchFamily="49" charset="0"/>
              </a:rPr>
              <a:t>2</a:t>
            </a: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 = </a:t>
            </a:r>
            <a:r>
              <a:rPr lang="pt-BR" sz="3200" spc="-1" noProof="0" dirty="0">
                <a:solidFill>
                  <a:srgbClr val="FF0000"/>
                </a:solidFill>
                <a:latin typeface="Consolas" panose="020B0609020204030204" pitchFamily="49" charset="0"/>
              </a:rPr>
              <a:t>(0010 1011)</a:t>
            </a:r>
            <a:r>
              <a:rPr lang="pt-BR" sz="3200" spc="-1" baseline="-25000" noProof="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pt-BR" sz="3200" spc="-1" noProof="0" dirty="0">
                <a:solidFill>
                  <a:srgbClr val="FF0000"/>
                </a:solidFill>
                <a:latin typeface="Consolas" panose="020B0609020204030204" pitchFamily="49" charset="0"/>
              </a:rPr>
              <a:t> = (2B)</a:t>
            </a:r>
            <a:r>
              <a:rPr lang="pt-BR" sz="3200" spc="-1" baseline="-25000" noProof="0" dirty="0">
                <a:solidFill>
                  <a:srgbClr val="FF0000"/>
                </a:solidFill>
                <a:latin typeface="Consolas" panose="020B0609020204030204" pitchFamily="49" charset="0"/>
              </a:rPr>
              <a:t>16</a:t>
            </a:r>
            <a:endParaRPr lang="pt-BR" sz="3200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56" name="CustomShape 14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200" b="1" spc="-1" noProof="0" dirty="0">
                <a:solidFill>
                  <a:schemeClr val="bg1"/>
                </a:solidFill>
                <a:latin typeface="Calibri Light"/>
                <a:ea typeface="DejaVu Sans"/>
              </a:rPr>
              <a:t>Conversão BIN → HEX</a:t>
            </a:r>
            <a:endParaRPr lang="pt-BR" sz="3200" b="1" spc="-1" noProof="0" dirty="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5860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Shape 2"/>
          <p:cNvSpPr/>
          <p:nvPr/>
        </p:nvSpPr>
        <p:spPr>
          <a:xfrm>
            <a:off x="319667" y="1085385"/>
            <a:ext cx="11597269" cy="53910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2880" indent="-182160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Substituir cada dígito hexadecimal por seu correspondente grupo de 4 bits.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720">
              <a:buClr>
                <a:srgbClr val="93A299"/>
              </a:buClr>
              <a:buSzPct val="85000"/>
            </a:pPr>
            <a:endParaRPr lang="pt-BR" sz="3200" spc="-1" noProof="0" dirty="0">
              <a:solidFill>
                <a:srgbClr val="292934"/>
              </a:solidFill>
              <a:latin typeface="Arial"/>
            </a:endParaRPr>
          </a:p>
          <a:p>
            <a:pPr marL="720"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(AF)</a:t>
            </a:r>
            <a:r>
              <a:rPr lang="pt-BR" sz="3200" spc="-1" baseline="-25000" noProof="0" dirty="0">
                <a:solidFill>
                  <a:srgbClr val="292934"/>
                </a:solidFill>
                <a:latin typeface="Consolas" panose="020B0609020204030204" pitchFamily="49" charset="0"/>
              </a:rPr>
              <a:t>16</a:t>
            </a: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 =</a:t>
            </a:r>
            <a:endParaRPr lang="pt-BR" sz="3200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58" name="CustomShape 15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Conversão HEX → BIN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Shape 2"/>
          <p:cNvSpPr/>
          <p:nvPr/>
        </p:nvSpPr>
        <p:spPr>
          <a:xfrm>
            <a:off x="319667" y="1085385"/>
            <a:ext cx="11597269" cy="53910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2880" indent="-182160">
              <a:buClr>
                <a:srgbClr val="93A299"/>
              </a:buClr>
              <a:buSzPct val="85000"/>
              <a:buFont typeface="Arial"/>
              <a:buChar char="•"/>
            </a:pPr>
            <a:r>
              <a:rPr lang="pt-BR" sz="3200" spc="-1" noProof="0" dirty="0">
                <a:solidFill>
                  <a:srgbClr val="292934"/>
                </a:solidFill>
                <a:latin typeface="Arial"/>
              </a:rPr>
              <a:t>Substituir cada dígito hexadecimal por seu correspondente grupo de 4 bits.</a:t>
            </a:r>
            <a:endParaRPr lang="pt-BR" sz="3200" spc="-1" noProof="0" dirty="0">
              <a:solidFill>
                <a:srgbClr val="000000"/>
              </a:solidFill>
              <a:latin typeface="Arial"/>
            </a:endParaRPr>
          </a:p>
          <a:p>
            <a:pPr marL="720">
              <a:buClr>
                <a:srgbClr val="93A299"/>
              </a:buClr>
              <a:buSzPct val="85000"/>
            </a:pPr>
            <a:endParaRPr lang="pt-BR" sz="3200" spc="-1" noProof="0" dirty="0">
              <a:solidFill>
                <a:srgbClr val="292934"/>
              </a:solidFill>
              <a:latin typeface="Arial"/>
            </a:endParaRPr>
          </a:p>
          <a:p>
            <a:pPr marL="720">
              <a:buClr>
                <a:srgbClr val="93A299"/>
              </a:buClr>
              <a:buSzPct val="85000"/>
            </a:pP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(AF)</a:t>
            </a:r>
            <a:r>
              <a:rPr lang="pt-BR" sz="3200" spc="-1" baseline="-25000" noProof="0" dirty="0">
                <a:solidFill>
                  <a:srgbClr val="292934"/>
                </a:solidFill>
                <a:latin typeface="Consolas" panose="020B0609020204030204" pitchFamily="49" charset="0"/>
              </a:rPr>
              <a:t>16</a:t>
            </a:r>
            <a:r>
              <a:rPr lang="pt-BR" sz="3200" spc="-1" noProof="0" dirty="0">
                <a:solidFill>
                  <a:srgbClr val="292934"/>
                </a:solidFill>
                <a:latin typeface="Consolas" panose="020B0609020204030204" pitchFamily="49" charset="0"/>
              </a:rPr>
              <a:t> = </a:t>
            </a:r>
            <a:r>
              <a:rPr lang="pt-BR" sz="3200" spc="-1" noProof="0" dirty="0">
                <a:solidFill>
                  <a:srgbClr val="FF0000"/>
                </a:solidFill>
                <a:latin typeface="Consolas" panose="020B0609020204030204" pitchFamily="49" charset="0"/>
              </a:rPr>
              <a:t>(1010 1111)</a:t>
            </a:r>
            <a:r>
              <a:rPr lang="pt-BR" sz="3200" spc="-1" baseline="-25000" noProof="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endParaRPr lang="pt-BR" sz="3200" spc="-1" noProof="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58" name="CustomShape 15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Conversão HEX → BIN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8240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4;p30">
            <a:extLst>
              <a:ext uri="{FF2B5EF4-FFF2-40B4-BE49-F238E27FC236}">
                <a16:creationId xmlns:a16="http://schemas.microsoft.com/office/drawing/2014/main" id="{49E4E25F-4044-CA69-56A8-9DFD52C651A0}"/>
              </a:ext>
            </a:extLst>
          </p:cNvPr>
          <p:cNvSpPr txBox="1">
            <a:spLocks/>
          </p:cNvSpPr>
          <p:nvPr/>
        </p:nvSpPr>
        <p:spPr>
          <a:xfrm>
            <a:off x="311700" y="875287"/>
            <a:ext cx="11900562" cy="1053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55600">
              <a:spcBef>
                <a:spcPts val="0"/>
              </a:spcBef>
              <a:buSzPts val="2000"/>
              <a:buFont typeface="Arial" panose="020B0604020202020204" pitchFamily="34" charset="0"/>
              <a:buChar char="●"/>
            </a:pPr>
            <a:r>
              <a:rPr lang="en-GB" dirty="0"/>
              <a:t>Valores </a:t>
            </a:r>
            <a:r>
              <a:rPr lang="en-GB" dirty="0" err="1"/>
              <a:t>lógicos</a:t>
            </a:r>
            <a:r>
              <a:rPr lang="en-GB" dirty="0"/>
              <a:t>? </a:t>
            </a:r>
            <a:r>
              <a:rPr lang="en-GB" u="sng" dirty="0"/>
              <a:t>1 bit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en-GB" dirty="0"/>
              <a:t>Uma </a:t>
            </a:r>
            <a:r>
              <a:rPr lang="en-GB" dirty="0" err="1"/>
              <a:t>possibilidade</a:t>
            </a:r>
            <a:r>
              <a:rPr lang="en-GB" dirty="0"/>
              <a:t> é: </a:t>
            </a:r>
            <a:r>
              <a:rPr lang="en-GB" dirty="0">
                <a:solidFill>
                  <a:srgbClr val="002060"/>
                </a:solidFill>
              </a:rPr>
              <a:t>0 → False, 1 → True</a:t>
            </a:r>
          </a:p>
        </p:txBody>
      </p:sp>
      <p:sp>
        <p:nvSpPr>
          <p:cNvPr id="3" name="Google Shape;265;p30">
            <a:extLst>
              <a:ext uri="{FF2B5EF4-FFF2-40B4-BE49-F238E27FC236}">
                <a16:creationId xmlns:a16="http://schemas.microsoft.com/office/drawing/2014/main" id="{C9F23537-E4AC-7FD9-CC1E-5F10F5E50202}"/>
              </a:ext>
            </a:extLst>
          </p:cNvPr>
          <p:cNvSpPr txBox="1">
            <a:spLocks/>
          </p:cNvSpPr>
          <p:nvPr/>
        </p:nvSpPr>
        <p:spPr>
          <a:xfrm>
            <a:off x="311700" y="1928775"/>
            <a:ext cx="11900562" cy="15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55600">
              <a:spcBef>
                <a:spcPts val="0"/>
              </a:spcBef>
              <a:buSzPts val="2000"/>
              <a:buFont typeface="Arial" panose="020B0604020202020204" pitchFamily="34" charset="0"/>
              <a:buChar char="●"/>
            </a:pPr>
            <a:r>
              <a:rPr lang="pt-BR" noProof="0" dirty="0"/>
              <a:t>Caracteres? Várias opções: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pt-BR" noProof="0" dirty="0"/>
              <a:t>A, …, Z: </a:t>
            </a:r>
            <a:r>
              <a:rPr lang="pt-BR" noProof="0" dirty="0">
                <a:solidFill>
                  <a:srgbClr val="002060"/>
                </a:solidFill>
              </a:rPr>
              <a:t>26 letras </a:t>
            </a:r>
            <a:r>
              <a:rPr lang="pt-BR" noProof="0" dirty="0"/>
              <a:t>→ </a:t>
            </a:r>
            <a:r>
              <a:rPr lang="pt-BR" noProof="0" dirty="0">
                <a:solidFill>
                  <a:schemeClr val="accent3"/>
                </a:solidFill>
              </a:rPr>
              <a:t> </a:t>
            </a:r>
            <a:r>
              <a:rPr lang="pt-BR" u="sng" noProof="0" dirty="0">
                <a:solidFill>
                  <a:srgbClr val="002060"/>
                </a:solidFill>
              </a:rPr>
              <a:t>5 bits</a:t>
            </a:r>
            <a:r>
              <a:rPr lang="pt-BR" noProof="0" dirty="0">
                <a:solidFill>
                  <a:srgbClr val="002060"/>
                </a:solidFill>
              </a:rPr>
              <a:t> (2</a:t>
            </a:r>
            <a:r>
              <a:rPr lang="pt-BR" baseline="30000" noProof="0" dirty="0">
                <a:solidFill>
                  <a:srgbClr val="002060"/>
                </a:solidFill>
              </a:rPr>
              <a:t>5</a:t>
            </a:r>
            <a:r>
              <a:rPr lang="pt-BR" noProof="0" dirty="0">
                <a:solidFill>
                  <a:srgbClr val="002060"/>
                </a:solidFill>
              </a:rPr>
              <a:t> = 32)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pt-BR" u="sng" noProof="0" dirty="0">
                <a:solidFill>
                  <a:schemeClr val="hlink"/>
                </a:solidFill>
                <a:hlinkClick r:id="rId2"/>
              </a:rPr>
              <a:t>ASCII</a:t>
            </a:r>
            <a:r>
              <a:rPr lang="pt-BR" noProof="0" dirty="0"/>
              <a:t>: </a:t>
            </a:r>
            <a:r>
              <a:rPr lang="pt-BR" noProof="0" dirty="0">
                <a:solidFill>
                  <a:srgbClr val="002060"/>
                </a:solidFill>
              </a:rPr>
              <a:t>maiúsculo/minúsculo + pontuação → </a:t>
            </a:r>
            <a:r>
              <a:rPr lang="pt-BR" u="sng" noProof="0" dirty="0">
                <a:solidFill>
                  <a:srgbClr val="002060"/>
                </a:solidFill>
              </a:rPr>
              <a:t>7 bits</a:t>
            </a:r>
            <a:r>
              <a:rPr lang="pt-BR" noProof="0" dirty="0">
                <a:solidFill>
                  <a:srgbClr val="002060"/>
                </a:solidFill>
              </a:rPr>
              <a:t> → </a:t>
            </a:r>
            <a:r>
              <a:rPr lang="pt-BR" noProof="0" dirty="0" err="1">
                <a:solidFill>
                  <a:srgbClr val="002060"/>
                </a:solidFill>
              </a:rPr>
              <a:t>arrendondado</a:t>
            </a:r>
            <a:r>
              <a:rPr lang="pt-BR" noProof="0" dirty="0">
                <a:solidFill>
                  <a:srgbClr val="002060"/>
                </a:solidFill>
              </a:rPr>
              <a:t> para </a:t>
            </a:r>
            <a:r>
              <a:rPr lang="pt-BR" u="sng" noProof="0" dirty="0">
                <a:solidFill>
                  <a:srgbClr val="002060"/>
                </a:solidFill>
              </a:rPr>
              <a:t>1 byte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pt-BR" noProof="0" dirty="0"/>
              <a:t>Unicode (</a:t>
            </a:r>
            <a:r>
              <a:rPr lang="pt-BR" u="sng" noProof="0" dirty="0">
                <a:solidFill>
                  <a:schemeClr val="hlink"/>
                </a:solidFill>
                <a:hlinkClick r:id="rId3"/>
              </a:rPr>
              <a:t>www.unicode.com</a:t>
            </a:r>
            <a:r>
              <a:rPr lang="pt-BR" noProof="0" dirty="0"/>
              <a:t>): </a:t>
            </a:r>
            <a:r>
              <a:rPr lang="pt-BR" noProof="0" dirty="0">
                <a:solidFill>
                  <a:srgbClr val="002060"/>
                </a:solidFill>
              </a:rPr>
              <a:t>código padrão que cobre todas as línguas do planeta ⇒ </a:t>
            </a:r>
            <a:r>
              <a:rPr lang="pt-BR" u="sng" noProof="0" dirty="0">
                <a:solidFill>
                  <a:srgbClr val="002060"/>
                </a:solidFill>
              </a:rPr>
              <a:t>8, 16, 32 bits</a:t>
            </a:r>
            <a:endParaRPr lang="pt-BR" noProof="0" dirty="0">
              <a:solidFill>
                <a:srgbClr val="002060"/>
              </a:solidFill>
            </a:endParaRPr>
          </a:p>
        </p:txBody>
      </p:sp>
      <p:sp>
        <p:nvSpPr>
          <p:cNvPr id="4" name="Google Shape;266;p30">
            <a:extLst>
              <a:ext uri="{FF2B5EF4-FFF2-40B4-BE49-F238E27FC236}">
                <a16:creationId xmlns:a16="http://schemas.microsoft.com/office/drawing/2014/main" id="{05E6ED03-492E-BFF6-C645-54B2027B94CB}"/>
              </a:ext>
            </a:extLst>
          </p:cNvPr>
          <p:cNvSpPr txBox="1">
            <a:spLocks/>
          </p:cNvSpPr>
          <p:nvPr/>
        </p:nvSpPr>
        <p:spPr>
          <a:xfrm>
            <a:off x="919135" y="111961"/>
            <a:ext cx="11099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</a:pPr>
            <a:r>
              <a:rPr lang="en-GB" b="1" dirty="0">
                <a:solidFill>
                  <a:schemeClr val="bg1"/>
                </a:solidFill>
              </a:rPr>
              <a:t>BIG IDEA: Bits </a:t>
            </a:r>
            <a:r>
              <a:rPr lang="en-GB" b="1" dirty="0" err="1">
                <a:solidFill>
                  <a:schemeClr val="bg1"/>
                </a:solidFill>
              </a:rPr>
              <a:t>pode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representar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qualquer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coisa</a:t>
            </a:r>
            <a:r>
              <a:rPr lang="en-GB" b="1" dirty="0">
                <a:solidFill>
                  <a:schemeClr val="bg1"/>
                </a:solidFill>
              </a:rPr>
              <a:t>!!</a:t>
            </a:r>
          </a:p>
        </p:txBody>
      </p:sp>
      <p:sp>
        <p:nvSpPr>
          <p:cNvPr id="5" name="Google Shape;267;p30">
            <a:extLst>
              <a:ext uri="{FF2B5EF4-FFF2-40B4-BE49-F238E27FC236}">
                <a16:creationId xmlns:a16="http://schemas.microsoft.com/office/drawing/2014/main" id="{10F70E7B-6CD9-199B-7564-D414A6DA2B6C}"/>
              </a:ext>
            </a:extLst>
          </p:cNvPr>
          <p:cNvSpPr/>
          <p:nvPr/>
        </p:nvSpPr>
        <p:spPr>
          <a:xfrm>
            <a:off x="6750111" y="5395225"/>
            <a:ext cx="4746989" cy="7929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Inter"/>
                <a:ea typeface="Inter"/>
                <a:cs typeface="Inter"/>
                <a:sym typeface="Inter"/>
              </a:rPr>
              <a:t>Com N bits, você consegue distinguir até 2</a:t>
            </a:r>
            <a:r>
              <a:rPr lang="en-GB" baseline="30000" dirty="0"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" sz="1800" dirty="0">
                <a:latin typeface="Inter"/>
                <a:ea typeface="Inter"/>
                <a:cs typeface="Inter"/>
                <a:sym typeface="Inter"/>
              </a:rPr>
              <a:t> coisas.</a:t>
            </a:r>
            <a:endParaRPr sz="1800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6" name="Google Shape;268;p30">
            <a:extLst>
              <a:ext uri="{FF2B5EF4-FFF2-40B4-BE49-F238E27FC236}">
                <a16:creationId xmlns:a16="http://schemas.microsoft.com/office/drawing/2014/main" id="{43D802F0-9F02-3728-1AFD-CCA08EE0A329}"/>
              </a:ext>
            </a:extLst>
          </p:cNvPr>
          <p:cNvGrpSpPr/>
          <p:nvPr/>
        </p:nvGrpSpPr>
        <p:grpSpPr>
          <a:xfrm>
            <a:off x="7028020" y="3546400"/>
            <a:ext cx="4872542" cy="1084200"/>
            <a:chOff x="5481950" y="2673625"/>
            <a:chExt cx="3511995" cy="1084200"/>
          </a:xfrm>
        </p:grpSpPr>
        <p:sp>
          <p:nvSpPr>
            <p:cNvPr id="7" name="Google Shape;269;p30">
              <a:extLst>
                <a:ext uri="{FF2B5EF4-FFF2-40B4-BE49-F238E27FC236}">
                  <a16:creationId xmlns:a16="http://schemas.microsoft.com/office/drawing/2014/main" id="{429B1559-3073-91E0-30CC-D2B6817DCB7C}"/>
                </a:ext>
              </a:extLst>
            </p:cNvPr>
            <p:cNvSpPr/>
            <p:nvPr/>
          </p:nvSpPr>
          <p:spPr>
            <a:xfrm>
              <a:off x="6692550" y="3398725"/>
              <a:ext cx="1121100" cy="359100"/>
            </a:xfrm>
            <a:prstGeom prst="rect">
              <a:avLst/>
            </a:prstGeom>
            <a:solidFill>
              <a:srgbClr val="00B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Green (54)</a:t>
              </a:r>
              <a:endParaRPr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" name="Google Shape;270;p30">
              <a:extLst>
                <a:ext uri="{FF2B5EF4-FFF2-40B4-BE49-F238E27FC236}">
                  <a16:creationId xmlns:a16="http://schemas.microsoft.com/office/drawing/2014/main" id="{0D0A98D2-2C93-E90E-72EB-942641A66E60}"/>
                </a:ext>
              </a:extLst>
            </p:cNvPr>
            <p:cNvSpPr/>
            <p:nvPr/>
          </p:nvSpPr>
          <p:spPr>
            <a:xfrm>
              <a:off x="7903145" y="3398725"/>
              <a:ext cx="1090800" cy="359100"/>
            </a:xfrm>
            <a:prstGeom prst="rect">
              <a:avLst/>
            </a:prstGeom>
            <a:solidFill>
              <a:srgbClr val="0016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Blue (6A)</a:t>
              </a:r>
              <a:endParaRPr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" name="Google Shape;271;p30">
              <a:extLst>
                <a:ext uri="{FF2B5EF4-FFF2-40B4-BE49-F238E27FC236}">
                  <a16:creationId xmlns:a16="http://schemas.microsoft.com/office/drawing/2014/main" id="{C09A154B-1DF4-DA08-30DA-2272881B14D1}"/>
                </a:ext>
              </a:extLst>
            </p:cNvPr>
            <p:cNvSpPr/>
            <p:nvPr/>
          </p:nvSpPr>
          <p:spPr>
            <a:xfrm>
              <a:off x="5481950" y="3398725"/>
              <a:ext cx="1090800" cy="359100"/>
            </a:xfrm>
            <a:prstGeom prst="rect">
              <a:avLst/>
            </a:prstGeom>
            <a:solidFill>
              <a:srgbClr val="FD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Red (44)</a:t>
              </a:r>
              <a:endParaRPr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" name="Google Shape;272;p30">
              <a:extLst>
                <a:ext uri="{FF2B5EF4-FFF2-40B4-BE49-F238E27FC236}">
                  <a16:creationId xmlns:a16="http://schemas.microsoft.com/office/drawing/2014/main" id="{07D4A2DF-E6DB-3C91-C3ED-2AB049C0156A}"/>
                </a:ext>
              </a:extLst>
            </p:cNvPr>
            <p:cNvSpPr/>
            <p:nvPr/>
          </p:nvSpPr>
          <p:spPr>
            <a:xfrm>
              <a:off x="5484950" y="2749825"/>
              <a:ext cx="627600" cy="572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" name="Google Shape;273;p30">
              <a:extLst>
                <a:ext uri="{FF2B5EF4-FFF2-40B4-BE49-F238E27FC236}">
                  <a16:creationId xmlns:a16="http://schemas.microsoft.com/office/drawing/2014/main" id="{489404F1-3250-2314-28F8-CB313688FE6A}"/>
                </a:ext>
              </a:extLst>
            </p:cNvPr>
            <p:cNvSpPr txBox="1"/>
            <p:nvPr/>
          </p:nvSpPr>
          <p:spPr>
            <a:xfrm>
              <a:off x="6208350" y="2673625"/>
              <a:ext cx="2747700" cy="64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#</a:t>
              </a:r>
              <a:r>
                <a:rPr lang="en-GB" sz="1800" b="1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44546A</a:t>
              </a:r>
              <a:endParaRPr sz="18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" name="Google Shape;274;p30">
            <a:extLst>
              <a:ext uri="{FF2B5EF4-FFF2-40B4-BE49-F238E27FC236}">
                <a16:creationId xmlns:a16="http://schemas.microsoft.com/office/drawing/2014/main" id="{4244D720-D6F3-7458-0FAF-7008E7C04CAB}"/>
              </a:ext>
            </a:extLst>
          </p:cNvPr>
          <p:cNvSpPr txBox="1">
            <a:spLocks/>
          </p:cNvSpPr>
          <p:nvPr/>
        </p:nvSpPr>
        <p:spPr>
          <a:xfrm>
            <a:off x="311700" y="4494782"/>
            <a:ext cx="11900562" cy="20408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55600">
              <a:spcBef>
                <a:spcPts val="0"/>
              </a:spcBef>
              <a:buSzPts val="2000"/>
              <a:buFont typeface="Arial" panose="020B0604020202020204" pitchFamily="34" charset="0"/>
              <a:buChar char="●"/>
            </a:pPr>
            <a:r>
              <a:rPr lang="en-GB" dirty="0"/>
              <a:t>Cores?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○"/>
            </a:pPr>
            <a:r>
              <a:rPr lang="en-GB" dirty="0"/>
              <a:t>Código de cores HTML: </a:t>
            </a:r>
            <a:r>
              <a:rPr lang="en-GB" u="sng" dirty="0"/>
              <a:t>24 bits</a:t>
            </a:r>
            <a:r>
              <a:rPr lang="en-GB" dirty="0"/>
              <a:t> (3 bytes)</a:t>
            </a:r>
          </a:p>
          <a:p>
            <a:pPr marL="457200" indent="-355600">
              <a:spcBef>
                <a:spcPts val="0"/>
              </a:spcBef>
              <a:buSzPts val="2000"/>
              <a:buFont typeface="Arial" panose="020B0604020202020204" pitchFamily="34" charset="0"/>
              <a:buChar char="●"/>
            </a:pPr>
            <a:r>
              <a:rPr lang="en-GB" dirty="0" err="1"/>
              <a:t>Lacalização</a:t>
            </a:r>
            <a:r>
              <a:rPr lang="en-GB" dirty="0"/>
              <a:t> / </a:t>
            </a:r>
            <a:r>
              <a:rPr lang="en-GB" dirty="0" err="1"/>
              <a:t>endereços</a:t>
            </a:r>
            <a:r>
              <a:rPr lang="en-GB" dirty="0"/>
              <a:t>?</a:t>
            </a:r>
            <a:br>
              <a:rPr lang="en-GB" dirty="0"/>
            </a:br>
            <a:r>
              <a:rPr lang="en-GB" dirty="0"/>
              <a:t>IPv4 (32 bit), IPv6 (64 bit), etc.</a:t>
            </a:r>
          </a:p>
        </p:txBody>
      </p:sp>
    </p:spTree>
    <p:extLst>
      <p:ext uri="{BB962C8B-B14F-4D97-AF65-F5344CB8AC3E}">
        <p14:creationId xmlns:p14="http://schemas.microsoft.com/office/powerpoint/2010/main" val="236684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/>
          </p:nvPr>
        </p:nvSpPr>
        <p:spPr>
          <a:xfrm>
            <a:off x="278780" y="990719"/>
            <a:ext cx="11608420" cy="545468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1 - Apresente os cálculos completos e os valores referentes às seguintes conversões entre bases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binária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(inteiros não negativos),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hexadecimal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</p:txBody>
      </p:sp>
      <p:sp>
        <p:nvSpPr>
          <p:cNvPr id="417" name="CustomShape 7_1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Exercícios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90897-1F29-C36D-DDD6-2C34A7821EE2}"/>
              </a:ext>
            </a:extLst>
          </p:cNvPr>
          <p:cNvSpPr txBox="1"/>
          <p:nvPr/>
        </p:nvSpPr>
        <p:spPr>
          <a:xfrm>
            <a:off x="1436650" y="2419433"/>
            <a:ext cx="79006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200"/>
            </a:pP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101101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(?)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endParaRPr lang="pt-BR" sz="3200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0720"/>
            <a:endParaRPr lang="pt-BR" sz="3200" b="1" noProof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FF152-2897-B02C-83EB-D0A7F8C9D0B5}"/>
              </a:ext>
            </a:extLst>
          </p:cNvPr>
          <p:cNvSpPr txBox="1"/>
          <p:nvPr/>
        </p:nvSpPr>
        <p:spPr>
          <a:xfrm>
            <a:off x="2038815" y="3106725"/>
            <a:ext cx="61889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2</a:t>
            </a:r>
            <a:r>
              <a:rPr lang="pt-BR" sz="3200" b="1" baseline="30000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+ 2</a:t>
            </a:r>
            <a:r>
              <a:rPr lang="pt-BR" sz="3200" b="1" baseline="30000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+ 2</a:t>
            </a:r>
            <a:r>
              <a:rPr lang="pt-BR" sz="3200" b="1" baseline="30000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+ 2</a:t>
            </a:r>
            <a:r>
              <a:rPr lang="pt-BR" sz="3200" b="1" baseline="30000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endParaRPr lang="pt-BR" sz="3200" b="1" noProof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32+8+4+1</a:t>
            </a:r>
          </a:p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(45)</a:t>
            </a:r>
            <a:r>
              <a:rPr lang="pt-BR" sz="3200" b="1" baseline="-25000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197577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/>
          </p:nvPr>
        </p:nvSpPr>
        <p:spPr>
          <a:xfrm>
            <a:off x="278780" y="990719"/>
            <a:ext cx="11608420" cy="545468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1 - Apresente os cálculos completos e os valores referentes às seguintes conversões entre bases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binária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(inteiros não negativos),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hexadecimal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</p:txBody>
      </p:sp>
      <p:sp>
        <p:nvSpPr>
          <p:cNvPr id="417" name="CustomShape 7_1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Exercícios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90897-1F29-C36D-DDD6-2C34A7821EE2}"/>
              </a:ext>
            </a:extLst>
          </p:cNvPr>
          <p:cNvSpPr txBox="1"/>
          <p:nvPr/>
        </p:nvSpPr>
        <p:spPr>
          <a:xfrm>
            <a:off x="1436650" y="2419433"/>
            <a:ext cx="7900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200"/>
            </a:pP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110110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(?)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FF152-2897-B02C-83EB-D0A7F8C9D0B5}"/>
              </a:ext>
            </a:extLst>
          </p:cNvPr>
          <p:cNvSpPr txBox="1"/>
          <p:nvPr/>
        </p:nvSpPr>
        <p:spPr>
          <a:xfrm>
            <a:off x="2038815" y="3106725"/>
            <a:ext cx="61889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</a:t>
            </a:r>
            <a:r>
              <a:rPr lang="pt-BR" sz="3200" b="1" noProof="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pt-BR" sz="3200" b="1" noProof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00</a:t>
            </a:r>
            <a:r>
              <a:rPr lang="pt-BR" sz="3200" b="1" noProof="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11 0110</a:t>
            </a:r>
          </a:p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</a:t>
            </a:r>
            <a:r>
              <a:rPr lang="pt-BR" sz="3200" b="1" noProof="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3    6</a:t>
            </a:r>
          </a:p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</a:t>
            </a:r>
            <a:r>
              <a:rPr lang="pt-BR" sz="3200" b="1" noProof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36</a:t>
            </a:r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pt-BR" sz="3200" b="1" baseline="-25000" noProof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16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259182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/>
          </p:nvPr>
        </p:nvSpPr>
        <p:spPr>
          <a:xfrm>
            <a:off x="278780" y="990719"/>
            <a:ext cx="11608420" cy="545468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1 - Apresente os cálculos completos e os valores referentes às seguintes conversões entre bases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binária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(inteiros não negativos),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hexadecimal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</p:txBody>
      </p:sp>
      <p:sp>
        <p:nvSpPr>
          <p:cNvPr id="417" name="CustomShape 7_1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Exercícios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90897-1F29-C36D-DDD6-2C34A7821EE2}"/>
              </a:ext>
            </a:extLst>
          </p:cNvPr>
          <p:cNvSpPr txBox="1"/>
          <p:nvPr/>
        </p:nvSpPr>
        <p:spPr>
          <a:xfrm>
            <a:off x="1436650" y="2419433"/>
            <a:ext cx="7900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200"/>
            </a:pP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37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(?)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256F99-04C7-96FF-D1B5-C268BF0BFFE5}"/>
              </a:ext>
            </a:extLst>
          </p:cNvPr>
          <p:cNvGraphicFramePr>
            <a:graphicFrameLocks noGrp="1"/>
          </p:cNvGraphicFramePr>
          <p:nvPr/>
        </p:nvGraphicFramePr>
        <p:xfrm>
          <a:off x="4725385" y="3004208"/>
          <a:ext cx="5624514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3502">
                  <a:extLst>
                    <a:ext uri="{9D8B030D-6E8A-4147-A177-3AD203B41FA5}">
                      <a16:colId xmlns:a16="http://schemas.microsoft.com/office/drawing/2014/main" val="460795441"/>
                    </a:ext>
                  </a:extLst>
                </a:gridCol>
                <a:gridCol w="803502">
                  <a:extLst>
                    <a:ext uri="{9D8B030D-6E8A-4147-A177-3AD203B41FA5}">
                      <a16:colId xmlns:a16="http://schemas.microsoft.com/office/drawing/2014/main" val="2666620441"/>
                    </a:ext>
                  </a:extLst>
                </a:gridCol>
                <a:gridCol w="803502">
                  <a:extLst>
                    <a:ext uri="{9D8B030D-6E8A-4147-A177-3AD203B41FA5}">
                      <a16:colId xmlns:a16="http://schemas.microsoft.com/office/drawing/2014/main" val="1006936734"/>
                    </a:ext>
                  </a:extLst>
                </a:gridCol>
                <a:gridCol w="803502">
                  <a:extLst>
                    <a:ext uri="{9D8B030D-6E8A-4147-A177-3AD203B41FA5}">
                      <a16:colId xmlns:a16="http://schemas.microsoft.com/office/drawing/2014/main" val="3394899599"/>
                    </a:ext>
                  </a:extLst>
                </a:gridCol>
                <a:gridCol w="803502">
                  <a:extLst>
                    <a:ext uri="{9D8B030D-6E8A-4147-A177-3AD203B41FA5}">
                      <a16:colId xmlns:a16="http://schemas.microsoft.com/office/drawing/2014/main" val="2145857794"/>
                    </a:ext>
                  </a:extLst>
                </a:gridCol>
                <a:gridCol w="803502">
                  <a:extLst>
                    <a:ext uri="{9D8B030D-6E8A-4147-A177-3AD203B41FA5}">
                      <a16:colId xmlns:a16="http://schemas.microsoft.com/office/drawing/2014/main" val="1050924464"/>
                    </a:ext>
                  </a:extLst>
                </a:gridCol>
                <a:gridCol w="803502">
                  <a:extLst>
                    <a:ext uri="{9D8B030D-6E8A-4147-A177-3AD203B41FA5}">
                      <a16:colId xmlns:a16="http://schemas.microsoft.com/office/drawing/2014/main" val="248924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79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31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4703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15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070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642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0097606"/>
                  </a:ext>
                </a:extLst>
              </a:tr>
            </a:tbl>
          </a:graphicData>
        </a:graphic>
      </p:graphicFrame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C9F38961-B692-3068-FCE9-A63ED04B9835}"/>
              </a:ext>
            </a:extLst>
          </p:cNvPr>
          <p:cNvSpPr/>
          <p:nvPr/>
        </p:nvSpPr>
        <p:spPr>
          <a:xfrm>
            <a:off x="4725385" y="3739377"/>
            <a:ext cx="5456903" cy="2585630"/>
          </a:xfrm>
          <a:custGeom>
            <a:avLst/>
            <a:gdLst>
              <a:gd name="connsiteX0" fmla="*/ 5456903 w 5456903"/>
              <a:gd name="connsiteY0" fmla="*/ 2064774 h 2257795"/>
              <a:gd name="connsiteX1" fmla="*/ 3517490 w 5456903"/>
              <a:gd name="connsiteY1" fmla="*/ 2057400 h 2257795"/>
              <a:gd name="connsiteX2" fmla="*/ 0 w 5456903"/>
              <a:gd name="connsiteY2" fmla="*/ 0 h 225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6903" h="2257795">
                <a:moveTo>
                  <a:pt x="5456903" y="2064774"/>
                </a:moveTo>
                <a:cubicBezTo>
                  <a:pt x="4941938" y="2233151"/>
                  <a:pt x="4426974" y="2401529"/>
                  <a:pt x="3517490" y="2057400"/>
                </a:cubicBezTo>
                <a:cubicBezTo>
                  <a:pt x="2608006" y="1713271"/>
                  <a:pt x="428932" y="216310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63EB0-AEDE-97ED-6A02-1E2F18E6C3B2}"/>
              </a:ext>
            </a:extLst>
          </p:cNvPr>
          <p:cNvSpPr txBox="1"/>
          <p:nvPr/>
        </p:nvSpPr>
        <p:spPr>
          <a:xfrm>
            <a:off x="0" y="3004208"/>
            <a:ext cx="6188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0720"/>
            <a:r>
              <a:rPr lang="pt-BR" sz="3200" b="1" noProof="0" dirty="0">
                <a:solidFill>
                  <a:srgbClr val="FF0000"/>
                </a:solidFill>
                <a:latin typeface="Times New Roman" panose="02020603050405020304" pitchFamily="18" charset="0"/>
              </a:rPr>
              <a:t>&gt;  10 0101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320366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/>
          </p:nvPr>
        </p:nvSpPr>
        <p:spPr>
          <a:xfrm>
            <a:off x="278780" y="990719"/>
            <a:ext cx="11608420" cy="545468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1 - Apresente os cálculos completos e os valores referentes às seguintes conversões entre bases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binária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(inteiros não negativos),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hexadecimal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</p:txBody>
      </p:sp>
      <p:sp>
        <p:nvSpPr>
          <p:cNvPr id="417" name="CustomShape 7_1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Exercícios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90897-1F29-C36D-DDD6-2C34A7821EE2}"/>
              </a:ext>
            </a:extLst>
          </p:cNvPr>
          <p:cNvSpPr txBox="1"/>
          <p:nvPr/>
        </p:nvSpPr>
        <p:spPr>
          <a:xfrm>
            <a:off x="1436650" y="2419433"/>
            <a:ext cx="7900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200"/>
            </a:pP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110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(?)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FF152-2897-B02C-83EB-D0A7F8C9D0B5}"/>
              </a:ext>
            </a:extLst>
          </p:cNvPr>
          <p:cNvSpPr txBox="1"/>
          <p:nvPr/>
        </p:nvSpPr>
        <p:spPr>
          <a:xfrm>
            <a:off x="0" y="3004208"/>
            <a:ext cx="618892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Opção 1: </a:t>
            </a:r>
          </a:p>
          <a:p>
            <a:pPr marL="680720"/>
            <a:r>
              <a:rPr lang="pt-BR" sz="3200" b="1" noProof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Primeiro passo:</a:t>
            </a:r>
          </a:p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 -&gt; BIN</a:t>
            </a:r>
          </a:p>
          <a:p>
            <a:pPr marL="1137920" indent="-457200">
              <a:buFont typeface="Wingdings" panose="05000000000000000000" pitchFamily="2" charset="2"/>
              <a:buChar char="Ø"/>
            </a:pPr>
            <a:r>
              <a:rPr lang="pt-BR" sz="3200" b="1" noProof="0" dirty="0">
                <a:solidFill>
                  <a:srgbClr val="FF0000"/>
                </a:solidFill>
                <a:latin typeface="Times New Roman" panose="02020603050405020304" pitchFamily="18" charset="0"/>
              </a:rPr>
              <a:t>0110 1110</a:t>
            </a:r>
          </a:p>
          <a:p>
            <a:pPr marL="680720"/>
            <a:r>
              <a:rPr lang="pt-BR" sz="3200" b="1" noProof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Segundo passo:</a:t>
            </a:r>
          </a:p>
          <a:p>
            <a:pPr marL="680720"/>
            <a:r>
              <a:rPr lang="pt-BR" sz="3200" b="1" noProof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BIN -&gt; HEX</a:t>
            </a:r>
          </a:p>
          <a:p>
            <a:pPr marL="1137920" indent="-457200">
              <a:buFont typeface="Wingdings" panose="05000000000000000000" pitchFamily="2" charset="2"/>
              <a:buChar char="Ø"/>
            </a:pPr>
            <a:r>
              <a:rPr lang="pt-BR" sz="3200" b="1" noProof="0" dirty="0">
                <a:solidFill>
                  <a:srgbClr val="FF0000"/>
                </a:solidFill>
                <a:latin typeface="Times New Roman" panose="02020603050405020304" pitchFamily="18" charset="0"/>
              </a:rPr>
              <a:t>6E</a:t>
            </a:r>
            <a:r>
              <a:rPr lang="pt-BR" sz="1600" noProof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16</a:t>
            </a:r>
            <a:endParaRPr lang="pt-BR" sz="1600" b="1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680720"/>
            <a:endParaRPr lang="pt-BR" sz="3200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CBDB52-C42D-1119-37E5-CB2EF081B76D}"/>
              </a:ext>
            </a:extLst>
          </p:cNvPr>
          <p:cNvGraphicFramePr>
            <a:graphicFrameLocks noGrp="1"/>
          </p:cNvGraphicFramePr>
          <p:nvPr/>
        </p:nvGraphicFramePr>
        <p:xfrm>
          <a:off x="5129561" y="2711820"/>
          <a:ext cx="6033357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373">
                  <a:extLst>
                    <a:ext uri="{9D8B030D-6E8A-4147-A177-3AD203B41FA5}">
                      <a16:colId xmlns:a16="http://schemas.microsoft.com/office/drawing/2014/main" val="460795441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2666620441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1006936734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3394899599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2145857794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1050924464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2701694388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88772596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354842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79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31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4703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15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070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642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080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8650031"/>
                  </a:ext>
                </a:extLst>
              </a:tr>
            </a:tbl>
          </a:graphicData>
        </a:graphic>
      </p:graphicFrame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C02878F0-6CFB-65A7-B934-02C77A0820CF}"/>
              </a:ext>
            </a:extLst>
          </p:cNvPr>
          <p:cNvSpPr/>
          <p:nvPr/>
        </p:nvSpPr>
        <p:spPr>
          <a:xfrm>
            <a:off x="5129561" y="3429001"/>
            <a:ext cx="5361998" cy="3054396"/>
          </a:xfrm>
          <a:custGeom>
            <a:avLst/>
            <a:gdLst>
              <a:gd name="connsiteX0" fmla="*/ 5456903 w 5456903"/>
              <a:gd name="connsiteY0" fmla="*/ 2064774 h 2257795"/>
              <a:gd name="connsiteX1" fmla="*/ 3517490 w 5456903"/>
              <a:gd name="connsiteY1" fmla="*/ 2057400 h 2257795"/>
              <a:gd name="connsiteX2" fmla="*/ 0 w 5456903"/>
              <a:gd name="connsiteY2" fmla="*/ 0 h 225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6903" h="2257795">
                <a:moveTo>
                  <a:pt x="5456903" y="2064774"/>
                </a:moveTo>
                <a:cubicBezTo>
                  <a:pt x="4941938" y="2233151"/>
                  <a:pt x="4426974" y="2401529"/>
                  <a:pt x="3517490" y="2057400"/>
                </a:cubicBezTo>
                <a:cubicBezTo>
                  <a:pt x="2608006" y="1713271"/>
                  <a:pt x="428932" y="216310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1352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/>
          </p:nvPr>
        </p:nvSpPr>
        <p:spPr>
          <a:xfrm>
            <a:off x="278780" y="990719"/>
            <a:ext cx="11608420" cy="545468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1 - Apresente os cálculos completos e os valores referentes às seguintes conversões entre bases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binária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(inteiros não negativos),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hexadecimal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</p:txBody>
      </p:sp>
      <p:sp>
        <p:nvSpPr>
          <p:cNvPr id="417" name="CustomShape 7_1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Exercícios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90897-1F29-C36D-DDD6-2C34A7821EE2}"/>
              </a:ext>
            </a:extLst>
          </p:cNvPr>
          <p:cNvSpPr txBox="1"/>
          <p:nvPr/>
        </p:nvSpPr>
        <p:spPr>
          <a:xfrm>
            <a:off x="1436650" y="2419433"/>
            <a:ext cx="7900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200"/>
            </a:pP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110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(?)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FF152-2897-B02C-83EB-D0A7F8C9D0B5}"/>
              </a:ext>
            </a:extLst>
          </p:cNvPr>
          <p:cNvSpPr txBox="1"/>
          <p:nvPr/>
        </p:nvSpPr>
        <p:spPr>
          <a:xfrm>
            <a:off x="0" y="3004208"/>
            <a:ext cx="6188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Opção 2: </a:t>
            </a:r>
            <a:r>
              <a:rPr lang="pt-BR" sz="3200" b="1" noProof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6E</a:t>
            </a:r>
            <a:r>
              <a:rPr lang="pt-BR" sz="1600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16</a:t>
            </a:r>
            <a:endParaRPr lang="pt-BR" sz="1600" b="1" noProof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CBDB52-C42D-1119-37E5-CB2EF081B76D}"/>
              </a:ext>
            </a:extLst>
          </p:cNvPr>
          <p:cNvGraphicFramePr>
            <a:graphicFrameLocks noGrp="1"/>
          </p:cNvGraphicFramePr>
          <p:nvPr/>
        </p:nvGraphicFramePr>
        <p:xfrm>
          <a:off x="5129561" y="2711820"/>
          <a:ext cx="2011119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373">
                  <a:extLst>
                    <a:ext uri="{9D8B030D-6E8A-4147-A177-3AD203B41FA5}">
                      <a16:colId xmlns:a16="http://schemas.microsoft.com/office/drawing/2014/main" val="460795441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2666620441"/>
                    </a:ext>
                  </a:extLst>
                </a:gridCol>
                <a:gridCol w="670373">
                  <a:extLst>
                    <a:ext uri="{9D8B030D-6E8A-4147-A177-3AD203B41FA5}">
                      <a16:colId xmlns:a16="http://schemas.microsoft.com/office/drawing/2014/main" val="1006936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79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31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noProof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94703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15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b="1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70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642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80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400" noProof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650031"/>
                  </a:ext>
                </a:extLst>
              </a:tr>
            </a:tbl>
          </a:graphicData>
        </a:graphic>
      </p:graphicFrame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C02878F0-6CFB-65A7-B934-02C77A0820CF}"/>
              </a:ext>
            </a:extLst>
          </p:cNvPr>
          <p:cNvSpPr/>
          <p:nvPr/>
        </p:nvSpPr>
        <p:spPr>
          <a:xfrm>
            <a:off x="5090440" y="3429000"/>
            <a:ext cx="2011119" cy="919975"/>
          </a:xfrm>
          <a:custGeom>
            <a:avLst/>
            <a:gdLst>
              <a:gd name="connsiteX0" fmla="*/ 5456903 w 5456903"/>
              <a:gd name="connsiteY0" fmla="*/ 2064774 h 2257795"/>
              <a:gd name="connsiteX1" fmla="*/ 3517490 w 5456903"/>
              <a:gd name="connsiteY1" fmla="*/ 2057400 h 2257795"/>
              <a:gd name="connsiteX2" fmla="*/ 0 w 5456903"/>
              <a:gd name="connsiteY2" fmla="*/ 0 h 225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6903" h="2257795">
                <a:moveTo>
                  <a:pt x="5456903" y="2064774"/>
                </a:moveTo>
                <a:cubicBezTo>
                  <a:pt x="4941938" y="2233151"/>
                  <a:pt x="4426974" y="2401529"/>
                  <a:pt x="3517490" y="2057400"/>
                </a:cubicBezTo>
                <a:cubicBezTo>
                  <a:pt x="2608006" y="1713271"/>
                  <a:pt x="428932" y="216310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0438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/>
          </p:nvPr>
        </p:nvSpPr>
        <p:spPr>
          <a:xfrm>
            <a:off x="278780" y="990719"/>
            <a:ext cx="11608420" cy="545468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1 - Apresente os cálculos completos e os valores referentes às seguintes conversões entre bases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binária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(inteiros não negativos),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hexadecimal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</p:txBody>
      </p:sp>
      <p:sp>
        <p:nvSpPr>
          <p:cNvPr id="417" name="CustomShape 7_1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Exercícios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90897-1F29-C36D-DDD6-2C34A7821EE2}"/>
              </a:ext>
            </a:extLst>
          </p:cNvPr>
          <p:cNvSpPr txBox="1"/>
          <p:nvPr/>
        </p:nvSpPr>
        <p:spPr>
          <a:xfrm>
            <a:off x="1436650" y="2419433"/>
            <a:ext cx="7900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200"/>
            </a:pPr>
            <a:r>
              <a:rPr lang="pt-BR" sz="3200" noProof="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cb03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</a:t>
            </a: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(?)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FF152-2897-B02C-83EB-D0A7F8C9D0B5}"/>
              </a:ext>
            </a:extLst>
          </p:cNvPr>
          <p:cNvSpPr txBox="1"/>
          <p:nvPr/>
        </p:nvSpPr>
        <p:spPr>
          <a:xfrm>
            <a:off x="0" y="3561405"/>
            <a:ext cx="658665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1100 1011 0000 0011</a:t>
            </a:r>
          </a:p>
          <a:p>
            <a:pPr marL="680720"/>
            <a:r>
              <a:rPr lang="pt-BR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pt-BR" sz="2400" baseline="30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pt-BR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pt-BR" sz="2400" baseline="30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pt-BR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pt-BR" sz="2400" baseline="30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pt-BR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pt-BR" sz="2400" baseline="30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</a:t>
            </a:r>
            <a:r>
              <a:rPr lang="pt-BR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pt-BR" sz="2400" baseline="30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pt-BR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pt-BR" sz="2400" baseline="30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pt-BR" sz="2400" baseline="30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680720"/>
            <a:r>
              <a:rPr lang="pt-BR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32768+16384+2048+512+256+2+1</a:t>
            </a:r>
          </a:p>
          <a:p>
            <a:pPr marL="680720"/>
            <a:r>
              <a:rPr lang="pt-BR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(51971)</a:t>
            </a:r>
            <a:r>
              <a:rPr lang="pt-BR" sz="1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pt-BR" sz="2400" noProof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825D98-9089-D4AD-CB88-DF5352335CDE}"/>
              </a:ext>
            </a:extLst>
          </p:cNvPr>
          <p:cNvCxnSpPr/>
          <p:nvPr/>
        </p:nvCxnSpPr>
        <p:spPr>
          <a:xfrm flipH="1">
            <a:off x="1319981" y="2905432"/>
            <a:ext cx="295459" cy="6559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8AF1CD-81A3-0A0B-DB02-0CBD5C60DD57}"/>
              </a:ext>
            </a:extLst>
          </p:cNvPr>
          <p:cNvCxnSpPr>
            <a:cxnSpLocks/>
          </p:cNvCxnSpPr>
          <p:nvPr/>
        </p:nvCxnSpPr>
        <p:spPr>
          <a:xfrm>
            <a:off x="1894220" y="2905432"/>
            <a:ext cx="209643" cy="7035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505131-B97F-5D53-86E9-69AA63918460}"/>
              </a:ext>
            </a:extLst>
          </p:cNvPr>
          <p:cNvCxnSpPr>
            <a:cxnSpLocks/>
          </p:cNvCxnSpPr>
          <p:nvPr/>
        </p:nvCxnSpPr>
        <p:spPr>
          <a:xfrm>
            <a:off x="2115710" y="2912924"/>
            <a:ext cx="917422" cy="6484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B0A507-D193-55A8-A30F-CD420F508E58}"/>
              </a:ext>
            </a:extLst>
          </p:cNvPr>
          <p:cNvCxnSpPr>
            <a:cxnSpLocks/>
          </p:cNvCxnSpPr>
          <p:nvPr/>
        </p:nvCxnSpPr>
        <p:spPr>
          <a:xfrm>
            <a:off x="2437584" y="2932942"/>
            <a:ext cx="1411793" cy="6759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3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/>
          </p:nvPr>
        </p:nvSpPr>
        <p:spPr>
          <a:xfrm>
            <a:off x="278780" y="990719"/>
            <a:ext cx="11608420" cy="545468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1 - Apresente os cálculos completos e os valores referentes às seguintes conversões entre bases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binária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(inteiros não negativos),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</a:t>
            </a:r>
            <a:r>
              <a:rPr lang="pt-BR" sz="2800" b="1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hexadecimal</a:t>
            </a:r>
            <a:r>
              <a:rPr lang="pt-BR" sz="28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</p:txBody>
      </p:sp>
      <p:sp>
        <p:nvSpPr>
          <p:cNvPr id="417" name="CustomShape 7_1"/>
          <p:cNvSpPr/>
          <p:nvPr/>
        </p:nvSpPr>
        <p:spPr>
          <a:xfrm>
            <a:off x="1615440" y="0"/>
            <a:ext cx="105765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600" b="1" spc="-1" noProof="0" dirty="0">
                <a:solidFill>
                  <a:srgbClr val="FFFFFF"/>
                </a:solidFill>
                <a:latin typeface="Calibri Light"/>
                <a:ea typeface="DejaVu Sans"/>
              </a:rPr>
              <a:t>Exercícios</a:t>
            </a:r>
            <a:endParaRPr lang="pt-BR" sz="3600" b="1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90897-1F29-C36D-DDD6-2C34A7821EE2}"/>
              </a:ext>
            </a:extLst>
          </p:cNvPr>
          <p:cNvSpPr txBox="1"/>
          <p:nvPr/>
        </p:nvSpPr>
        <p:spPr>
          <a:xfrm>
            <a:off x="1436650" y="2419433"/>
            <a:ext cx="7900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200"/>
            </a:pPr>
            <a:r>
              <a:rPr lang="pt-BR" sz="3200" noProof="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51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</a:t>
            </a:r>
            <a:r>
              <a:rPr lang="pt-BR" sz="32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(?)</a:t>
            </a:r>
            <a:r>
              <a:rPr lang="pt-BR" sz="16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FF152-2897-B02C-83EB-D0A7F8C9D0B5}"/>
              </a:ext>
            </a:extLst>
          </p:cNvPr>
          <p:cNvSpPr txBox="1"/>
          <p:nvPr/>
        </p:nvSpPr>
        <p:spPr>
          <a:xfrm>
            <a:off x="0" y="3561405"/>
            <a:ext cx="65866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0720"/>
            <a:r>
              <a:rPr lang="pt-BR" sz="3200" b="1" noProof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(0101 0001)</a:t>
            </a:r>
            <a:r>
              <a:rPr lang="pt-BR" noProof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pt-BR" sz="3200" b="1" noProof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825D98-9089-D4AD-CB88-DF5352335CDE}"/>
              </a:ext>
            </a:extLst>
          </p:cNvPr>
          <p:cNvCxnSpPr/>
          <p:nvPr/>
        </p:nvCxnSpPr>
        <p:spPr>
          <a:xfrm flipH="1">
            <a:off x="1319981" y="2905432"/>
            <a:ext cx="295459" cy="6559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8AF1CD-81A3-0A0B-DB02-0CBD5C60DD57}"/>
              </a:ext>
            </a:extLst>
          </p:cNvPr>
          <p:cNvCxnSpPr>
            <a:cxnSpLocks/>
          </p:cNvCxnSpPr>
          <p:nvPr/>
        </p:nvCxnSpPr>
        <p:spPr>
          <a:xfrm>
            <a:off x="1894220" y="2905432"/>
            <a:ext cx="209643" cy="7035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96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84;p32">
            <a:extLst>
              <a:ext uri="{FF2B5EF4-FFF2-40B4-BE49-F238E27FC236}">
                <a16:creationId xmlns:a16="http://schemas.microsoft.com/office/drawing/2014/main" id="{A3C693FB-D686-B64D-794D-8AA7B48B9CFE}"/>
              </a:ext>
            </a:extLst>
          </p:cNvPr>
          <p:cNvSpPr txBox="1">
            <a:spLocks/>
          </p:cNvSpPr>
          <p:nvPr/>
        </p:nvSpPr>
        <p:spPr>
          <a:xfrm>
            <a:off x="415600" y="817770"/>
            <a:ext cx="11360800" cy="140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 err="1">
                <a:solidFill>
                  <a:srgbClr val="002060"/>
                </a:solidFill>
              </a:rPr>
              <a:t>Queremos</a:t>
            </a:r>
            <a:r>
              <a:rPr lang="en-GB" sz="2400" dirty="0">
                <a:solidFill>
                  <a:srgbClr val="002060"/>
                </a:solidFill>
              </a:rPr>
              <a:t> </a:t>
            </a:r>
            <a:r>
              <a:rPr lang="en-GB" sz="2400" dirty="0" err="1">
                <a:solidFill>
                  <a:srgbClr val="002060"/>
                </a:solidFill>
              </a:rPr>
              <a:t>uma</a:t>
            </a:r>
            <a:r>
              <a:rPr lang="en-GB" sz="2400" dirty="0">
                <a:solidFill>
                  <a:srgbClr val="002060"/>
                </a:solidFill>
              </a:rPr>
              <a:t> </a:t>
            </a:r>
            <a:r>
              <a:rPr lang="en-GB" sz="2400" dirty="0" err="1">
                <a:solidFill>
                  <a:srgbClr val="002060"/>
                </a:solidFill>
              </a:rPr>
              <a:t>representação</a:t>
            </a:r>
            <a:r>
              <a:rPr lang="en-GB" sz="2400" dirty="0">
                <a:solidFill>
                  <a:srgbClr val="002060"/>
                </a:solidFill>
              </a:rPr>
              <a:t> que </a:t>
            </a:r>
            <a:r>
              <a:rPr lang="en-GB" sz="2400" dirty="0" err="1">
                <a:solidFill>
                  <a:srgbClr val="002060"/>
                </a:solidFill>
              </a:rPr>
              <a:t>comporte</a:t>
            </a:r>
            <a:r>
              <a:rPr lang="en-GB" sz="2400" dirty="0">
                <a:solidFill>
                  <a:srgbClr val="002060"/>
                </a:solidFill>
              </a:rPr>
              <a:t> as </a:t>
            </a:r>
            <a:r>
              <a:rPr lang="en-GB" sz="2400" dirty="0" err="1">
                <a:solidFill>
                  <a:srgbClr val="002060"/>
                </a:solidFill>
              </a:rPr>
              <a:t>operações</a:t>
            </a:r>
            <a:r>
              <a:rPr lang="en-GB" sz="2400" dirty="0">
                <a:solidFill>
                  <a:srgbClr val="002060"/>
                </a:solidFill>
              </a:rPr>
              <a:t> </a:t>
            </a:r>
            <a:r>
              <a:rPr lang="en-GB" sz="2400" dirty="0" err="1">
                <a:solidFill>
                  <a:srgbClr val="002060"/>
                </a:solidFill>
              </a:rPr>
              <a:t>comuns</a:t>
            </a:r>
            <a:r>
              <a:rPr lang="en-GB" sz="2400" dirty="0">
                <a:solidFill>
                  <a:srgbClr val="002060"/>
                </a:solidFill>
              </a:rPr>
              <a:t>:</a:t>
            </a:r>
          </a:p>
          <a:p>
            <a:pPr lvl="1"/>
            <a:r>
              <a:rPr lang="en-GB" dirty="0" err="1">
                <a:solidFill>
                  <a:srgbClr val="002060"/>
                </a:solidFill>
              </a:rPr>
              <a:t>Adição</a:t>
            </a:r>
            <a:endParaRPr lang="en-GB" dirty="0">
              <a:solidFill>
                <a:srgbClr val="002060"/>
              </a:solidFill>
            </a:endParaRPr>
          </a:p>
          <a:p>
            <a:pPr lvl="1"/>
            <a:r>
              <a:rPr lang="en-GB" dirty="0" err="1">
                <a:solidFill>
                  <a:srgbClr val="002060"/>
                </a:solidFill>
              </a:rPr>
              <a:t>Subtração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" name="Google Shape;285;p32">
            <a:extLst>
              <a:ext uri="{FF2B5EF4-FFF2-40B4-BE49-F238E27FC236}">
                <a16:creationId xmlns:a16="http://schemas.microsoft.com/office/drawing/2014/main" id="{A4ECC1A0-2107-80DD-AA05-8ACB21A158C4}"/>
              </a:ext>
            </a:extLst>
          </p:cNvPr>
          <p:cNvSpPr txBox="1">
            <a:spLocks/>
          </p:cNvSpPr>
          <p:nvPr/>
        </p:nvSpPr>
        <p:spPr>
          <a:xfrm>
            <a:off x="2862942" y="134767"/>
            <a:ext cx="9329057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100">
                <a:solidFill>
                  <a:schemeClr val="bg1"/>
                </a:solidFill>
              </a:rPr>
              <a:t>Como representar um número </a:t>
            </a:r>
            <a:r>
              <a:rPr lang="pt-BR" sz="3100" u="sng">
                <a:solidFill>
                  <a:schemeClr val="bg1"/>
                </a:solidFill>
              </a:rPr>
              <a:t>inteiro</a:t>
            </a:r>
            <a:r>
              <a:rPr lang="pt-BR" sz="3100">
                <a:solidFill>
                  <a:schemeClr val="bg1"/>
                </a:solidFill>
              </a:rPr>
              <a:t>?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Google Shape;286;p32">
            <a:extLst>
              <a:ext uri="{FF2B5EF4-FFF2-40B4-BE49-F238E27FC236}">
                <a16:creationId xmlns:a16="http://schemas.microsoft.com/office/drawing/2014/main" id="{AB6A5663-C201-377D-577B-E99F5CE6C15F}"/>
              </a:ext>
            </a:extLst>
          </p:cNvPr>
          <p:cNvSpPr txBox="1"/>
          <p:nvPr/>
        </p:nvSpPr>
        <p:spPr>
          <a:xfrm>
            <a:off x="8355800" y="3710933"/>
            <a:ext cx="2056800" cy="1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/>
            <a:r>
              <a:rPr lang="en" sz="3733" dirty="0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1010</a:t>
            </a:r>
            <a:endParaRPr sz="3733" dirty="0">
              <a:solidFill>
                <a:srgbClr val="00206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algn="r"/>
            <a:r>
              <a:rPr lang="en" sz="3733" u="sng" dirty="0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+ 0111</a:t>
            </a:r>
            <a:endParaRPr sz="3733" u="sng" dirty="0">
              <a:solidFill>
                <a:srgbClr val="00206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7" name="Google Shape;287;p32">
            <a:extLst>
              <a:ext uri="{FF2B5EF4-FFF2-40B4-BE49-F238E27FC236}">
                <a16:creationId xmlns:a16="http://schemas.microsoft.com/office/drawing/2014/main" id="{D26DF388-EF3F-7516-8A4B-D57EDF868571}"/>
              </a:ext>
            </a:extLst>
          </p:cNvPr>
          <p:cNvSpPr txBox="1"/>
          <p:nvPr/>
        </p:nvSpPr>
        <p:spPr>
          <a:xfrm>
            <a:off x="4454334" y="1361418"/>
            <a:ext cx="400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buClr>
                <a:schemeClr val="accent3"/>
              </a:buClr>
              <a:buSzPts val="1800"/>
              <a:buFont typeface="Inter"/>
              <a:buChar char="●"/>
            </a:pPr>
            <a:r>
              <a:rPr lang="en-GB" sz="2400" dirty="0" err="1">
                <a:solidFill>
                  <a:srgbClr val="002060"/>
                </a:solidFill>
                <a:ea typeface="Inter"/>
                <a:cs typeface="Inter"/>
                <a:sym typeface="Inter"/>
              </a:rPr>
              <a:t>Multiplicação</a:t>
            </a:r>
            <a:endParaRPr lang="en-GB" sz="2400" dirty="0">
              <a:solidFill>
                <a:srgbClr val="002060"/>
              </a:solidFill>
              <a:ea typeface="Inter"/>
              <a:cs typeface="Inter"/>
              <a:sym typeface="Inter"/>
            </a:endParaRPr>
          </a:p>
          <a:p>
            <a:pPr marL="609585" indent="-457189">
              <a:buClr>
                <a:schemeClr val="accent3"/>
              </a:buClr>
              <a:buSzPts val="1800"/>
              <a:buFont typeface="Inter"/>
              <a:buChar char="●"/>
            </a:pPr>
            <a:r>
              <a:rPr lang="en-GB" sz="2400" dirty="0" err="1">
                <a:solidFill>
                  <a:srgbClr val="002060"/>
                </a:solidFill>
                <a:ea typeface="Inter"/>
                <a:cs typeface="Inter"/>
                <a:sym typeface="Inter"/>
              </a:rPr>
              <a:t>Divisão</a:t>
            </a:r>
            <a:endParaRPr sz="2400" dirty="0">
              <a:solidFill>
                <a:srgbClr val="002060"/>
              </a:solidFill>
              <a:ea typeface="Inter"/>
              <a:cs typeface="Inter"/>
              <a:sym typeface="Inter"/>
            </a:endParaRPr>
          </a:p>
        </p:txBody>
      </p:sp>
      <p:sp>
        <p:nvSpPr>
          <p:cNvPr id="8" name="Google Shape;288;p32">
            <a:extLst>
              <a:ext uri="{FF2B5EF4-FFF2-40B4-BE49-F238E27FC236}">
                <a16:creationId xmlns:a16="http://schemas.microsoft.com/office/drawing/2014/main" id="{F44F2A69-5035-18E2-367D-8781A630ADF2}"/>
              </a:ext>
            </a:extLst>
          </p:cNvPr>
          <p:cNvSpPr txBox="1">
            <a:spLocks/>
          </p:cNvSpPr>
          <p:nvPr/>
        </p:nvSpPr>
        <p:spPr>
          <a:xfrm>
            <a:off x="415600" y="2686733"/>
            <a:ext cx="6708800" cy="364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Exemplo</a:t>
            </a:r>
            <a:r>
              <a:rPr lang="en-GB" dirty="0"/>
              <a:t>: 10 + 7 = 17</a:t>
            </a:r>
          </a:p>
          <a:p>
            <a:pPr lvl="1"/>
            <a:r>
              <a:rPr lang="en-GB" dirty="0"/>
              <a:t>10, 7 </a:t>
            </a:r>
            <a:r>
              <a:rPr lang="en-GB" dirty="0" err="1"/>
              <a:t>pode</a:t>
            </a:r>
            <a:r>
              <a:rPr lang="en-GB" dirty="0"/>
              <a:t> ser </a:t>
            </a:r>
            <a:r>
              <a:rPr lang="en-GB" dirty="0" err="1"/>
              <a:t>representado</a:t>
            </a:r>
            <a:r>
              <a:rPr lang="en-GB" dirty="0"/>
              <a:t> com </a:t>
            </a:r>
            <a:r>
              <a:rPr lang="en-GB" u="sng" dirty="0"/>
              <a:t>4 bits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Soma e </a:t>
            </a:r>
            <a:r>
              <a:rPr lang="en-GB" dirty="0" err="1"/>
              <a:t>subtração</a:t>
            </a:r>
            <a:r>
              <a:rPr lang="en-GB" dirty="0"/>
              <a:t> </a:t>
            </a:r>
            <a:r>
              <a:rPr lang="en-GB" dirty="0" err="1"/>
              <a:t>podem</a:t>
            </a:r>
            <a:r>
              <a:rPr lang="en-GB" dirty="0"/>
              <a:t> ser </a:t>
            </a:r>
            <a:r>
              <a:rPr lang="en-GB" dirty="0" err="1"/>
              <a:t>feitas</a:t>
            </a:r>
            <a:r>
              <a:rPr lang="en-GB" dirty="0"/>
              <a:t> da </a:t>
            </a:r>
            <a:r>
              <a:rPr lang="en-GB" dirty="0" err="1"/>
              <a:t>mesma</a:t>
            </a:r>
            <a:r>
              <a:rPr lang="en-GB" dirty="0"/>
              <a:t> forma que </a:t>
            </a:r>
            <a:r>
              <a:rPr lang="en-GB" dirty="0" err="1"/>
              <a:t>fazemos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decimal!!</a:t>
            </a:r>
          </a:p>
          <a:p>
            <a:pPr lvl="1"/>
            <a:endParaRPr lang="en-GB" dirty="0">
              <a:solidFill>
                <a:srgbClr val="002060"/>
              </a:solidFill>
            </a:endParaRPr>
          </a:p>
          <a:p>
            <a:pPr lvl="1"/>
            <a:r>
              <a:rPr lang="en-GB" dirty="0"/>
              <a:t>Mas </a:t>
            </a:r>
            <a:r>
              <a:rPr lang="en-GB" dirty="0" err="1"/>
              <a:t>aqui</a:t>
            </a:r>
            <a:r>
              <a:rPr lang="en-GB" dirty="0"/>
              <a:t> </a:t>
            </a:r>
            <a:r>
              <a:rPr lang="en-GB" dirty="0" err="1"/>
              <a:t>temos</a:t>
            </a:r>
            <a:r>
              <a:rPr lang="en-GB" dirty="0"/>
              <a:t> um </a:t>
            </a:r>
            <a:r>
              <a:rPr lang="en-GB" dirty="0" err="1"/>
              <a:t>problema</a:t>
            </a:r>
            <a:r>
              <a:rPr lang="en-GB" dirty="0"/>
              <a:t>…</a:t>
            </a:r>
          </a:p>
        </p:txBody>
      </p:sp>
      <p:sp>
        <p:nvSpPr>
          <p:cNvPr id="9" name="Google Shape;289;p32">
            <a:extLst>
              <a:ext uri="{FF2B5EF4-FFF2-40B4-BE49-F238E27FC236}">
                <a16:creationId xmlns:a16="http://schemas.microsoft.com/office/drawing/2014/main" id="{497FF3EE-7BA7-3F34-3C11-4A3A11F8E039}"/>
              </a:ext>
            </a:extLst>
          </p:cNvPr>
          <p:cNvSpPr txBox="1"/>
          <p:nvPr/>
        </p:nvSpPr>
        <p:spPr>
          <a:xfrm>
            <a:off x="8044834" y="1371510"/>
            <a:ext cx="400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buClr>
                <a:schemeClr val="accent3"/>
              </a:buClr>
              <a:buSzPts val="1800"/>
              <a:buFont typeface="Inter"/>
              <a:buChar char="●"/>
            </a:pPr>
            <a:r>
              <a:rPr lang="en" sz="2400" dirty="0">
                <a:solidFill>
                  <a:srgbClr val="002060"/>
                </a:solidFill>
                <a:ea typeface="Inter"/>
                <a:cs typeface="Inter"/>
                <a:sym typeface="Inter"/>
              </a:rPr>
              <a:t>Comparação</a:t>
            </a:r>
            <a:br>
              <a:rPr lang="en" sz="2400" dirty="0">
                <a:solidFill>
                  <a:srgbClr val="002060"/>
                </a:solidFill>
                <a:ea typeface="Inter"/>
                <a:cs typeface="Inter"/>
                <a:sym typeface="Inter"/>
              </a:rPr>
            </a:br>
            <a:r>
              <a:rPr lang="en" sz="2400" dirty="0">
                <a:solidFill>
                  <a:srgbClr val="002060"/>
                </a:solidFill>
                <a:ea typeface="Inter"/>
                <a:cs typeface="Inter"/>
                <a:sym typeface="Inter"/>
              </a:rPr>
              <a:t>(&lt;, =, ≠, ≤, etc.)</a:t>
            </a:r>
            <a:endParaRPr sz="2400" dirty="0">
              <a:solidFill>
                <a:srgbClr val="002060"/>
              </a:solidFill>
              <a:ea typeface="Inter"/>
              <a:cs typeface="Inter"/>
              <a:sym typeface="Inter"/>
            </a:endParaRPr>
          </a:p>
        </p:txBody>
      </p:sp>
      <p:sp>
        <p:nvSpPr>
          <p:cNvPr id="10" name="Google Shape;290;p32">
            <a:extLst>
              <a:ext uri="{FF2B5EF4-FFF2-40B4-BE49-F238E27FC236}">
                <a16:creationId xmlns:a16="http://schemas.microsoft.com/office/drawing/2014/main" id="{70FF07C4-45D2-A3B1-433D-7CD8E3443175}"/>
              </a:ext>
            </a:extLst>
          </p:cNvPr>
          <p:cNvSpPr txBox="1"/>
          <p:nvPr/>
        </p:nvSpPr>
        <p:spPr>
          <a:xfrm>
            <a:off x="8355800" y="4978933"/>
            <a:ext cx="20568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/>
            <a:r>
              <a:rPr lang="en" sz="3733" dirty="0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10001</a:t>
            </a:r>
            <a:endParaRPr sz="3733" u="sng" dirty="0">
              <a:solidFill>
                <a:srgbClr val="00206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grpSp>
        <p:nvGrpSpPr>
          <p:cNvPr id="11" name="Google Shape;291;p32">
            <a:extLst>
              <a:ext uri="{FF2B5EF4-FFF2-40B4-BE49-F238E27FC236}">
                <a16:creationId xmlns:a16="http://schemas.microsoft.com/office/drawing/2014/main" id="{86DA9346-04B8-2C82-7F64-5EB4CC004D1B}"/>
              </a:ext>
            </a:extLst>
          </p:cNvPr>
          <p:cNvGrpSpPr/>
          <p:nvPr/>
        </p:nvGrpSpPr>
        <p:grpSpPr>
          <a:xfrm>
            <a:off x="8454334" y="3140433"/>
            <a:ext cx="3515700" cy="697200"/>
            <a:chOff x="6340750" y="2355325"/>
            <a:chExt cx="2636775" cy="522900"/>
          </a:xfrm>
        </p:grpSpPr>
        <p:sp>
          <p:nvSpPr>
            <p:cNvPr id="12" name="Google Shape;292;p32">
              <a:extLst>
                <a:ext uri="{FF2B5EF4-FFF2-40B4-BE49-F238E27FC236}">
                  <a16:creationId xmlns:a16="http://schemas.microsoft.com/office/drawing/2014/main" id="{0D83964A-1E02-8BA3-6209-224A59070DA8}"/>
                </a:ext>
              </a:extLst>
            </p:cNvPr>
            <p:cNvSpPr txBox="1"/>
            <p:nvPr/>
          </p:nvSpPr>
          <p:spPr>
            <a:xfrm>
              <a:off x="6340750" y="2355325"/>
              <a:ext cx="1542600" cy="52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733">
                  <a:solidFill>
                    <a:schemeClr val="accent2"/>
                  </a:solidFill>
                  <a:latin typeface="Source Code Pro Medium"/>
                  <a:ea typeface="Source Code Pro Medium"/>
                  <a:cs typeface="Source Code Pro Medium"/>
                  <a:sym typeface="Source Code Pro Medium"/>
                </a:rPr>
                <a:t>  11</a:t>
              </a:r>
              <a:endParaRPr sz="3733" u="sng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endParaRPr>
            </a:p>
          </p:txBody>
        </p:sp>
        <p:sp>
          <p:nvSpPr>
            <p:cNvPr id="13" name="Google Shape;293;p32">
              <a:extLst>
                <a:ext uri="{FF2B5EF4-FFF2-40B4-BE49-F238E27FC236}">
                  <a16:creationId xmlns:a16="http://schemas.microsoft.com/office/drawing/2014/main" id="{442BDF71-2C2A-8DBE-CF36-00B942DFA386}"/>
                </a:ext>
              </a:extLst>
            </p:cNvPr>
            <p:cNvSpPr txBox="1"/>
            <p:nvPr/>
          </p:nvSpPr>
          <p:spPr>
            <a:xfrm>
              <a:off x="7533625" y="2424820"/>
              <a:ext cx="1443900" cy="39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667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  <a:sym typeface="Inter"/>
                </a:rPr>
                <a:t>carry bits</a:t>
              </a:r>
              <a:endParaRPr sz="2667" b="1" dirty="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272225-D778-06C2-0C0E-3A2AD5F676F1}"/>
              </a:ext>
            </a:extLst>
          </p:cNvPr>
          <p:cNvCxnSpPr/>
          <p:nvPr/>
        </p:nvCxnSpPr>
        <p:spPr>
          <a:xfrm>
            <a:off x="5257800" y="5114133"/>
            <a:ext cx="3472543" cy="285181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24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9;p33">
            <a:extLst>
              <a:ext uri="{FF2B5EF4-FFF2-40B4-BE49-F238E27FC236}">
                <a16:creationId xmlns:a16="http://schemas.microsoft.com/office/drawing/2014/main" id="{EBFA330C-A2FD-5B06-C680-749152007488}"/>
              </a:ext>
            </a:extLst>
          </p:cNvPr>
          <p:cNvSpPr txBox="1">
            <a:spLocks/>
          </p:cNvSpPr>
          <p:nvPr/>
        </p:nvSpPr>
        <p:spPr>
          <a:xfrm>
            <a:off x="415600" y="994099"/>
            <a:ext cx="11360800" cy="290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Estritamente falando, os numerais de base 2 têm um número ∞ de dígitos.</a:t>
            </a:r>
          </a:p>
          <a:p>
            <a:pPr lvl="1"/>
            <a:r>
              <a:rPr lang="en-GB" dirty="0" err="1"/>
              <a:t>Nós</a:t>
            </a:r>
            <a:r>
              <a:rPr lang="en-GB" dirty="0"/>
              <a:t> </a:t>
            </a:r>
            <a:r>
              <a:rPr lang="en-GB" dirty="0" err="1"/>
              <a:t>só</a:t>
            </a:r>
            <a:r>
              <a:rPr lang="en-GB" dirty="0"/>
              <a:t>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representamos</a:t>
            </a:r>
            <a:r>
              <a:rPr lang="en-GB" dirty="0"/>
              <a:t> esses </a:t>
            </a:r>
            <a:r>
              <a:rPr lang="en-GB" dirty="0" err="1"/>
              <a:t>dígitos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r>
              <a:rPr lang="en-GB" dirty="0" err="1"/>
              <a:t>Contudo</a:t>
            </a:r>
            <a:r>
              <a:rPr lang="en-GB" dirty="0"/>
              <a:t>, </a:t>
            </a:r>
            <a:r>
              <a:rPr lang="pt-BR" b="1" dirty="0">
                <a:solidFill>
                  <a:schemeClr val="dk2"/>
                </a:solidFill>
              </a:rPr>
              <a:t>o hardware tem limites físicos</a:t>
            </a:r>
            <a:r>
              <a:rPr lang="en-GB" dirty="0"/>
              <a:t>. Sem bits </a:t>
            </a:r>
            <a:r>
              <a:rPr lang="en-GB" dirty="0" err="1"/>
              <a:t>infinitos</a:t>
            </a:r>
            <a:r>
              <a:rPr lang="en-GB" dirty="0"/>
              <a:t>!</a:t>
            </a:r>
          </a:p>
          <a:p>
            <a:pPr lvl="1"/>
            <a:r>
              <a:rPr lang="pt-BR" dirty="0"/>
              <a:t>Representações comuns: 8 bits, 16 bits, 32 bits, 64 bits, ...</a:t>
            </a:r>
            <a:endParaRPr lang="en-GB" dirty="0"/>
          </a:p>
          <a:p>
            <a:pPr lvl="1"/>
            <a:r>
              <a:rPr lang="pt-BR" dirty="0"/>
              <a:t>Novamente: Com N bits, você pode representar no máximo 2</a:t>
            </a:r>
            <a:r>
              <a:rPr lang="pt-BR" baseline="30000" dirty="0"/>
              <a:t>N </a:t>
            </a:r>
            <a:r>
              <a:rPr lang="pt-BR" dirty="0"/>
              <a:t>coisas.</a:t>
            </a:r>
            <a:endParaRPr lang="en-GB" dirty="0"/>
          </a:p>
        </p:txBody>
      </p:sp>
      <p:sp>
        <p:nvSpPr>
          <p:cNvPr id="3" name="Google Shape;300;p33">
            <a:extLst>
              <a:ext uri="{FF2B5EF4-FFF2-40B4-BE49-F238E27FC236}">
                <a16:creationId xmlns:a16="http://schemas.microsoft.com/office/drawing/2014/main" id="{B504CED5-1D21-CA47-E253-441FBD30E3D3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8891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>
                <a:solidFill>
                  <a:schemeClr val="bg1"/>
                </a:solidFill>
              </a:rPr>
              <a:t>E se o </a:t>
            </a:r>
            <a:r>
              <a:rPr lang="en-GB" b="1" dirty="0" err="1">
                <a:solidFill>
                  <a:schemeClr val="bg1"/>
                </a:solidFill>
              </a:rPr>
              <a:t>número</a:t>
            </a:r>
            <a:r>
              <a:rPr lang="en-GB" b="1" dirty="0">
                <a:solidFill>
                  <a:schemeClr val="bg1"/>
                </a:solidFill>
              </a:rPr>
              <a:t> for “</a:t>
            </a:r>
            <a:r>
              <a:rPr lang="en-GB" b="1" dirty="0" err="1">
                <a:solidFill>
                  <a:schemeClr val="bg1"/>
                </a:solidFill>
              </a:rPr>
              <a:t>muito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grande</a:t>
            </a:r>
            <a:r>
              <a:rPr lang="en-GB" b="1" dirty="0">
                <a:solidFill>
                  <a:schemeClr val="bg1"/>
                </a:solidFill>
              </a:rPr>
              <a:t>”? </a:t>
            </a:r>
            <a:r>
              <a:rPr lang="en-GB" b="1" i="1" dirty="0">
                <a:solidFill>
                  <a:schemeClr val="bg1"/>
                </a:solidFill>
              </a:rPr>
              <a:t>Overflow</a:t>
            </a:r>
          </a:p>
        </p:txBody>
      </p:sp>
      <p:sp>
        <p:nvSpPr>
          <p:cNvPr id="4" name="Google Shape;301;p33">
            <a:extLst>
              <a:ext uri="{FF2B5EF4-FFF2-40B4-BE49-F238E27FC236}">
                <a16:creationId xmlns:a16="http://schemas.microsoft.com/office/drawing/2014/main" id="{A41EBDF4-7457-B3E8-591F-455FF0FCEBF0}"/>
              </a:ext>
            </a:extLst>
          </p:cNvPr>
          <p:cNvSpPr/>
          <p:nvPr/>
        </p:nvSpPr>
        <p:spPr>
          <a:xfrm>
            <a:off x="7436500" y="5122441"/>
            <a:ext cx="4562000" cy="16007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 b="1" i="1" dirty="0">
                <a:latin typeface="Inter"/>
                <a:ea typeface="Inter"/>
                <a:cs typeface="Inter"/>
                <a:sym typeface="Inter"/>
              </a:rPr>
              <a:t>Overflow </a:t>
            </a:r>
            <a:r>
              <a:rPr lang="pt-BR" sz="2400" b="1" dirty="0">
                <a:latin typeface="Inter"/>
                <a:ea typeface="Inter"/>
                <a:cs typeface="Inter"/>
                <a:sym typeface="Inter"/>
              </a:rPr>
              <a:t>(estouro de representação): o resultado aritmético está fora do intervalo representável.</a:t>
            </a:r>
            <a:endParaRPr sz="2400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" name="Google Shape;302;p33">
            <a:extLst>
              <a:ext uri="{FF2B5EF4-FFF2-40B4-BE49-F238E27FC236}">
                <a16:creationId xmlns:a16="http://schemas.microsoft.com/office/drawing/2014/main" id="{9D49E863-6D03-8F07-F236-03E83CD0069B}"/>
              </a:ext>
            </a:extLst>
          </p:cNvPr>
          <p:cNvSpPr txBox="1"/>
          <p:nvPr/>
        </p:nvSpPr>
        <p:spPr>
          <a:xfrm>
            <a:off x="7313067" y="1622298"/>
            <a:ext cx="4346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/>
            <a:r>
              <a:rPr lang="en" sz="3733" dirty="0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…00000001010</a:t>
            </a:r>
            <a:endParaRPr sz="3733" u="sng" dirty="0">
              <a:solidFill>
                <a:srgbClr val="00206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6" name="Google Shape;303;p33">
            <a:extLst>
              <a:ext uri="{FF2B5EF4-FFF2-40B4-BE49-F238E27FC236}">
                <a16:creationId xmlns:a16="http://schemas.microsoft.com/office/drawing/2014/main" id="{4C81CB3C-AE96-B358-1E15-C6C87AF0909B}"/>
              </a:ext>
            </a:extLst>
          </p:cNvPr>
          <p:cNvSpPr txBox="1">
            <a:spLocks/>
          </p:cNvSpPr>
          <p:nvPr/>
        </p:nvSpPr>
        <p:spPr>
          <a:xfrm>
            <a:off x="423175" y="3777697"/>
            <a:ext cx="11360800" cy="116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Se o resultado inteiro da operação</a:t>
            </a:r>
            <a:r>
              <a:rPr lang="en-GB" dirty="0">
                <a:solidFill>
                  <a:schemeClr val="dk1"/>
                </a:solidFill>
              </a:rPr>
              <a:t> (</a:t>
            </a:r>
            <a:r>
              <a:rPr lang="en-GB" dirty="0"/>
              <a:t>+,</a:t>
            </a:r>
            <a:r>
              <a:rPr lang="en-GB" dirty="0">
                <a:solidFill>
                  <a:schemeClr val="dk1"/>
                </a:solidFill>
              </a:rPr>
              <a:t> -, *, /</a:t>
            </a:r>
            <a:r>
              <a:rPr lang="en-GB" dirty="0"/>
              <a:t>, &gt;, &lt;, =, etc.</a:t>
            </a:r>
            <a:r>
              <a:rPr lang="en-GB" dirty="0">
                <a:solidFill>
                  <a:schemeClr val="dk1"/>
                </a:solidFill>
              </a:rPr>
              <a:t>) </a:t>
            </a:r>
            <a:r>
              <a:rPr lang="pt-BR" dirty="0">
                <a:solidFill>
                  <a:schemeClr val="dk1"/>
                </a:solidFill>
              </a:rPr>
              <a:t>não pode ser representado pelos bits do HW, dizemos que ocorreu </a:t>
            </a:r>
            <a:r>
              <a:rPr lang="pt-BR" b="1" i="1" dirty="0">
                <a:solidFill>
                  <a:schemeClr val="dk1"/>
                </a:solidFill>
              </a:rPr>
              <a:t>Overflow</a:t>
            </a:r>
            <a:endParaRPr lang="en-GB" b="1" i="1" dirty="0"/>
          </a:p>
        </p:txBody>
      </p:sp>
      <p:sp>
        <p:nvSpPr>
          <p:cNvPr id="7" name="Google Shape;304;p33">
            <a:extLst>
              <a:ext uri="{FF2B5EF4-FFF2-40B4-BE49-F238E27FC236}">
                <a16:creationId xmlns:a16="http://schemas.microsoft.com/office/drawing/2014/main" id="{B53CAD34-1451-243C-716B-4296EDC7341D}"/>
              </a:ext>
            </a:extLst>
          </p:cNvPr>
          <p:cNvSpPr/>
          <p:nvPr/>
        </p:nvSpPr>
        <p:spPr>
          <a:xfrm>
            <a:off x="538534" y="5530134"/>
            <a:ext cx="6277372" cy="803812"/>
          </a:xfrm>
          <a:custGeom>
            <a:avLst/>
            <a:gdLst/>
            <a:ahLst/>
            <a:cxnLst/>
            <a:rect l="l" t="t" r="r" b="b"/>
            <a:pathLst>
              <a:path w="195010" h="29008" extrusionOk="0">
                <a:moveTo>
                  <a:pt x="193318" y="0"/>
                </a:moveTo>
                <a:cubicBezTo>
                  <a:pt x="197345" y="4031"/>
                  <a:pt x="193149" y="13396"/>
                  <a:pt x="188264" y="16329"/>
                </a:cubicBezTo>
                <a:cubicBezTo>
                  <a:pt x="176863" y="23173"/>
                  <a:pt x="162603" y="23805"/>
                  <a:pt x="149386" y="25271"/>
                </a:cubicBezTo>
                <a:cubicBezTo>
                  <a:pt x="132481" y="27146"/>
                  <a:pt x="115360" y="30260"/>
                  <a:pt x="98456" y="28381"/>
                </a:cubicBezTo>
                <a:cubicBezTo>
                  <a:pt x="82679" y="26627"/>
                  <a:pt x="66900" y="24104"/>
                  <a:pt x="51026" y="24104"/>
                </a:cubicBezTo>
                <a:cubicBezTo>
                  <a:pt x="40047" y="24104"/>
                  <a:pt x="29019" y="22492"/>
                  <a:pt x="18369" y="19828"/>
                </a:cubicBezTo>
                <a:cubicBezTo>
                  <a:pt x="13016" y="18489"/>
                  <a:pt x="5944" y="21006"/>
                  <a:pt x="2040" y="17106"/>
                </a:cubicBezTo>
                <a:cubicBezTo>
                  <a:pt x="-1632" y="13438"/>
                  <a:pt x="497" y="6197"/>
                  <a:pt x="2818" y="1555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BR" sz="2400"/>
          </a:p>
        </p:txBody>
      </p:sp>
      <p:grpSp>
        <p:nvGrpSpPr>
          <p:cNvPr id="8" name="Google Shape;305;p33">
            <a:extLst>
              <a:ext uri="{FF2B5EF4-FFF2-40B4-BE49-F238E27FC236}">
                <a16:creationId xmlns:a16="http://schemas.microsoft.com/office/drawing/2014/main" id="{C3B6CC50-6548-997E-53BF-287AC05C455A}"/>
              </a:ext>
            </a:extLst>
          </p:cNvPr>
          <p:cNvGrpSpPr/>
          <p:nvPr/>
        </p:nvGrpSpPr>
        <p:grpSpPr>
          <a:xfrm>
            <a:off x="79000" y="4887867"/>
            <a:ext cx="7234067" cy="819175"/>
            <a:chOff x="59250" y="3665900"/>
            <a:chExt cx="5425550" cy="614381"/>
          </a:xfrm>
        </p:grpSpPr>
        <p:cxnSp>
          <p:nvCxnSpPr>
            <p:cNvPr id="9" name="Google Shape;306;p33">
              <a:extLst>
                <a:ext uri="{FF2B5EF4-FFF2-40B4-BE49-F238E27FC236}">
                  <a16:creationId xmlns:a16="http://schemas.microsoft.com/office/drawing/2014/main" id="{B9B320F7-7AA1-81B9-859F-39E365D9EC1A}"/>
                </a:ext>
              </a:extLst>
            </p:cNvPr>
            <p:cNvCxnSpPr/>
            <p:nvPr/>
          </p:nvCxnSpPr>
          <p:spPr>
            <a:xfrm>
              <a:off x="476250" y="4183775"/>
              <a:ext cx="45876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" name="Google Shape;307;p33">
              <a:extLst>
                <a:ext uri="{FF2B5EF4-FFF2-40B4-BE49-F238E27FC236}">
                  <a16:creationId xmlns:a16="http://schemas.microsoft.com/office/drawing/2014/main" id="{553A5180-34F5-9E6A-18EE-C74C047BDA06}"/>
                </a:ext>
              </a:extLst>
            </p:cNvPr>
            <p:cNvSpPr txBox="1"/>
            <p:nvPr/>
          </p:nvSpPr>
          <p:spPr>
            <a:xfrm>
              <a:off x="59250" y="36659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1" name="Google Shape;308;p33">
              <a:extLst>
                <a:ext uri="{FF2B5EF4-FFF2-40B4-BE49-F238E27FC236}">
                  <a16:creationId xmlns:a16="http://schemas.microsoft.com/office/drawing/2014/main" id="{2A1F6466-1711-46DC-6510-A7F21904D166}"/>
                </a:ext>
              </a:extLst>
            </p:cNvPr>
            <p:cNvSpPr txBox="1"/>
            <p:nvPr/>
          </p:nvSpPr>
          <p:spPr>
            <a:xfrm>
              <a:off x="4645400" y="36659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2" name="Google Shape;309;p33">
              <a:extLst>
                <a:ext uri="{FF2B5EF4-FFF2-40B4-BE49-F238E27FC236}">
                  <a16:creationId xmlns:a16="http://schemas.microsoft.com/office/drawing/2014/main" id="{9324BB47-E71E-0897-2274-0AD0E919AC52}"/>
                </a:ext>
              </a:extLst>
            </p:cNvPr>
            <p:cNvSpPr txBox="1"/>
            <p:nvPr/>
          </p:nvSpPr>
          <p:spPr>
            <a:xfrm>
              <a:off x="1205788" y="36659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3" name="Google Shape;310;p33">
              <a:extLst>
                <a:ext uri="{FF2B5EF4-FFF2-40B4-BE49-F238E27FC236}">
                  <a16:creationId xmlns:a16="http://schemas.microsoft.com/office/drawing/2014/main" id="{76729695-5430-8A5A-2209-5237C97519E9}"/>
                </a:ext>
              </a:extLst>
            </p:cNvPr>
            <p:cNvSpPr txBox="1"/>
            <p:nvPr/>
          </p:nvSpPr>
          <p:spPr>
            <a:xfrm>
              <a:off x="3498863" y="36659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4" name="Google Shape;311;p33">
              <a:extLst>
                <a:ext uri="{FF2B5EF4-FFF2-40B4-BE49-F238E27FC236}">
                  <a16:creationId xmlns:a16="http://schemas.microsoft.com/office/drawing/2014/main" id="{90742AFC-34AD-83EC-DC0F-4210FB920BE7}"/>
                </a:ext>
              </a:extLst>
            </p:cNvPr>
            <p:cNvSpPr txBox="1"/>
            <p:nvPr/>
          </p:nvSpPr>
          <p:spPr>
            <a:xfrm>
              <a:off x="2352325" y="36659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5" name="Google Shape;312;p33">
              <a:extLst>
                <a:ext uri="{FF2B5EF4-FFF2-40B4-BE49-F238E27FC236}">
                  <a16:creationId xmlns:a16="http://schemas.microsoft.com/office/drawing/2014/main" id="{0E1A7DAF-FDB4-031A-E75C-83CF399E9EA0}"/>
                </a:ext>
              </a:extLst>
            </p:cNvPr>
            <p:cNvCxnSpPr/>
            <p:nvPr/>
          </p:nvCxnSpPr>
          <p:spPr>
            <a:xfrm>
              <a:off x="478950" y="40447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313;p33">
              <a:extLst>
                <a:ext uri="{FF2B5EF4-FFF2-40B4-BE49-F238E27FC236}">
                  <a16:creationId xmlns:a16="http://schemas.microsoft.com/office/drawing/2014/main" id="{3B816E09-6B66-99FF-36F4-872E87B40A3B}"/>
                </a:ext>
              </a:extLst>
            </p:cNvPr>
            <p:cNvCxnSpPr/>
            <p:nvPr/>
          </p:nvCxnSpPr>
          <p:spPr>
            <a:xfrm>
              <a:off x="1625488" y="40447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14;p33">
              <a:extLst>
                <a:ext uri="{FF2B5EF4-FFF2-40B4-BE49-F238E27FC236}">
                  <a16:creationId xmlns:a16="http://schemas.microsoft.com/office/drawing/2014/main" id="{4F7B9A15-8A16-9B50-B3D5-C600FA7510D5}"/>
                </a:ext>
              </a:extLst>
            </p:cNvPr>
            <p:cNvCxnSpPr/>
            <p:nvPr/>
          </p:nvCxnSpPr>
          <p:spPr>
            <a:xfrm>
              <a:off x="3918563" y="40447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15;p33">
              <a:extLst>
                <a:ext uri="{FF2B5EF4-FFF2-40B4-BE49-F238E27FC236}">
                  <a16:creationId xmlns:a16="http://schemas.microsoft.com/office/drawing/2014/main" id="{2F75C8AD-E6B4-B769-1ABA-4D15C8C234B5}"/>
                </a:ext>
              </a:extLst>
            </p:cNvPr>
            <p:cNvCxnSpPr/>
            <p:nvPr/>
          </p:nvCxnSpPr>
          <p:spPr>
            <a:xfrm>
              <a:off x="5065100" y="40447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52363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0;p34">
            <a:extLst>
              <a:ext uri="{FF2B5EF4-FFF2-40B4-BE49-F238E27FC236}">
                <a16:creationId xmlns:a16="http://schemas.microsoft.com/office/drawing/2014/main" id="{7B4DB6AD-A954-3596-6C89-379315965ABF}"/>
              </a:ext>
            </a:extLst>
          </p:cNvPr>
          <p:cNvSpPr txBox="1">
            <a:spLocks/>
          </p:cNvSpPr>
          <p:nvPr/>
        </p:nvSpPr>
        <p:spPr>
          <a:xfrm>
            <a:off x="1438983" y="74768"/>
            <a:ext cx="10667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 err="1">
                <a:solidFill>
                  <a:schemeClr val="bg1"/>
                </a:solidFill>
              </a:rPr>
              <a:t>Muitas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representações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numéricas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possíveis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Google Shape;321;p34">
            <a:extLst>
              <a:ext uri="{FF2B5EF4-FFF2-40B4-BE49-F238E27FC236}">
                <a16:creationId xmlns:a16="http://schemas.microsoft.com/office/drawing/2014/main" id="{4CD48641-D045-01AF-92AF-EEF4334B0BF6}"/>
              </a:ext>
            </a:extLst>
          </p:cNvPr>
          <p:cNvSpPr txBox="1">
            <a:spLocks/>
          </p:cNvSpPr>
          <p:nvPr/>
        </p:nvSpPr>
        <p:spPr>
          <a:xfrm>
            <a:off x="401926" y="3563257"/>
            <a:ext cx="11790074" cy="276134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 os </a:t>
            </a:r>
            <a:r>
              <a:rPr lang="pt-BR" b="1" i="1" dirty="0" err="1"/>
              <a:t>signed</a:t>
            </a:r>
            <a:r>
              <a:rPr lang="pt-BR" b="1" i="1" dirty="0"/>
              <a:t> </a:t>
            </a:r>
            <a:r>
              <a:rPr lang="pt-BR" b="1" i="1" dirty="0" err="1"/>
              <a:t>numbers</a:t>
            </a:r>
            <a:r>
              <a:rPr lang="pt-BR" dirty="0"/>
              <a:t>? Precisamos de uma maneira de representar números negativos.</a:t>
            </a:r>
            <a:r>
              <a:rPr lang="en-GB" dirty="0"/>
              <a:t> Vamos </a:t>
            </a:r>
            <a:r>
              <a:rPr lang="en-GB" dirty="0" err="1"/>
              <a:t>discutir</a:t>
            </a:r>
            <a:r>
              <a:rPr lang="en-GB" dirty="0"/>
              <a:t> </a:t>
            </a:r>
            <a:r>
              <a:rPr lang="en-GB" dirty="0" err="1"/>
              <a:t>algumas</a:t>
            </a:r>
            <a:r>
              <a:rPr lang="en-GB" dirty="0"/>
              <a:t>:</a:t>
            </a:r>
          </a:p>
          <a:p>
            <a:pPr lvl="1"/>
            <a:r>
              <a:rPr lang="pt-BR" dirty="0"/>
              <a:t>Sinal-Magnitude
Complemento
Complemento de dois (</a:t>
            </a:r>
            <a:r>
              <a:rPr lang="pt-BR" b="1" i="1" u="sng" dirty="0"/>
              <a:t>única representação inteira com sinal adotada nessa disciplina</a:t>
            </a:r>
            <a:r>
              <a:rPr lang="pt-BR" dirty="0"/>
              <a:t>)</a:t>
            </a:r>
            <a:endParaRPr lang="en-GB" sz="2133" dirty="0">
              <a:solidFill>
                <a:schemeClr val="accent1"/>
              </a:solidFill>
            </a:endParaRPr>
          </a:p>
        </p:txBody>
      </p:sp>
      <p:sp>
        <p:nvSpPr>
          <p:cNvPr id="4" name="Google Shape;322;p34">
            <a:extLst>
              <a:ext uri="{FF2B5EF4-FFF2-40B4-BE49-F238E27FC236}">
                <a16:creationId xmlns:a16="http://schemas.microsoft.com/office/drawing/2014/main" id="{BD1D20E9-F0C7-616C-35DC-C1CE45A25B01}"/>
              </a:ext>
            </a:extLst>
          </p:cNvPr>
          <p:cNvSpPr txBox="1">
            <a:spLocks/>
          </p:cNvSpPr>
          <p:nvPr/>
        </p:nvSpPr>
        <p:spPr>
          <a:xfrm>
            <a:off x="415600" y="994100"/>
            <a:ext cx="11776400" cy="189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Até</a:t>
            </a:r>
            <a:r>
              <a:rPr lang="en-GB" dirty="0"/>
              <a:t> agora, </a:t>
            </a:r>
            <a:r>
              <a:rPr lang="en-GB" dirty="0" err="1"/>
              <a:t>discutimos</a:t>
            </a:r>
            <a:r>
              <a:rPr lang="en-GB" dirty="0"/>
              <a:t> </a:t>
            </a:r>
            <a:r>
              <a:rPr lang="en-GB" dirty="0" err="1"/>
              <a:t>apenas</a:t>
            </a:r>
            <a:r>
              <a:rPr lang="en-GB" dirty="0"/>
              <a:t> </a:t>
            </a:r>
            <a:r>
              <a:rPr lang="en-GB" b="1" i="1" u="sng" dirty="0">
                <a:solidFill>
                  <a:schemeClr val="dk2"/>
                </a:solidFill>
              </a:rPr>
              <a:t>u</a:t>
            </a:r>
            <a:r>
              <a:rPr lang="en-GB" b="1" i="1" dirty="0">
                <a:solidFill>
                  <a:schemeClr val="dk2"/>
                </a:solidFill>
              </a:rPr>
              <a:t>nsigned numbers</a:t>
            </a:r>
            <a:r>
              <a:rPr lang="en-GB" dirty="0"/>
              <a:t> (</a:t>
            </a:r>
            <a:r>
              <a:rPr lang="en-GB" dirty="0" err="1"/>
              <a:t>não-negativos</a:t>
            </a:r>
            <a:r>
              <a:rPr lang="en-GB" dirty="0"/>
              <a:t>).</a:t>
            </a:r>
          </a:p>
          <a:p>
            <a:pPr lvl="1"/>
            <a:r>
              <a:rPr lang="pt-BR" dirty="0"/>
              <a:t>A maioria dos computadores usa a representação "óbvia"</a:t>
            </a:r>
            <a:r>
              <a:rPr lang="en-GB" dirty="0"/>
              <a:t>:</a:t>
            </a:r>
          </a:p>
        </p:txBody>
      </p:sp>
      <p:grpSp>
        <p:nvGrpSpPr>
          <p:cNvPr id="5" name="Google Shape;323;p34">
            <a:extLst>
              <a:ext uri="{FF2B5EF4-FFF2-40B4-BE49-F238E27FC236}">
                <a16:creationId xmlns:a16="http://schemas.microsoft.com/office/drawing/2014/main" id="{E9DFC890-66A6-C855-0610-96230FD37E28}"/>
              </a:ext>
            </a:extLst>
          </p:cNvPr>
          <p:cNvGrpSpPr/>
          <p:nvPr/>
        </p:nvGrpSpPr>
        <p:grpSpPr>
          <a:xfrm>
            <a:off x="3191522" y="2181444"/>
            <a:ext cx="5808956" cy="381607"/>
            <a:chOff x="59250" y="3589695"/>
            <a:chExt cx="5425550" cy="286205"/>
          </a:xfrm>
        </p:grpSpPr>
        <p:sp>
          <p:nvSpPr>
            <p:cNvPr id="6" name="Google Shape;324;p34">
              <a:extLst>
                <a:ext uri="{FF2B5EF4-FFF2-40B4-BE49-F238E27FC236}">
                  <a16:creationId xmlns:a16="http://schemas.microsoft.com/office/drawing/2014/main" id="{548A9470-D121-4DB9-AB71-ED636C154439}"/>
                </a:ext>
              </a:extLst>
            </p:cNvPr>
            <p:cNvSpPr txBox="1"/>
            <p:nvPr/>
          </p:nvSpPr>
          <p:spPr>
            <a:xfrm>
              <a:off x="59250" y="35897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0…0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7" name="Google Shape;325;p34">
              <a:extLst>
                <a:ext uri="{FF2B5EF4-FFF2-40B4-BE49-F238E27FC236}">
                  <a16:creationId xmlns:a16="http://schemas.microsoft.com/office/drawing/2014/main" id="{CB2880B3-C7BB-86AE-A1B2-F63F4EE4E7C1}"/>
                </a:ext>
              </a:extLst>
            </p:cNvPr>
            <p:cNvSpPr txBox="1"/>
            <p:nvPr/>
          </p:nvSpPr>
          <p:spPr>
            <a:xfrm>
              <a:off x="4645400" y="35897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1…1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8" name="Google Shape;326;p34">
              <a:extLst>
                <a:ext uri="{FF2B5EF4-FFF2-40B4-BE49-F238E27FC236}">
                  <a16:creationId xmlns:a16="http://schemas.microsoft.com/office/drawing/2014/main" id="{AEA82677-0AA3-E2B1-3456-62D370E3F5F4}"/>
                </a:ext>
              </a:extLst>
            </p:cNvPr>
            <p:cNvSpPr txBox="1"/>
            <p:nvPr/>
          </p:nvSpPr>
          <p:spPr>
            <a:xfrm>
              <a:off x="1070267" y="3589695"/>
              <a:ext cx="1107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0…01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9" name="Google Shape;327;p34">
              <a:extLst>
                <a:ext uri="{FF2B5EF4-FFF2-40B4-BE49-F238E27FC236}">
                  <a16:creationId xmlns:a16="http://schemas.microsoft.com/office/drawing/2014/main" id="{24E17139-0483-64E7-40A7-80A699B2B545}"/>
                </a:ext>
              </a:extLst>
            </p:cNvPr>
            <p:cNvSpPr txBox="1"/>
            <p:nvPr/>
          </p:nvSpPr>
          <p:spPr>
            <a:xfrm>
              <a:off x="3403952" y="3589695"/>
              <a:ext cx="10185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1…10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0" name="Google Shape;328;p34">
              <a:extLst>
                <a:ext uri="{FF2B5EF4-FFF2-40B4-BE49-F238E27FC236}">
                  <a16:creationId xmlns:a16="http://schemas.microsoft.com/office/drawing/2014/main" id="{772E1596-06FE-C8E2-9402-BF02FC174A2C}"/>
                </a:ext>
              </a:extLst>
            </p:cNvPr>
            <p:cNvSpPr txBox="1"/>
            <p:nvPr/>
          </p:nvSpPr>
          <p:spPr>
            <a:xfrm>
              <a:off x="2352325" y="35897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sp>
        <p:nvSpPr>
          <p:cNvPr id="11" name="Google Shape;329;p34">
            <a:extLst>
              <a:ext uri="{FF2B5EF4-FFF2-40B4-BE49-F238E27FC236}">
                <a16:creationId xmlns:a16="http://schemas.microsoft.com/office/drawing/2014/main" id="{184A92B4-1CF1-3C8D-AE87-88AAC05EB397}"/>
              </a:ext>
            </a:extLst>
          </p:cNvPr>
          <p:cNvSpPr txBox="1"/>
          <p:nvPr/>
        </p:nvSpPr>
        <p:spPr>
          <a:xfrm>
            <a:off x="3263352" y="2987543"/>
            <a:ext cx="580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6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sz="266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Google Shape;330;p34">
            <a:extLst>
              <a:ext uri="{FF2B5EF4-FFF2-40B4-BE49-F238E27FC236}">
                <a16:creationId xmlns:a16="http://schemas.microsoft.com/office/drawing/2014/main" id="{1894417D-69BE-50E7-7EA8-F8C8FA820046}"/>
              </a:ext>
            </a:extLst>
          </p:cNvPr>
          <p:cNvSpPr txBox="1"/>
          <p:nvPr/>
        </p:nvSpPr>
        <p:spPr>
          <a:xfrm>
            <a:off x="4584152" y="2987543"/>
            <a:ext cx="580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6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66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Google Shape;331;p34">
            <a:extLst>
              <a:ext uri="{FF2B5EF4-FFF2-40B4-BE49-F238E27FC236}">
                <a16:creationId xmlns:a16="http://schemas.microsoft.com/office/drawing/2014/main" id="{8E2AA300-64E7-3F08-E0D5-31E61A502080}"/>
              </a:ext>
            </a:extLst>
          </p:cNvPr>
          <p:cNvSpPr txBox="1"/>
          <p:nvPr/>
        </p:nvSpPr>
        <p:spPr>
          <a:xfrm>
            <a:off x="6820619" y="2987543"/>
            <a:ext cx="1050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6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" sz="2667" baseline="30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" sz="26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-2</a:t>
            </a:r>
            <a:endParaRPr sz="266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332;p34">
            <a:extLst>
              <a:ext uri="{FF2B5EF4-FFF2-40B4-BE49-F238E27FC236}">
                <a16:creationId xmlns:a16="http://schemas.microsoft.com/office/drawing/2014/main" id="{294F9690-F2B2-44CF-7493-8B2347623322}"/>
              </a:ext>
            </a:extLst>
          </p:cNvPr>
          <p:cNvSpPr txBox="1"/>
          <p:nvPr/>
        </p:nvSpPr>
        <p:spPr>
          <a:xfrm>
            <a:off x="7950486" y="2987543"/>
            <a:ext cx="1050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6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" sz="2667" baseline="30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" sz="26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-1</a:t>
            </a:r>
            <a:endParaRPr sz="266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" name="Google Shape;333;p34">
            <a:extLst>
              <a:ext uri="{FF2B5EF4-FFF2-40B4-BE49-F238E27FC236}">
                <a16:creationId xmlns:a16="http://schemas.microsoft.com/office/drawing/2014/main" id="{EB6BAE81-A5E7-5E48-DD32-53BF42FF9FBD}"/>
              </a:ext>
            </a:extLst>
          </p:cNvPr>
          <p:cNvGrpSpPr/>
          <p:nvPr/>
        </p:nvGrpSpPr>
        <p:grpSpPr>
          <a:xfrm>
            <a:off x="3580104" y="2718776"/>
            <a:ext cx="4959017" cy="314000"/>
            <a:chOff x="476250" y="4044781"/>
            <a:chExt cx="4588850" cy="235500"/>
          </a:xfrm>
        </p:grpSpPr>
        <p:cxnSp>
          <p:nvCxnSpPr>
            <p:cNvPr id="16" name="Google Shape;334;p34">
              <a:extLst>
                <a:ext uri="{FF2B5EF4-FFF2-40B4-BE49-F238E27FC236}">
                  <a16:creationId xmlns:a16="http://schemas.microsoft.com/office/drawing/2014/main" id="{BD4D7043-E1A8-0295-0C41-E98C855C5960}"/>
                </a:ext>
              </a:extLst>
            </p:cNvPr>
            <p:cNvCxnSpPr/>
            <p:nvPr/>
          </p:nvCxnSpPr>
          <p:spPr>
            <a:xfrm>
              <a:off x="476250" y="4183775"/>
              <a:ext cx="45876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35;p34">
              <a:extLst>
                <a:ext uri="{FF2B5EF4-FFF2-40B4-BE49-F238E27FC236}">
                  <a16:creationId xmlns:a16="http://schemas.microsoft.com/office/drawing/2014/main" id="{CBE8A427-8858-068A-63EB-CC8080EFCA51}"/>
                </a:ext>
              </a:extLst>
            </p:cNvPr>
            <p:cNvCxnSpPr/>
            <p:nvPr/>
          </p:nvCxnSpPr>
          <p:spPr>
            <a:xfrm>
              <a:off x="478950" y="40447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36;p34">
              <a:extLst>
                <a:ext uri="{FF2B5EF4-FFF2-40B4-BE49-F238E27FC236}">
                  <a16:creationId xmlns:a16="http://schemas.microsoft.com/office/drawing/2014/main" id="{7BA67928-B7E9-7332-2279-39167A2198DA}"/>
                </a:ext>
              </a:extLst>
            </p:cNvPr>
            <p:cNvCxnSpPr/>
            <p:nvPr/>
          </p:nvCxnSpPr>
          <p:spPr>
            <a:xfrm>
              <a:off x="1625488" y="40447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337;p34">
              <a:extLst>
                <a:ext uri="{FF2B5EF4-FFF2-40B4-BE49-F238E27FC236}">
                  <a16:creationId xmlns:a16="http://schemas.microsoft.com/office/drawing/2014/main" id="{7DBB283E-D906-BE84-B277-3AF1C8401AAB}"/>
                </a:ext>
              </a:extLst>
            </p:cNvPr>
            <p:cNvCxnSpPr/>
            <p:nvPr/>
          </p:nvCxnSpPr>
          <p:spPr>
            <a:xfrm>
              <a:off x="3918563" y="40447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338;p34">
              <a:extLst>
                <a:ext uri="{FF2B5EF4-FFF2-40B4-BE49-F238E27FC236}">
                  <a16:creationId xmlns:a16="http://schemas.microsoft.com/office/drawing/2014/main" id="{B46EC94F-321E-F91F-7030-BC499D93B5A1}"/>
                </a:ext>
              </a:extLst>
            </p:cNvPr>
            <p:cNvCxnSpPr/>
            <p:nvPr/>
          </p:nvCxnSpPr>
          <p:spPr>
            <a:xfrm>
              <a:off x="5065100" y="40447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21891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3;p35">
            <a:extLst>
              <a:ext uri="{FF2B5EF4-FFF2-40B4-BE49-F238E27FC236}">
                <a16:creationId xmlns:a16="http://schemas.microsoft.com/office/drawing/2014/main" id="{AA21A49C-E753-F97D-7685-907D23141021}"/>
              </a:ext>
            </a:extLst>
          </p:cNvPr>
          <p:cNvSpPr txBox="1">
            <a:spLocks/>
          </p:cNvSpPr>
          <p:nvPr/>
        </p:nvSpPr>
        <p:spPr>
          <a:xfrm>
            <a:off x="459700" y="1838367"/>
            <a:ext cx="5578400" cy="388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Sinal</a:t>
            </a:r>
            <a:r>
              <a:rPr lang="en-GB" dirty="0"/>
              <a:t> Magnitude e </a:t>
            </a:r>
            <a:r>
              <a:rPr lang="en-GB" dirty="0" err="1"/>
              <a:t>Complemento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979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8;p36">
            <a:extLst>
              <a:ext uri="{FF2B5EF4-FFF2-40B4-BE49-F238E27FC236}">
                <a16:creationId xmlns:a16="http://schemas.microsoft.com/office/drawing/2014/main" id="{6A6B4D5C-598B-19D1-9C40-249F010B92D3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667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dirty="0">
                <a:solidFill>
                  <a:schemeClr val="bg1"/>
                </a:solidFill>
              </a:rPr>
              <a:t>Sinal-Magnitude: Não há almoço grátis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Google Shape;349;p36">
            <a:extLst>
              <a:ext uri="{FF2B5EF4-FFF2-40B4-BE49-F238E27FC236}">
                <a16:creationId xmlns:a16="http://schemas.microsoft.com/office/drawing/2014/main" id="{69FB1DA0-3EB1-C3A0-0F13-8B5592E4AC1B}"/>
              </a:ext>
            </a:extLst>
          </p:cNvPr>
          <p:cNvSpPr txBox="1">
            <a:spLocks/>
          </p:cNvSpPr>
          <p:nvPr/>
        </p:nvSpPr>
        <p:spPr>
          <a:xfrm>
            <a:off x="178104" y="913485"/>
            <a:ext cx="10498800" cy="99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0" dirty="0"/>
              <a:t>A solução “obvia” :</a:t>
            </a:r>
          </a:p>
          <a:p>
            <a:pPr lvl="1"/>
            <a:r>
              <a:rPr lang="pt-BR" noProof="0" dirty="0"/>
              <a:t>O </a:t>
            </a:r>
            <a:r>
              <a:rPr lang="pt-BR" b="1" noProof="0" dirty="0">
                <a:solidFill>
                  <a:schemeClr val="dk2"/>
                </a:solidFill>
              </a:rPr>
              <a:t>bit mais a esquerda define o sinal</a:t>
            </a:r>
            <a:r>
              <a:rPr lang="pt-BR" noProof="0" dirty="0"/>
              <a:t>: 0 → +, 1 → –</a:t>
            </a:r>
          </a:p>
        </p:txBody>
      </p:sp>
      <p:sp>
        <p:nvSpPr>
          <p:cNvPr id="4" name="Google Shape;350;p36">
            <a:extLst>
              <a:ext uri="{FF2B5EF4-FFF2-40B4-BE49-F238E27FC236}">
                <a16:creationId xmlns:a16="http://schemas.microsoft.com/office/drawing/2014/main" id="{876DD5F5-4385-1D18-47B9-5BE2487723B4}"/>
              </a:ext>
            </a:extLst>
          </p:cNvPr>
          <p:cNvSpPr txBox="1">
            <a:spLocks/>
          </p:cNvSpPr>
          <p:nvPr/>
        </p:nvSpPr>
        <p:spPr>
          <a:xfrm>
            <a:off x="415600" y="3127720"/>
            <a:ext cx="11360800" cy="325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Sinal-Magnitude</a:t>
            </a:r>
            <a:r>
              <a:rPr lang="pt-BR" dirty="0"/>
              <a:t> é </a:t>
            </a:r>
            <a:r>
              <a:rPr lang="en-GB" b="1" dirty="0" err="1">
                <a:solidFill>
                  <a:schemeClr val="dk2"/>
                </a:solidFill>
              </a:rPr>
              <a:t>raramente</a:t>
            </a:r>
            <a:r>
              <a:rPr lang="en-GB" b="1" dirty="0">
                <a:solidFill>
                  <a:schemeClr val="dk2"/>
                </a:solidFill>
              </a:rPr>
              <a:t> </a:t>
            </a:r>
            <a:r>
              <a:rPr lang="en-GB" b="1" dirty="0" err="1">
                <a:solidFill>
                  <a:schemeClr val="dk2"/>
                </a:solidFill>
              </a:rPr>
              <a:t>utilizado</a:t>
            </a:r>
            <a:r>
              <a:rPr lang="en-GB" dirty="0"/>
              <a:t>, </a:t>
            </a:r>
            <a:r>
              <a:rPr lang="en-GB" dirty="0" err="1"/>
              <a:t>devido</a:t>
            </a:r>
            <a:r>
              <a:rPr lang="en-GB" dirty="0"/>
              <a:t> a </a:t>
            </a:r>
            <a:r>
              <a:rPr lang="en-GB" dirty="0" err="1"/>
              <a:t>muitas</a:t>
            </a:r>
            <a:r>
              <a:rPr lang="en-GB" dirty="0"/>
              <a:t> </a:t>
            </a:r>
            <a:r>
              <a:rPr lang="en-GB" dirty="0" err="1"/>
              <a:t>deficiências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“Incrementar” </a:t>
            </a:r>
            <a:r>
              <a:rPr lang="pt-BR" dirty="0"/>
              <a:t>aumenta os valores às vezes, diminui os valores outras vezes</a:t>
            </a:r>
            <a:endParaRPr lang="en-GB" dirty="0"/>
          </a:p>
          <a:p>
            <a:pPr lvl="1"/>
            <a:r>
              <a:rPr lang="en-GB" dirty="0" err="1"/>
              <a:t>Circuito</a:t>
            </a:r>
            <a:r>
              <a:rPr lang="en-GB" dirty="0"/>
              <a:t> </a:t>
            </a:r>
            <a:r>
              <a:rPr lang="en-GB" dirty="0" err="1"/>
              <a:t>aritmético</a:t>
            </a:r>
            <a:r>
              <a:rPr lang="en-GB" dirty="0"/>
              <a:t> </a:t>
            </a:r>
            <a:r>
              <a:rPr lang="en-GB" dirty="0" err="1"/>
              <a:t>complicado</a:t>
            </a:r>
            <a:r>
              <a:rPr lang="en-GB" dirty="0"/>
              <a:t>: </a:t>
            </a:r>
            <a:r>
              <a:rPr lang="pt-BR" dirty="0"/>
              <a:t>etapas especiais dependendo se os sinais são iguais/diferentes</a:t>
            </a:r>
            <a:endParaRPr lang="en-GB" dirty="0"/>
          </a:p>
          <a:p>
            <a:pPr lvl="1"/>
            <a:r>
              <a:rPr lang="en-GB" b="1" dirty="0" err="1">
                <a:solidFill>
                  <a:schemeClr val="dk2"/>
                </a:solidFill>
              </a:rPr>
              <a:t>Dois</a:t>
            </a:r>
            <a:r>
              <a:rPr lang="en-GB" b="1" dirty="0">
                <a:solidFill>
                  <a:schemeClr val="dk2"/>
                </a:solidFill>
              </a:rPr>
              <a:t> zeros</a:t>
            </a:r>
            <a:r>
              <a:rPr lang="en-GB" dirty="0"/>
              <a:t> (Como </a:t>
            </a:r>
            <a:r>
              <a:rPr lang="en-GB" dirty="0" err="1"/>
              <a:t>comparar</a:t>
            </a:r>
            <a:r>
              <a:rPr lang="en-GB" dirty="0"/>
              <a:t>??)</a:t>
            </a:r>
          </a:p>
          <a:p>
            <a:r>
              <a:rPr lang="pt-BR" dirty="0"/>
              <a:t>Razoável para processamento de sinal,</a:t>
            </a:r>
            <a:br>
              <a:rPr lang="en-GB" dirty="0"/>
            </a:br>
            <a:r>
              <a:rPr lang="pt-BR" dirty="0"/>
              <a:t>não para computadores de uso geral</a:t>
            </a:r>
            <a:endParaRPr lang="en-GB" dirty="0"/>
          </a:p>
        </p:txBody>
      </p:sp>
      <p:sp>
        <p:nvSpPr>
          <p:cNvPr id="5" name="Google Shape;351;p36">
            <a:extLst>
              <a:ext uri="{FF2B5EF4-FFF2-40B4-BE49-F238E27FC236}">
                <a16:creationId xmlns:a16="http://schemas.microsoft.com/office/drawing/2014/main" id="{38944EF9-04D2-CABF-E3C6-67466E6D02F0}"/>
              </a:ext>
            </a:extLst>
          </p:cNvPr>
          <p:cNvSpPr txBox="1"/>
          <p:nvPr/>
        </p:nvSpPr>
        <p:spPr>
          <a:xfrm>
            <a:off x="7086285" y="4946425"/>
            <a:ext cx="5048800" cy="11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0x00000000 		= +0</a:t>
            </a:r>
            <a:r>
              <a:rPr lang="en" sz="2667" baseline="-25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endParaRPr sz="2667" baseline="-25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>
              <a:buClr>
                <a:schemeClr val="lt1"/>
              </a:buClr>
              <a:buSzPts val="1100"/>
            </a:pPr>
            <a:r>
              <a:rPr lang="en"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0x80000000 		= –0</a:t>
            </a:r>
            <a:r>
              <a:rPr lang="en" sz="2667" baseline="-25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endParaRPr sz="2667" baseline="-25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6" name="Google Shape;352;p36">
            <a:extLst>
              <a:ext uri="{FF2B5EF4-FFF2-40B4-BE49-F238E27FC236}">
                <a16:creationId xmlns:a16="http://schemas.microsoft.com/office/drawing/2014/main" id="{5B6FDAF3-F979-6647-D1D9-F14486F925F7}"/>
              </a:ext>
            </a:extLst>
          </p:cNvPr>
          <p:cNvGrpSpPr/>
          <p:nvPr/>
        </p:nvGrpSpPr>
        <p:grpSpPr>
          <a:xfrm>
            <a:off x="7086285" y="5824139"/>
            <a:ext cx="3747600" cy="768561"/>
            <a:chOff x="5361625" y="4268378"/>
            <a:chExt cx="2810700" cy="576420"/>
          </a:xfrm>
        </p:grpSpPr>
        <p:sp>
          <p:nvSpPr>
            <p:cNvPr id="7" name="Google Shape;353;p36">
              <a:extLst>
                <a:ext uri="{FF2B5EF4-FFF2-40B4-BE49-F238E27FC236}">
                  <a16:creationId xmlns:a16="http://schemas.microsoft.com/office/drawing/2014/main" id="{F085BF0E-40ED-4D6A-3056-E6EFB3DD0733}"/>
                </a:ext>
              </a:extLst>
            </p:cNvPr>
            <p:cNvSpPr txBox="1"/>
            <p:nvPr/>
          </p:nvSpPr>
          <p:spPr>
            <a:xfrm>
              <a:off x="5361625" y="4374398"/>
              <a:ext cx="2810700" cy="47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400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0b 1000 0000 … 0000</a:t>
              </a:r>
              <a:endParaRPr sz="2400" baseline="-25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8" name="Google Shape;354;p36">
              <a:extLst>
                <a:ext uri="{FF2B5EF4-FFF2-40B4-BE49-F238E27FC236}">
                  <a16:creationId xmlns:a16="http://schemas.microsoft.com/office/drawing/2014/main" id="{8C85B1C7-2AEA-8795-FDF5-BE4B6B7F3FC9}"/>
                </a:ext>
              </a:extLst>
            </p:cNvPr>
            <p:cNvSpPr/>
            <p:nvPr/>
          </p:nvSpPr>
          <p:spPr>
            <a:xfrm>
              <a:off x="5796375" y="4268378"/>
              <a:ext cx="258700" cy="188150"/>
            </a:xfrm>
            <a:custGeom>
              <a:avLst/>
              <a:gdLst/>
              <a:ahLst/>
              <a:cxnLst/>
              <a:rect l="l" t="t" r="r" b="b"/>
              <a:pathLst>
                <a:path w="10348" h="7526" extrusionOk="0">
                  <a:moveTo>
                    <a:pt x="0" y="0"/>
                  </a:moveTo>
                  <a:cubicBezTo>
                    <a:pt x="1348" y="4047"/>
                    <a:pt x="8439" y="3712"/>
                    <a:pt x="10348" y="7526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 sz="2400"/>
            </a:p>
          </p:txBody>
        </p:sp>
        <p:sp>
          <p:nvSpPr>
            <p:cNvPr id="9" name="Google Shape;355;p36">
              <a:extLst>
                <a:ext uri="{FF2B5EF4-FFF2-40B4-BE49-F238E27FC236}">
                  <a16:creationId xmlns:a16="http://schemas.microsoft.com/office/drawing/2014/main" id="{2310DE56-8A2B-94AD-0395-FC4A1423AF9F}"/>
                </a:ext>
              </a:extLst>
            </p:cNvPr>
            <p:cNvSpPr/>
            <p:nvPr/>
          </p:nvSpPr>
          <p:spPr>
            <a:xfrm>
              <a:off x="5960520" y="4274161"/>
              <a:ext cx="858910" cy="188150"/>
            </a:xfrm>
            <a:custGeom>
              <a:avLst/>
              <a:gdLst/>
              <a:ahLst/>
              <a:cxnLst/>
              <a:rect l="l" t="t" r="r" b="b"/>
              <a:pathLst>
                <a:path w="10348" h="7526" extrusionOk="0">
                  <a:moveTo>
                    <a:pt x="0" y="0"/>
                  </a:moveTo>
                  <a:cubicBezTo>
                    <a:pt x="1348" y="4047"/>
                    <a:pt x="8439" y="3712"/>
                    <a:pt x="10348" y="7526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 sz="2400"/>
            </a:p>
          </p:txBody>
        </p:sp>
        <p:sp>
          <p:nvSpPr>
            <p:cNvPr id="10" name="Google Shape;356;p36">
              <a:extLst>
                <a:ext uri="{FF2B5EF4-FFF2-40B4-BE49-F238E27FC236}">
                  <a16:creationId xmlns:a16="http://schemas.microsoft.com/office/drawing/2014/main" id="{81C5DEAC-EEE5-0770-D764-1F754530C41D}"/>
                </a:ext>
              </a:extLst>
            </p:cNvPr>
            <p:cNvSpPr/>
            <p:nvPr/>
          </p:nvSpPr>
          <p:spPr>
            <a:xfrm>
              <a:off x="6911589" y="4274161"/>
              <a:ext cx="858910" cy="188150"/>
            </a:xfrm>
            <a:custGeom>
              <a:avLst/>
              <a:gdLst/>
              <a:ahLst/>
              <a:cxnLst/>
              <a:rect l="l" t="t" r="r" b="b"/>
              <a:pathLst>
                <a:path w="10348" h="7526" extrusionOk="0">
                  <a:moveTo>
                    <a:pt x="0" y="0"/>
                  </a:moveTo>
                  <a:cubicBezTo>
                    <a:pt x="1348" y="4047"/>
                    <a:pt x="8439" y="3712"/>
                    <a:pt x="10348" y="7526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 sz="2400"/>
            </a:p>
          </p:txBody>
        </p:sp>
      </p:grpSp>
      <p:sp>
        <p:nvSpPr>
          <p:cNvPr id="11" name="Google Shape;357;p36">
            <a:extLst>
              <a:ext uri="{FF2B5EF4-FFF2-40B4-BE49-F238E27FC236}">
                <a16:creationId xmlns:a16="http://schemas.microsoft.com/office/drawing/2014/main" id="{C3DF6983-7286-4C94-87C4-B4757D934DFA}"/>
              </a:ext>
            </a:extLst>
          </p:cNvPr>
          <p:cNvSpPr txBox="1"/>
          <p:nvPr/>
        </p:nvSpPr>
        <p:spPr>
          <a:xfrm>
            <a:off x="6521610" y="1436053"/>
            <a:ext cx="5909895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61981" lvl="1">
              <a:buClr>
                <a:schemeClr val="accent3"/>
              </a:buClr>
              <a:buSzPts val="1800"/>
            </a:pPr>
            <a:r>
              <a:rPr lang="en" sz="2400" dirty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O restante define o v</a:t>
            </a:r>
            <a:r>
              <a:rPr lang="en-GB" sz="2400" dirty="0" err="1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alor</a:t>
            </a:r>
            <a:r>
              <a:rPr lang="en-GB" sz="2400" dirty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2400" dirty="0" err="1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numérico</a:t>
            </a:r>
            <a:endParaRPr sz="2400" dirty="0"/>
          </a:p>
        </p:txBody>
      </p:sp>
      <p:grpSp>
        <p:nvGrpSpPr>
          <p:cNvPr id="12" name="Google Shape;358;p36">
            <a:extLst>
              <a:ext uri="{FF2B5EF4-FFF2-40B4-BE49-F238E27FC236}">
                <a16:creationId xmlns:a16="http://schemas.microsoft.com/office/drawing/2014/main" id="{EE46E957-023D-5905-599E-C671B4F9FB96}"/>
              </a:ext>
            </a:extLst>
          </p:cNvPr>
          <p:cNvGrpSpPr/>
          <p:nvPr/>
        </p:nvGrpSpPr>
        <p:grpSpPr>
          <a:xfrm>
            <a:off x="955495" y="1971584"/>
            <a:ext cx="10281009" cy="1092800"/>
            <a:chOff x="850743" y="1495600"/>
            <a:chExt cx="7710757" cy="819600"/>
          </a:xfrm>
        </p:grpSpPr>
        <p:cxnSp>
          <p:nvCxnSpPr>
            <p:cNvPr id="13" name="Google Shape;359;p36">
              <a:extLst>
                <a:ext uri="{FF2B5EF4-FFF2-40B4-BE49-F238E27FC236}">
                  <a16:creationId xmlns:a16="http://schemas.microsoft.com/office/drawing/2014/main" id="{3F8506FC-AB7C-6B4D-1DA5-CC133AC4179E}"/>
                </a:ext>
              </a:extLst>
            </p:cNvPr>
            <p:cNvCxnSpPr/>
            <p:nvPr/>
          </p:nvCxnSpPr>
          <p:spPr>
            <a:xfrm>
              <a:off x="1280700" y="2013475"/>
              <a:ext cx="68661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360;p36">
              <a:extLst>
                <a:ext uri="{FF2B5EF4-FFF2-40B4-BE49-F238E27FC236}">
                  <a16:creationId xmlns:a16="http://schemas.microsoft.com/office/drawing/2014/main" id="{5099F770-6BD0-A6D3-37C6-580005A75182}"/>
                </a:ext>
              </a:extLst>
            </p:cNvPr>
            <p:cNvSpPr txBox="1"/>
            <p:nvPr/>
          </p:nvSpPr>
          <p:spPr>
            <a:xfrm>
              <a:off x="1992950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5" name="Google Shape;361;p36">
              <a:extLst>
                <a:ext uri="{FF2B5EF4-FFF2-40B4-BE49-F238E27FC236}">
                  <a16:creationId xmlns:a16="http://schemas.microsoft.com/office/drawing/2014/main" id="{7CA0D7CC-D417-EF7D-D69F-D826AEB1FA86}"/>
                </a:ext>
              </a:extLst>
            </p:cNvPr>
            <p:cNvSpPr txBox="1"/>
            <p:nvPr/>
          </p:nvSpPr>
          <p:spPr>
            <a:xfrm>
              <a:off x="6579100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6" name="Google Shape;362;p36">
              <a:extLst>
                <a:ext uri="{FF2B5EF4-FFF2-40B4-BE49-F238E27FC236}">
                  <a16:creationId xmlns:a16="http://schemas.microsoft.com/office/drawing/2014/main" id="{45E10309-B0C0-B9D5-DE60-17E7B17F2916}"/>
                </a:ext>
              </a:extLst>
            </p:cNvPr>
            <p:cNvSpPr txBox="1"/>
            <p:nvPr/>
          </p:nvSpPr>
          <p:spPr>
            <a:xfrm>
              <a:off x="3139488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1001</a:t>
              </a:r>
              <a:endParaRPr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7" name="Google Shape;363;p36">
              <a:extLst>
                <a:ext uri="{FF2B5EF4-FFF2-40B4-BE49-F238E27FC236}">
                  <a16:creationId xmlns:a16="http://schemas.microsoft.com/office/drawing/2014/main" id="{7BA9C8D7-85AA-47C0-1B04-48CF746BBA56}"/>
                </a:ext>
              </a:extLst>
            </p:cNvPr>
            <p:cNvSpPr txBox="1"/>
            <p:nvPr/>
          </p:nvSpPr>
          <p:spPr>
            <a:xfrm>
              <a:off x="5432563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8" name="Google Shape;364;p36">
              <a:extLst>
                <a:ext uri="{FF2B5EF4-FFF2-40B4-BE49-F238E27FC236}">
                  <a16:creationId xmlns:a16="http://schemas.microsoft.com/office/drawing/2014/main" id="{BA88C002-A321-A079-7161-8C259AE1E1A5}"/>
                </a:ext>
              </a:extLst>
            </p:cNvPr>
            <p:cNvSpPr txBox="1"/>
            <p:nvPr/>
          </p:nvSpPr>
          <p:spPr>
            <a:xfrm>
              <a:off x="4286025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9" name="Google Shape;365;p36">
              <a:extLst>
                <a:ext uri="{FF2B5EF4-FFF2-40B4-BE49-F238E27FC236}">
                  <a16:creationId xmlns:a16="http://schemas.microsoft.com/office/drawing/2014/main" id="{2D9755B7-0B65-4D80-58E8-BC46CCBE6A28}"/>
                </a:ext>
              </a:extLst>
            </p:cNvPr>
            <p:cNvCxnSpPr/>
            <p:nvPr/>
          </p:nvCxnSpPr>
          <p:spPr>
            <a:xfrm>
              <a:off x="3559188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366;p36">
              <a:extLst>
                <a:ext uri="{FF2B5EF4-FFF2-40B4-BE49-F238E27FC236}">
                  <a16:creationId xmlns:a16="http://schemas.microsoft.com/office/drawing/2014/main" id="{D0DDC009-699F-813B-70CE-0DCE4B168AA1}"/>
                </a:ext>
              </a:extLst>
            </p:cNvPr>
            <p:cNvCxnSpPr/>
            <p:nvPr/>
          </p:nvCxnSpPr>
          <p:spPr>
            <a:xfrm>
              <a:off x="5852263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367;p36">
              <a:extLst>
                <a:ext uri="{FF2B5EF4-FFF2-40B4-BE49-F238E27FC236}">
                  <a16:creationId xmlns:a16="http://schemas.microsoft.com/office/drawing/2014/main" id="{EAC13851-94E4-D25D-D40E-38C133772E98}"/>
                </a:ext>
              </a:extLst>
            </p:cNvPr>
            <p:cNvCxnSpPr/>
            <p:nvPr/>
          </p:nvCxnSpPr>
          <p:spPr>
            <a:xfrm>
              <a:off x="6998800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Google Shape;368;p36">
              <a:extLst>
                <a:ext uri="{FF2B5EF4-FFF2-40B4-BE49-F238E27FC236}">
                  <a16:creationId xmlns:a16="http://schemas.microsoft.com/office/drawing/2014/main" id="{78A2C29B-1E77-A5D6-252D-7A9E98FE350F}"/>
                </a:ext>
              </a:extLst>
            </p:cNvPr>
            <p:cNvSpPr txBox="1"/>
            <p:nvPr/>
          </p:nvSpPr>
          <p:spPr>
            <a:xfrm>
              <a:off x="7722100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3" name="Google Shape;369;p36">
              <a:extLst>
                <a:ext uri="{FF2B5EF4-FFF2-40B4-BE49-F238E27FC236}">
                  <a16:creationId xmlns:a16="http://schemas.microsoft.com/office/drawing/2014/main" id="{5AF1C6EA-6B67-6CCC-5703-17B64524CDF6}"/>
                </a:ext>
              </a:extLst>
            </p:cNvPr>
            <p:cNvCxnSpPr/>
            <p:nvPr/>
          </p:nvCxnSpPr>
          <p:spPr>
            <a:xfrm>
              <a:off x="8141800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Google Shape;370;p36">
              <a:extLst>
                <a:ext uri="{FF2B5EF4-FFF2-40B4-BE49-F238E27FC236}">
                  <a16:creationId xmlns:a16="http://schemas.microsoft.com/office/drawing/2014/main" id="{0128332F-3D2F-8DCE-A791-9D513E1DC536}"/>
                </a:ext>
              </a:extLst>
            </p:cNvPr>
            <p:cNvSpPr txBox="1"/>
            <p:nvPr/>
          </p:nvSpPr>
          <p:spPr>
            <a:xfrm>
              <a:off x="850743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5" name="Google Shape;371;p36">
              <a:extLst>
                <a:ext uri="{FF2B5EF4-FFF2-40B4-BE49-F238E27FC236}">
                  <a16:creationId xmlns:a16="http://schemas.microsoft.com/office/drawing/2014/main" id="{262EE167-19D1-5A62-AEB0-6EE613A64DAA}"/>
                </a:ext>
              </a:extLst>
            </p:cNvPr>
            <p:cNvCxnSpPr/>
            <p:nvPr/>
          </p:nvCxnSpPr>
          <p:spPr>
            <a:xfrm>
              <a:off x="4702188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372;p36">
              <a:extLst>
                <a:ext uri="{FF2B5EF4-FFF2-40B4-BE49-F238E27FC236}">
                  <a16:creationId xmlns:a16="http://schemas.microsoft.com/office/drawing/2014/main" id="{046C425A-9CF1-C278-672B-B742EE1C5D8C}"/>
                </a:ext>
              </a:extLst>
            </p:cNvPr>
            <p:cNvSpPr txBox="1"/>
            <p:nvPr/>
          </p:nvSpPr>
          <p:spPr>
            <a:xfrm>
              <a:off x="4286025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7" name="Google Shape;373;p36">
              <a:extLst>
                <a:ext uri="{FF2B5EF4-FFF2-40B4-BE49-F238E27FC236}">
                  <a16:creationId xmlns:a16="http://schemas.microsoft.com/office/drawing/2014/main" id="{79A41F8B-5126-345B-A48F-6D18EB3D798C}"/>
                </a:ext>
              </a:extLst>
            </p:cNvPr>
            <p:cNvCxnSpPr/>
            <p:nvPr/>
          </p:nvCxnSpPr>
          <p:spPr>
            <a:xfrm>
              <a:off x="1270443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16297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8;p37">
            <a:extLst>
              <a:ext uri="{FF2B5EF4-FFF2-40B4-BE49-F238E27FC236}">
                <a16:creationId xmlns:a16="http://schemas.microsoft.com/office/drawing/2014/main" id="{6D0C8C37-D2D9-58B8-D791-6650A61089ED}"/>
              </a:ext>
            </a:extLst>
          </p:cNvPr>
          <p:cNvSpPr txBox="1"/>
          <p:nvPr/>
        </p:nvSpPr>
        <p:spPr>
          <a:xfrm>
            <a:off x="7131200" y="1716569"/>
            <a:ext cx="4548800" cy="8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0b 1111 1000</a:t>
            </a:r>
            <a:endParaRPr sz="2667" baseline="-25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" name="Google Shape;379;p37">
            <a:extLst>
              <a:ext uri="{FF2B5EF4-FFF2-40B4-BE49-F238E27FC236}">
                <a16:creationId xmlns:a16="http://schemas.microsoft.com/office/drawing/2014/main" id="{28BA5D56-8839-548D-3A36-388CE5C13543}"/>
              </a:ext>
            </a:extLst>
          </p:cNvPr>
          <p:cNvSpPr txBox="1"/>
          <p:nvPr/>
        </p:nvSpPr>
        <p:spPr>
          <a:xfrm>
            <a:off x="7414312" y="1716569"/>
            <a:ext cx="1685083" cy="728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-7</a:t>
            </a:r>
            <a:r>
              <a:rPr lang="en" sz="2667" baseline="-25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r>
              <a:rPr lang="en"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= </a:t>
            </a:r>
            <a:endParaRPr sz="2667" baseline="-25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" name="Google Shape;380;p37">
            <a:extLst>
              <a:ext uri="{FF2B5EF4-FFF2-40B4-BE49-F238E27FC236}">
                <a16:creationId xmlns:a16="http://schemas.microsoft.com/office/drawing/2014/main" id="{4E57579D-BC9D-DED7-BAAB-EA5574D1FCE0}"/>
              </a:ext>
            </a:extLst>
          </p:cNvPr>
          <p:cNvSpPr txBox="1"/>
          <p:nvPr/>
        </p:nvSpPr>
        <p:spPr>
          <a:xfrm>
            <a:off x="7414299" y="987800"/>
            <a:ext cx="4548800" cy="11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+7</a:t>
            </a:r>
            <a:r>
              <a:rPr lang="en" sz="2667" baseline="-25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r>
              <a:rPr lang="en"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= 0b 0000 0111</a:t>
            </a:r>
            <a:endParaRPr sz="2667" baseline="-25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" name="Google Shape;381;p37">
            <a:extLst>
              <a:ext uri="{FF2B5EF4-FFF2-40B4-BE49-F238E27FC236}">
                <a16:creationId xmlns:a16="http://schemas.microsoft.com/office/drawing/2014/main" id="{10C7D5A9-7EE9-382B-4CD9-BFBA92F0152C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99902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dirty="0">
                <a:solidFill>
                  <a:schemeClr val="bg1"/>
                </a:solidFill>
              </a:rPr>
              <a:t>Complemento de um: outra tentativa</a:t>
            </a:r>
          </a:p>
        </p:txBody>
      </p:sp>
      <p:sp>
        <p:nvSpPr>
          <p:cNvPr id="6" name="Google Shape;382;p37">
            <a:extLst>
              <a:ext uri="{FF2B5EF4-FFF2-40B4-BE49-F238E27FC236}">
                <a16:creationId xmlns:a16="http://schemas.microsoft.com/office/drawing/2014/main" id="{4D2B3211-1E8B-EB00-0774-D284BAC23C4D}"/>
              </a:ext>
            </a:extLst>
          </p:cNvPr>
          <p:cNvSpPr txBox="1">
            <a:spLocks/>
          </p:cNvSpPr>
          <p:nvPr/>
        </p:nvSpPr>
        <p:spPr>
          <a:xfrm>
            <a:off x="415600" y="994100"/>
            <a:ext cx="6310800" cy="151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Para representar um número negativo, complemente ("</a:t>
            </a:r>
            <a:r>
              <a:rPr lang="pt-BR" b="1" dirty="0"/>
              <a:t>inverta</a:t>
            </a:r>
            <a:r>
              <a:rPr lang="pt-BR" dirty="0"/>
              <a:t>") os bits de sua representação positiva</a:t>
            </a:r>
            <a:r>
              <a:rPr lang="en-GB" dirty="0"/>
              <a:t>:</a:t>
            </a:r>
          </a:p>
        </p:txBody>
      </p:sp>
      <p:sp>
        <p:nvSpPr>
          <p:cNvPr id="7" name="Google Shape;383;p37">
            <a:extLst>
              <a:ext uri="{FF2B5EF4-FFF2-40B4-BE49-F238E27FC236}">
                <a16:creationId xmlns:a16="http://schemas.microsoft.com/office/drawing/2014/main" id="{E332FA58-9D07-C77A-F2FD-49D2C86D6078}"/>
              </a:ext>
            </a:extLst>
          </p:cNvPr>
          <p:cNvSpPr/>
          <p:nvPr/>
        </p:nvSpPr>
        <p:spPr>
          <a:xfrm>
            <a:off x="9818881" y="1524970"/>
            <a:ext cx="152033" cy="378841"/>
          </a:xfrm>
          <a:custGeom>
            <a:avLst/>
            <a:gdLst/>
            <a:ahLst/>
            <a:cxnLst/>
            <a:rect l="l" t="t" r="r" b="b"/>
            <a:pathLst>
              <a:path w="4561" h="13171" extrusionOk="0">
                <a:moveTo>
                  <a:pt x="1634" y="0"/>
                </a:moveTo>
                <a:cubicBezTo>
                  <a:pt x="3222" y="397"/>
                  <a:pt x="1381" y="5862"/>
                  <a:pt x="223" y="4704"/>
                </a:cubicBezTo>
                <a:cubicBezTo>
                  <a:pt x="-671" y="3810"/>
                  <a:pt x="3420" y="3102"/>
                  <a:pt x="3986" y="4233"/>
                </a:cubicBezTo>
                <a:cubicBezTo>
                  <a:pt x="5335" y="6931"/>
                  <a:pt x="3923" y="10473"/>
                  <a:pt x="2575" y="1317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Google Shape;384;p37">
            <a:extLst>
              <a:ext uri="{FF2B5EF4-FFF2-40B4-BE49-F238E27FC236}">
                <a16:creationId xmlns:a16="http://schemas.microsoft.com/office/drawing/2014/main" id="{8BF782AC-4057-4854-C2EB-322D1121C287}"/>
              </a:ext>
            </a:extLst>
          </p:cNvPr>
          <p:cNvSpPr/>
          <p:nvPr/>
        </p:nvSpPr>
        <p:spPr>
          <a:xfrm>
            <a:off x="10981013" y="1555707"/>
            <a:ext cx="152033" cy="378841"/>
          </a:xfrm>
          <a:custGeom>
            <a:avLst/>
            <a:gdLst/>
            <a:ahLst/>
            <a:cxnLst/>
            <a:rect l="l" t="t" r="r" b="b"/>
            <a:pathLst>
              <a:path w="4561" h="13171" extrusionOk="0">
                <a:moveTo>
                  <a:pt x="1634" y="0"/>
                </a:moveTo>
                <a:cubicBezTo>
                  <a:pt x="3222" y="397"/>
                  <a:pt x="1381" y="5862"/>
                  <a:pt x="223" y="4704"/>
                </a:cubicBezTo>
                <a:cubicBezTo>
                  <a:pt x="-671" y="3810"/>
                  <a:pt x="3420" y="3102"/>
                  <a:pt x="3986" y="4233"/>
                </a:cubicBezTo>
                <a:cubicBezTo>
                  <a:pt x="5335" y="6931"/>
                  <a:pt x="3923" y="10473"/>
                  <a:pt x="2575" y="1317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pt-BR" sz="2400"/>
          </a:p>
        </p:txBody>
      </p:sp>
      <p:grpSp>
        <p:nvGrpSpPr>
          <p:cNvPr id="9" name="Google Shape;385;p37">
            <a:extLst>
              <a:ext uri="{FF2B5EF4-FFF2-40B4-BE49-F238E27FC236}">
                <a16:creationId xmlns:a16="http://schemas.microsoft.com/office/drawing/2014/main" id="{089AC4A6-357F-FECC-B153-08AF4D707FD7}"/>
              </a:ext>
            </a:extLst>
          </p:cNvPr>
          <p:cNvGrpSpPr/>
          <p:nvPr/>
        </p:nvGrpSpPr>
        <p:grpSpPr>
          <a:xfrm>
            <a:off x="1540725" y="2298933"/>
            <a:ext cx="10281009" cy="1092800"/>
            <a:chOff x="850743" y="1495600"/>
            <a:chExt cx="7710757" cy="819600"/>
          </a:xfrm>
        </p:grpSpPr>
        <p:cxnSp>
          <p:nvCxnSpPr>
            <p:cNvPr id="10" name="Google Shape;386;p37">
              <a:extLst>
                <a:ext uri="{FF2B5EF4-FFF2-40B4-BE49-F238E27FC236}">
                  <a16:creationId xmlns:a16="http://schemas.microsoft.com/office/drawing/2014/main" id="{3B54E0ED-62AD-73D5-D4B8-21CEF883906D}"/>
                </a:ext>
              </a:extLst>
            </p:cNvPr>
            <p:cNvCxnSpPr/>
            <p:nvPr/>
          </p:nvCxnSpPr>
          <p:spPr>
            <a:xfrm>
              <a:off x="1280700" y="2013475"/>
              <a:ext cx="68661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387;p37">
              <a:extLst>
                <a:ext uri="{FF2B5EF4-FFF2-40B4-BE49-F238E27FC236}">
                  <a16:creationId xmlns:a16="http://schemas.microsoft.com/office/drawing/2014/main" id="{D27C48BD-3983-4E4C-B81D-D2457C88FA10}"/>
                </a:ext>
              </a:extLst>
            </p:cNvPr>
            <p:cNvSpPr txBox="1"/>
            <p:nvPr/>
          </p:nvSpPr>
          <p:spPr>
            <a:xfrm>
              <a:off x="1992950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2" name="Google Shape;388;p37">
              <a:extLst>
                <a:ext uri="{FF2B5EF4-FFF2-40B4-BE49-F238E27FC236}">
                  <a16:creationId xmlns:a16="http://schemas.microsoft.com/office/drawing/2014/main" id="{0E746EF4-A07E-0515-50F8-E15AF0FF1E99}"/>
                </a:ext>
              </a:extLst>
            </p:cNvPr>
            <p:cNvSpPr txBox="1"/>
            <p:nvPr/>
          </p:nvSpPr>
          <p:spPr>
            <a:xfrm>
              <a:off x="6579100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3" name="Google Shape;389;p37">
              <a:extLst>
                <a:ext uri="{FF2B5EF4-FFF2-40B4-BE49-F238E27FC236}">
                  <a16:creationId xmlns:a16="http://schemas.microsoft.com/office/drawing/2014/main" id="{A9B2CD6F-F8F3-C2EF-BE22-F373DDE67D21}"/>
                </a:ext>
              </a:extLst>
            </p:cNvPr>
            <p:cNvSpPr txBox="1"/>
            <p:nvPr/>
          </p:nvSpPr>
          <p:spPr>
            <a:xfrm>
              <a:off x="3139488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4" name="Google Shape;390;p37">
              <a:extLst>
                <a:ext uri="{FF2B5EF4-FFF2-40B4-BE49-F238E27FC236}">
                  <a16:creationId xmlns:a16="http://schemas.microsoft.com/office/drawing/2014/main" id="{131755F5-3CE6-8783-1D03-1FBF824DCE2B}"/>
                </a:ext>
              </a:extLst>
            </p:cNvPr>
            <p:cNvSpPr txBox="1"/>
            <p:nvPr/>
          </p:nvSpPr>
          <p:spPr>
            <a:xfrm>
              <a:off x="5432563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5" name="Google Shape;391;p37">
              <a:extLst>
                <a:ext uri="{FF2B5EF4-FFF2-40B4-BE49-F238E27FC236}">
                  <a16:creationId xmlns:a16="http://schemas.microsoft.com/office/drawing/2014/main" id="{9D29ADF9-6BA9-D7FC-EA95-24E790BF813A}"/>
                </a:ext>
              </a:extLst>
            </p:cNvPr>
            <p:cNvSpPr txBox="1"/>
            <p:nvPr/>
          </p:nvSpPr>
          <p:spPr>
            <a:xfrm>
              <a:off x="4286025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6" name="Google Shape;392;p37">
              <a:extLst>
                <a:ext uri="{FF2B5EF4-FFF2-40B4-BE49-F238E27FC236}">
                  <a16:creationId xmlns:a16="http://schemas.microsoft.com/office/drawing/2014/main" id="{87FA97E5-338C-474F-3C2C-96CA9D9E4E72}"/>
                </a:ext>
              </a:extLst>
            </p:cNvPr>
            <p:cNvCxnSpPr/>
            <p:nvPr/>
          </p:nvCxnSpPr>
          <p:spPr>
            <a:xfrm>
              <a:off x="3559188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93;p37">
              <a:extLst>
                <a:ext uri="{FF2B5EF4-FFF2-40B4-BE49-F238E27FC236}">
                  <a16:creationId xmlns:a16="http://schemas.microsoft.com/office/drawing/2014/main" id="{BFEF529D-C82C-15D4-F4C1-A95194FF769D}"/>
                </a:ext>
              </a:extLst>
            </p:cNvPr>
            <p:cNvCxnSpPr/>
            <p:nvPr/>
          </p:nvCxnSpPr>
          <p:spPr>
            <a:xfrm>
              <a:off x="5852263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94;p37">
              <a:extLst>
                <a:ext uri="{FF2B5EF4-FFF2-40B4-BE49-F238E27FC236}">
                  <a16:creationId xmlns:a16="http://schemas.microsoft.com/office/drawing/2014/main" id="{5EC021EC-79F3-BDED-7735-7697D81EEC5B}"/>
                </a:ext>
              </a:extLst>
            </p:cNvPr>
            <p:cNvCxnSpPr/>
            <p:nvPr/>
          </p:nvCxnSpPr>
          <p:spPr>
            <a:xfrm>
              <a:off x="6998800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395;p37">
              <a:extLst>
                <a:ext uri="{FF2B5EF4-FFF2-40B4-BE49-F238E27FC236}">
                  <a16:creationId xmlns:a16="http://schemas.microsoft.com/office/drawing/2014/main" id="{E28478DB-C41C-6B29-5A63-BE7A9AC8DF4E}"/>
                </a:ext>
              </a:extLst>
            </p:cNvPr>
            <p:cNvSpPr txBox="1"/>
            <p:nvPr/>
          </p:nvSpPr>
          <p:spPr>
            <a:xfrm>
              <a:off x="7722100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0111</a:t>
              </a:r>
              <a:endParaRPr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0" name="Google Shape;396;p37">
              <a:extLst>
                <a:ext uri="{FF2B5EF4-FFF2-40B4-BE49-F238E27FC236}">
                  <a16:creationId xmlns:a16="http://schemas.microsoft.com/office/drawing/2014/main" id="{1EFAEE2B-3182-FC9A-FF7C-CE611CE4EE6D}"/>
                </a:ext>
              </a:extLst>
            </p:cNvPr>
            <p:cNvCxnSpPr/>
            <p:nvPr/>
          </p:nvCxnSpPr>
          <p:spPr>
            <a:xfrm>
              <a:off x="8141800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Google Shape;397;p37">
              <a:extLst>
                <a:ext uri="{FF2B5EF4-FFF2-40B4-BE49-F238E27FC236}">
                  <a16:creationId xmlns:a16="http://schemas.microsoft.com/office/drawing/2014/main" id="{E66EC70C-3679-8589-B35D-6B9025D6C1B6}"/>
                </a:ext>
              </a:extLst>
            </p:cNvPr>
            <p:cNvSpPr txBox="1"/>
            <p:nvPr/>
          </p:nvSpPr>
          <p:spPr>
            <a:xfrm>
              <a:off x="850743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2" name="Google Shape;398;p37">
              <a:extLst>
                <a:ext uri="{FF2B5EF4-FFF2-40B4-BE49-F238E27FC236}">
                  <a16:creationId xmlns:a16="http://schemas.microsoft.com/office/drawing/2014/main" id="{D6558215-A3DA-4197-8336-7EF5ED8C0C3D}"/>
                </a:ext>
              </a:extLst>
            </p:cNvPr>
            <p:cNvCxnSpPr/>
            <p:nvPr/>
          </p:nvCxnSpPr>
          <p:spPr>
            <a:xfrm>
              <a:off x="4702188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399;p37">
              <a:extLst>
                <a:ext uri="{FF2B5EF4-FFF2-40B4-BE49-F238E27FC236}">
                  <a16:creationId xmlns:a16="http://schemas.microsoft.com/office/drawing/2014/main" id="{F78E7748-0C45-FA69-AFC3-BF8BA5A9D284}"/>
                </a:ext>
              </a:extLst>
            </p:cNvPr>
            <p:cNvSpPr txBox="1"/>
            <p:nvPr/>
          </p:nvSpPr>
          <p:spPr>
            <a:xfrm>
              <a:off x="4286025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4" name="Google Shape;400;p37">
              <a:extLst>
                <a:ext uri="{FF2B5EF4-FFF2-40B4-BE49-F238E27FC236}">
                  <a16:creationId xmlns:a16="http://schemas.microsoft.com/office/drawing/2014/main" id="{3709FBE9-4233-954E-AFA3-CF5957B1EDE7}"/>
                </a:ext>
              </a:extLst>
            </p:cNvPr>
            <p:cNvCxnSpPr/>
            <p:nvPr/>
          </p:nvCxnSpPr>
          <p:spPr>
            <a:xfrm>
              <a:off x="1270443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" name="Google Shape;401;p37">
            <a:extLst>
              <a:ext uri="{FF2B5EF4-FFF2-40B4-BE49-F238E27FC236}">
                <a16:creationId xmlns:a16="http://schemas.microsoft.com/office/drawing/2014/main" id="{C054162B-51D0-F08C-A1F0-7EAEC133613B}"/>
              </a:ext>
            </a:extLst>
          </p:cNvPr>
          <p:cNvSpPr/>
          <p:nvPr/>
        </p:nvSpPr>
        <p:spPr>
          <a:xfrm>
            <a:off x="10508142" y="1506449"/>
            <a:ext cx="152033" cy="378841"/>
          </a:xfrm>
          <a:custGeom>
            <a:avLst/>
            <a:gdLst/>
            <a:ahLst/>
            <a:cxnLst/>
            <a:rect l="l" t="t" r="r" b="b"/>
            <a:pathLst>
              <a:path w="4561" h="13171" extrusionOk="0">
                <a:moveTo>
                  <a:pt x="1634" y="0"/>
                </a:moveTo>
                <a:cubicBezTo>
                  <a:pt x="3222" y="397"/>
                  <a:pt x="1381" y="5862"/>
                  <a:pt x="223" y="4704"/>
                </a:cubicBezTo>
                <a:cubicBezTo>
                  <a:pt x="-671" y="3810"/>
                  <a:pt x="3420" y="3102"/>
                  <a:pt x="3986" y="4233"/>
                </a:cubicBezTo>
                <a:cubicBezTo>
                  <a:pt x="5335" y="6931"/>
                  <a:pt x="3923" y="10473"/>
                  <a:pt x="2575" y="1317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6" name="Google Shape;402;p37">
            <a:extLst>
              <a:ext uri="{FF2B5EF4-FFF2-40B4-BE49-F238E27FC236}">
                <a16:creationId xmlns:a16="http://schemas.microsoft.com/office/drawing/2014/main" id="{327A849E-12CA-B838-5739-BBDC99D14994}"/>
              </a:ext>
            </a:extLst>
          </p:cNvPr>
          <p:cNvSpPr txBox="1">
            <a:spLocks/>
          </p:cNvSpPr>
          <p:nvPr/>
        </p:nvSpPr>
        <p:spPr>
          <a:xfrm>
            <a:off x="415600" y="4103300"/>
            <a:ext cx="7439600" cy="151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Observações</a:t>
            </a:r>
            <a:r>
              <a:rPr lang="en-GB" dirty="0"/>
              <a:t>:</a:t>
            </a:r>
          </a:p>
          <a:p>
            <a:pPr lvl="1"/>
            <a:r>
              <a:rPr lang="pt-BR" dirty="0"/>
              <a:t>Números positivos: 0s à esquerda</a:t>
            </a:r>
            <a:endParaRPr lang="en-GB" dirty="0"/>
          </a:p>
          <a:p>
            <a:pPr lvl="1"/>
            <a:r>
              <a:rPr lang="pt-BR" dirty="0"/>
              <a:t>Números negativos: 1s à esquerda</a:t>
            </a:r>
            <a:endParaRPr lang="en-GB" dirty="0"/>
          </a:p>
        </p:txBody>
      </p:sp>
      <p:sp>
        <p:nvSpPr>
          <p:cNvPr id="27" name="Google Shape;403;p37">
            <a:extLst>
              <a:ext uri="{FF2B5EF4-FFF2-40B4-BE49-F238E27FC236}">
                <a16:creationId xmlns:a16="http://schemas.microsoft.com/office/drawing/2014/main" id="{A6CE4135-9033-6939-5BC8-A0C5420A5AA3}"/>
              </a:ext>
            </a:extLst>
          </p:cNvPr>
          <p:cNvSpPr txBox="1">
            <a:spLocks/>
          </p:cNvSpPr>
          <p:nvPr/>
        </p:nvSpPr>
        <p:spPr>
          <a:xfrm>
            <a:off x="6325900" y="4103300"/>
            <a:ext cx="5637200" cy="17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#s representado em N bits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Zero: 2</a:t>
            </a:r>
          </a:p>
          <a:p>
            <a:pPr lvl="1"/>
            <a:r>
              <a:rPr lang="en-GB" dirty="0" err="1"/>
              <a:t>Positivo</a:t>
            </a:r>
            <a:r>
              <a:rPr lang="en-GB" dirty="0"/>
              <a:t>: (2</a:t>
            </a:r>
            <a:r>
              <a:rPr lang="en-GB" baseline="30000" dirty="0"/>
              <a:t>N</a:t>
            </a:r>
            <a:r>
              <a:rPr lang="en-GB" dirty="0"/>
              <a:t>)/2 - 2</a:t>
            </a:r>
          </a:p>
          <a:p>
            <a:pPr lvl="1"/>
            <a:r>
              <a:rPr lang="en-GB" dirty="0" err="1"/>
              <a:t>Negativo</a:t>
            </a:r>
            <a:r>
              <a:rPr lang="en-GB" dirty="0"/>
              <a:t>: (same as positive)</a:t>
            </a:r>
          </a:p>
        </p:txBody>
      </p:sp>
    </p:spTree>
    <p:extLst>
      <p:ext uri="{BB962C8B-B14F-4D97-AF65-F5344CB8AC3E}">
        <p14:creationId xmlns:p14="http://schemas.microsoft.com/office/powerpoint/2010/main" val="243590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8;p38">
            <a:extLst>
              <a:ext uri="{FF2B5EF4-FFF2-40B4-BE49-F238E27FC236}">
                <a16:creationId xmlns:a16="http://schemas.microsoft.com/office/drawing/2014/main" id="{3580F244-9D84-2C26-960C-21830028FDBC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667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 err="1">
                <a:solidFill>
                  <a:schemeClr val="bg1"/>
                </a:solidFill>
              </a:rPr>
              <a:t>Deficiências</a:t>
            </a:r>
            <a:r>
              <a:rPr lang="en-GB" b="1" dirty="0">
                <a:solidFill>
                  <a:schemeClr val="bg1"/>
                </a:solidFill>
              </a:rPr>
              <a:t> do </a:t>
            </a:r>
            <a:r>
              <a:rPr lang="en-GB" b="1" dirty="0" err="1">
                <a:solidFill>
                  <a:schemeClr val="bg1"/>
                </a:solidFill>
              </a:rPr>
              <a:t>complemento</a:t>
            </a:r>
            <a:r>
              <a:rPr lang="en-GB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Google Shape;409;p38">
            <a:extLst>
              <a:ext uri="{FF2B5EF4-FFF2-40B4-BE49-F238E27FC236}">
                <a16:creationId xmlns:a16="http://schemas.microsoft.com/office/drawing/2014/main" id="{43752FF2-5869-317C-701F-6F8207A4DD2D}"/>
              </a:ext>
            </a:extLst>
          </p:cNvPr>
          <p:cNvSpPr txBox="1">
            <a:spLocks/>
          </p:cNvSpPr>
          <p:nvPr/>
        </p:nvSpPr>
        <p:spPr>
          <a:xfrm>
            <a:off x="415600" y="2353899"/>
            <a:ext cx="11360800" cy="150055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Vantagens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Bit </a:t>
            </a:r>
            <a:r>
              <a:rPr lang="en-GB" dirty="0" err="1"/>
              <a:t>mais</a:t>
            </a:r>
            <a:r>
              <a:rPr lang="en-GB" dirty="0"/>
              <a:t> à </a:t>
            </a:r>
            <a:r>
              <a:rPr lang="en-GB" dirty="0" err="1"/>
              <a:t>esquerda</a:t>
            </a:r>
            <a:r>
              <a:rPr lang="en-GB" dirty="0"/>
              <a:t> (“</a:t>
            </a:r>
            <a:r>
              <a:rPr lang="en-GB" b="1" dirty="0">
                <a:solidFill>
                  <a:schemeClr val="dk2"/>
                </a:solidFill>
              </a:rPr>
              <a:t>bit </a:t>
            </a:r>
            <a:r>
              <a:rPr lang="en-GB" b="1" dirty="0" err="1">
                <a:solidFill>
                  <a:schemeClr val="dk2"/>
                </a:solidFill>
              </a:rPr>
              <a:t>mais</a:t>
            </a:r>
            <a:r>
              <a:rPr lang="en-GB" b="1" dirty="0">
                <a:solidFill>
                  <a:schemeClr val="dk2"/>
                </a:solidFill>
              </a:rPr>
              <a:t> </a:t>
            </a:r>
            <a:r>
              <a:rPr lang="en-GB" b="1" dirty="0" err="1">
                <a:solidFill>
                  <a:schemeClr val="dk2"/>
                </a:solidFill>
              </a:rPr>
              <a:t>significativo</a:t>
            </a:r>
            <a:r>
              <a:rPr lang="en-GB" dirty="0"/>
              <a:t>”) </a:t>
            </a:r>
            <a:r>
              <a:rPr lang="pt-BR" dirty="0"/>
              <a:t>ainda é efetivamente um bit de sinal</a:t>
            </a:r>
            <a:endParaRPr lang="en-GB" dirty="0"/>
          </a:p>
          <a:p>
            <a:pPr lvl="1"/>
            <a:r>
              <a:rPr lang="pt-BR" dirty="0"/>
              <a:t>“Incrementar” em binário é consistente na linha de representação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grpSp>
        <p:nvGrpSpPr>
          <p:cNvPr id="4" name="Google Shape;410;p38">
            <a:extLst>
              <a:ext uri="{FF2B5EF4-FFF2-40B4-BE49-F238E27FC236}">
                <a16:creationId xmlns:a16="http://schemas.microsoft.com/office/drawing/2014/main" id="{D8A0E80F-9B76-AA53-2018-39F983221895}"/>
              </a:ext>
            </a:extLst>
          </p:cNvPr>
          <p:cNvGrpSpPr/>
          <p:nvPr/>
        </p:nvGrpSpPr>
        <p:grpSpPr>
          <a:xfrm>
            <a:off x="1109400" y="1079037"/>
            <a:ext cx="10281009" cy="1092800"/>
            <a:chOff x="850743" y="1495600"/>
            <a:chExt cx="7710757" cy="819600"/>
          </a:xfrm>
        </p:grpSpPr>
        <p:cxnSp>
          <p:nvCxnSpPr>
            <p:cNvPr id="5" name="Google Shape;411;p38">
              <a:extLst>
                <a:ext uri="{FF2B5EF4-FFF2-40B4-BE49-F238E27FC236}">
                  <a16:creationId xmlns:a16="http://schemas.microsoft.com/office/drawing/2014/main" id="{A3ED0D93-3A20-1298-5CC3-CCD167DA9E9D}"/>
                </a:ext>
              </a:extLst>
            </p:cNvPr>
            <p:cNvCxnSpPr/>
            <p:nvPr/>
          </p:nvCxnSpPr>
          <p:spPr>
            <a:xfrm>
              <a:off x="1280700" y="2013475"/>
              <a:ext cx="68661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412;p38">
              <a:extLst>
                <a:ext uri="{FF2B5EF4-FFF2-40B4-BE49-F238E27FC236}">
                  <a16:creationId xmlns:a16="http://schemas.microsoft.com/office/drawing/2014/main" id="{EABCEC49-D97B-03A2-B89C-0ABE7E446B80}"/>
                </a:ext>
              </a:extLst>
            </p:cNvPr>
            <p:cNvSpPr txBox="1"/>
            <p:nvPr/>
          </p:nvSpPr>
          <p:spPr>
            <a:xfrm>
              <a:off x="1992950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7" name="Google Shape;413;p38">
              <a:extLst>
                <a:ext uri="{FF2B5EF4-FFF2-40B4-BE49-F238E27FC236}">
                  <a16:creationId xmlns:a16="http://schemas.microsoft.com/office/drawing/2014/main" id="{CAEB572E-4D06-C3BF-64C1-C75E32679A7F}"/>
                </a:ext>
              </a:extLst>
            </p:cNvPr>
            <p:cNvSpPr txBox="1"/>
            <p:nvPr/>
          </p:nvSpPr>
          <p:spPr>
            <a:xfrm>
              <a:off x="6579100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8" name="Google Shape;414;p38">
              <a:extLst>
                <a:ext uri="{FF2B5EF4-FFF2-40B4-BE49-F238E27FC236}">
                  <a16:creationId xmlns:a16="http://schemas.microsoft.com/office/drawing/2014/main" id="{0FF70D42-EF33-F16B-4ADC-CF7B5A62DD2C}"/>
                </a:ext>
              </a:extLst>
            </p:cNvPr>
            <p:cNvSpPr txBox="1"/>
            <p:nvPr/>
          </p:nvSpPr>
          <p:spPr>
            <a:xfrm>
              <a:off x="3139488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9" name="Google Shape;415;p38">
              <a:extLst>
                <a:ext uri="{FF2B5EF4-FFF2-40B4-BE49-F238E27FC236}">
                  <a16:creationId xmlns:a16="http://schemas.microsoft.com/office/drawing/2014/main" id="{CAB0F24F-6173-A606-E198-E90C049FE47D}"/>
                </a:ext>
              </a:extLst>
            </p:cNvPr>
            <p:cNvSpPr txBox="1"/>
            <p:nvPr/>
          </p:nvSpPr>
          <p:spPr>
            <a:xfrm>
              <a:off x="5432563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0" name="Google Shape;416;p38">
              <a:extLst>
                <a:ext uri="{FF2B5EF4-FFF2-40B4-BE49-F238E27FC236}">
                  <a16:creationId xmlns:a16="http://schemas.microsoft.com/office/drawing/2014/main" id="{E8758761-0F75-508F-8BD0-9C11AD8127E1}"/>
                </a:ext>
              </a:extLst>
            </p:cNvPr>
            <p:cNvSpPr txBox="1"/>
            <p:nvPr/>
          </p:nvSpPr>
          <p:spPr>
            <a:xfrm>
              <a:off x="4286025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1" name="Google Shape;417;p38">
              <a:extLst>
                <a:ext uri="{FF2B5EF4-FFF2-40B4-BE49-F238E27FC236}">
                  <a16:creationId xmlns:a16="http://schemas.microsoft.com/office/drawing/2014/main" id="{B4605745-2212-4BC6-68ED-3BDE3AE8370F}"/>
                </a:ext>
              </a:extLst>
            </p:cNvPr>
            <p:cNvCxnSpPr/>
            <p:nvPr/>
          </p:nvCxnSpPr>
          <p:spPr>
            <a:xfrm>
              <a:off x="3559188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418;p38">
              <a:extLst>
                <a:ext uri="{FF2B5EF4-FFF2-40B4-BE49-F238E27FC236}">
                  <a16:creationId xmlns:a16="http://schemas.microsoft.com/office/drawing/2014/main" id="{E439305B-67DF-48A0-65A3-D29BCC03F0A1}"/>
                </a:ext>
              </a:extLst>
            </p:cNvPr>
            <p:cNvCxnSpPr/>
            <p:nvPr/>
          </p:nvCxnSpPr>
          <p:spPr>
            <a:xfrm>
              <a:off x="5852263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419;p38">
              <a:extLst>
                <a:ext uri="{FF2B5EF4-FFF2-40B4-BE49-F238E27FC236}">
                  <a16:creationId xmlns:a16="http://schemas.microsoft.com/office/drawing/2014/main" id="{E83D0164-C54F-841E-735E-672230C2685D}"/>
                </a:ext>
              </a:extLst>
            </p:cNvPr>
            <p:cNvCxnSpPr/>
            <p:nvPr/>
          </p:nvCxnSpPr>
          <p:spPr>
            <a:xfrm>
              <a:off x="6998800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420;p38">
              <a:extLst>
                <a:ext uri="{FF2B5EF4-FFF2-40B4-BE49-F238E27FC236}">
                  <a16:creationId xmlns:a16="http://schemas.microsoft.com/office/drawing/2014/main" id="{56F949F4-7403-DB44-99C9-10A15410A125}"/>
                </a:ext>
              </a:extLst>
            </p:cNvPr>
            <p:cNvSpPr txBox="1"/>
            <p:nvPr/>
          </p:nvSpPr>
          <p:spPr>
            <a:xfrm>
              <a:off x="7722100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5" name="Google Shape;421;p38">
              <a:extLst>
                <a:ext uri="{FF2B5EF4-FFF2-40B4-BE49-F238E27FC236}">
                  <a16:creationId xmlns:a16="http://schemas.microsoft.com/office/drawing/2014/main" id="{7DDE6269-67B6-7F6A-2842-BCF33F0BABDB}"/>
                </a:ext>
              </a:extLst>
            </p:cNvPr>
            <p:cNvCxnSpPr/>
            <p:nvPr/>
          </p:nvCxnSpPr>
          <p:spPr>
            <a:xfrm>
              <a:off x="8141800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422;p38">
              <a:extLst>
                <a:ext uri="{FF2B5EF4-FFF2-40B4-BE49-F238E27FC236}">
                  <a16:creationId xmlns:a16="http://schemas.microsoft.com/office/drawing/2014/main" id="{7B2F17BF-205C-EA1C-6545-3D874869E729}"/>
                </a:ext>
              </a:extLst>
            </p:cNvPr>
            <p:cNvSpPr txBox="1"/>
            <p:nvPr/>
          </p:nvSpPr>
          <p:spPr>
            <a:xfrm>
              <a:off x="850743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7" name="Google Shape;423;p38">
              <a:extLst>
                <a:ext uri="{FF2B5EF4-FFF2-40B4-BE49-F238E27FC236}">
                  <a16:creationId xmlns:a16="http://schemas.microsoft.com/office/drawing/2014/main" id="{71260A3F-E2AF-562F-B776-AD463FA69D4A}"/>
                </a:ext>
              </a:extLst>
            </p:cNvPr>
            <p:cNvCxnSpPr/>
            <p:nvPr/>
          </p:nvCxnSpPr>
          <p:spPr>
            <a:xfrm>
              <a:off x="4702188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Google Shape;424;p38">
              <a:extLst>
                <a:ext uri="{FF2B5EF4-FFF2-40B4-BE49-F238E27FC236}">
                  <a16:creationId xmlns:a16="http://schemas.microsoft.com/office/drawing/2014/main" id="{1637E3D4-C259-DD88-5A84-22AE5111406A}"/>
                </a:ext>
              </a:extLst>
            </p:cNvPr>
            <p:cNvSpPr txBox="1"/>
            <p:nvPr/>
          </p:nvSpPr>
          <p:spPr>
            <a:xfrm>
              <a:off x="4286025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9" name="Google Shape;425;p38">
              <a:extLst>
                <a:ext uri="{FF2B5EF4-FFF2-40B4-BE49-F238E27FC236}">
                  <a16:creationId xmlns:a16="http://schemas.microsoft.com/office/drawing/2014/main" id="{79747DB2-CD5F-8D59-32CA-44B612F4336A}"/>
                </a:ext>
              </a:extLst>
            </p:cNvPr>
            <p:cNvCxnSpPr/>
            <p:nvPr/>
          </p:nvCxnSpPr>
          <p:spPr>
            <a:xfrm>
              <a:off x="1270443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426;p38">
            <a:extLst>
              <a:ext uri="{FF2B5EF4-FFF2-40B4-BE49-F238E27FC236}">
                <a16:creationId xmlns:a16="http://schemas.microsoft.com/office/drawing/2014/main" id="{DAB3DBB9-01A2-7B1C-A57F-2381E3C22C0D}"/>
              </a:ext>
            </a:extLst>
          </p:cNvPr>
          <p:cNvSpPr txBox="1">
            <a:spLocks/>
          </p:cNvSpPr>
          <p:nvPr/>
        </p:nvSpPr>
        <p:spPr>
          <a:xfrm>
            <a:off x="415600" y="3674700"/>
            <a:ext cx="11360800" cy="224288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Algumas</a:t>
            </a:r>
            <a:r>
              <a:rPr lang="en-GB" dirty="0"/>
              <a:t> </a:t>
            </a:r>
            <a:r>
              <a:rPr lang="en-GB" dirty="0" err="1"/>
              <a:t>desvantagens</a:t>
            </a:r>
            <a:r>
              <a:rPr lang="en-GB" dirty="0"/>
              <a:t> </a:t>
            </a:r>
            <a:r>
              <a:rPr lang="en-GB" dirty="0" err="1"/>
              <a:t>ainda</a:t>
            </a:r>
            <a:r>
              <a:rPr lang="en-GB" dirty="0"/>
              <a:t> </a:t>
            </a:r>
            <a:r>
              <a:rPr lang="en-GB" dirty="0" err="1"/>
              <a:t>persistem</a:t>
            </a:r>
            <a:r>
              <a:rPr lang="en-GB" dirty="0"/>
              <a:t>:</a:t>
            </a:r>
          </a:p>
          <a:p>
            <a:pPr lvl="1"/>
            <a:r>
              <a:rPr lang="en-GB" dirty="0" err="1"/>
              <a:t>Ainda</a:t>
            </a:r>
            <a:r>
              <a:rPr lang="en-GB" dirty="0"/>
              <a:t> </a:t>
            </a:r>
            <a:r>
              <a:rPr lang="en-GB" dirty="0" err="1"/>
              <a:t>dois</a:t>
            </a:r>
            <a:r>
              <a:rPr lang="en-GB" dirty="0"/>
              <a:t> zeros</a:t>
            </a:r>
          </a:p>
          <a:p>
            <a:pPr lvl="1"/>
            <a:r>
              <a:rPr lang="pt-BR" dirty="0"/>
              <a:t>Aritmética ainda um pouco complicada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16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1;p39">
            <a:extLst>
              <a:ext uri="{FF2B5EF4-FFF2-40B4-BE49-F238E27FC236}">
                <a16:creationId xmlns:a16="http://schemas.microsoft.com/office/drawing/2014/main" id="{44053B3A-4837-7EC4-33B2-E4FC9966912F}"/>
              </a:ext>
            </a:extLst>
          </p:cNvPr>
          <p:cNvSpPr txBox="1">
            <a:spLocks/>
          </p:cNvSpPr>
          <p:nvPr/>
        </p:nvSpPr>
        <p:spPr>
          <a:xfrm>
            <a:off x="459700" y="1838367"/>
            <a:ext cx="5428144" cy="388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Complemento</a:t>
            </a:r>
            <a:r>
              <a:rPr lang="en-GB" dirty="0"/>
              <a:t> de </a:t>
            </a:r>
            <a:r>
              <a:rPr lang="en-GB" dirty="0" err="1"/>
              <a:t>Dois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2871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6;p40">
            <a:extLst>
              <a:ext uri="{FF2B5EF4-FFF2-40B4-BE49-F238E27FC236}">
                <a16:creationId xmlns:a16="http://schemas.microsoft.com/office/drawing/2014/main" id="{57F63ADA-6D69-09EA-067C-0875CB709B30}"/>
              </a:ext>
            </a:extLst>
          </p:cNvPr>
          <p:cNvSpPr txBox="1">
            <a:spLocks/>
          </p:cNvSpPr>
          <p:nvPr/>
        </p:nvSpPr>
        <p:spPr>
          <a:xfrm>
            <a:off x="415400" y="805545"/>
            <a:ext cx="11360800" cy="270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Complemento</a:t>
            </a:r>
            <a:r>
              <a:rPr lang="en-GB" dirty="0"/>
              <a:t> de um: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r>
              <a:rPr lang="pt-BR" dirty="0"/>
              <a:t>O problema: os negativos "se sobrepõem" aos positivos, criando os dois 0s</a:t>
            </a:r>
            <a:r>
              <a:rPr lang="en-GB" dirty="0"/>
              <a:t>.</a:t>
            </a:r>
          </a:p>
        </p:txBody>
      </p:sp>
      <p:sp>
        <p:nvSpPr>
          <p:cNvPr id="3" name="Google Shape;437;p40">
            <a:extLst>
              <a:ext uri="{FF2B5EF4-FFF2-40B4-BE49-F238E27FC236}">
                <a16:creationId xmlns:a16="http://schemas.microsoft.com/office/drawing/2014/main" id="{A265BC3C-30B2-8637-18AE-2DA432BB5AFC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667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 err="1">
                <a:solidFill>
                  <a:schemeClr val="bg1"/>
                </a:solidFill>
              </a:rPr>
              <a:t>Complemento</a:t>
            </a:r>
            <a:r>
              <a:rPr lang="en-GB" b="1" dirty="0">
                <a:solidFill>
                  <a:schemeClr val="bg1"/>
                </a:solidFill>
              </a:rPr>
              <a:t> de </a:t>
            </a:r>
            <a:r>
              <a:rPr lang="en-GB" b="1" dirty="0" err="1">
                <a:solidFill>
                  <a:schemeClr val="bg1"/>
                </a:solidFill>
              </a:rPr>
              <a:t>Dois</a:t>
            </a:r>
            <a:endParaRPr lang="en-GB" b="1" dirty="0">
              <a:solidFill>
                <a:schemeClr val="bg1"/>
              </a:solidFill>
            </a:endParaRPr>
          </a:p>
        </p:txBody>
      </p:sp>
      <p:grpSp>
        <p:nvGrpSpPr>
          <p:cNvPr id="4" name="Google Shape;438;p40">
            <a:extLst>
              <a:ext uri="{FF2B5EF4-FFF2-40B4-BE49-F238E27FC236}">
                <a16:creationId xmlns:a16="http://schemas.microsoft.com/office/drawing/2014/main" id="{33A49BCF-F37B-4B6E-1FA0-2DAE69CEC82B}"/>
              </a:ext>
            </a:extLst>
          </p:cNvPr>
          <p:cNvGrpSpPr/>
          <p:nvPr/>
        </p:nvGrpSpPr>
        <p:grpSpPr>
          <a:xfrm>
            <a:off x="955295" y="1332667"/>
            <a:ext cx="10281009" cy="1092800"/>
            <a:chOff x="850743" y="1495600"/>
            <a:chExt cx="7710757" cy="819600"/>
          </a:xfrm>
        </p:grpSpPr>
        <p:cxnSp>
          <p:nvCxnSpPr>
            <p:cNvPr id="5" name="Google Shape;439;p40">
              <a:extLst>
                <a:ext uri="{FF2B5EF4-FFF2-40B4-BE49-F238E27FC236}">
                  <a16:creationId xmlns:a16="http://schemas.microsoft.com/office/drawing/2014/main" id="{FC509E02-4036-F576-691C-A6EF584A5B91}"/>
                </a:ext>
              </a:extLst>
            </p:cNvPr>
            <p:cNvCxnSpPr/>
            <p:nvPr/>
          </p:nvCxnSpPr>
          <p:spPr>
            <a:xfrm>
              <a:off x="1280700" y="2013475"/>
              <a:ext cx="68661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440;p40">
              <a:extLst>
                <a:ext uri="{FF2B5EF4-FFF2-40B4-BE49-F238E27FC236}">
                  <a16:creationId xmlns:a16="http://schemas.microsoft.com/office/drawing/2014/main" id="{F12479FB-C7C3-F384-00B1-776A58EF0E7C}"/>
                </a:ext>
              </a:extLst>
            </p:cNvPr>
            <p:cNvSpPr txBox="1"/>
            <p:nvPr/>
          </p:nvSpPr>
          <p:spPr>
            <a:xfrm>
              <a:off x="1992950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7" name="Google Shape;441;p40">
              <a:extLst>
                <a:ext uri="{FF2B5EF4-FFF2-40B4-BE49-F238E27FC236}">
                  <a16:creationId xmlns:a16="http://schemas.microsoft.com/office/drawing/2014/main" id="{5E95056C-C791-4916-668B-6DB76E7CB620}"/>
                </a:ext>
              </a:extLst>
            </p:cNvPr>
            <p:cNvSpPr txBox="1"/>
            <p:nvPr/>
          </p:nvSpPr>
          <p:spPr>
            <a:xfrm>
              <a:off x="6579100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8" name="Google Shape;442;p40">
              <a:extLst>
                <a:ext uri="{FF2B5EF4-FFF2-40B4-BE49-F238E27FC236}">
                  <a16:creationId xmlns:a16="http://schemas.microsoft.com/office/drawing/2014/main" id="{6DFB6D8F-48C3-1630-975C-33DD315B9040}"/>
                </a:ext>
              </a:extLst>
            </p:cNvPr>
            <p:cNvSpPr txBox="1"/>
            <p:nvPr/>
          </p:nvSpPr>
          <p:spPr>
            <a:xfrm>
              <a:off x="3139488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9" name="Google Shape;443;p40">
              <a:extLst>
                <a:ext uri="{FF2B5EF4-FFF2-40B4-BE49-F238E27FC236}">
                  <a16:creationId xmlns:a16="http://schemas.microsoft.com/office/drawing/2014/main" id="{1BDCBDAA-7017-8765-46FE-0720DFEA5EAD}"/>
                </a:ext>
              </a:extLst>
            </p:cNvPr>
            <p:cNvSpPr txBox="1"/>
            <p:nvPr/>
          </p:nvSpPr>
          <p:spPr>
            <a:xfrm>
              <a:off x="5432563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0" name="Google Shape;444;p40">
              <a:extLst>
                <a:ext uri="{FF2B5EF4-FFF2-40B4-BE49-F238E27FC236}">
                  <a16:creationId xmlns:a16="http://schemas.microsoft.com/office/drawing/2014/main" id="{1E2C54B5-F479-006D-9DC0-0D7EB7175E1B}"/>
                </a:ext>
              </a:extLst>
            </p:cNvPr>
            <p:cNvSpPr txBox="1"/>
            <p:nvPr/>
          </p:nvSpPr>
          <p:spPr>
            <a:xfrm>
              <a:off x="4286025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1" name="Google Shape;445;p40">
              <a:extLst>
                <a:ext uri="{FF2B5EF4-FFF2-40B4-BE49-F238E27FC236}">
                  <a16:creationId xmlns:a16="http://schemas.microsoft.com/office/drawing/2014/main" id="{069B1456-807B-219A-8D04-E4487D2E9832}"/>
                </a:ext>
              </a:extLst>
            </p:cNvPr>
            <p:cNvCxnSpPr/>
            <p:nvPr/>
          </p:nvCxnSpPr>
          <p:spPr>
            <a:xfrm>
              <a:off x="3559188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446;p40">
              <a:extLst>
                <a:ext uri="{FF2B5EF4-FFF2-40B4-BE49-F238E27FC236}">
                  <a16:creationId xmlns:a16="http://schemas.microsoft.com/office/drawing/2014/main" id="{E73DE401-89E1-DE9E-57E5-172862E159CC}"/>
                </a:ext>
              </a:extLst>
            </p:cNvPr>
            <p:cNvCxnSpPr/>
            <p:nvPr/>
          </p:nvCxnSpPr>
          <p:spPr>
            <a:xfrm>
              <a:off x="5852263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447;p40">
              <a:extLst>
                <a:ext uri="{FF2B5EF4-FFF2-40B4-BE49-F238E27FC236}">
                  <a16:creationId xmlns:a16="http://schemas.microsoft.com/office/drawing/2014/main" id="{0E01DB43-598D-06BF-495A-FCF1A656F5DC}"/>
                </a:ext>
              </a:extLst>
            </p:cNvPr>
            <p:cNvCxnSpPr/>
            <p:nvPr/>
          </p:nvCxnSpPr>
          <p:spPr>
            <a:xfrm>
              <a:off x="6998800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448;p40">
              <a:extLst>
                <a:ext uri="{FF2B5EF4-FFF2-40B4-BE49-F238E27FC236}">
                  <a16:creationId xmlns:a16="http://schemas.microsoft.com/office/drawing/2014/main" id="{545EEFE8-D850-2A03-8F2F-75DD561067D5}"/>
                </a:ext>
              </a:extLst>
            </p:cNvPr>
            <p:cNvSpPr txBox="1"/>
            <p:nvPr/>
          </p:nvSpPr>
          <p:spPr>
            <a:xfrm>
              <a:off x="7722100" y="14956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0111</a:t>
              </a:r>
              <a:endParaRPr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5" name="Google Shape;449;p40">
              <a:extLst>
                <a:ext uri="{FF2B5EF4-FFF2-40B4-BE49-F238E27FC236}">
                  <a16:creationId xmlns:a16="http://schemas.microsoft.com/office/drawing/2014/main" id="{B24BAA27-8F8F-8C48-F0EE-CB0549AE9862}"/>
                </a:ext>
              </a:extLst>
            </p:cNvPr>
            <p:cNvCxnSpPr/>
            <p:nvPr/>
          </p:nvCxnSpPr>
          <p:spPr>
            <a:xfrm>
              <a:off x="8141800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450;p40">
              <a:extLst>
                <a:ext uri="{FF2B5EF4-FFF2-40B4-BE49-F238E27FC236}">
                  <a16:creationId xmlns:a16="http://schemas.microsoft.com/office/drawing/2014/main" id="{A94A4209-A6A8-0AFC-3C3C-E4044683E7C4}"/>
                </a:ext>
              </a:extLst>
            </p:cNvPr>
            <p:cNvSpPr txBox="1"/>
            <p:nvPr/>
          </p:nvSpPr>
          <p:spPr>
            <a:xfrm>
              <a:off x="850743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7" name="Google Shape;451;p40">
              <a:extLst>
                <a:ext uri="{FF2B5EF4-FFF2-40B4-BE49-F238E27FC236}">
                  <a16:creationId xmlns:a16="http://schemas.microsoft.com/office/drawing/2014/main" id="{479EE41B-10B9-05ED-A676-11A8F5D90FA3}"/>
                </a:ext>
              </a:extLst>
            </p:cNvPr>
            <p:cNvCxnSpPr/>
            <p:nvPr/>
          </p:nvCxnSpPr>
          <p:spPr>
            <a:xfrm>
              <a:off x="4702188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Google Shape;452;p40">
              <a:extLst>
                <a:ext uri="{FF2B5EF4-FFF2-40B4-BE49-F238E27FC236}">
                  <a16:creationId xmlns:a16="http://schemas.microsoft.com/office/drawing/2014/main" id="{2DE45419-EA20-664C-4A2A-6EFF6C2CE911}"/>
                </a:ext>
              </a:extLst>
            </p:cNvPr>
            <p:cNvSpPr txBox="1"/>
            <p:nvPr/>
          </p:nvSpPr>
          <p:spPr>
            <a:xfrm>
              <a:off x="4286025" y="20290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9" name="Google Shape;453;p40">
              <a:extLst>
                <a:ext uri="{FF2B5EF4-FFF2-40B4-BE49-F238E27FC236}">
                  <a16:creationId xmlns:a16="http://schemas.microsoft.com/office/drawing/2014/main" id="{7004426F-BBE1-3098-C61B-2D7645ECBB61}"/>
                </a:ext>
              </a:extLst>
            </p:cNvPr>
            <p:cNvCxnSpPr/>
            <p:nvPr/>
          </p:nvCxnSpPr>
          <p:spPr>
            <a:xfrm>
              <a:off x="1270443" y="18744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" name="Google Shape;454;p40">
            <a:extLst>
              <a:ext uri="{FF2B5EF4-FFF2-40B4-BE49-F238E27FC236}">
                <a16:creationId xmlns:a16="http://schemas.microsoft.com/office/drawing/2014/main" id="{40ABA889-2AA1-AF13-BF48-23DA587BCA1B}"/>
              </a:ext>
            </a:extLst>
          </p:cNvPr>
          <p:cNvGrpSpPr/>
          <p:nvPr/>
        </p:nvGrpSpPr>
        <p:grpSpPr>
          <a:xfrm>
            <a:off x="16725" y="4432533"/>
            <a:ext cx="11805009" cy="1092800"/>
            <a:chOff x="12543" y="3324400"/>
            <a:chExt cx="8853757" cy="819600"/>
          </a:xfrm>
        </p:grpSpPr>
        <p:cxnSp>
          <p:nvCxnSpPr>
            <p:cNvPr id="21" name="Google Shape;455;p40">
              <a:extLst>
                <a:ext uri="{FF2B5EF4-FFF2-40B4-BE49-F238E27FC236}">
                  <a16:creationId xmlns:a16="http://schemas.microsoft.com/office/drawing/2014/main" id="{FDA0A532-9A4B-D408-A519-DAE3DADDDAAF}"/>
                </a:ext>
              </a:extLst>
            </p:cNvPr>
            <p:cNvCxnSpPr/>
            <p:nvPr/>
          </p:nvCxnSpPr>
          <p:spPr>
            <a:xfrm>
              <a:off x="430900" y="3840850"/>
              <a:ext cx="8020800" cy="1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Google Shape;456;p40">
              <a:extLst>
                <a:ext uri="{FF2B5EF4-FFF2-40B4-BE49-F238E27FC236}">
                  <a16:creationId xmlns:a16="http://schemas.microsoft.com/office/drawing/2014/main" id="{80EDCB63-DAD8-29AE-7E0C-BADC3CAC9C31}"/>
                </a:ext>
              </a:extLst>
            </p:cNvPr>
            <p:cNvSpPr txBox="1"/>
            <p:nvPr/>
          </p:nvSpPr>
          <p:spPr>
            <a:xfrm>
              <a:off x="6883900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23" name="Google Shape;457;p40">
              <a:extLst>
                <a:ext uri="{FF2B5EF4-FFF2-40B4-BE49-F238E27FC236}">
                  <a16:creationId xmlns:a16="http://schemas.microsoft.com/office/drawing/2014/main" id="{9D80B1DD-33A6-B5A8-9401-489F976DC926}"/>
                </a:ext>
              </a:extLst>
            </p:cNvPr>
            <p:cNvSpPr txBox="1"/>
            <p:nvPr/>
          </p:nvSpPr>
          <p:spPr>
            <a:xfrm>
              <a:off x="5737363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24" name="Google Shape;458;p40">
              <a:extLst>
                <a:ext uri="{FF2B5EF4-FFF2-40B4-BE49-F238E27FC236}">
                  <a16:creationId xmlns:a16="http://schemas.microsoft.com/office/drawing/2014/main" id="{E08E7810-BC8D-73CD-F324-CCDFEFD0AEA1}"/>
                </a:ext>
              </a:extLst>
            </p:cNvPr>
            <p:cNvSpPr txBox="1"/>
            <p:nvPr/>
          </p:nvSpPr>
          <p:spPr>
            <a:xfrm>
              <a:off x="4590825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5" name="Google Shape;459;p40">
              <a:extLst>
                <a:ext uri="{FF2B5EF4-FFF2-40B4-BE49-F238E27FC236}">
                  <a16:creationId xmlns:a16="http://schemas.microsoft.com/office/drawing/2014/main" id="{4F7B3DD4-93E8-D3FA-E8AE-C4AF4A0D0AB5}"/>
                </a:ext>
              </a:extLst>
            </p:cNvPr>
            <p:cNvCxnSpPr/>
            <p:nvPr/>
          </p:nvCxnSpPr>
          <p:spPr>
            <a:xfrm>
              <a:off x="6157063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460;p40">
              <a:extLst>
                <a:ext uri="{FF2B5EF4-FFF2-40B4-BE49-F238E27FC236}">
                  <a16:creationId xmlns:a16="http://schemas.microsoft.com/office/drawing/2014/main" id="{83DB91CD-2CF4-09C2-C39C-E54C12DF400C}"/>
                </a:ext>
              </a:extLst>
            </p:cNvPr>
            <p:cNvCxnSpPr/>
            <p:nvPr/>
          </p:nvCxnSpPr>
          <p:spPr>
            <a:xfrm>
              <a:off x="7303600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" name="Google Shape;461;p40">
              <a:extLst>
                <a:ext uri="{FF2B5EF4-FFF2-40B4-BE49-F238E27FC236}">
                  <a16:creationId xmlns:a16="http://schemas.microsoft.com/office/drawing/2014/main" id="{241E56A5-AE5F-55B3-B3DE-7042935856E2}"/>
                </a:ext>
              </a:extLst>
            </p:cNvPr>
            <p:cNvSpPr txBox="1"/>
            <p:nvPr/>
          </p:nvSpPr>
          <p:spPr>
            <a:xfrm>
              <a:off x="8026900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8" name="Google Shape;462;p40">
              <a:extLst>
                <a:ext uri="{FF2B5EF4-FFF2-40B4-BE49-F238E27FC236}">
                  <a16:creationId xmlns:a16="http://schemas.microsoft.com/office/drawing/2014/main" id="{436547CE-1F47-A9AA-4D2E-CD265239B327}"/>
                </a:ext>
              </a:extLst>
            </p:cNvPr>
            <p:cNvCxnSpPr/>
            <p:nvPr/>
          </p:nvCxnSpPr>
          <p:spPr>
            <a:xfrm>
              <a:off x="8446600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463;p40">
              <a:extLst>
                <a:ext uri="{FF2B5EF4-FFF2-40B4-BE49-F238E27FC236}">
                  <a16:creationId xmlns:a16="http://schemas.microsoft.com/office/drawing/2014/main" id="{2853BB24-D185-3657-29DF-957E5619FC2B}"/>
                </a:ext>
              </a:extLst>
            </p:cNvPr>
            <p:cNvCxnSpPr/>
            <p:nvPr/>
          </p:nvCxnSpPr>
          <p:spPr>
            <a:xfrm>
              <a:off x="5006988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464;p40">
              <a:extLst>
                <a:ext uri="{FF2B5EF4-FFF2-40B4-BE49-F238E27FC236}">
                  <a16:creationId xmlns:a16="http://schemas.microsoft.com/office/drawing/2014/main" id="{7875B03E-C815-7669-771F-B08D918D0FEB}"/>
                </a:ext>
              </a:extLst>
            </p:cNvPr>
            <p:cNvCxnSpPr/>
            <p:nvPr/>
          </p:nvCxnSpPr>
          <p:spPr>
            <a:xfrm>
              <a:off x="436382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Google Shape;465;p40">
              <a:extLst>
                <a:ext uri="{FF2B5EF4-FFF2-40B4-BE49-F238E27FC236}">
                  <a16:creationId xmlns:a16="http://schemas.microsoft.com/office/drawing/2014/main" id="{EDFC7E7A-A80A-0E76-6F93-5D901E224B27}"/>
                </a:ext>
              </a:extLst>
            </p:cNvPr>
            <p:cNvSpPr txBox="1"/>
            <p:nvPr/>
          </p:nvSpPr>
          <p:spPr>
            <a:xfrm>
              <a:off x="12543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2" name="Google Shape;466;p40">
              <a:extLst>
                <a:ext uri="{FF2B5EF4-FFF2-40B4-BE49-F238E27FC236}">
                  <a16:creationId xmlns:a16="http://schemas.microsoft.com/office/drawing/2014/main" id="{8B08A07D-47C4-1688-337F-F49FBA9500D4}"/>
                </a:ext>
              </a:extLst>
            </p:cNvPr>
            <p:cNvSpPr txBox="1"/>
            <p:nvPr/>
          </p:nvSpPr>
          <p:spPr>
            <a:xfrm>
              <a:off x="1154750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3" name="Google Shape;467;p40">
              <a:extLst>
                <a:ext uri="{FF2B5EF4-FFF2-40B4-BE49-F238E27FC236}">
                  <a16:creationId xmlns:a16="http://schemas.microsoft.com/office/drawing/2014/main" id="{8398E5DB-7B3A-A380-0D88-E016C8FDFFE7}"/>
                </a:ext>
              </a:extLst>
            </p:cNvPr>
            <p:cNvSpPr txBox="1"/>
            <p:nvPr/>
          </p:nvSpPr>
          <p:spPr>
            <a:xfrm>
              <a:off x="2301288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34" name="Google Shape;468;p40">
              <a:extLst>
                <a:ext uri="{FF2B5EF4-FFF2-40B4-BE49-F238E27FC236}">
                  <a16:creationId xmlns:a16="http://schemas.microsoft.com/office/drawing/2014/main" id="{89E26ECB-831C-31D2-35A2-4711A5F20C89}"/>
                </a:ext>
              </a:extLst>
            </p:cNvPr>
            <p:cNvCxnSpPr/>
            <p:nvPr/>
          </p:nvCxnSpPr>
          <p:spPr>
            <a:xfrm>
              <a:off x="2720988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469;p40">
              <a:extLst>
                <a:ext uri="{FF2B5EF4-FFF2-40B4-BE49-F238E27FC236}">
                  <a16:creationId xmlns:a16="http://schemas.microsoft.com/office/drawing/2014/main" id="{C39F5EEC-0171-6417-2FEA-9AE6059F0DDF}"/>
                </a:ext>
              </a:extLst>
            </p:cNvPr>
            <p:cNvCxnSpPr/>
            <p:nvPr/>
          </p:nvCxnSpPr>
          <p:spPr>
            <a:xfrm>
              <a:off x="3863988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" name="Google Shape;470;p40">
              <a:extLst>
                <a:ext uri="{FF2B5EF4-FFF2-40B4-BE49-F238E27FC236}">
                  <a16:creationId xmlns:a16="http://schemas.microsoft.com/office/drawing/2014/main" id="{11D9C08A-103E-CB4C-CEBB-2A1E350B2877}"/>
                </a:ext>
              </a:extLst>
            </p:cNvPr>
            <p:cNvSpPr txBox="1"/>
            <p:nvPr/>
          </p:nvSpPr>
          <p:spPr>
            <a:xfrm>
              <a:off x="3447825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37" name="Google Shape;471;p40">
            <a:extLst>
              <a:ext uri="{FF2B5EF4-FFF2-40B4-BE49-F238E27FC236}">
                <a16:creationId xmlns:a16="http://schemas.microsoft.com/office/drawing/2014/main" id="{288FCBF9-39FD-B855-1AF2-5691333EB720}"/>
              </a:ext>
            </a:extLst>
          </p:cNvPr>
          <p:cNvGrpSpPr/>
          <p:nvPr/>
        </p:nvGrpSpPr>
        <p:grpSpPr>
          <a:xfrm>
            <a:off x="100967" y="5728533"/>
            <a:ext cx="11720767" cy="652800"/>
            <a:chOff x="75725" y="4296400"/>
            <a:chExt cx="8790575" cy="489600"/>
          </a:xfrm>
        </p:grpSpPr>
        <p:sp>
          <p:nvSpPr>
            <p:cNvPr id="38" name="Google Shape;472;p40">
              <a:extLst>
                <a:ext uri="{FF2B5EF4-FFF2-40B4-BE49-F238E27FC236}">
                  <a16:creationId xmlns:a16="http://schemas.microsoft.com/office/drawing/2014/main" id="{441894BE-5177-CD96-81F4-428ACB54056C}"/>
                </a:ext>
              </a:extLst>
            </p:cNvPr>
            <p:cNvSpPr txBox="1"/>
            <p:nvPr/>
          </p:nvSpPr>
          <p:spPr>
            <a:xfrm>
              <a:off x="8026900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 b="1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7</a:t>
              </a:r>
              <a:endParaRPr sz="3200" b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9" name="Google Shape;473;p40">
              <a:extLst>
                <a:ext uri="{FF2B5EF4-FFF2-40B4-BE49-F238E27FC236}">
                  <a16:creationId xmlns:a16="http://schemas.microsoft.com/office/drawing/2014/main" id="{46F8FD66-3E62-D0F4-7892-3F41A0203405}"/>
                </a:ext>
              </a:extLst>
            </p:cNvPr>
            <p:cNvSpPr txBox="1"/>
            <p:nvPr/>
          </p:nvSpPr>
          <p:spPr>
            <a:xfrm>
              <a:off x="75725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 b="1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-8</a:t>
              </a:r>
              <a:endParaRPr sz="3200" b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0" name="Google Shape;474;p40">
              <a:extLst>
                <a:ext uri="{FF2B5EF4-FFF2-40B4-BE49-F238E27FC236}">
                  <a16:creationId xmlns:a16="http://schemas.microsoft.com/office/drawing/2014/main" id="{F40052C9-C947-9781-D517-E3988CD35631}"/>
                </a:ext>
              </a:extLst>
            </p:cNvPr>
            <p:cNvSpPr txBox="1"/>
            <p:nvPr/>
          </p:nvSpPr>
          <p:spPr>
            <a:xfrm>
              <a:off x="1211607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 b="1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3200" b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1" name="Google Shape;475;p40">
              <a:extLst>
                <a:ext uri="{FF2B5EF4-FFF2-40B4-BE49-F238E27FC236}">
                  <a16:creationId xmlns:a16="http://schemas.microsoft.com/office/drawing/2014/main" id="{2754FE05-D3EE-333E-9A84-070F506B81E3}"/>
                </a:ext>
              </a:extLst>
            </p:cNvPr>
            <p:cNvSpPr txBox="1"/>
            <p:nvPr/>
          </p:nvSpPr>
          <p:spPr>
            <a:xfrm>
              <a:off x="2347489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 b="1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-2</a:t>
              </a:r>
              <a:endParaRPr sz="3200" b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2" name="Google Shape;476;p40">
              <a:extLst>
                <a:ext uri="{FF2B5EF4-FFF2-40B4-BE49-F238E27FC236}">
                  <a16:creationId xmlns:a16="http://schemas.microsoft.com/office/drawing/2014/main" id="{AAAB1389-4D7E-F89D-3189-F74CAB3F9261}"/>
                </a:ext>
              </a:extLst>
            </p:cNvPr>
            <p:cNvSpPr txBox="1"/>
            <p:nvPr/>
          </p:nvSpPr>
          <p:spPr>
            <a:xfrm>
              <a:off x="3483371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 b="1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-1</a:t>
              </a:r>
              <a:endParaRPr sz="3200" b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3" name="Google Shape;477;p40">
              <a:extLst>
                <a:ext uri="{FF2B5EF4-FFF2-40B4-BE49-F238E27FC236}">
                  <a16:creationId xmlns:a16="http://schemas.microsoft.com/office/drawing/2014/main" id="{F7D55865-00D0-AAB6-B75E-4301FE9C3708}"/>
                </a:ext>
              </a:extLst>
            </p:cNvPr>
            <p:cNvSpPr txBox="1"/>
            <p:nvPr/>
          </p:nvSpPr>
          <p:spPr>
            <a:xfrm>
              <a:off x="4619254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 b="1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</a:t>
              </a:r>
              <a:endParaRPr sz="3200" b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4" name="Google Shape;478;p40">
              <a:extLst>
                <a:ext uri="{FF2B5EF4-FFF2-40B4-BE49-F238E27FC236}">
                  <a16:creationId xmlns:a16="http://schemas.microsoft.com/office/drawing/2014/main" id="{ECE18713-240C-268A-8D10-2180AD4C11DE}"/>
                </a:ext>
              </a:extLst>
            </p:cNvPr>
            <p:cNvSpPr txBox="1"/>
            <p:nvPr/>
          </p:nvSpPr>
          <p:spPr>
            <a:xfrm>
              <a:off x="5755136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 b="1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</a:t>
              </a:r>
              <a:endParaRPr sz="3200" b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5" name="Google Shape;479;p40">
              <a:extLst>
                <a:ext uri="{FF2B5EF4-FFF2-40B4-BE49-F238E27FC236}">
                  <a16:creationId xmlns:a16="http://schemas.microsoft.com/office/drawing/2014/main" id="{58C3B909-7F34-D57E-879A-4172F7292FD8}"/>
                </a:ext>
              </a:extLst>
            </p:cNvPr>
            <p:cNvSpPr txBox="1"/>
            <p:nvPr/>
          </p:nvSpPr>
          <p:spPr>
            <a:xfrm>
              <a:off x="6891018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 b="1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3200" b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sp>
        <p:nvSpPr>
          <p:cNvPr id="46" name="Google Shape;480;p40">
            <a:extLst>
              <a:ext uri="{FF2B5EF4-FFF2-40B4-BE49-F238E27FC236}">
                <a16:creationId xmlns:a16="http://schemas.microsoft.com/office/drawing/2014/main" id="{5E750796-5D2E-C245-7403-1A18884944C6}"/>
              </a:ext>
            </a:extLst>
          </p:cNvPr>
          <p:cNvSpPr txBox="1">
            <a:spLocks/>
          </p:cNvSpPr>
          <p:nvPr/>
        </p:nvSpPr>
        <p:spPr>
          <a:xfrm>
            <a:off x="415600" y="382535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 </a:t>
            </a:r>
            <a:r>
              <a:rPr lang="en-GB" dirty="0" err="1"/>
              <a:t>solução</a:t>
            </a:r>
            <a:r>
              <a:rPr lang="en-GB" dirty="0"/>
              <a:t>: </a:t>
            </a:r>
            <a:r>
              <a:rPr lang="pt-BR" b="1" dirty="0">
                <a:solidFill>
                  <a:schemeClr val="dk2"/>
                </a:solidFill>
              </a:rPr>
              <a:t>Deslocar números negativos em um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227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5;p41">
            <a:extLst>
              <a:ext uri="{FF2B5EF4-FFF2-40B4-BE49-F238E27FC236}">
                <a16:creationId xmlns:a16="http://schemas.microsoft.com/office/drawing/2014/main" id="{206C1AF8-8AD2-DB85-ECFA-29F62762EC60}"/>
              </a:ext>
            </a:extLst>
          </p:cNvPr>
          <p:cNvSpPr txBox="1">
            <a:spLocks/>
          </p:cNvSpPr>
          <p:nvPr/>
        </p:nvSpPr>
        <p:spPr>
          <a:xfrm>
            <a:off x="415600" y="2561927"/>
            <a:ext cx="11360800" cy="217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Vantagens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Bit </a:t>
            </a:r>
            <a:r>
              <a:rPr lang="en-GB" dirty="0" err="1"/>
              <a:t>mais</a:t>
            </a:r>
            <a:r>
              <a:rPr lang="en-GB" dirty="0"/>
              <a:t> à </a:t>
            </a:r>
            <a:r>
              <a:rPr lang="en-GB" dirty="0" err="1"/>
              <a:t>esquerda</a:t>
            </a:r>
            <a:r>
              <a:rPr lang="en-GB" dirty="0"/>
              <a:t> (“</a:t>
            </a:r>
            <a:r>
              <a:rPr lang="en-GB" b="1" dirty="0">
                <a:solidFill>
                  <a:schemeClr val="dk2"/>
                </a:solidFill>
              </a:rPr>
              <a:t>bit </a:t>
            </a:r>
            <a:r>
              <a:rPr lang="en-GB" b="1" dirty="0" err="1">
                <a:solidFill>
                  <a:schemeClr val="dk2"/>
                </a:solidFill>
              </a:rPr>
              <a:t>mais</a:t>
            </a:r>
            <a:r>
              <a:rPr lang="en-GB" b="1" dirty="0">
                <a:solidFill>
                  <a:schemeClr val="dk2"/>
                </a:solidFill>
              </a:rPr>
              <a:t> </a:t>
            </a:r>
            <a:r>
              <a:rPr lang="en-GB" b="1" dirty="0" err="1">
                <a:solidFill>
                  <a:schemeClr val="dk2"/>
                </a:solidFill>
              </a:rPr>
              <a:t>significativo</a:t>
            </a:r>
            <a:r>
              <a:rPr lang="en-GB" dirty="0"/>
              <a:t>”) </a:t>
            </a:r>
            <a:r>
              <a:rPr lang="pt-BR" dirty="0"/>
              <a:t>ainda indica o sinal</a:t>
            </a:r>
            <a:endParaRPr lang="en-GB" dirty="0"/>
          </a:p>
          <a:p>
            <a:pPr lvl="1"/>
            <a:r>
              <a:rPr lang="en-GB" dirty="0" err="1"/>
              <a:t>Incrementar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binário</a:t>
            </a:r>
            <a:r>
              <a:rPr lang="en-GB" dirty="0"/>
              <a:t> é </a:t>
            </a:r>
            <a:r>
              <a:rPr lang="en-GB" dirty="0" err="1"/>
              <a:t>consistente</a:t>
            </a:r>
            <a:r>
              <a:rPr lang="en-GB" dirty="0"/>
              <a:t> com a </a:t>
            </a:r>
            <a:r>
              <a:rPr lang="en-GB" dirty="0" err="1"/>
              <a:t>linha</a:t>
            </a:r>
            <a:r>
              <a:rPr lang="en-GB" dirty="0"/>
              <a:t> de </a:t>
            </a:r>
            <a:r>
              <a:rPr lang="en-GB" dirty="0" err="1"/>
              <a:t>representação</a:t>
            </a:r>
            <a:endParaRPr lang="en-GB" dirty="0"/>
          </a:p>
          <a:p>
            <a:pPr lvl="1"/>
            <a:r>
              <a:rPr lang="en-GB" dirty="0"/>
              <a:t>Agora </a:t>
            </a:r>
            <a:r>
              <a:rPr lang="en-GB" dirty="0" err="1"/>
              <a:t>temos</a:t>
            </a:r>
            <a:r>
              <a:rPr lang="en-GB" dirty="0"/>
              <a:t> </a:t>
            </a:r>
            <a:r>
              <a:rPr lang="en-GB" dirty="0" err="1"/>
              <a:t>apenas</a:t>
            </a:r>
            <a:r>
              <a:rPr lang="en-GB" dirty="0"/>
              <a:t> um “zero”</a:t>
            </a:r>
          </a:p>
          <a:p>
            <a:pPr lvl="1"/>
            <a:r>
              <a:rPr lang="en-GB" b="1" dirty="0">
                <a:solidFill>
                  <a:schemeClr val="dk2"/>
                </a:solidFill>
              </a:rPr>
              <a:t>Hardware simples para </a:t>
            </a:r>
            <a:r>
              <a:rPr lang="en-GB" b="1" dirty="0" err="1">
                <a:solidFill>
                  <a:schemeClr val="dk2"/>
                </a:solidFill>
              </a:rPr>
              <a:t>adição</a:t>
            </a:r>
            <a:endParaRPr lang="en-GB" b="1" dirty="0">
              <a:solidFill>
                <a:schemeClr val="dk2"/>
              </a:solidFill>
            </a:endParaRPr>
          </a:p>
        </p:txBody>
      </p:sp>
      <p:sp>
        <p:nvSpPr>
          <p:cNvPr id="3" name="Google Shape;486;p41">
            <a:extLst>
              <a:ext uri="{FF2B5EF4-FFF2-40B4-BE49-F238E27FC236}">
                <a16:creationId xmlns:a16="http://schemas.microsoft.com/office/drawing/2014/main" id="{36C324E9-2673-CA53-247B-60E68390BED2}"/>
              </a:ext>
            </a:extLst>
          </p:cNvPr>
          <p:cNvSpPr txBox="1">
            <a:spLocks/>
          </p:cNvSpPr>
          <p:nvPr/>
        </p:nvSpPr>
        <p:spPr>
          <a:xfrm>
            <a:off x="1109399" y="134767"/>
            <a:ext cx="1108259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dirty="0">
                <a:solidFill>
                  <a:schemeClr val="bg1"/>
                </a:solidFill>
              </a:rPr>
              <a:t>Aritmética é simples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Google Shape;487;p41">
            <a:extLst>
              <a:ext uri="{FF2B5EF4-FFF2-40B4-BE49-F238E27FC236}">
                <a16:creationId xmlns:a16="http://schemas.microsoft.com/office/drawing/2014/main" id="{11224168-F534-BA1F-2684-0719CB68170F}"/>
              </a:ext>
            </a:extLst>
          </p:cNvPr>
          <p:cNvSpPr txBox="1"/>
          <p:nvPr/>
        </p:nvSpPr>
        <p:spPr>
          <a:xfrm>
            <a:off x="1499200" y="4625333"/>
            <a:ext cx="2056800" cy="1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/>
            <a:r>
              <a:rPr lang="en" sz="3733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5</a:t>
            </a:r>
            <a:endParaRPr sz="3733">
              <a:solidFill>
                <a:srgbClr val="00206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algn="r"/>
            <a:r>
              <a:rPr lang="en" sz="3733" u="sng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+ -5</a:t>
            </a:r>
            <a:endParaRPr sz="3733" u="sng">
              <a:solidFill>
                <a:srgbClr val="00206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5" name="Google Shape;488;p41">
            <a:extLst>
              <a:ext uri="{FF2B5EF4-FFF2-40B4-BE49-F238E27FC236}">
                <a16:creationId xmlns:a16="http://schemas.microsoft.com/office/drawing/2014/main" id="{D3E96BAB-F368-5EFF-4409-A6D44FA21A4F}"/>
              </a:ext>
            </a:extLst>
          </p:cNvPr>
          <p:cNvSpPr txBox="1"/>
          <p:nvPr/>
        </p:nvSpPr>
        <p:spPr>
          <a:xfrm>
            <a:off x="1499200" y="5893333"/>
            <a:ext cx="20568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/>
            <a:r>
              <a:rPr lang="en" sz="3733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0</a:t>
            </a:r>
            <a:endParaRPr sz="3733" u="sng">
              <a:solidFill>
                <a:srgbClr val="00206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grpSp>
        <p:nvGrpSpPr>
          <p:cNvPr id="6" name="Google Shape;489;p41">
            <a:extLst>
              <a:ext uri="{FF2B5EF4-FFF2-40B4-BE49-F238E27FC236}">
                <a16:creationId xmlns:a16="http://schemas.microsoft.com/office/drawing/2014/main" id="{0B231C65-7E7B-A8AF-2EE4-04ECB9071975}"/>
              </a:ext>
            </a:extLst>
          </p:cNvPr>
          <p:cNvGrpSpPr/>
          <p:nvPr/>
        </p:nvGrpSpPr>
        <p:grpSpPr>
          <a:xfrm>
            <a:off x="5114400" y="4625333"/>
            <a:ext cx="5045600" cy="2094800"/>
            <a:chOff x="3835800" y="2097400"/>
            <a:chExt cx="3784200" cy="1571100"/>
          </a:xfrm>
        </p:grpSpPr>
        <p:sp>
          <p:nvSpPr>
            <p:cNvPr id="7" name="Google Shape;490;p41">
              <a:extLst>
                <a:ext uri="{FF2B5EF4-FFF2-40B4-BE49-F238E27FC236}">
                  <a16:creationId xmlns:a16="http://schemas.microsoft.com/office/drawing/2014/main" id="{CB3B6C4D-8BA8-6274-CA8E-855701955175}"/>
                </a:ext>
              </a:extLst>
            </p:cNvPr>
            <p:cNvSpPr txBox="1"/>
            <p:nvPr/>
          </p:nvSpPr>
          <p:spPr>
            <a:xfrm>
              <a:off x="6077400" y="2097400"/>
              <a:ext cx="1542600" cy="10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733" dirty="0">
                  <a:solidFill>
                    <a:srgbClr val="002060"/>
                  </a:solidFill>
                  <a:latin typeface="Source Code Pro Medium"/>
                  <a:ea typeface="Source Code Pro Medium"/>
                  <a:cs typeface="Source Code Pro Medium"/>
                  <a:sym typeface="Source Code Pro Medium"/>
                </a:rPr>
                <a:t>  0101</a:t>
              </a:r>
              <a:endParaRPr sz="3733" dirty="0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endParaRPr>
            </a:p>
            <a:p>
              <a:r>
                <a:rPr lang="en" sz="3733" u="sng" dirty="0">
                  <a:solidFill>
                    <a:srgbClr val="002060"/>
                  </a:solidFill>
                  <a:latin typeface="Source Code Pro Medium"/>
                  <a:ea typeface="Source Code Pro Medium"/>
                  <a:cs typeface="Source Code Pro Medium"/>
                  <a:sym typeface="Source Code Pro Medium"/>
                </a:rPr>
                <a:t>+ 1011</a:t>
              </a:r>
              <a:endParaRPr sz="3733" u="sng" dirty="0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endParaRPr>
            </a:p>
          </p:txBody>
        </p:sp>
        <p:sp>
          <p:nvSpPr>
            <p:cNvPr id="8" name="Google Shape;491;p41">
              <a:extLst>
                <a:ext uri="{FF2B5EF4-FFF2-40B4-BE49-F238E27FC236}">
                  <a16:creationId xmlns:a16="http://schemas.microsoft.com/office/drawing/2014/main" id="{112EAA25-0B77-BC46-B2CB-5E2BA34605BE}"/>
                </a:ext>
              </a:extLst>
            </p:cNvPr>
            <p:cNvSpPr txBox="1"/>
            <p:nvPr/>
          </p:nvSpPr>
          <p:spPr>
            <a:xfrm>
              <a:off x="6077400" y="3048400"/>
              <a:ext cx="15426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733">
                  <a:solidFill>
                    <a:srgbClr val="002060"/>
                  </a:solidFill>
                  <a:latin typeface="Source Code Pro Medium"/>
                  <a:ea typeface="Source Code Pro Medium"/>
                  <a:cs typeface="Source Code Pro Medium"/>
                  <a:sym typeface="Source Code Pro Medium"/>
                </a:rPr>
                <a:t>  0000</a:t>
              </a:r>
              <a:endParaRPr sz="3733" u="sng">
                <a:solidFill>
                  <a:srgbClr val="00206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endParaRPr>
            </a:p>
          </p:txBody>
        </p:sp>
        <p:sp>
          <p:nvSpPr>
            <p:cNvPr id="9" name="Google Shape;492;p41">
              <a:extLst>
                <a:ext uri="{FF2B5EF4-FFF2-40B4-BE49-F238E27FC236}">
                  <a16:creationId xmlns:a16="http://schemas.microsoft.com/office/drawing/2014/main" id="{A919F4E1-BB5A-5CF5-4282-D3DE1131709F}"/>
                </a:ext>
              </a:extLst>
            </p:cNvPr>
            <p:cNvSpPr txBox="1"/>
            <p:nvPr/>
          </p:nvSpPr>
          <p:spPr>
            <a:xfrm>
              <a:off x="3835800" y="2222050"/>
              <a:ext cx="1860764" cy="8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-GB" sz="2667" dirty="0" err="1">
                  <a:solidFill>
                    <a:srgbClr val="002060"/>
                  </a:solidFill>
                  <a:latin typeface="Inter"/>
                  <a:ea typeface="Inter"/>
                  <a:cs typeface="Inter"/>
                  <a:sym typeface="Inter"/>
                </a:rPr>
                <a:t>Complemento</a:t>
              </a:r>
              <a:r>
                <a:rPr lang="en-GB" sz="2667" dirty="0">
                  <a:solidFill>
                    <a:srgbClr val="00206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GB" sz="2667" dirty="0" err="1">
                  <a:solidFill>
                    <a:srgbClr val="002060"/>
                  </a:solidFill>
                  <a:latin typeface="Inter"/>
                  <a:ea typeface="Inter"/>
                  <a:cs typeface="Inter"/>
                  <a:sym typeface="Inter"/>
                </a:rPr>
                <a:t>dois</a:t>
              </a:r>
              <a:endParaRPr sz="2667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" name="Google Shape;493;p41">
            <a:extLst>
              <a:ext uri="{FF2B5EF4-FFF2-40B4-BE49-F238E27FC236}">
                <a16:creationId xmlns:a16="http://schemas.microsoft.com/office/drawing/2014/main" id="{2CDBECB6-00C9-2D81-D29F-DEFD945F4A87}"/>
              </a:ext>
            </a:extLst>
          </p:cNvPr>
          <p:cNvSpPr txBox="1"/>
          <p:nvPr/>
        </p:nvSpPr>
        <p:spPr>
          <a:xfrm>
            <a:off x="618800" y="4726933"/>
            <a:ext cx="1718000" cy="10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Decimal</a:t>
            </a:r>
            <a:endParaRPr sz="2667" dirty="0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Google Shape;494;p41">
            <a:extLst>
              <a:ext uri="{FF2B5EF4-FFF2-40B4-BE49-F238E27FC236}">
                <a16:creationId xmlns:a16="http://schemas.microsoft.com/office/drawing/2014/main" id="{4868DF49-E47A-3CFA-C7DD-3BCAD8FC0CCF}"/>
              </a:ext>
            </a:extLst>
          </p:cNvPr>
          <p:cNvSpPr/>
          <p:nvPr/>
        </p:nvSpPr>
        <p:spPr>
          <a:xfrm>
            <a:off x="3937600" y="5239333"/>
            <a:ext cx="1055200" cy="6556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" name="Google Shape;495;p41">
            <a:extLst>
              <a:ext uri="{FF2B5EF4-FFF2-40B4-BE49-F238E27FC236}">
                <a16:creationId xmlns:a16="http://schemas.microsoft.com/office/drawing/2014/main" id="{753D8DB1-B3A8-A08D-213D-A5E39436A7FD}"/>
              </a:ext>
            </a:extLst>
          </p:cNvPr>
          <p:cNvGrpSpPr/>
          <p:nvPr/>
        </p:nvGrpSpPr>
        <p:grpSpPr>
          <a:xfrm>
            <a:off x="16725" y="978133"/>
            <a:ext cx="11805009" cy="1092800"/>
            <a:chOff x="12543" y="3324400"/>
            <a:chExt cx="8853757" cy="819600"/>
          </a:xfrm>
        </p:grpSpPr>
        <p:cxnSp>
          <p:nvCxnSpPr>
            <p:cNvPr id="13" name="Google Shape;496;p41">
              <a:extLst>
                <a:ext uri="{FF2B5EF4-FFF2-40B4-BE49-F238E27FC236}">
                  <a16:creationId xmlns:a16="http://schemas.microsoft.com/office/drawing/2014/main" id="{9C5E57C4-3BF5-4572-30FF-36F5D6B4AAF4}"/>
                </a:ext>
              </a:extLst>
            </p:cNvPr>
            <p:cNvCxnSpPr/>
            <p:nvPr/>
          </p:nvCxnSpPr>
          <p:spPr>
            <a:xfrm>
              <a:off x="430900" y="3840850"/>
              <a:ext cx="8020800" cy="1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497;p41">
              <a:extLst>
                <a:ext uri="{FF2B5EF4-FFF2-40B4-BE49-F238E27FC236}">
                  <a16:creationId xmlns:a16="http://schemas.microsoft.com/office/drawing/2014/main" id="{6C2709ED-EA72-32E2-E289-9A7BD4CC0B75}"/>
                </a:ext>
              </a:extLst>
            </p:cNvPr>
            <p:cNvSpPr txBox="1"/>
            <p:nvPr/>
          </p:nvSpPr>
          <p:spPr>
            <a:xfrm>
              <a:off x="6883900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5" name="Google Shape;498;p41">
              <a:extLst>
                <a:ext uri="{FF2B5EF4-FFF2-40B4-BE49-F238E27FC236}">
                  <a16:creationId xmlns:a16="http://schemas.microsoft.com/office/drawing/2014/main" id="{A3202550-5D38-0A6C-8B6C-60FDBDBABF74}"/>
                </a:ext>
              </a:extLst>
            </p:cNvPr>
            <p:cNvSpPr txBox="1"/>
            <p:nvPr/>
          </p:nvSpPr>
          <p:spPr>
            <a:xfrm>
              <a:off x="5737363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6" name="Google Shape;499;p41">
              <a:extLst>
                <a:ext uri="{FF2B5EF4-FFF2-40B4-BE49-F238E27FC236}">
                  <a16:creationId xmlns:a16="http://schemas.microsoft.com/office/drawing/2014/main" id="{4F8B440F-786D-F97A-AB3F-BE6697E0FE20}"/>
                </a:ext>
              </a:extLst>
            </p:cNvPr>
            <p:cNvSpPr txBox="1"/>
            <p:nvPr/>
          </p:nvSpPr>
          <p:spPr>
            <a:xfrm>
              <a:off x="4590825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7" name="Google Shape;500;p41">
              <a:extLst>
                <a:ext uri="{FF2B5EF4-FFF2-40B4-BE49-F238E27FC236}">
                  <a16:creationId xmlns:a16="http://schemas.microsoft.com/office/drawing/2014/main" id="{8630DB36-503C-16EC-A11D-DAB629AE8D74}"/>
                </a:ext>
              </a:extLst>
            </p:cNvPr>
            <p:cNvCxnSpPr/>
            <p:nvPr/>
          </p:nvCxnSpPr>
          <p:spPr>
            <a:xfrm>
              <a:off x="6157063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501;p41">
              <a:extLst>
                <a:ext uri="{FF2B5EF4-FFF2-40B4-BE49-F238E27FC236}">
                  <a16:creationId xmlns:a16="http://schemas.microsoft.com/office/drawing/2014/main" id="{88B913E9-718B-64D8-B170-EFAA9E4290F2}"/>
                </a:ext>
              </a:extLst>
            </p:cNvPr>
            <p:cNvCxnSpPr/>
            <p:nvPr/>
          </p:nvCxnSpPr>
          <p:spPr>
            <a:xfrm>
              <a:off x="7303600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502;p41">
              <a:extLst>
                <a:ext uri="{FF2B5EF4-FFF2-40B4-BE49-F238E27FC236}">
                  <a16:creationId xmlns:a16="http://schemas.microsoft.com/office/drawing/2014/main" id="{B636584F-4375-3785-3057-A7ECF9D8C25B}"/>
                </a:ext>
              </a:extLst>
            </p:cNvPr>
            <p:cNvSpPr txBox="1"/>
            <p:nvPr/>
          </p:nvSpPr>
          <p:spPr>
            <a:xfrm>
              <a:off x="8026900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0" name="Google Shape;503;p41">
              <a:extLst>
                <a:ext uri="{FF2B5EF4-FFF2-40B4-BE49-F238E27FC236}">
                  <a16:creationId xmlns:a16="http://schemas.microsoft.com/office/drawing/2014/main" id="{76862487-05B8-6DDC-2AE1-4D05C9B001F0}"/>
                </a:ext>
              </a:extLst>
            </p:cNvPr>
            <p:cNvCxnSpPr/>
            <p:nvPr/>
          </p:nvCxnSpPr>
          <p:spPr>
            <a:xfrm>
              <a:off x="8446600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504;p41">
              <a:extLst>
                <a:ext uri="{FF2B5EF4-FFF2-40B4-BE49-F238E27FC236}">
                  <a16:creationId xmlns:a16="http://schemas.microsoft.com/office/drawing/2014/main" id="{C10A6075-FD72-241C-8346-44B5B9303153}"/>
                </a:ext>
              </a:extLst>
            </p:cNvPr>
            <p:cNvCxnSpPr/>
            <p:nvPr/>
          </p:nvCxnSpPr>
          <p:spPr>
            <a:xfrm>
              <a:off x="5006988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505;p41">
              <a:extLst>
                <a:ext uri="{FF2B5EF4-FFF2-40B4-BE49-F238E27FC236}">
                  <a16:creationId xmlns:a16="http://schemas.microsoft.com/office/drawing/2014/main" id="{6EEF2C6C-2EA7-D7D8-1C0E-377757EB6BC1}"/>
                </a:ext>
              </a:extLst>
            </p:cNvPr>
            <p:cNvCxnSpPr/>
            <p:nvPr/>
          </p:nvCxnSpPr>
          <p:spPr>
            <a:xfrm>
              <a:off x="436382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506;p41">
              <a:extLst>
                <a:ext uri="{FF2B5EF4-FFF2-40B4-BE49-F238E27FC236}">
                  <a16:creationId xmlns:a16="http://schemas.microsoft.com/office/drawing/2014/main" id="{A5CA18DC-B0B0-68AE-B7EA-7AA68E5C7897}"/>
                </a:ext>
              </a:extLst>
            </p:cNvPr>
            <p:cNvSpPr txBox="1"/>
            <p:nvPr/>
          </p:nvSpPr>
          <p:spPr>
            <a:xfrm>
              <a:off x="12543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1000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24" name="Google Shape;507;p41">
              <a:extLst>
                <a:ext uri="{FF2B5EF4-FFF2-40B4-BE49-F238E27FC236}">
                  <a16:creationId xmlns:a16="http://schemas.microsoft.com/office/drawing/2014/main" id="{0A1B122C-C0D5-98C9-A3AE-441129F1ED49}"/>
                </a:ext>
              </a:extLst>
            </p:cNvPr>
            <p:cNvSpPr txBox="1"/>
            <p:nvPr/>
          </p:nvSpPr>
          <p:spPr>
            <a:xfrm>
              <a:off x="1154750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25" name="Google Shape;508;p41">
              <a:extLst>
                <a:ext uri="{FF2B5EF4-FFF2-40B4-BE49-F238E27FC236}">
                  <a16:creationId xmlns:a16="http://schemas.microsoft.com/office/drawing/2014/main" id="{64621F28-4C7A-B559-97B2-7083FE4F5692}"/>
                </a:ext>
              </a:extLst>
            </p:cNvPr>
            <p:cNvSpPr txBox="1"/>
            <p:nvPr/>
          </p:nvSpPr>
          <p:spPr>
            <a:xfrm>
              <a:off x="2301288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1110</a:t>
              </a:r>
              <a:endParaRPr sz="26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26" name="Google Shape;509;p41">
              <a:extLst>
                <a:ext uri="{FF2B5EF4-FFF2-40B4-BE49-F238E27FC236}">
                  <a16:creationId xmlns:a16="http://schemas.microsoft.com/office/drawing/2014/main" id="{FD268E64-9E55-928B-0E64-9CE620D7A842}"/>
                </a:ext>
              </a:extLst>
            </p:cNvPr>
            <p:cNvCxnSpPr/>
            <p:nvPr/>
          </p:nvCxnSpPr>
          <p:spPr>
            <a:xfrm>
              <a:off x="2720988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510;p41">
              <a:extLst>
                <a:ext uri="{FF2B5EF4-FFF2-40B4-BE49-F238E27FC236}">
                  <a16:creationId xmlns:a16="http://schemas.microsoft.com/office/drawing/2014/main" id="{DE97A883-BBE2-7045-CFAD-F7C9D5162870}"/>
                </a:ext>
              </a:extLst>
            </p:cNvPr>
            <p:cNvCxnSpPr/>
            <p:nvPr/>
          </p:nvCxnSpPr>
          <p:spPr>
            <a:xfrm>
              <a:off x="3863988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Google Shape;511;p41">
              <a:extLst>
                <a:ext uri="{FF2B5EF4-FFF2-40B4-BE49-F238E27FC236}">
                  <a16:creationId xmlns:a16="http://schemas.microsoft.com/office/drawing/2014/main" id="{5296499D-2E28-43FB-482F-7476F070CE98}"/>
                </a:ext>
              </a:extLst>
            </p:cNvPr>
            <p:cNvSpPr txBox="1"/>
            <p:nvPr/>
          </p:nvSpPr>
          <p:spPr>
            <a:xfrm>
              <a:off x="3447825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1111</a:t>
              </a:r>
              <a:endParaRPr sz="2667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29" name="Google Shape;512;p41">
            <a:extLst>
              <a:ext uri="{FF2B5EF4-FFF2-40B4-BE49-F238E27FC236}">
                <a16:creationId xmlns:a16="http://schemas.microsoft.com/office/drawing/2014/main" id="{E08071EB-01F8-E051-A9DF-AC7197F3D34E}"/>
              </a:ext>
            </a:extLst>
          </p:cNvPr>
          <p:cNvGrpSpPr/>
          <p:nvPr/>
        </p:nvGrpSpPr>
        <p:grpSpPr>
          <a:xfrm>
            <a:off x="100967" y="2070933"/>
            <a:ext cx="11720767" cy="652800"/>
            <a:chOff x="75725" y="4296400"/>
            <a:chExt cx="8790575" cy="489600"/>
          </a:xfrm>
        </p:grpSpPr>
        <p:sp>
          <p:nvSpPr>
            <p:cNvPr id="30" name="Google Shape;513;p41">
              <a:extLst>
                <a:ext uri="{FF2B5EF4-FFF2-40B4-BE49-F238E27FC236}">
                  <a16:creationId xmlns:a16="http://schemas.microsoft.com/office/drawing/2014/main" id="{CD31EEDE-C67A-E24F-552E-DB7D656BDA2D}"/>
                </a:ext>
              </a:extLst>
            </p:cNvPr>
            <p:cNvSpPr txBox="1"/>
            <p:nvPr/>
          </p:nvSpPr>
          <p:spPr>
            <a:xfrm>
              <a:off x="8026900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7</a:t>
              </a:r>
              <a:endParaRPr sz="3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1" name="Google Shape;514;p41">
              <a:extLst>
                <a:ext uri="{FF2B5EF4-FFF2-40B4-BE49-F238E27FC236}">
                  <a16:creationId xmlns:a16="http://schemas.microsoft.com/office/drawing/2014/main" id="{10E6D17E-08A7-F39D-C249-F9D98D5A1DFB}"/>
                </a:ext>
              </a:extLst>
            </p:cNvPr>
            <p:cNvSpPr txBox="1"/>
            <p:nvPr/>
          </p:nvSpPr>
          <p:spPr>
            <a:xfrm>
              <a:off x="75725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-8</a:t>
              </a:r>
              <a:endParaRPr sz="3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2" name="Google Shape;515;p41">
              <a:extLst>
                <a:ext uri="{FF2B5EF4-FFF2-40B4-BE49-F238E27FC236}">
                  <a16:creationId xmlns:a16="http://schemas.microsoft.com/office/drawing/2014/main" id="{2FADC077-1399-4860-4701-0458F7EF79E9}"/>
                </a:ext>
              </a:extLst>
            </p:cNvPr>
            <p:cNvSpPr txBox="1"/>
            <p:nvPr/>
          </p:nvSpPr>
          <p:spPr>
            <a:xfrm>
              <a:off x="1164715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933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933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3" name="Google Shape;516;p41">
              <a:extLst>
                <a:ext uri="{FF2B5EF4-FFF2-40B4-BE49-F238E27FC236}">
                  <a16:creationId xmlns:a16="http://schemas.microsoft.com/office/drawing/2014/main" id="{962BFEC1-00B0-3117-04FD-5CCE6FB4009E}"/>
                </a:ext>
              </a:extLst>
            </p:cNvPr>
            <p:cNvSpPr txBox="1"/>
            <p:nvPr/>
          </p:nvSpPr>
          <p:spPr>
            <a:xfrm>
              <a:off x="2347489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-2</a:t>
              </a:r>
              <a:endParaRPr sz="3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4" name="Google Shape;517;p41">
              <a:extLst>
                <a:ext uri="{FF2B5EF4-FFF2-40B4-BE49-F238E27FC236}">
                  <a16:creationId xmlns:a16="http://schemas.microsoft.com/office/drawing/2014/main" id="{7EBBA56A-DDA4-9AE2-0E89-4611138BA7B7}"/>
                </a:ext>
              </a:extLst>
            </p:cNvPr>
            <p:cNvSpPr txBox="1"/>
            <p:nvPr/>
          </p:nvSpPr>
          <p:spPr>
            <a:xfrm>
              <a:off x="3483371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-1</a:t>
              </a:r>
              <a:endParaRPr sz="3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5" name="Google Shape;518;p41">
              <a:extLst>
                <a:ext uri="{FF2B5EF4-FFF2-40B4-BE49-F238E27FC236}">
                  <a16:creationId xmlns:a16="http://schemas.microsoft.com/office/drawing/2014/main" id="{BC7F9A63-2D62-DA5B-8FA2-C1659744FC94}"/>
                </a:ext>
              </a:extLst>
            </p:cNvPr>
            <p:cNvSpPr txBox="1"/>
            <p:nvPr/>
          </p:nvSpPr>
          <p:spPr>
            <a:xfrm>
              <a:off x="4619254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</a:t>
              </a:r>
              <a:endParaRPr sz="3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6" name="Google Shape;519;p41">
              <a:extLst>
                <a:ext uri="{FF2B5EF4-FFF2-40B4-BE49-F238E27FC236}">
                  <a16:creationId xmlns:a16="http://schemas.microsoft.com/office/drawing/2014/main" id="{89080057-9E3A-51E7-002D-BC87DC9EB2A7}"/>
                </a:ext>
              </a:extLst>
            </p:cNvPr>
            <p:cNvSpPr txBox="1"/>
            <p:nvPr/>
          </p:nvSpPr>
          <p:spPr>
            <a:xfrm>
              <a:off x="5755136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3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</a:t>
              </a:r>
              <a:endParaRPr sz="3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7" name="Google Shape;520;p41">
              <a:extLst>
                <a:ext uri="{FF2B5EF4-FFF2-40B4-BE49-F238E27FC236}">
                  <a16:creationId xmlns:a16="http://schemas.microsoft.com/office/drawing/2014/main" id="{EFE6BC12-9CF6-45B1-83F4-19596F09CDF3}"/>
                </a:ext>
              </a:extLst>
            </p:cNvPr>
            <p:cNvSpPr txBox="1"/>
            <p:nvPr/>
          </p:nvSpPr>
          <p:spPr>
            <a:xfrm>
              <a:off x="6891018" y="4296400"/>
              <a:ext cx="8394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667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667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38" name="Google Shape;561;p42">
            <a:extLst>
              <a:ext uri="{FF2B5EF4-FFF2-40B4-BE49-F238E27FC236}">
                <a16:creationId xmlns:a16="http://schemas.microsoft.com/office/drawing/2014/main" id="{13D98DBE-8712-A9BC-A425-6E663F70C6CD}"/>
              </a:ext>
            </a:extLst>
          </p:cNvPr>
          <p:cNvGrpSpPr/>
          <p:nvPr/>
        </p:nvGrpSpPr>
        <p:grpSpPr>
          <a:xfrm>
            <a:off x="8103201" y="4156433"/>
            <a:ext cx="3515700" cy="697200"/>
            <a:chOff x="6340750" y="2355325"/>
            <a:chExt cx="2636775" cy="522900"/>
          </a:xfrm>
        </p:grpSpPr>
        <p:sp>
          <p:nvSpPr>
            <p:cNvPr id="39" name="Google Shape;562;p42">
              <a:extLst>
                <a:ext uri="{FF2B5EF4-FFF2-40B4-BE49-F238E27FC236}">
                  <a16:creationId xmlns:a16="http://schemas.microsoft.com/office/drawing/2014/main" id="{B62E3961-A909-FDC9-3D83-299E01FB8A22}"/>
                </a:ext>
              </a:extLst>
            </p:cNvPr>
            <p:cNvSpPr txBox="1"/>
            <p:nvPr/>
          </p:nvSpPr>
          <p:spPr>
            <a:xfrm>
              <a:off x="6340750" y="2355325"/>
              <a:ext cx="1542600" cy="52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733" dirty="0">
                  <a:solidFill>
                    <a:schemeClr val="accent2"/>
                  </a:solidFill>
                  <a:latin typeface="Source Code Pro Medium"/>
                  <a:ea typeface="Source Code Pro Medium"/>
                  <a:cs typeface="Source Code Pro Medium"/>
                  <a:sym typeface="Source Code Pro Medium"/>
                </a:rPr>
                <a:t>  111</a:t>
              </a:r>
              <a:endParaRPr sz="3733" u="sng" dirty="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endParaRPr>
            </a:p>
          </p:txBody>
        </p:sp>
        <p:sp>
          <p:nvSpPr>
            <p:cNvPr id="40" name="Google Shape;563;p42">
              <a:extLst>
                <a:ext uri="{FF2B5EF4-FFF2-40B4-BE49-F238E27FC236}">
                  <a16:creationId xmlns:a16="http://schemas.microsoft.com/office/drawing/2014/main" id="{3D96EC74-714F-F9D6-999D-4E4D162834BC}"/>
                </a:ext>
              </a:extLst>
            </p:cNvPr>
            <p:cNvSpPr txBox="1"/>
            <p:nvPr/>
          </p:nvSpPr>
          <p:spPr>
            <a:xfrm>
              <a:off x="7533625" y="2424820"/>
              <a:ext cx="1443900" cy="39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667" b="1">
                  <a:solidFill>
                    <a:schemeClr val="accent2"/>
                  </a:solidFill>
                  <a:latin typeface="Inter"/>
                  <a:ea typeface="Inter"/>
                  <a:cs typeface="Inter"/>
                  <a:sym typeface="Inter"/>
                </a:rPr>
                <a:t>carry bits</a:t>
              </a:r>
              <a:endParaRPr sz="26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1" name="Google Shape;564;p42">
            <a:extLst>
              <a:ext uri="{FF2B5EF4-FFF2-40B4-BE49-F238E27FC236}">
                <a16:creationId xmlns:a16="http://schemas.microsoft.com/office/drawing/2014/main" id="{54E4610C-AD3E-1EB8-033C-BE38E73E1151}"/>
              </a:ext>
            </a:extLst>
          </p:cNvPr>
          <p:cNvSpPr txBox="1"/>
          <p:nvPr/>
        </p:nvSpPr>
        <p:spPr>
          <a:xfrm>
            <a:off x="8410733" y="5893333"/>
            <a:ext cx="5476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733">
                <a:solidFill>
                  <a:schemeClr val="accent6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1</a:t>
            </a:r>
            <a:endParaRPr sz="3733" u="sng">
              <a:solidFill>
                <a:schemeClr val="accent6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42" name="Google Shape;565;p42">
            <a:extLst>
              <a:ext uri="{FF2B5EF4-FFF2-40B4-BE49-F238E27FC236}">
                <a16:creationId xmlns:a16="http://schemas.microsoft.com/office/drawing/2014/main" id="{23745306-449F-6387-D693-D8DC48EB9147}"/>
              </a:ext>
            </a:extLst>
          </p:cNvPr>
          <p:cNvSpPr txBox="1"/>
          <p:nvPr/>
        </p:nvSpPr>
        <p:spPr>
          <a:xfrm>
            <a:off x="6573000" y="5990887"/>
            <a:ext cx="1925200" cy="5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/>
            <a:r>
              <a:rPr lang="en" sz="2667" b="1" dirty="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dropped</a:t>
            </a:r>
            <a:endParaRPr sz="2667" b="1" dirty="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70854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0;p43">
            <a:extLst>
              <a:ext uri="{FF2B5EF4-FFF2-40B4-BE49-F238E27FC236}">
                <a16:creationId xmlns:a16="http://schemas.microsoft.com/office/drawing/2014/main" id="{B41097F5-50DB-04A9-F8C2-26B2A2B23954}"/>
              </a:ext>
            </a:extLst>
          </p:cNvPr>
          <p:cNvSpPr txBox="1">
            <a:spLocks/>
          </p:cNvSpPr>
          <p:nvPr/>
        </p:nvSpPr>
        <p:spPr>
          <a:xfrm>
            <a:off x="4858033" y="2787852"/>
            <a:ext cx="7231600" cy="16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b="1" dirty="0">
                <a:solidFill>
                  <a:schemeClr val="accent1"/>
                </a:solidFill>
              </a:rPr>
              <a:t>0b0101</a:t>
            </a:r>
            <a:r>
              <a:rPr lang="pl-PL" dirty="0"/>
              <a:t>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l-PL" sz="2400" dirty="0"/>
              <a:t>= (</a:t>
            </a:r>
            <a:r>
              <a:rPr lang="pl-PL" sz="2400" b="1" dirty="0">
                <a:solidFill>
                  <a:schemeClr val="accent1"/>
                </a:solidFill>
              </a:rPr>
              <a:t>0 </a:t>
            </a:r>
            <a:r>
              <a:rPr lang="pl-PL" sz="2400" dirty="0"/>
              <a:t>x </a:t>
            </a:r>
            <a:r>
              <a:rPr lang="pl-PL" sz="2400" b="1" dirty="0">
                <a:solidFill>
                  <a:schemeClr val="dk2"/>
                </a:solidFill>
              </a:rPr>
              <a:t>–</a:t>
            </a:r>
            <a:r>
              <a:rPr lang="pl-PL" sz="2400" dirty="0"/>
              <a:t>2</a:t>
            </a:r>
            <a:r>
              <a:rPr lang="pl-PL" sz="2400" baseline="30000" dirty="0"/>
              <a:t>3</a:t>
            </a:r>
            <a:r>
              <a:rPr lang="pl-PL" sz="2400" dirty="0"/>
              <a:t>)	+ (</a:t>
            </a:r>
            <a:r>
              <a:rPr lang="pl-PL" sz="2400" b="1" dirty="0">
                <a:solidFill>
                  <a:schemeClr val="accent1"/>
                </a:solidFill>
              </a:rPr>
              <a:t>1 </a:t>
            </a:r>
            <a:r>
              <a:rPr lang="pl-PL" sz="2400" dirty="0"/>
              <a:t>x 2</a:t>
            </a:r>
            <a:r>
              <a:rPr lang="pl-PL" sz="2400" baseline="30000" dirty="0"/>
              <a:t>2</a:t>
            </a:r>
            <a:r>
              <a:rPr lang="pl-PL" sz="2400" dirty="0"/>
              <a:t>)	+ (</a:t>
            </a:r>
            <a:r>
              <a:rPr lang="pl-PL" sz="2400" b="1" dirty="0">
                <a:solidFill>
                  <a:schemeClr val="accent1"/>
                </a:solidFill>
              </a:rPr>
              <a:t>0 </a:t>
            </a:r>
            <a:r>
              <a:rPr lang="pl-PL" sz="2400" dirty="0"/>
              <a:t>x 2</a:t>
            </a:r>
            <a:r>
              <a:rPr lang="pl-PL" sz="2400" baseline="30000" dirty="0"/>
              <a:t>1</a:t>
            </a:r>
            <a:r>
              <a:rPr lang="pl-PL" sz="2400" dirty="0"/>
              <a:t>)	+ (</a:t>
            </a:r>
            <a:r>
              <a:rPr lang="pl-PL" sz="2400" b="1" dirty="0">
                <a:solidFill>
                  <a:schemeClr val="accent1"/>
                </a:solidFill>
              </a:rPr>
              <a:t>1 </a:t>
            </a:r>
            <a:r>
              <a:rPr lang="pl-PL" sz="2400" dirty="0"/>
              <a:t>x 2</a:t>
            </a:r>
            <a:r>
              <a:rPr lang="pl-PL" sz="2400" baseline="30000" dirty="0"/>
              <a:t>0</a:t>
            </a:r>
            <a:r>
              <a:rPr lang="pl-PL" sz="2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l-PL" sz="2400" dirty="0"/>
              <a:t>=  0 </a:t>
            </a:r>
            <a:r>
              <a:rPr lang="pl-PL" sz="2400" baseline="-25000" dirty="0"/>
              <a:t> </a:t>
            </a:r>
            <a:r>
              <a:rPr lang="pl-PL" sz="2400" dirty="0"/>
              <a:t> </a:t>
            </a:r>
            <a:r>
              <a:rPr lang="pl-PL" sz="2400" baseline="-25000" dirty="0"/>
              <a:t> </a:t>
            </a:r>
            <a:r>
              <a:rPr lang="pl-PL" sz="2400" dirty="0"/>
              <a:t> </a:t>
            </a:r>
            <a:r>
              <a:rPr lang="pl-PL" sz="2400" baseline="-25000" dirty="0"/>
              <a:t>  		</a:t>
            </a:r>
            <a:r>
              <a:rPr lang="pl-PL" sz="2400" dirty="0"/>
              <a:t>+  4      </a:t>
            </a:r>
            <a:r>
              <a:rPr lang="pl-PL" sz="2400" baseline="-25000" dirty="0"/>
              <a:t>  	</a:t>
            </a:r>
            <a:r>
              <a:rPr lang="pl-PL" sz="2400" dirty="0"/>
              <a:t>+  0  	   </a:t>
            </a:r>
            <a:r>
              <a:rPr lang="pl-PL" sz="2400" baseline="30000" dirty="0"/>
              <a:t> </a:t>
            </a:r>
            <a:r>
              <a:rPr lang="pl-PL" sz="2400" dirty="0"/>
              <a:t> </a:t>
            </a:r>
            <a:r>
              <a:rPr lang="pl-PL" sz="2400" baseline="-25000" dirty="0"/>
              <a:t> 	</a:t>
            </a:r>
            <a:r>
              <a:rPr lang="pl-PL" sz="2400" dirty="0"/>
              <a:t>+ 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l-PL" sz="2400" dirty="0"/>
              <a:t>=  5</a:t>
            </a:r>
          </a:p>
        </p:txBody>
      </p:sp>
      <p:sp>
        <p:nvSpPr>
          <p:cNvPr id="3" name="Google Shape;571;p43">
            <a:extLst>
              <a:ext uri="{FF2B5EF4-FFF2-40B4-BE49-F238E27FC236}">
                <a16:creationId xmlns:a16="http://schemas.microsoft.com/office/drawing/2014/main" id="{621F3469-4355-5BDA-2373-376541833077}"/>
              </a:ext>
            </a:extLst>
          </p:cNvPr>
          <p:cNvSpPr txBox="1">
            <a:spLocks/>
          </p:cNvSpPr>
          <p:nvPr/>
        </p:nvSpPr>
        <p:spPr>
          <a:xfrm>
            <a:off x="4858033" y="842177"/>
            <a:ext cx="7231600" cy="16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b="1" dirty="0">
                <a:solidFill>
                  <a:schemeClr val="accent1"/>
                </a:solidFill>
              </a:rPr>
              <a:t>0b1011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l-PL" sz="2400" dirty="0"/>
              <a:t>= (</a:t>
            </a:r>
            <a:r>
              <a:rPr lang="pl-PL" sz="2400" b="1" dirty="0">
                <a:solidFill>
                  <a:schemeClr val="accent1"/>
                </a:solidFill>
              </a:rPr>
              <a:t>1 </a:t>
            </a:r>
            <a:r>
              <a:rPr lang="pl-PL" sz="2400" dirty="0"/>
              <a:t>x </a:t>
            </a:r>
            <a:r>
              <a:rPr lang="pl-PL" sz="2400" b="1" dirty="0">
                <a:solidFill>
                  <a:schemeClr val="dk2"/>
                </a:solidFill>
              </a:rPr>
              <a:t>–</a:t>
            </a:r>
            <a:r>
              <a:rPr lang="pl-PL" sz="2400" dirty="0"/>
              <a:t>2</a:t>
            </a:r>
            <a:r>
              <a:rPr lang="pl-PL" sz="2400" baseline="30000" dirty="0"/>
              <a:t>3</a:t>
            </a:r>
            <a:r>
              <a:rPr lang="pl-PL" sz="2400" dirty="0"/>
              <a:t>)	+ (</a:t>
            </a:r>
            <a:r>
              <a:rPr lang="pl-PL" sz="2400" b="1" dirty="0">
                <a:solidFill>
                  <a:schemeClr val="accent1"/>
                </a:solidFill>
              </a:rPr>
              <a:t>0 </a:t>
            </a:r>
            <a:r>
              <a:rPr lang="pl-PL" sz="2400" dirty="0"/>
              <a:t>x 2</a:t>
            </a:r>
            <a:r>
              <a:rPr lang="pl-PL" sz="2400" baseline="30000" dirty="0"/>
              <a:t>2</a:t>
            </a:r>
            <a:r>
              <a:rPr lang="pl-PL" sz="2400" dirty="0"/>
              <a:t>)	+ (</a:t>
            </a:r>
            <a:r>
              <a:rPr lang="pl-PL" sz="2400" b="1" dirty="0">
                <a:solidFill>
                  <a:schemeClr val="accent1"/>
                </a:solidFill>
              </a:rPr>
              <a:t>1 </a:t>
            </a:r>
            <a:r>
              <a:rPr lang="pl-PL" sz="2400" dirty="0"/>
              <a:t>x 2</a:t>
            </a:r>
            <a:r>
              <a:rPr lang="pl-PL" sz="2400" baseline="30000" dirty="0"/>
              <a:t>1</a:t>
            </a:r>
            <a:r>
              <a:rPr lang="pl-PL" sz="2400" dirty="0"/>
              <a:t>)	+ (</a:t>
            </a:r>
            <a:r>
              <a:rPr lang="pl-PL" sz="2400" b="1" dirty="0">
                <a:solidFill>
                  <a:schemeClr val="accent1"/>
                </a:solidFill>
              </a:rPr>
              <a:t>1 </a:t>
            </a:r>
            <a:r>
              <a:rPr lang="pl-PL" sz="2400" dirty="0"/>
              <a:t>x 2</a:t>
            </a:r>
            <a:r>
              <a:rPr lang="pl-PL" sz="2400" baseline="30000" dirty="0"/>
              <a:t>0</a:t>
            </a:r>
            <a:r>
              <a:rPr lang="pl-PL" sz="2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l-PL" sz="2400" dirty="0"/>
              <a:t>=  -8 </a:t>
            </a:r>
            <a:r>
              <a:rPr lang="pl-PL" sz="2400" baseline="-25000" dirty="0"/>
              <a:t>		</a:t>
            </a:r>
            <a:r>
              <a:rPr lang="pl-PL" sz="2400" dirty="0"/>
              <a:t>+  0    </a:t>
            </a:r>
            <a:r>
              <a:rPr lang="pl-PL" sz="2400" baseline="-25000" dirty="0"/>
              <a:t>  		</a:t>
            </a:r>
            <a:r>
              <a:rPr lang="pl-PL" sz="2400" dirty="0"/>
              <a:t>+  2     </a:t>
            </a:r>
            <a:r>
              <a:rPr lang="pl-PL" sz="2400" baseline="30000" dirty="0"/>
              <a:t> </a:t>
            </a:r>
            <a:r>
              <a:rPr lang="pl-PL" sz="2400" dirty="0"/>
              <a:t> </a:t>
            </a:r>
            <a:r>
              <a:rPr lang="pl-PL" sz="2400" baseline="-25000" dirty="0"/>
              <a:t> 	</a:t>
            </a:r>
            <a:r>
              <a:rPr lang="pl-PL" sz="2400" dirty="0"/>
              <a:t>+ 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l-PL" sz="2400" dirty="0"/>
              <a:t>=  -5</a:t>
            </a:r>
            <a:endParaRPr lang="pl-PL" sz="2400" b="1" dirty="0"/>
          </a:p>
        </p:txBody>
      </p:sp>
      <p:sp>
        <p:nvSpPr>
          <p:cNvPr id="4" name="Google Shape;572;p43">
            <a:extLst>
              <a:ext uri="{FF2B5EF4-FFF2-40B4-BE49-F238E27FC236}">
                <a16:creationId xmlns:a16="http://schemas.microsoft.com/office/drawing/2014/main" id="{0E76F109-4CE7-8D9B-605C-6DDCD307CE8A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667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 err="1">
                <a:solidFill>
                  <a:schemeClr val="bg1"/>
                </a:solidFill>
              </a:rPr>
              <a:t>Complemento</a:t>
            </a:r>
            <a:r>
              <a:rPr lang="en-GB" b="1" dirty="0">
                <a:solidFill>
                  <a:schemeClr val="bg1"/>
                </a:solidFill>
              </a:rPr>
              <a:t> de </a:t>
            </a:r>
            <a:r>
              <a:rPr lang="en-GB" b="1" dirty="0" err="1">
                <a:solidFill>
                  <a:schemeClr val="bg1"/>
                </a:solidFill>
              </a:rPr>
              <a:t>dois</a:t>
            </a:r>
            <a:r>
              <a:rPr lang="en-GB" b="1" dirty="0">
                <a:solidFill>
                  <a:schemeClr val="bg1"/>
                </a:solidFill>
              </a:rPr>
              <a:t>: </a:t>
            </a:r>
            <a:r>
              <a:rPr lang="en-GB" b="1" dirty="0" err="1">
                <a:solidFill>
                  <a:schemeClr val="bg1"/>
                </a:solidFill>
              </a:rPr>
              <a:t>conversão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Google Shape;573;p43">
            <a:extLst>
              <a:ext uri="{FF2B5EF4-FFF2-40B4-BE49-F238E27FC236}">
                <a16:creationId xmlns:a16="http://schemas.microsoft.com/office/drawing/2014/main" id="{EE184EFD-4D21-59BB-FD40-12108F266661}"/>
              </a:ext>
            </a:extLst>
          </p:cNvPr>
          <p:cNvSpPr txBox="1">
            <a:spLocks/>
          </p:cNvSpPr>
          <p:nvPr/>
        </p:nvSpPr>
        <p:spPr>
          <a:xfrm>
            <a:off x="157233" y="977156"/>
            <a:ext cx="4700800" cy="181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Números positivos </a:t>
            </a:r>
            <a:r>
              <a:rPr lang="pt-BR" b="1" dirty="0"/>
              <a:t>e</a:t>
            </a:r>
            <a:r>
              <a:rPr lang="pt-BR" dirty="0"/>
              <a:t> negativos podem ser calculados usando a mesma fórmula:
Valores de bit multiplicados por potências de 2!!</a:t>
            </a:r>
            <a:endParaRPr lang="en-GB" dirty="0"/>
          </a:p>
        </p:txBody>
      </p:sp>
      <p:sp>
        <p:nvSpPr>
          <p:cNvPr id="6" name="Google Shape;582;p44">
            <a:extLst>
              <a:ext uri="{FF2B5EF4-FFF2-40B4-BE49-F238E27FC236}">
                <a16:creationId xmlns:a16="http://schemas.microsoft.com/office/drawing/2014/main" id="{4FF34C17-D9DB-80EF-6DD6-240795C803CA}"/>
              </a:ext>
            </a:extLst>
          </p:cNvPr>
          <p:cNvSpPr txBox="1">
            <a:spLocks/>
          </p:cNvSpPr>
          <p:nvPr/>
        </p:nvSpPr>
        <p:spPr>
          <a:xfrm>
            <a:off x="157232" y="4163448"/>
            <a:ext cx="4910667" cy="216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 hardware para converter positivo em negativo (e vice-versa) é </a:t>
            </a:r>
            <a:r>
              <a:rPr lang="pt-BR" b="1" dirty="0">
                <a:solidFill>
                  <a:srgbClr val="002060"/>
                </a:solidFill>
              </a:rPr>
              <a:t>simples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solidFill>
                  <a:schemeClr val="accent3"/>
                </a:solidFill>
              </a:rPr>
              <a:t>Complemente todos os bits
Em seguida, adicione 1</a:t>
            </a:r>
            <a:endParaRPr lang="en-GB" dirty="0">
              <a:solidFill>
                <a:schemeClr val="accent3"/>
              </a:solidFill>
            </a:endParaRPr>
          </a:p>
        </p:txBody>
      </p:sp>
      <p:grpSp>
        <p:nvGrpSpPr>
          <p:cNvPr id="7" name="Google Shape;583;p44">
            <a:extLst>
              <a:ext uri="{FF2B5EF4-FFF2-40B4-BE49-F238E27FC236}">
                <a16:creationId xmlns:a16="http://schemas.microsoft.com/office/drawing/2014/main" id="{56FDF5DC-CD60-C777-39BB-7EBFF0E95C76}"/>
              </a:ext>
            </a:extLst>
          </p:cNvPr>
          <p:cNvGrpSpPr/>
          <p:nvPr/>
        </p:nvGrpSpPr>
        <p:grpSpPr>
          <a:xfrm>
            <a:off x="5271133" y="4929603"/>
            <a:ext cx="6276400" cy="824800"/>
            <a:chOff x="3953350" y="3440725"/>
            <a:chExt cx="4707300" cy="618600"/>
          </a:xfrm>
        </p:grpSpPr>
        <p:sp>
          <p:nvSpPr>
            <p:cNvPr id="8" name="Google Shape;584;p44">
              <a:extLst>
                <a:ext uri="{FF2B5EF4-FFF2-40B4-BE49-F238E27FC236}">
                  <a16:creationId xmlns:a16="http://schemas.microsoft.com/office/drawing/2014/main" id="{E5A15953-B7E8-FA24-9686-8B30936E3439}"/>
                </a:ext>
              </a:extLst>
            </p:cNvPr>
            <p:cNvSpPr txBox="1"/>
            <p:nvPr/>
          </p:nvSpPr>
          <p:spPr>
            <a:xfrm>
              <a:off x="3953350" y="3440725"/>
              <a:ext cx="4707300" cy="492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 Medium"/>
                  <a:ea typeface="Source Code Pro Medium"/>
                  <a:cs typeface="Source Code Pro Medium"/>
                  <a:sym typeface="Source Code Pro Medium"/>
                </a:rPr>
                <a:t>0101 → 1010 → 1011</a:t>
              </a:r>
              <a:endParaRPr sz="2667"/>
            </a:p>
          </p:txBody>
        </p:sp>
        <p:sp>
          <p:nvSpPr>
            <p:cNvPr id="9" name="Google Shape;585;p44">
              <a:extLst>
                <a:ext uri="{FF2B5EF4-FFF2-40B4-BE49-F238E27FC236}">
                  <a16:creationId xmlns:a16="http://schemas.microsoft.com/office/drawing/2014/main" id="{C4CEAF9B-B07C-B941-E5F3-90946F2778DE}"/>
                </a:ext>
              </a:extLst>
            </p:cNvPr>
            <p:cNvSpPr txBox="1"/>
            <p:nvPr/>
          </p:nvSpPr>
          <p:spPr>
            <a:xfrm>
              <a:off x="4204825" y="3440725"/>
              <a:ext cx="753900" cy="6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667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r>
                <a:rPr lang="en" sz="2667" baseline="-250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10</a:t>
              </a:r>
              <a:endParaRPr sz="2667" baseline="-25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" name="Google Shape;586;p44">
              <a:extLst>
                <a:ext uri="{FF2B5EF4-FFF2-40B4-BE49-F238E27FC236}">
                  <a16:creationId xmlns:a16="http://schemas.microsoft.com/office/drawing/2014/main" id="{45907B7C-C3BF-24FD-1673-584B0085725B}"/>
                </a:ext>
              </a:extLst>
            </p:cNvPr>
            <p:cNvSpPr txBox="1"/>
            <p:nvPr/>
          </p:nvSpPr>
          <p:spPr>
            <a:xfrm>
              <a:off x="7636125" y="3440725"/>
              <a:ext cx="872100" cy="6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/>
              <a:r>
                <a:rPr lang="en" sz="2667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-5</a:t>
              </a:r>
              <a:r>
                <a:rPr lang="en" sz="2667" baseline="-250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10</a:t>
              </a:r>
              <a:endParaRPr sz="2667" baseline="-25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" name="Google Shape;587;p44">
            <a:extLst>
              <a:ext uri="{FF2B5EF4-FFF2-40B4-BE49-F238E27FC236}">
                <a16:creationId xmlns:a16="http://schemas.microsoft.com/office/drawing/2014/main" id="{CC536C0E-C782-F29C-9F19-BD0B70387632}"/>
              </a:ext>
            </a:extLst>
          </p:cNvPr>
          <p:cNvGrpSpPr/>
          <p:nvPr/>
        </p:nvGrpSpPr>
        <p:grpSpPr>
          <a:xfrm>
            <a:off x="5271133" y="5742403"/>
            <a:ext cx="6276400" cy="824800"/>
            <a:chOff x="3953350" y="4050325"/>
            <a:chExt cx="4707300" cy="618600"/>
          </a:xfrm>
        </p:grpSpPr>
        <p:sp>
          <p:nvSpPr>
            <p:cNvPr id="12" name="Google Shape;588;p44">
              <a:extLst>
                <a:ext uri="{FF2B5EF4-FFF2-40B4-BE49-F238E27FC236}">
                  <a16:creationId xmlns:a16="http://schemas.microsoft.com/office/drawing/2014/main" id="{626CFBC5-30AF-DFCB-85B0-2803418172DF}"/>
                </a:ext>
              </a:extLst>
            </p:cNvPr>
            <p:cNvSpPr txBox="1"/>
            <p:nvPr/>
          </p:nvSpPr>
          <p:spPr>
            <a:xfrm>
              <a:off x="3953350" y="4050325"/>
              <a:ext cx="4707300" cy="492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2667">
                  <a:solidFill>
                    <a:schemeClr val="dk1"/>
                  </a:solidFill>
                  <a:latin typeface="Source Code Pro Medium"/>
                  <a:ea typeface="Source Code Pro Medium"/>
                  <a:cs typeface="Source Code Pro Medium"/>
                  <a:sym typeface="Source Code Pro Medium"/>
                </a:rPr>
                <a:t>1011 → 0100 → 0101</a:t>
              </a:r>
              <a:endParaRPr sz="2667"/>
            </a:p>
          </p:txBody>
        </p:sp>
        <p:sp>
          <p:nvSpPr>
            <p:cNvPr id="13" name="Google Shape;589;p44">
              <a:extLst>
                <a:ext uri="{FF2B5EF4-FFF2-40B4-BE49-F238E27FC236}">
                  <a16:creationId xmlns:a16="http://schemas.microsoft.com/office/drawing/2014/main" id="{E43F12C0-41C6-D012-63B9-FB6E78AF1FC1}"/>
                </a:ext>
              </a:extLst>
            </p:cNvPr>
            <p:cNvSpPr txBox="1"/>
            <p:nvPr/>
          </p:nvSpPr>
          <p:spPr>
            <a:xfrm>
              <a:off x="4204700" y="4050325"/>
              <a:ext cx="753900" cy="6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667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-5</a:t>
              </a:r>
              <a:r>
                <a:rPr lang="en" sz="2667" baseline="-250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10</a:t>
              </a:r>
              <a:endParaRPr sz="2667" baseline="-25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" name="Google Shape;590;p44">
              <a:extLst>
                <a:ext uri="{FF2B5EF4-FFF2-40B4-BE49-F238E27FC236}">
                  <a16:creationId xmlns:a16="http://schemas.microsoft.com/office/drawing/2014/main" id="{7994A376-20A3-CAD3-6829-A272D4CFE628}"/>
                </a:ext>
              </a:extLst>
            </p:cNvPr>
            <p:cNvSpPr txBox="1"/>
            <p:nvPr/>
          </p:nvSpPr>
          <p:spPr>
            <a:xfrm>
              <a:off x="7636125" y="4050325"/>
              <a:ext cx="872100" cy="6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/>
              <a:r>
                <a:rPr lang="en" sz="2667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r>
                <a:rPr lang="en" sz="2667" baseline="-250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10</a:t>
              </a:r>
              <a:endParaRPr sz="2667" baseline="-25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448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96;p45">
            <a:extLst>
              <a:ext uri="{FF2B5EF4-FFF2-40B4-BE49-F238E27FC236}">
                <a16:creationId xmlns:a16="http://schemas.microsoft.com/office/drawing/2014/main" id="{43E55491-E12B-B93E-42B3-85634A4A7B45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667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 err="1">
                <a:solidFill>
                  <a:schemeClr val="bg1"/>
                </a:solidFill>
              </a:rPr>
              <a:t>Complemento</a:t>
            </a:r>
            <a:r>
              <a:rPr lang="en-GB" b="1" dirty="0">
                <a:solidFill>
                  <a:schemeClr val="bg1"/>
                </a:solidFill>
              </a:rPr>
              <a:t> de </a:t>
            </a:r>
            <a:r>
              <a:rPr lang="en-GB" b="1" dirty="0" err="1">
                <a:solidFill>
                  <a:schemeClr val="bg1"/>
                </a:solidFill>
              </a:rPr>
              <a:t>Dois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Google Shape;597;p45">
            <a:extLst>
              <a:ext uri="{FF2B5EF4-FFF2-40B4-BE49-F238E27FC236}">
                <a16:creationId xmlns:a16="http://schemas.microsoft.com/office/drawing/2014/main" id="{AB40FA6F-155B-7BCC-A78E-191828BF666C}"/>
              </a:ext>
            </a:extLst>
          </p:cNvPr>
          <p:cNvSpPr txBox="1">
            <a:spLocks/>
          </p:cNvSpPr>
          <p:nvPr/>
        </p:nvSpPr>
        <p:spPr>
          <a:xfrm>
            <a:off x="415600" y="994086"/>
            <a:ext cx="11360800" cy="42023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O complemento de dois é a </a:t>
            </a:r>
            <a:r>
              <a:rPr lang="pt-BR" b="1" u="sng" dirty="0">
                <a:solidFill>
                  <a:srgbClr val="FF0000"/>
                </a:solidFill>
              </a:rPr>
              <a:t>representação numérica padrão</a:t>
            </a:r>
            <a:r>
              <a:rPr lang="pt-BR" b="1" dirty="0"/>
              <a:t> para inteiros com sinal</a:t>
            </a:r>
            <a:r>
              <a:rPr lang="en-GB" b="1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lvl="1"/>
            <a:r>
              <a:rPr lang="en-GB" sz="3200" dirty="0"/>
              <a:t>2</a:t>
            </a:r>
            <a:r>
              <a:rPr lang="en-GB" sz="3200" baseline="30000" dirty="0"/>
              <a:t>N-1</a:t>
            </a:r>
            <a:r>
              <a:rPr lang="en-GB" sz="3200" dirty="0"/>
              <a:t> </a:t>
            </a:r>
            <a:r>
              <a:rPr lang="en-GB" sz="3200" dirty="0" err="1"/>
              <a:t>negativos</a:t>
            </a:r>
            <a:endParaRPr lang="en-GB" sz="3200" dirty="0"/>
          </a:p>
          <a:p>
            <a:pPr lvl="1"/>
            <a:r>
              <a:rPr lang="en-GB" sz="3200" dirty="0"/>
              <a:t>2</a:t>
            </a:r>
            <a:r>
              <a:rPr lang="en-GB" sz="3200" baseline="30000" dirty="0"/>
              <a:t>N-1</a:t>
            </a:r>
            <a:r>
              <a:rPr lang="en-GB" sz="3200" dirty="0"/>
              <a:t> </a:t>
            </a:r>
            <a:r>
              <a:rPr lang="en-GB" sz="3200" dirty="0" err="1"/>
              <a:t>não-negativos</a:t>
            </a:r>
            <a:endParaRPr lang="en-GB" sz="3200" dirty="0"/>
          </a:p>
          <a:p>
            <a:pPr lvl="2"/>
            <a:r>
              <a:rPr lang="en-GB" sz="2800" dirty="0"/>
              <a:t>1 zero</a:t>
            </a:r>
          </a:p>
          <a:p>
            <a:pPr lvl="2"/>
            <a:r>
              <a:rPr lang="en-GB" sz="2800" dirty="0" err="1"/>
              <a:t>Quantos</a:t>
            </a:r>
            <a:r>
              <a:rPr lang="en-GB" sz="2800" dirty="0"/>
              <a:t> </a:t>
            </a:r>
            <a:r>
              <a:rPr lang="en-GB" sz="2800" dirty="0" err="1"/>
              <a:t>positivos</a:t>
            </a:r>
            <a:r>
              <a:rPr lang="en-GB" sz="2800" dirty="0"/>
              <a:t>?</a:t>
            </a:r>
          </a:p>
        </p:txBody>
      </p:sp>
      <p:grpSp>
        <p:nvGrpSpPr>
          <p:cNvPr id="4" name="Google Shape;598;p45">
            <a:extLst>
              <a:ext uri="{FF2B5EF4-FFF2-40B4-BE49-F238E27FC236}">
                <a16:creationId xmlns:a16="http://schemas.microsoft.com/office/drawing/2014/main" id="{67B2A6C5-FA66-D7F6-3E7F-869C7A5E7599}"/>
              </a:ext>
            </a:extLst>
          </p:cNvPr>
          <p:cNvGrpSpPr/>
          <p:nvPr/>
        </p:nvGrpSpPr>
        <p:grpSpPr>
          <a:xfrm>
            <a:off x="128237" y="1790933"/>
            <a:ext cx="11805009" cy="1092800"/>
            <a:chOff x="12543" y="3324400"/>
            <a:chExt cx="8853757" cy="819600"/>
          </a:xfrm>
        </p:grpSpPr>
        <p:cxnSp>
          <p:nvCxnSpPr>
            <p:cNvPr id="5" name="Google Shape;599;p45">
              <a:extLst>
                <a:ext uri="{FF2B5EF4-FFF2-40B4-BE49-F238E27FC236}">
                  <a16:creationId xmlns:a16="http://schemas.microsoft.com/office/drawing/2014/main" id="{4D6DAA68-A0AB-39C9-C259-00DF7AF21860}"/>
                </a:ext>
              </a:extLst>
            </p:cNvPr>
            <p:cNvCxnSpPr/>
            <p:nvPr/>
          </p:nvCxnSpPr>
          <p:spPr>
            <a:xfrm>
              <a:off x="430900" y="3840850"/>
              <a:ext cx="8020800" cy="1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600;p45">
              <a:extLst>
                <a:ext uri="{FF2B5EF4-FFF2-40B4-BE49-F238E27FC236}">
                  <a16:creationId xmlns:a16="http://schemas.microsoft.com/office/drawing/2014/main" id="{7B369957-A761-62A9-A26D-6BCDBEB9F954}"/>
                </a:ext>
              </a:extLst>
            </p:cNvPr>
            <p:cNvSpPr txBox="1"/>
            <p:nvPr/>
          </p:nvSpPr>
          <p:spPr>
            <a:xfrm>
              <a:off x="6883900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133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133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7" name="Google Shape;601;p45">
              <a:extLst>
                <a:ext uri="{FF2B5EF4-FFF2-40B4-BE49-F238E27FC236}">
                  <a16:creationId xmlns:a16="http://schemas.microsoft.com/office/drawing/2014/main" id="{71BDDAE4-246A-A728-FE0A-5B1893272AA8}"/>
                </a:ext>
              </a:extLst>
            </p:cNvPr>
            <p:cNvSpPr txBox="1"/>
            <p:nvPr/>
          </p:nvSpPr>
          <p:spPr>
            <a:xfrm>
              <a:off x="5737363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133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0001</a:t>
              </a:r>
              <a:endParaRPr sz="2133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8" name="Google Shape;602;p45">
              <a:extLst>
                <a:ext uri="{FF2B5EF4-FFF2-40B4-BE49-F238E27FC236}">
                  <a16:creationId xmlns:a16="http://schemas.microsoft.com/office/drawing/2014/main" id="{185BA5B0-DB15-DECC-6E96-6525B4C26101}"/>
                </a:ext>
              </a:extLst>
            </p:cNvPr>
            <p:cNvSpPr txBox="1"/>
            <p:nvPr/>
          </p:nvSpPr>
          <p:spPr>
            <a:xfrm>
              <a:off x="4590825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133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0000</a:t>
              </a:r>
              <a:endParaRPr sz="2133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9" name="Google Shape;603;p45">
              <a:extLst>
                <a:ext uri="{FF2B5EF4-FFF2-40B4-BE49-F238E27FC236}">
                  <a16:creationId xmlns:a16="http://schemas.microsoft.com/office/drawing/2014/main" id="{F9E3A189-3DF0-2073-F18F-D6430353304B}"/>
                </a:ext>
              </a:extLst>
            </p:cNvPr>
            <p:cNvCxnSpPr/>
            <p:nvPr/>
          </p:nvCxnSpPr>
          <p:spPr>
            <a:xfrm>
              <a:off x="6157063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604;p45">
              <a:extLst>
                <a:ext uri="{FF2B5EF4-FFF2-40B4-BE49-F238E27FC236}">
                  <a16:creationId xmlns:a16="http://schemas.microsoft.com/office/drawing/2014/main" id="{16710CC4-5302-54A8-2133-BAEB03A8561E}"/>
                </a:ext>
              </a:extLst>
            </p:cNvPr>
            <p:cNvCxnSpPr/>
            <p:nvPr/>
          </p:nvCxnSpPr>
          <p:spPr>
            <a:xfrm>
              <a:off x="7303600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605;p45">
              <a:extLst>
                <a:ext uri="{FF2B5EF4-FFF2-40B4-BE49-F238E27FC236}">
                  <a16:creationId xmlns:a16="http://schemas.microsoft.com/office/drawing/2014/main" id="{DE639222-1707-263C-6371-C587F59AE92F}"/>
                </a:ext>
              </a:extLst>
            </p:cNvPr>
            <p:cNvSpPr txBox="1"/>
            <p:nvPr/>
          </p:nvSpPr>
          <p:spPr>
            <a:xfrm>
              <a:off x="8026900" y="33244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133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0111</a:t>
              </a:r>
              <a:endParaRPr sz="2133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2" name="Google Shape;606;p45">
              <a:extLst>
                <a:ext uri="{FF2B5EF4-FFF2-40B4-BE49-F238E27FC236}">
                  <a16:creationId xmlns:a16="http://schemas.microsoft.com/office/drawing/2014/main" id="{D949A3BD-1B2E-6C62-E1D3-DFCD08C54CDD}"/>
                </a:ext>
              </a:extLst>
            </p:cNvPr>
            <p:cNvCxnSpPr/>
            <p:nvPr/>
          </p:nvCxnSpPr>
          <p:spPr>
            <a:xfrm>
              <a:off x="8446600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607;p45">
              <a:extLst>
                <a:ext uri="{FF2B5EF4-FFF2-40B4-BE49-F238E27FC236}">
                  <a16:creationId xmlns:a16="http://schemas.microsoft.com/office/drawing/2014/main" id="{011C5127-BB6A-1849-3A7D-8ECF7570D3B4}"/>
                </a:ext>
              </a:extLst>
            </p:cNvPr>
            <p:cNvCxnSpPr/>
            <p:nvPr/>
          </p:nvCxnSpPr>
          <p:spPr>
            <a:xfrm>
              <a:off x="5006988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608;p45">
              <a:extLst>
                <a:ext uri="{FF2B5EF4-FFF2-40B4-BE49-F238E27FC236}">
                  <a16:creationId xmlns:a16="http://schemas.microsoft.com/office/drawing/2014/main" id="{F8282759-3257-FD40-37C4-CFB23A1C50DD}"/>
                </a:ext>
              </a:extLst>
            </p:cNvPr>
            <p:cNvCxnSpPr/>
            <p:nvPr/>
          </p:nvCxnSpPr>
          <p:spPr>
            <a:xfrm>
              <a:off x="436382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Google Shape;609;p45">
              <a:extLst>
                <a:ext uri="{FF2B5EF4-FFF2-40B4-BE49-F238E27FC236}">
                  <a16:creationId xmlns:a16="http://schemas.microsoft.com/office/drawing/2014/main" id="{F0BCDA84-36C7-1513-F5E8-6174A122D94D}"/>
                </a:ext>
              </a:extLst>
            </p:cNvPr>
            <p:cNvSpPr txBox="1"/>
            <p:nvPr/>
          </p:nvSpPr>
          <p:spPr>
            <a:xfrm>
              <a:off x="12543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133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1000</a:t>
              </a:r>
              <a:endParaRPr sz="2133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6" name="Google Shape;610;p45">
              <a:extLst>
                <a:ext uri="{FF2B5EF4-FFF2-40B4-BE49-F238E27FC236}">
                  <a16:creationId xmlns:a16="http://schemas.microsoft.com/office/drawing/2014/main" id="{88A652C7-B70A-1368-7DB7-5311225E3254}"/>
                </a:ext>
              </a:extLst>
            </p:cNvPr>
            <p:cNvSpPr txBox="1"/>
            <p:nvPr/>
          </p:nvSpPr>
          <p:spPr>
            <a:xfrm>
              <a:off x="1154750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133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…</a:t>
              </a:r>
              <a:endParaRPr sz="2133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7" name="Google Shape;611;p45">
              <a:extLst>
                <a:ext uri="{FF2B5EF4-FFF2-40B4-BE49-F238E27FC236}">
                  <a16:creationId xmlns:a16="http://schemas.microsoft.com/office/drawing/2014/main" id="{DC718BAC-F790-873C-4104-F07D7731278A}"/>
                </a:ext>
              </a:extLst>
            </p:cNvPr>
            <p:cNvSpPr txBox="1"/>
            <p:nvPr/>
          </p:nvSpPr>
          <p:spPr>
            <a:xfrm>
              <a:off x="2301288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133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1110</a:t>
              </a:r>
              <a:endParaRPr sz="2133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8" name="Google Shape;612;p45">
              <a:extLst>
                <a:ext uri="{FF2B5EF4-FFF2-40B4-BE49-F238E27FC236}">
                  <a16:creationId xmlns:a16="http://schemas.microsoft.com/office/drawing/2014/main" id="{766B1753-CED9-B576-D937-197B9DA57AE8}"/>
                </a:ext>
              </a:extLst>
            </p:cNvPr>
            <p:cNvCxnSpPr/>
            <p:nvPr/>
          </p:nvCxnSpPr>
          <p:spPr>
            <a:xfrm>
              <a:off x="2720988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613;p45">
              <a:extLst>
                <a:ext uri="{FF2B5EF4-FFF2-40B4-BE49-F238E27FC236}">
                  <a16:creationId xmlns:a16="http://schemas.microsoft.com/office/drawing/2014/main" id="{17265798-EE58-BCD6-3720-44F755EBE2FC}"/>
                </a:ext>
              </a:extLst>
            </p:cNvPr>
            <p:cNvCxnSpPr/>
            <p:nvPr/>
          </p:nvCxnSpPr>
          <p:spPr>
            <a:xfrm>
              <a:off x="3863988" y="3703281"/>
              <a:ext cx="0" cy="235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614;p45">
              <a:extLst>
                <a:ext uri="{FF2B5EF4-FFF2-40B4-BE49-F238E27FC236}">
                  <a16:creationId xmlns:a16="http://schemas.microsoft.com/office/drawing/2014/main" id="{62870D44-31E2-BE72-BC72-DA50468D07E1}"/>
                </a:ext>
              </a:extLst>
            </p:cNvPr>
            <p:cNvSpPr txBox="1"/>
            <p:nvPr/>
          </p:nvSpPr>
          <p:spPr>
            <a:xfrm>
              <a:off x="3447825" y="3857800"/>
              <a:ext cx="8394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133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1111</a:t>
              </a:r>
              <a:endParaRPr sz="2133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sp>
        <p:nvSpPr>
          <p:cNvPr id="22" name="Google Shape;639;p46">
            <a:extLst>
              <a:ext uri="{FF2B5EF4-FFF2-40B4-BE49-F238E27FC236}">
                <a16:creationId xmlns:a16="http://schemas.microsoft.com/office/drawing/2014/main" id="{FB82C591-4B23-47E5-7AD7-2EDCE60A2003}"/>
              </a:ext>
            </a:extLst>
          </p:cNvPr>
          <p:cNvSpPr txBox="1">
            <a:spLocks/>
          </p:cNvSpPr>
          <p:nvPr/>
        </p:nvSpPr>
        <p:spPr>
          <a:xfrm>
            <a:off x="415600" y="4346900"/>
            <a:ext cx="5023200" cy="201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52" name="Google Shape;669;p46">
            <a:extLst>
              <a:ext uri="{FF2B5EF4-FFF2-40B4-BE49-F238E27FC236}">
                <a16:creationId xmlns:a16="http://schemas.microsoft.com/office/drawing/2014/main" id="{95E277BB-FABC-7A13-FFC8-0CF0907EC48C}"/>
              </a:ext>
            </a:extLst>
          </p:cNvPr>
          <p:cNvSpPr txBox="1"/>
          <p:nvPr/>
        </p:nvSpPr>
        <p:spPr>
          <a:xfrm>
            <a:off x="9255043" y="5846900"/>
            <a:ext cx="773200" cy="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733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endParaRPr sz="3733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Google Shape;670;p46">
            <a:extLst>
              <a:ext uri="{FF2B5EF4-FFF2-40B4-BE49-F238E27FC236}">
                <a16:creationId xmlns:a16="http://schemas.microsoft.com/office/drawing/2014/main" id="{5BF16F21-C3F1-AF08-077B-56795981DB21}"/>
              </a:ext>
            </a:extLst>
          </p:cNvPr>
          <p:cNvSpPr txBox="1"/>
          <p:nvPr/>
        </p:nvSpPr>
        <p:spPr>
          <a:xfrm>
            <a:off x="11286843" y="1702067"/>
            <a:ext cx="773200" cy="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733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endParaRPr sz="3733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671;p46">
            <a:extLst>
              <a:ext uri="{FF2B5EF4-FFF2-40B4-BE49-F238E27FC236}">
                <a16:creationId xmlns:a16="http://schemas.microsoft.com/office/drawing/2014/main" id="{D8B4A972-9E80-94F6-7D4F-5392D1D9398F}"/>
              </a:ext>
            </a:extLst>
          </p:cNvPr>
          <p:cNvSpPr txBox="1"/>
          <p:nvPr/>
        </p:nvSpPr>
        <p:spPr>
          <a:xfrm>
            <a:off x="-93224" y="1702067"/>
            <a:ext cx="773200" cy="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733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endParaRPr sz="3733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58798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2" grpId="0"/>
      <p:bldP spid="53" grpId="0"/>
      <p:bldP spid="5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9891-0981-9995-ABA5-65A3670A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7;p47">
            <a:extLst>
              <a:ext uri="{FF2B5EF4-FFF2-40B4-BE49-F238E27FC236}">
                <a16:creationId xmlns:a16="http://schemas.microsoft.com/office/drawing/2014/main" id="{7DAB35B4-DDBC-1436-8515-3CAB65F9B18E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667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>
                <a:solidFill>
                  <a:schemeClr val="bg1"/>
                </a:solidFill>
              </a:rPr>
              <a:t>E </a:t>
            </a:r>
            <a:r>
              <a:rPr lang="en-GB" b="1" dirty="0" err="1">
                <a:solidFill>
                  <a:schemeClr val="bg1"/>
                </a:solidFill>
              </a:rPr>
              <a:t>em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resumo</a:t>
            </a:r>
            <a:r>
              <a:rPr lang="en-GB" b="1" dirty="0">
                <a:solidFill>
                  <a:schemeClr val="bg1"/>
                </a:solidFill>
              </a:rPr>
              <a:t>...</a:t>
            </a:r>
          </a:p>
        </p:txBody>
      </p:sp>
      <p:sp>
        <p:nvSpPr>
          <p:cNvPr id="3" name="Google Shape;678;p47">
            <a:extLst>
              <a:ext uri="{FF2B5EF4-FFF2-40B4-BE49-F238E27FC236}">
                <a16:creationId xmlns:a16="http://schemas.microsoft.com/office/drawing/2014/main" id="{781D9BC5-1BE9-96B9-C1AE-69A24F7E402B}"/>
              </a:ext>
            </a:extLst>
          </p:cNvPr>
          <p:cNvSpPr txBox="1">
            <a:spLocks/>
          </p:cNvSpPr>
          <p:nvPr/>
        </p:nvSpPr>
        <p:spPr>
          <a:xfrm>
            <a:off x="153825" y="898367"/>
            <a:ext cx="11884350" cy="489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800"/>
            </a:pPr>
            <a:r>
              <a:rPr lang="pt-BR" sz="3200" dirty="0"/>
              <a:t>Representamos "coisas" em computadores como padrões de bits específicos</a:t>
            </a:r>
            <a:r>
              <a:rPr lang="en-GB" sz="3200" dirty="0"/>
              <a:t>:</a:t>
            </a:r>
          </a:p>
          <a:p>
            <a:pPr lvl="1">
              <a:buSzPts val="1800"/>
            </a:pPr>
            <a:r>
              <a:rPr lang="pt-BR" sz="2800" dirty="0"/>
              <a:t>Com N bits, você pode representar no máximo 2</a:t>
            </a:r>
            <a:r>
              <a:rPr lang="pt-BR" sz="2800" baseline="30000" dirty="0"/>
              <a:t>N</a:t>
            </a:r>
            <a:r>
              <a:rPr lang="pt-BR" sz="2800" dirty="0"/>
              <a:t> coisas</a:t>
            </a:r>
            <a:r>
              <a:rPr lang="en-GB" sz="2800" dirty="0"/>
              <a:t>.</a:t>
            </a:r>
          </a:p>
          <a:p>
            <a:pPr>
              <a:buSzPts val="1800"/>
            </a:pPr>
            <a:r>
              <a:rPr lang="pt-BR" sz="3200" dirty="0"/>
              <a:t>Hoje, discutimos codificações diferentes para números inteiros</a:t>
            </a:r>
            <a:r>
              <a:rPr lang="en-GB" sz="3200" dirty="0"/>
              <a:t>:</a:t>
            </a:r>
          </a:p>
          <a:p>
            <a:pPr lvl="1">
              <a:buSzPts val="1800"/>
            </a:pPr>
            <a:r>
              <a:rPr lang="en-GB" sz="2800" dirty="0" err="1"/>
              <a:t>Inteiros</a:t>
            </a:r>
            <a:r>
              <a:rPr lang="en-GB" sz="2800" dirty="0"/>
              <a:t> </a:t>
            </a:r>
            <a:r>
              <a:rPr lang="en-GB" sz="2800" dirty="0" err="1"/>
              <a:t>sem</a:t>
            </a:r>
            <a:r>
              <a:rPr lang="en-GB" sz="2800" dirty="0"/>
              <a:t> </a:t>
            </a:r>
            <a:r>
              <a:rPr lang="en-GB" sz="2800" dirty="0" err="1"/>
              <a:t>sinal</a:t>
            </a:r>
            <a:endParaRPr lang="en-GB" sz="2800" dirty="0"/>
          </a:p>
          <a:p>
            <a:pPr lvl="1">
              <a:buSzPts val="1800"/>
            </a:pPr>
            <a:r>
              <a:rPr lang="en-GB" sz="3200" dirty="0" err="1"/>
              <a:t>Inteiros</a:t>
            </a:r>
            <a:r>
              <a:rPr lang="en-GB" sz="3200" dirty="0"/>
              <a:t> com </a:t>
            </a:r>
            <a:r>
              <a:rPr lang="en-GB" sz="3200" dirty="0" err="1"/>
              <a:t>sinal</a:t>
            </a:r>
            <a:r>
              <a:rPr lang="en-GB" sz="3200" dirty="0"/>
              <a:t>:</a:t>
            </a:r>
          </a:p>
          <a:p>
            <a:pPr lvl="2">
              <a:buSzPts val="1800"/>
            </a:pPr>
            <a:r>
              <a:rPr lang="pt-BR" sz="2400" dirty="0"/>
              <a:t>Sinal-Magnitude
Complemento
Complemento de Dois</a:t>
            </a:r>
            <a:endParaRPr lang="en-GB" sz="2400" dirty="0"/>
          </a:p>
          <a:p>
            <a:pPr>
              <a:buSzPts val="1800"/>
            </a:pPr>
            <a:r>
              <a:rPr lang="pt-BR" sz="3200" dirty="0"/>
              <a:t>Arquitetos de computador tomam decisões de design para simplificar o hardware</a:t>
            </a:r>
            <a:endParaRPr lang="en-GB" dirty="0"/>
          </a:p>
          <a:p>
            <a:pPr lvl="1">
              <a:buSzPts val="1800"/>
            </a:pPr>
            <a:r>
              <a:rPr lang="pt-BR" sz="2800" b="1" dirty="0"/>
              <a:t>O complemento de dois é o padrão.</a:t>
            </a:r>
            <a:endParaRPr lang="en-GB" sz="2800" b="1" dirty="0"/>
          </a:p>
          <a:p>
            <a:pPr indent="-457189">
              <a:buSzPts val="1800"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6532275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7;p47">
            <a:extLst>
              <a:ext uri="{FF2B5EF4-FFF2-40B4-BE49-F238E27FC236}">
                <a16:creationId xmlns:a16="http://schemas.microsoft.com/office/drawing/2014/main" id="{282EF5DE-C48F-7E7B-B84A-142B4ADAE6EF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667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>
                <a:solidFill>
                  <a:schemeClr val="bg1"/>
                </a:solidFill>
              </a:rPr>
              <a:t>E </a:t>
            </a:r>
            <a:r>
              <a:rPr lang="en-GB" b="1" dirty="0" err="1">
                <a:solidFill>
                  <a:schemeClr val="bg1"/>
                </a:solidFill>
              </a:rPr>
              <a:t>em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resumo</a:t>
            </a:r>
            <a:r>
              <a:rPr lang="en-GB" b="1" dirty="0">
                <a:solidFill>
                  <a:schemeClr val="bg1"/>
                </a:solidFill>
              </a:rPr>
              <a:t>...</a:t>
            </a:r>
          </a:p>
        </p:txBody>
      </p:sp>
      <p:sp>
        <p:nvSpPr>
          <p:cNvPr id="3" name="Google Shape;678;p47">
            <a:extLst>
              <a:ext uri="{FF2B5EF4-FFF2-40B4-BE49-F238E27FC236}">
                <a16:creationId xmlns:a16="http://schemas.microsoft.com/office/drawing/2014/main" id="{CA8EE603-B07F-B580-16E0-5A19B0D426AB}"/>
              </a:ext>
            </a:extLst>
          </p:cNvPr>
          <p:cNvSpPr txBox="1">
            <a:spLocks/>
          </p:cNvSpPr>
          <p:nvPr/>
        </p:nvSpPr>
        <p:spPr>
          <a:xfrm>
            <a:off x="415600" y="994084"/>
            <a:ext cx="11360800" cy="489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ts val="1800"/>
              <a:buNone/>
            </a:pPr>
            <a:r>
              <a:rPr lang="en-GB" b="1" i="1" dirty="0">
                <a:solidFill>
                  <a:srgbClr val="FF0000"/>
                </a:solidFill>
              </a:rPr>
              <a:t>Overflow:</a:t>
            </a:r>
            <a:r>
              <a:rPr lang="en-GB" dirty="0"/>
              <a:t> </a:t>
            </a:r>
            <a:r>
              <a:rPr lang="en-GB" b="1" i="1" dirty="0">
                <a:solidFill>
                  <a:schemeClr val="accent2"/>
                </a:solidFill>
              </a:rPr>
              <a:t>É </a:t>
            </a:r>
            <a:r>
              <a:rPr lang="en-GB" b="1" i="1" dirty="0" err="1">
                <a:solidFill>
                  <a:schemeClr val="accent2"/>
                </a:solidFill>
              </a:rPr>
              <a:t>quando</a:t>
            </a:r>
            <a:r>
              <a:rPr lang="en-GB" b="1" i="1" dirty="0">
                <a:solidFill>
                  <a:schemeClr val="accent2"/>
                </a:solidFill>
              </a:rPr>
              <a:t> o</a:t>
            </a:r>
            <a:r>
              <a:rPr lang="pt-BR" b="1" i="1" dirty="0">
                <a:solidFill>
                  <a:schemeClr val="accent2"/>
                </a:solidFill>
              </a:rPr>
              <a:t> resultado de uma operação aritmética está fora do intervalo representável de inteiros.</a:t>
            </a:r>
            <a:endParaRPr lang="en-GB" b="1" i="1" dirty="0">
              <a:solidFill>
                <a:schemeClr val="accent2"/>
              </a:solidFill>
            </a:endParaRPr>
          </a:p>
          <a:p>
            <a:pPr lvl="1"/>
            <a:r>
              <a:rPr lang="pt-BR" dirty="0"/>
              <a:t>Os números têm dígitos infinitos, mas os computadores têm precisão finita. Isso pode levar a erros aritméticos.</a:t>
            </a: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Atenção!</a:t>
            </a:r>
            <a:r>
              <a:rPr lang="pt-BR" dirty="0"/>
              <a:t> </a:t>
            </a:r>
            <a:r>
              <a:rPr lang="pt-BR" i="1" dirty="0"/>
              <a:t>Overflow</a:t>
            </a:r>
            <a:r>
              <a:rPr lang="pt-BR" dirty="0"/>
              <a:t> é identificado de formas diferentes quando estamos trabalhando com </a:t>
            </a:r>
            <a:r>
              <a:rPr lang="pt-BR" i="1" dirty="0" err="1"/>
              <a:t>unsigned</a:t>
            </a:r>
            <a:r>
              <a:rPr lang="pt-BR" i="1" dirty="0"/>
              <a:t> </a:t>
            </a:r>
            <a:r>
              <a:rPr lang="pt-BR" dirty="0"/>
              <a:t>e </a:t>
            </a:r>
            <a:r>
              <a:rPr lang="pt-BR" i="1" dirty="0" err="1"/>
              <a:t>signed</a:t>
            </a:r>
            <a:r>
              <a:rPr lang="pt-BR" i="1" dirty="0"/>
              <a:t>.</a:t>
            </a:r>
          </a:p>
          <a:p>
            <a:pPr lvl="1"/>
            <a:endParaRPr lang="pt-BR" i="1" dirty="0"/>
          </a:p>
          <a:p>
            <a:pPr lvl="1"/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5A095-7DDE-D2DD-9010-C5EDDC903EA6}"/>
              </a:ext>
            </a:extLst>
          </p:cNvPr>
          <p:cNvSpPr txBox="1"/>
          <p:nvPr/>
        </p:nvSpPr>
        <p:spPr>
          <a:xfrm>
            <a:off x="1109400" y="4228313"/>
            <a:ext cx="32618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1" dirty="0"/>
              <a:t>           </a:t>
            </a:r>
            <a:r>
              <a:rPr lang="pt-BR" b="1" i="1" u="sng" dirty="0" err="1"/>
              <a:t>Unsigned</a:t>
            </a:r>
            <a:endParaRPr lang="pt-BR" b="1" i="1" u="sng" dirty="0"/>
          </a:p>
          <a:p>
            <a:r>
              <a:rPr lang="pt-BR" dirty="0">
                <a:latin typeface="Consolas" panose="020B0609020204030204" pitchFamily="49" charset="0"/>
              </a:rPr>
              <a:t>  1100   (12 em decimal)</a:t>
            </a:r>
          </a:p>
          <a:p>
            <a:r>
              <a:rPr lang="pt-BR" dirty="0">
                <a:latin typeface="Consolas" panose="020B0609020204030204" pitchFamily="49" charset="0"/>
              </a:rPr>
              <a:t>+ 0110   ( 6 em decimal)</a:t>
            </a:r>
          </a:p>
          <a:p>
            <a:r>
              <a:rPr lang="pt-BR" dirty="0">
                <a:latin typeface="Consolas" panose="020B0609020204030204" pitchFamily="49" charset="0"/>
              </a:rPr>
              <a:t> ------</a:t>
            </a:r>
          </a:p>
          <a:p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latin typeface="Consolas" panose="020B0609020204030204" pitchFamily="49" charset="0"/>
              </a:rPr>
              <a:t>0010   (18 em decimal)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62316-C61B-98C1-2691-D48191825382}"/>
              </a:ext>
            </a:extLst>
          </p:cNvPr>
          <p:cNvSpPr txBox="1"/>
          <p:nvPr/>
        </p:nvSpPr>
        <p:spPr>
          <a:xfrm>
            <a:off x="1731444" y="5795240"/>
            <a:ext cx="1331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>
                <a:latin typeface="Consolas" panose="020B0609020204030204" pitchFamily="49" charset="0"/>
              </a:rPr>
              <a:t>Overflow</a:t>
            </a:r>
            <a:endParaRPr lang="pt-BR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E530D-2D83-50A0-4B5D-85C87CF30D7E}"/>
              </a:ext>
            </a:extLst>
          </p:cNvPr>
          <p:cNvSpPr txBox="1"/>
          <p:nvPr/>
        </p:nvSpPr>
        <p:spPr>
          <a:xfrm>
            <a:off x="5788694" y="4228313"/>
            <a:ext cx="32618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1" dirty="0"/>
              <a:t>           </a:t>
            </a:r>
            <a:r>
              <a:rPr lang="pt-BR" b="1" i="1" u="sng" dirty="0" err="1"/>
              <a:t>Signed</a:t>
            </a:r>
            <a:endParaRPr lang="pt-BR" b="1" i="1" u="sng" dirty="0"/>
          </a:p>
          <a:p>
            <a:r>
              <a:rPr lang="pt-BR" dirty="0">
                <a:latin typeface="Consolas" panose="020B0609020204030204" pitchFamily="49" charset="0"/>
              </a:rPr>
              <a:t>  1100   (-4 em decimal)</a:t>
            </a:r>
          </a:p>
          <a:p>
            <a:r>
              <a:rPr lang="pt-BR" dirty="0">
                <a:latin typeface="Consolas" panose="020B0609020204030204" pitchFamily="49" charset="0"/>
              </a:rPr>
              <a:t>+ 0110   ( 6 em decimal)</a:t>
            </a:r>
          </a:p>
          <a:p>
            <a:r>
              <a:rPr lang="pt-BR" dirty="0">
                <a:latin typeface="Consolas" panose="020B0609020204030204" pitchFamily="49" charset="0"/>
              </a:rPr>
              <a:t> ------</a:t>
            </a:r>
          </a:p>
          <a:p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latin typeface="Consolas" panose="020B0609020204030204" pitchFamily="49" charset="0"/>
              </a:rPr>
              <a:t>0010   ( 2 em decimal)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7D21E-CA36-D5AE-8F26-CE82F1C86327}"/>
              </a:ext>
            </a:extLst>
          </p:cNvPr>
          <p:cNvSpPr txBox="1"/>
          <p:nvPr/>
        </p:nvSpPr>
        <p:spPr>
          <a:xfrm>
            <a:off x="6115847" y="5795240"/>
            <a:ext cx="2607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>
                <a:latin typeface="Consolas" panose="020B0609020204030204" pitchFamily="49" charset="0"/>
              </a:rPr>
              <a:t>Não há Overflow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24367331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378F-65DD-9FF0-83F7-B051F28C0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7;p47">
            <a:extLst>
              <a:ext uri="{FF2B5EF4-FFF2-40B4-BE49-F238E27FC236}">
                <a16:creationId xmlns:a16="http://schemas.microsoft.com/office/drawing/2014/main" id="{31D3A716-D580-4BFE-5691-3C3DF9CB3500}"/>
              </a:ext>
            </a:extLst>
          </p:cNvPr>
          <p:cNvSpPr txBox="1">
            <a:spLocks/>
          </p:cNvSpPr>
          <p:nvPr/>
        </p:nvSpPr>
        <p:spPr>
          <a:xfrm>
            <a:off x="1109400" y="134767"/>
            <a:ext cx="10667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>
                <a:solidFill>
                  <a:schemeClr val="bg1"/>
                </a:solidFill>
              </a:rPr>
              <a:t>E </a:t>
            </a:r>
            <a:r>
              <a:rPr lang="en-GB" b="1" dirty="0" err="1">
                <a:solidFill>
                  <a:schemeClr val="bg1"/>
                </a:solidFill>
              </a:rPr>
              <a:t>em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resumo</a:t>
            </a:r>
            <a:r>
              <a:rPr lang="en-GB" b="1" dirty="0">
                <a:solidFill>
                  <a:schemeClr val="bg1"/>
                </a:solidFill>
              </a:rPr>
              <a:t>...</a:t>
            </a:r>
          </a:p>
        </p:txBody>
      </p:sp>
      <p:sp>
        <p:nvSpPr>
          <p:cNvPr id="3" name="Google Shape;678;p47">
            <a:extLst>
              <a:ext uri="{FF2B5EF4-FFF2-40B4-BE49-F238E27FC236}">
                <a16:creationId xmlns:a16="http://schemas.microsoft.com/office/drawing/2014/main" id="{1B44D98F-6B23-C176-178E-F0EB2732FC66}"/>
              </a:ext>
            </a:extLst>
          </p:cNvPr>
          <p:cNvSpPr txBox="1">
            <a:spLocks/>
          </p:cNvSpPr>
          <p:nvPr/>
        </p:nvSpPr>
        <p:spPr>
          <a:xfrm>
            <a:off x="415600" y="994084"/>
            <a:ext cx="11360800" cy="489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ts val="1800"/>
              <a:buNone/>
            </a:pPr>
            <a:r>
              <a:rPr lang="en-GB" b="1" i="1" dirty="0">
                <a:solidFill>
                  <a:srgbClr val="FF0000"/>
                </a:solidFill>
              </a:rPr>
              <a:t>Overflow:</a:t>
            </a:r>
            <a:r>
              <a:rPr lang="en-GB" dirty="0"/>
              <a:t> </a:t>
            </a:r>
            <a:r>
              <a:rPr lang="en-GB" b="1" i="1" dirty="0">
                <a:solidFill>
                  <a:schemeClr val="accent2"/>
                </a:solidFill>
              </a:rPr>
              <a:t>É </a:t>
            </a:r>
            <a:r>
              <a:rPr lang="en-GB" b="1" i="1" dirty="0" err="1">
                <a:solidFill>
                  <a:schemeClr val="accent2"/>
                </a:solidFill>
              </a:rPr>
              <a:t>quando</a:t>
            </a:r>
            <a:r>
              <a:rPr lang="en-GB" b="1" i="1" dirty="0">
                <a:solidFill>
                  <a:schemeClr val="accent2"/>
                </a:solidFill>
              </a:rPr>
              <a:t> o</a:t>
            </a:r>
            <a:r>
              <a:rPr lang="pt-BR" b="1" i="1" dirty="0">
                <a:solidFill>
                  <a:schemeClr val="accent2"/>
                </a:solidFill>
              </a:rPr>
              <a:t> resultado de uma operação aritmética está fora do intervalo representável de inteiros.</a:t>
            </a:r>
            <a:endParaRPr lang="en-GB" b="1" i="1" dirty="0">
              <a:solidFill>
                <a:schemeClr val="accent2"/>
              </a:solidFill>
            </a:endParaRPr>
          </a:p>
          <a:p>
            <a:pPr lvl="1"/>
            <a:r>
              <a:rPr lang="pt-BR" dirty="0"/>
              <a:t>Os números têm dígitos infinitos, mas os computadores têm precisão finita. Isso pode levar a erros aritméticos.</a:t>
            </a: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Atenção!</a:t>
            </a:r>
            <a:r>
              <a:rPr lang="pt-BR" dirty="0"/>
              <a:t> </a:t>
            </a:r>
            <a:r>
              <a:rPr lang="pt-BR" i="1" dirty="0"/>
              <a:t>Overflow</a:t>
            </a:r>
            <a:r>
              <a:rPr lang="pt-BR" dirty="0"/>
              <a:t> é identificado de formas diferentes quando estamos trabalhando com </a:t>
            </a:r>
            <a:r>
              <a:rPr lang="pt-BR" i="1" dirty="0" err="1"/>
              <a:t>unsigned</a:t>
            </a:r>
            <a:r>
              <a:rPr lang="pt-BR" i="1" dirty="0"/>
              <a:t> </a:t>
            </a:r>
            <a:r>
              <a:rPr lang="pt-BR" dirty="0"/>
              <a:t>e </a:t>
            </a:r>
            <a:r>
              <a:rPr lang="pt-BR" i="1" dirty="0" err="1"/>
              <a:t>signed</a:t>
            </a:r>
            <a:r>
              <a:rPr lang="pt-BR" i="1" dirty="0"/>
              <a:t>.</a:t>
            </a:r>
          </a:p>
          <a:p>
            <a:pPr lvl="1"/>
            <a:endParaRPr lang="pt-BR" i="1" dirty="0"/>
          </a:p>
          <a:p>
            <a:pPr lvl="1"/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FD6D0-4B81-9224-C253-F40C018B3781}"/>
              </a:ext>
            </a:extLst>
          </p:cNvPr>
          <p:cNvSpPr txBox="1"/>
          <p:nvPr/>
        </p:nvSpPr>
        <p:spPr>
          <a:xfrm>
            <a:off x="1109400" y="4228313"/>
            <a:ext cx="32618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1" dirty="0"/>
              <a:t>           </a:t>
            </a:r>
            <a:r>
              <a:rPr lang="pt-BR" b="1" i="1" u="sng" dirty="0" err="1"/>
              <a:t>Unsigned</a:t>
            </a:r>
            <a:endParaRPr lang="pt-BR" b="1" i="1" u="sng" dirty="0"/>
          </a:p>
          <a:p>
            <a:r>
              <a:rPr lang="pt-BR" dirty="0">
                <a:latin typeface="Consolas" panose="020B0609020204030204" pitchFamily="49" charset="0"/>
              </a:rPr>
              <a:t>  0100   ( 4 em decimal)</a:t>
            </a:r>
          </a:p>
          <a:p>
            <a:r>
              <a:rPr lang="pt-BR" dirty="0">
                <a:latin typeface="Consolas" panose="020B0609020204030204" pitchFamily="49" charset="0"/>
              </a:rPr>
              <a:t>+ 0110   ( 6 em decimal)</a:t>
            </a:r>
          </a:p>
          <a:p>
            <a:r>
              <a:rPr lang="pt-BR" dirty="0">
                <a:latin typeface="Consolas" panose="020B0609020204030204" pitchFamily="49" charset="0"/>
              </a:rPr>
              <a:t> ------</a:t>
            </a:r>
          </a:p>
          <a:p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latin typeface="Consolas" panose="020B0609020204030204" pitchFamily="49" charset="0"/>
              </a:rPr>
              <a:t>1010   (10 em decimal)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CD056-ED1C-30AB-E5B1-B2F9AF41C904}"/>
              </a:ext>
            </a:extLst>
          </p:cNvPr>
          <p:cNvSpPr txBox="1"/>
          <p:nvPr/>
        </p:nvSpPr>
        <p:spPr>
          <a:xfrm>
            <a:off x="6496732" y="5794329"/>
            <a:ext cx="1331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>
                <a:latin typeface="Consolas" panose="020B0609020204030204" pitchFamily="49" charset="0"/>
              </a:rPr>
              <a:t>Overflow</a:t>
            </a:r>
            <a:endParaRPr lang="pt-BR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9E0C5-7149-40C1-F40F-66537445803A}"/>
              </a:ext>
            </a:extLst>
          </p:cNvPr>
          <p:cNvSpPr txBox="1"/>
          <p:nvPr/>
        </p:nvSpPr>
        <p:spPr>
          <a:xfrm>
            <a:off x="5788694" y="4228313"/>
            <a:ext cx="32618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1" dirty="0"/>
              <a:t>           </a:t>
            </a:r>
            <a:r>
              <a:rPr lang="pt-BR" b="1" i="1" u="sng" dirty="0" err="1"/>
              <a:t>Signed</a:t>
            </a:r>
            <a:endParaRPr lang="pt-BR" b="1" i="1" u="sng" dirty="0"/>
          </a:p>
          <a:p>
            <a:r>
              <a:rPr lang="pt-BR" dirty="0">
                <a:latin typeface="Consolas" panose="020B0609020204030204" pitchFamily="49" charset="0"/>
              </a:rPr>
              <a:t>  0100   ( 4 em decimal)</a:t>
            </a:r>
          </a:p>
          <a:p>
            <a:r>
              <a:rPr lang="pt-BR" dirty="0">
                <a:latin typeface="Consolas" panose="020B0609020204030204" pitchFamily="49" charset="0"/>
              </a:rPr>
              <a:t>+ 0110   ( 6 em decimal)</a:t>
            </a:r>
          </a:p>
          <a:p>
            <a:r>
              <a:rPr lang="pt-BR" dirty="0">
                <a:latin typeface="Consolas" panose="020B0609020204030204" pitchFamily="49" charset="0"/>
              </a:rPr>
              <a:t> ------</a:t>
            </a:r>
          </a:p>
          <a:p>
            <a:r>
              <a:rPr lang="pt-BR" dirty="0">
                <a:latin typeface="Consolas" panose="020B0609020204030204" pitchFamily="49" charset="0"/>
              </a:rPr>
              <a:t>  1010   (-6 em decimal)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1BD16-33A1-84F9-BA78-FF95E02D17CC}"/>
              </a:ext>
            </a:extLst>
          </p:cNvPr>
          <p:cNvSpPr txBox="1"/>
          <p:nvPr/>
        </p:nvSpPr>
        <p:spPr>
          <a:xfrm>
            <a:off x="1436552" y="5794329"/>
            <a:ext cx="2607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>
                <a:latin typeface="Consolas" panose="020B0609020204030204" pitchFamily="49" charset="0"/>
              </a:rPr>
              <a:t>Não há Overflow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16987398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A1CC4EAA-5270-F266-1A8B-E6528AF59E05}"/>
              </a:ext>
            </a:extLst>
          </p:cNvPr>
          <p:cNvSpPr txBox="1">
            <a:spLocks/>
          </p:cNvSpPr>
          <p:nvPr/>
        </p:nvSpPr>
        <p:spPr>
          <a:xfrm>
            <a:off x="2172809" y="2751473"/>
            <a:ext cx="7846382" cy="1355053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b="1" noProof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 Light"/>
              </a:rPr>
              <a:t>Exercícios</a:t>
            </a:r>
            <a:endParaRPr lang="pt-BR" sz="6600" b="1" noProof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4E276C-3900-C40C-8A11-9E97C4A3587B}"/>
              </a:ext>
            </a:extLst>
          </p:cNvPr>
          <p:cNvSpPr txBox="1"/>
          <p:nvPr/>
        </p:nvSpPr>
        <p:spPr>
          <a:xfrm>
            <a:off x="422157" y="860624"/>
            <a:ext cx="1134768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000" dirty="0"/>
              <a:t>Qual é o número mínimo de bits necessários para representar exclusivamente os caracteres do alfabeto português?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/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Dada a resposta anterior, quantos caracteres a mais poderiam ser representados sem a necessidade de bits adicionais?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/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Usando 7 bits para representar cada número, escreva as representações de 23 e -23 em sinal magnitude e em complemento de dois.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/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Qual é o maior número positivo que podemos representar em complemento de dois com 12 bits?</a:t>
            </a:r>
            <a:r>
              <a:rPr lang="en-GB" sz="2000" dirty="0"/>
              <a:t> </a:t>
            </a:r>
            <a:r>
              <a:rPr lang="pt-BR" sz="2000" dirty="0"/>
              <a:t>Escreva seu resultado em binário e decimal.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/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Qual é número negativo de maior magnitude que pode ser representado com 12 bits em complemento de dois? Escreva seu resultado em binário e decimal.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/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Qual é o maior número positivo que se pode representar em complemento de 2 com n-bits?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/>
          </a:p>
          <a:p>
            <a:pPr marL="457200" indent="-457200">
              <a:buFont typeface="+mj-lt"/>
              <a:buAutoNum type="arabicPeriod"/>
            </a:pPr>
            <a:r>
              <a:rPr lang="pt-BR" sz="2000" dirty="0"/>
              <a:t>Qual é o número negativo de maior magnitude que pode ser representado com n-bits em complemento de dois?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02A7A-D6F3-9120-4B3E-E81827ACF2AC}"/>
              </a:ext>
            </a:extLst>
          </p:cNvPr>
          <p:cNvSpPr txBox="1"/>
          <p:nvPr/>
        </p:nvSpPr>
        <p:spPr>
          <a:xfrm>
            <a:off x="5382322" y="0"/>
            <a:ext cx="6727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4800" b="1" noProof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 Light"/>
              </a:rPr>
              <a:t>Exercícios</a:t>
            </a:r>
            <a:endParaRPr lang="pt-BR" sz="4800" b="1" noProof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47285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E861-FCE5-6821-5FC1-B5E3FA968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2DDBAD-B16D-61A5-B463-802E870CCECA}"/>
              </a:ext>
            </a:extLst>
          </p:cNvPr>
          <p:cNvSpPr txBox="1"/>
          <p:nvPr/>
        </p:nvSpPr>
        <p:spPr>
          <a:xfrm>
            <a:off x="422157" y="860624"/>
            <a:ext cx="1134768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8"/>
            </a:pPr>
            <a:r>
              <a:rPr lang="en-GB" sz="2000" dirty="0" err="1"/>
              <a:t>Converta</a:t>
            </a:r>
            <a:r>
              <a:rPr lang="en-GB" sz="2000" dirty="0"/>
              <a:t> </a:t>
            </a:r>
            <a:r>
              <a:rPr lang="en-GB" sz="2000" dirty="0" err="1"/>
              <a:t>os</a:t>
            </a:r>
            <a:r>
              <a:rPr lang="en-GB" sz="2000" dirty="0"/>
              <a:t> </a:t>
            </a:r>
            <a:r>
              <a:rPr lang="en-GB" sz="2000" dirty="0" err="1"/>
              <a:t>números</a:t>
            </a:r>
            <a:r>
              <a:rPr lang="en-GB" sz="2000" dirty="0"/>
              <a:t> </a:t>
            </a:r>
            <a:r>
              <a:rPr lang="en-GB" sz="2000" dirty="0" err="1"/>
              <a:t>representados</a:t>
            </a:r>
            <a:r>
              <a:rPr lang="en-GB" sz="2000" dirty="0"/>
              <a:t> </a:t>
            </a:r>
            <a:r>
              <a:rPr lang="en-GB" sz="2000" dirty="0" err="1"/>
              <a:t>em</a:t>
            </a:r>
            <a:r>
              <a:rPr lang="en-GB" sz="2000" dirty="0"/>
              <a:t> </a:t>
            </a:r>
            <a:r>
              <a:rPr lang="en-GB" sz="2000" dirty="0" err="1"/>
              <a:t>complemento</a:t>
            </a:r>
            <a:r>
              <a:rPr lang="en-GB" sz="2000" dirty="0"/>
              <a:t> de </a:t>
            </a:r>
            <a:r>
              <a:rPr lang="en-GB" sz="2000" dirty="0" err="1"/>
              <a:t>dois</a:t>
            </a:r>
            <a:r>
              <a:rPr lang="en-GB" sz="2000" dirty="0"/>
              <a:t> para decimal: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pt-BR" sz="2000" dirty="0">
                <a:latin typeface="Consolas" panose="020B0609020204030204" pitchFamily="49" charset="0"/>
              </a:rPr>
              <a:t>0110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pt-BR" sz="2000" dirty="0">
                <a:latin typeface="Consolas" panose="020B0609020204030204" pitchFamily="49" charset="0"/>
              </a:rPr>
              <a:t>1101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pt-BR" sz="2000" dirty="0">
                <a:latin typeface="Consolas" panose="020B0609020204030204" pitchFamily="49" charset="0"/>
              </a:rPr>
              <a:t>0110 1111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pt-BR" sz="2000" dirty="0">
                <a:latin typeface="Consolas" panose="020B0609020204030204" pitchFamily="49" charset="0"/>
              </a:rPr>
              <a:t>1101 1011 0001 1100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pt-BR" sz="2000" dirty="0"/>
              <a:t>Expresse o valor negativo -22 como um inteiro de complemento de 2, usando 8 bits. Repita para 16 bits e 32 bits. Você percebe um padrão nas respostas?</a:t>
            </a:r>
          </a:p>
          <a:p>
            <a:pPr marL="457200" indent="-457200">
              <a:buFont typeface="+mj-lt"/>
              <a:buAutoNum type="arabicPeriod" startAt="8"/>
            </a:pPr>
            <a:endParaRPr lang="pt-BR" sz="2000" dirty="0"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8"/>
            </a:pPr>
            <a:r>
              <a:rPr lang="pt-BR" sz="2000" dirty="0"/>
              <a:t>Descreva quais condições indicam que ocorreu estouro (</a:t>
            </a:r>
            <a:r>
              <a:rPr lang="pt-BR" sz="2000" i="1" dirty="0"/>
              <a:t>overflow</a:t>
            </a:r>
            <a:r>
              <a:rPr lang="pt-BR" sz="2000" dirty="0"/>
              <a:t>) quando dois números em complemento de 2 são somados.</a:t>
            </a:r>
          </a:p>
          <a:p>
            <a:pPr marL="457200" indent="-457200">
              <a:buFont typeface="+mj-lt"/>
              <a:buAutoNum type="arabicPeriod" startAt="8"/>
            </a:pPr>
            <a:endParaRPr lang="pt-BR" sz="2000" dirty="0"/>
          </a:p>
          <a:p>
            <a:pPr marL="457200" indent="-457200">
              <a:buFont typeface="+mj-lt"/>
              <a:buAutoNum type="arabicPeriod" startAt="8"/>
            </a:pPr>
            <a:r>
              <a:rPr lang="pt-BR" sz="2000" dirty="0"/>
              <a:t>Os números binários a seguir são números binários de 4 bits representados em complemento de 2. Qual das seguintes operações gera </a:t>
            </a:r>
            <a:r>
              <a:rPr lang="pt-BR" sz="2000" i="1" dirty="0"/>
              <a:t>overflow</a:t>
            </a:r>
            <a:r>
              <a:rPr lang="pt-BR" sz="2000" dirty="0"/>
              <a:t>? Justifique suas respostas convertendo os operandos e os resultados para decimal.</a:t>
            </a:r>
          </a:p>
          <a:p>
            <a:pPr marL="914400" lvl="1" indent="-457200">
              <a:buFont typeface="+mj-lt"/>
              <a:buAutoNum type="alphaLcParenR"/>
            </a:pPr>
            <a:r>
              <a:rPr lang="pt-BR" sz="2000" dirty="0"/>
              <a:t>0011 + 1100</a:t>
            </a:r>
          </a:p>
          <a:p>
            <a:pPr marL="914400" lvl="1" indent="-457200">
              <a:buFont typeface="+mj-lt"/>
              <a:buAutoNum type="alphaLcParenR"/>
            </a:pPr>
            <a:r>
              <a:rPr lang="pt-BR" sz="2000" dirty="0"/>
              <a:t>0111 + 1111</a:t>
            </a:r>
          </a:p>
          <a:p>
            <a:pPr marL="914400" lvl="1" indent="-457200">
              <a:buFont typeface="+mj-lt"/>
              <a:buAutoNum type="alphaLcParenR"/>
            </a:pPr>
            <a:endParaRPr lang="pt-B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E4D39-BEB9-42EC-0C1F-C976EFDC2ADF}"/>
              </a:ext>
            </a:extLst>
          </p:cNvPr>
          <p:cNvSpPr txBox="1"/>
          <p:nvPr/>
        </p:nvSpPr>
        <p:spPr>
          <a:xfrm>
            <a:off x="5382322" y="0"/>
            <a:ext cx="6727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4800" b="1" noProof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 Light"/>
              </a:rPr>
              <a:t>Exercícios</a:t>
            </a:r>
            <a:endParaRPr lang="pt-BR" sz="4800" b="1" noProof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6E0B4-0606-894F-C259-B89B589350FB}"/>
              </a:ext>
            </a:extLst>
          </p:cNvPr>
          <p:cNvSpPr txBox="1"/>
          <p:nvPr/>
        </p:nvSpPr>
        <p:spPr>
          <a:xfrm>
            <a:off x="3999571" y="574309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lphaLcParenR" startAt="3"/>
            </a:pPr>
            <a:r>
              <a:rPr lang="pt-BR" sz="2000" dirty="0"/>
              <a:t>1110 + 1000</a:t>
            </a:r>
          </a:p>
          <a:p>
            <a:pPr marL="914400" lvl="1" indent="-457200">
              <a:buFont typeface="+mj-lt"/>
              <a:buAutoNum type="alphaLcParenR" startAt="3"/>
            </a:pPr>
            <a:r>
              <a:rPr lang="pt-BR" sz="2000" dirty="0"/>
              <a:t>0110 + 0010</a:t>
            </a:r>
          </a:p>
        </p:txBody>
      </p:sp>
    </p:spTree>
    <p:extLst>
      <p:ext uri="{BB962C8B-B14F-4D97-AF65-F5344CB8AC3E}">
        <p14:creationId xmlns:p14="http://schemas.microsoft.com/office/powerpoint/2010/main" val="8345832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F2121-56A0-8669-8F3E-2F97825A0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1071188"/>
            <a:ext cx="11041016" cy="53633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268F4A-8D55-B8F0-1FBF-06F3D7DB99DE}"/>
              </a:ext>
            </a:extLst>
          </p:cNvPr>
          <p:cNvSpPr txBox="1"/>
          <p:nvPr/>
        </p:nvSpPr>
        <p:spPr>
          <a:xfrm>
            <a:off x="5382322" y="0"/>
            <a:ext cx="6727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4800" b="1" noProof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 Light"/>
              </a:rPr>
              <a:t>Exercícios</a:t>
            </a:r>
            <a:endParaRPr lang="pt-BR" sz="4800" b="1" noProof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194026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28DEF324-BF33-416B-B5AC-9B575069758F}" vid="{7718B0AA-9032-42F3-8013-0EC2AA4DB7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8520</TotalTime>
  <Words>3158</Words>
  <Application>Microsoft Office PowerPoint</Application>
  <PresentationFormat>Widescreen</PresentationFormat>
  <Paragraphs>677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Calibri</vt:lpstr>
      <vt:lpstr>Calibri Light</vt:lpstr>
      <vt:lpstr>Consolas</vt:lpstr>
      <vt:lpstr>Inter</vt:lpstr>
      <vt:lpstr>Source Code Pro</vt:lpstr>
      <vt:lpstr>Source Code Pro Medium</vt:lpstr>
      <vt:lpstr>Times New Roman</vt:lpstr>
      <vt:lpstr>Wingdings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 Machado De Souza</dc:creator>
  <cp:lastModifiedBy>Iaçanã Ianiski Weber</cp:lastModifiedBy>
  <cp:revision>739</cp:revision>
  <cp:lastPrinted>2021-08-04T12:27:36Z</cp:lastPrinted>
  <dcterms:created xsi:type="dcterms:W3CDTF">2017-11-07T18:55:33Z</dcterms:created>
  <dcterms:modified xsi:type="dcterms:W3CDTF">2025-08-05T21:33:33Z</dcterms:modified>
</cp:coreProperties>
</file>