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21"/>
  </p:notesMasterIdLst>
  <p:handoutMasterIdLst>
    <p:handoutMasterId r:id="rId22"/>
  </p:handoutMasterIdLst>
  <p:sldIdLst>
    <p:sldId id="280" r:id="rId2"/>
    <p:sldId id="567" r:id="rId3"/>
    <p:sldId id="568" r:id="rId4"/>
    <p:sldId id="557" r:id="rId5"/>
    <p:sldId id="401" r:id="rId6"/>
    <p:sldId id="564" r:id="rId7"/>
    <p:sldId id="555" r:id="rId8"/>
    <p:sldId id="570" r:id="rId9"/>
    <p:sldId id="559" r:id="rId10"/>
    <p:sldId id="556" r:id="rId11"/>
    <p:sldId id="566" r:id="rId12"/>
    <p:sldId id="539" r:id="rId13"/>
    <p:sldId id="560" r:id="rId14"/>
    <p:sldId id="561" r:id="rId15"/>
    <p:sldId id="562" r:id="rId16"/>
    <p:sldId id="565" r:id="rId17"/>
    <p:sldId id="554" r:id="rId18"/>
    <p:sldId id="520" r:id="rId19"/>
    <p:sldId id="55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E4"/>
    <a:srgbClr val="23FF23"/>
    <a:srgbClr val="8969B2"/>
    <a:srgbClr val="660066"/>
    <a:srgbClr val="1EC4D9"/>
    <a:srgbClr val="37C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15" autoAdjust="0"/>
    <p:restoredTop sz="85374" autoAdjust="0"/>
  </p:normalViewPr>
  <p:slideViewPr>
    <p:cSldViewPr snapToGrid="0">
      <p:cViewPr varScale="1">
        <p:scale>
          <a:sx n="103" d="100"/>
          <a:sy n="103" d="100"/>
        </p:scale>
        <p:origin x="1618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993"/>
            <a:ext cx="6858000" cy="51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97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4A89-6BFF-C147-B009-33247CD7572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5B5EE-8431-BF41-8272-8266E62486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25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533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366D-19C7-18BA-AF28-8BC239ECA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FBFE0-324E-0DF1-64B4-BFA50B18C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7EE94-0884-5C54-8FF0-2F36FACCA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EC451-6117-57BB-C367-7B8D940C6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525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042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65FB-339E-4F25-F8B2-96C28616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92E39-410D-0506-1990-B6E2121CE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610F5-38A7-A8EE-9CE6-F225E466C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2209C-C7AB-B381-B38A-06A34DC52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583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93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275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944" y="78798"/>
            <a:ext cx="8961583" cy="61393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299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09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084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656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5198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8066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3870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430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540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9222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590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B198-9831-4208-8259-C0FFE3B2B63E}" type="datetimeFigureOut">
              <a:rPr lang="pt-BR" smtClean="0"/>
              <a:t>02/03/2026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55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3LVeEjsn8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arc.pucrs.br/" TargetMode="External"/><Relationship Id="rId4" Type="http://schemas.openxmlformats.org/officeDocument/2006/relationships/hyperlink" Target="https://sarc.pucrs.br/Default/Export.aspx?id=49ee7ca4-1e6a-4a33-abcb-b6742435711a&amp;ano=2026&amp;sem=1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iacana.weber@pucrs.b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6"/>
          <p:cNvSpPr txBox="1">
            <a:spLocks/>
          </p:cNvSpPr>
          <p:nvPr/>
        </p:nvSpPr>
        <p:spPr>
          <a:xfrm>
            <a:off x="7053943" y="310244"/>
            <a:ext cx="5138057" cy="1975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4646B-04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FUNDAMENTOS DE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SISTEMAS DIGITAIS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0267" y="3192565"/>
            <a:ext cx="112098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accent4">
                    <a:lumMod val="75000"/>
                  </a:schemeClr>
                </a:solidFill>
              </a:rPr>
              <a:t>Apresentação</a:t>
            </a:r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 da </a:t>
            </a:r>
            <a:r>
              <a:rPr lang="en-US" sz="4400" dirty="0" err="1">
                <a:solidFill>
                  <a:schemeClr val="accent4">
                    <a:lumMod val="75000"/>
                  </a:schemeClr>
                </a:solidFill>
              </a:rPr>
              <a:t>Disciplina</a:t>
            </a:r>
            <a:endParaRPr lang="en-US" sz="4400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pt-BR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i="1" dirty="0"/>
              <a:t>Prof. Iaçanã Ianiski Weber</a:t>
            </a:r>
          </a:p>
        </p:txBody>
      </p:sp>
    </p:spTree>
    <p:extLst>
      <p:ext uri="{BB962C8B-B14F-4D97-AF65-F5344CB8AC3E}">
        <p14:creationId xmlns:p14="http://schemas.microsoft.com/office/powerpoint/2010/main" val="44449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8C0A97A7-71FB-3472-1F1B-EC5B45330551}"/>
              </a:ext>
            </a:extLst>
          </p:cNvPr>
          <p:cNvSpPr/>
          <p:nvPr/>
        </p:nvSpPr>
        <p:spPr>
          <a:xfrm>
            <a:off x="5259658" y="0"/>
            <a:ext cx="6932342" cy="73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pt-BR" sz="4800" b="0" strike="noStrike" spc="-1">
                <a:solidFill>
                  <a:schemeClr val="bg1"/>
                </a:solidFill>
                <a:latin typeface="Calibri"/>
                <a:ea typeface="DejaVu Sans"/>
              </a:rPr>
              <a:t>Apresenta</a:t>
            </a:r>
            <a:r>
              <a:rPr lang="pt-BR" sz="4800" spc="-1">
                <a:solidFill>
                  <a:schemeClr val="bg1"/>
                </a:solidFill>
                <a:latin typeface="Calibri"/>
                <a:ea typeface="DejaVu Sans"/>
              </a:rPr>
              <a:t>ç</a:t>
            </a:r>
            <a:r>
              <a:rPr lang="pt-BR" sz="4800" b="0" strike="noStrike" spc="-1">
                <a:solidFill>
                  <a:schemeClr val="bg1"/>
                </a:solidFill>
                <a:latin typeface="Calibri"/>
                <a:ea typeface="DejaVu Sans"/>
              </a:rPr>
              <a:t>ão</a:t>
            </a:r>
            <a:endParaRPr lang="pt-BR" sz="44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2811C180-C143-80E3-216E-930060CA415B}"/>
              </a:ext>
            </a:extLst>
          </p:cNvPr>
          <p:cNvSpPr/>
          <p:nvPr/>
        </p:nvSpPr>
        <p:spPr>
          <a:xfrm>
            <a:off x="457199" y="1600200"/>
            <a:ext cx="11184673" cy="452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0000"/>
          </a:bodyPr>
          <a:lstStyle/>
          <a:p>
            <a:pPr marL="343080" indent="-338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Prof. Dr. Iaçanã Ianiski Weber</a:t>
            </a:r>
            <a:endParaRPr lang="pt-BR" sz="3200" b="0" strike="noStrike" spc="-1" dirty="0">
              <a:latin typeface="Arial"/>
            </a:endParaRPr>
          </a:p>
          <a:p>
            <a:pPr marL="461880" lvl="1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</a:pPr>
            <a:r>
              <a:rPr lang="pt-BR" sz="28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iacana.weber@pucrs.br</a:t>
            </a:r>
            <a:endParaRPr lang="pt-BR" sz="2800" b="0" i="1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lang="pt-BR" sz="2800" b="0" strike="noStrike" spc="-1" dirty="0">
              <a:latin typeface="Arial"/>
            </a:endParaRPr>
          </a:p>
          <a:p>
            <a:pPr marL="343080" indent="-338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Áreas de interesse/pesquisa </a:t>
            </a:r>
            <a:endParaRPr lang="pt-BR" sz="3200" b="0" strike="noStrike" spc="-1" dirty="0">
              <a:latin typeface="Arial"/>
            </a:endParaRPr>
          </a:p>
          <a:p>
            <a:pPr marL="743040" lvl="1" indent="-2811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lang="pt-BR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Chip (</a:t>
            </a:r>
            <a:r>
              <a:rPr lang="pt-BR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SoC</a:t>
            </a: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</a:p>
          <a:p>
            <a:pPr marL="1200240" lvl="2" indent="-281160"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Gerenciamento Térmico e de Confiabilidade</a:t>
            </a:r>
          </a:p>
          <a:p>
            <a:pPr marL="743040" lvl="1" indent="-281160"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spc="-1" dirty="0">
                <a:solidFill>
                  <a:srgbClr val="000000"/>
                </a:solidFill>
                <a:latin typeface="Calibri"/>
                <a:ea typeface="DejaVu Sans"/>
              </a:rPr>
              <a:t>Criptografia</a:t>
            </a:r>
          </a:p>
          <a:p>
            <a:pPr marL="743040" lvl="1" indent="-2811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Arquitetura e Organização de Computadores</a:t>
            </a:r>
          </a:p>
          <a:p>
            <a:pPr marL="743040" lvl="1" indent="-2811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Sistemas Digitais</a:t>
            </a:r>
          </a:p>
          <a:p>
            <a:pPr marL="743040" lvl="1" indent="-2811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Sistemas Embarcados</a:t>
            </a:r>
            <a:endParaRPr lang="pt-BR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315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ABD5-8D94-14F4-7153-1506A7DE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11034A6F-66BF-020E-6345-F2A0EC0BAA74}"/>
              </a:ext>
            </a:extLst>
          </p:cNvPr>
          <p:cNvSpPr/>
          <p:nvPr/>
        </p:nvSpPr>
        <p:spPr>
          <a:xfrm>
            <a:off x="5259658" y="0"/>
            <a:ext cx="6932342" cy="73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pt-BR" sz="4800" b="0" strike="noStrike" spc="-1">
                <a:solidFill>
                  <a:schemeClr val="bg1"/>
                </a:solidFill>
                <a:latin typeface="Calibri"/>
                <a:ea typeface="DejaVu Sans"/>
              </a:rPr>
              <a:t>Apresenta</a:t>
            </a:r>
            <a:r>
              <a:rPr lang="pt-BR" sz="4800" spc="-1">
                <a:solidFill>
                  <a:schemeClr val="bg1"/>
                </a:solidFill>
                <a:latin typeface="Calibri"/>
                <a:ea typeface="DejaVu Sans"/>
              </a:rPr>
              <a:t>ç</a:t>
            </a:r>
            <a:r>
              <a:rPr lang="pt-BR" sz="4800" b="0" strike="noStrike" spc="-1">
                <a:solidFill>
                  <a:schemeClr val="bg1"/>
                </a:solidFill>
                <a:latin typeface="Calibri"/>
                <a:ea typeface="DejaVu Sans"/>
              </a:rPr>
              <a:t>ão</a:t>
            </a:r>
            <a:endParaRPr lang="pt-BR" sz="44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B560CE8D-0A1D-B485-C60A-E19C8F416DC2}"/>
              </a:ext>
            </a:extLst>
          </p:cNvPr>
          <p:cNvSpPr/>
          <p:nvPr/>
        </p:nvSpPr>
        <p:spPr>
          <a:xfrm>
            <a:off x="107793" y="1449963"/>
            <a:ext cx="10656851" cy="42371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38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Alé</a:t>
            </a:r>
            <a:r>
              <a:rPr lang="pt-BR" sz="3200" spc="-1" dirty="0">
                <a:solidFill>
                  <a:srgbClr val="000000"/>
                </a:solidFill>
                <a:latin typeface="Calibri"/>
                <a:ea typeface="DejaVu Sans"/>
              </a:rPr>
              <a:t>m de professor... </a:t>
            </a:r>
          </a:p>
          <a:p>
            <a:pPr marL="46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</a:pPr>
            <a:r>
              <a:rPr lang="pt-BR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Engenheiro de Sistemas na </a:t>
            </a:r>
            <a:r>
              <a:rPr lang="pt-BR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EnSilica</a:t>
            </a:r>
            <a:endParaRPr lang="pt-BR" sz="32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</p:txBody>
      </p:sp>
      <p:pic>
        <p:nvPicPr>
          <p:cNvPr id="6" name="Picture 5" descr="A blue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6FEB3EC9-92AB-5AF1-A0A6-AE0BA682E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082" y="976142"/>
            <a:ext cx="5073854" cy="1440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07100-4643-E99B-2D7D-86F8BA0E7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873" y="2655238"/>
            <a:ext cx="8170127" cy="404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8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EF685-7ADD-EF4E-BFA9-9B5BF8CB7DBA}"/>
              </a:ext>
            </a:extLst>
          </p:cNvPr>
          <p:cNvSpPr/>
          <p:nvPr/>
        </p:nvSpPr>
        <p:spPr>
          <a:xfrm>
            <a:off x="0" y="2857499"/>
            <a:ext cx="12192000" cy="17798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MOTIVAÇÃO PARA A LINHA DE HARDWARE</a:t>
            </a:r>
          </a:p>
        </p:txBody>
      </p:sp>
    </p:spTree>
    <p:extLst>
      <p:ext uri="{BB962C8B-B14F-4D97-AF65-F5344CB8AC3E}">
        <p14:creationId xmlns:p14="http://schemas.microsoft.com/office/powerpoint/2010/main" val="346075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MOTIVAÇÃO - INDUSTRIA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F6B0E8-ADAE-9840-A1FA-B97B266F51C9}"/>
              </a:ext>
            </a:extLst>
          </p:cNvPr>
          <p:cNvSpPr txBox="1"/>
          <p:nvPr/>
        </p:nvSpPr>
        <p:spPr>
          <a:xfrm>
            <a:off x="6078739" y="1157095"/>
            <a:ext cx="20854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4">
                  <a:lumMod val="75000"/>
                </a:schemeClr>
              </a:buClr>
              <a:buFont typeface="Wingdings" charset="2"/>
              <a:buChar char="Ø"/>
            </a:pPr>
            <a:r>
              <a:rPr lang="pt-BR" sz="2400" dirty="0"/>
              <a:t>Software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endParaRPr lang="pt-BR" sz="800" dirty="0"/>
          </a:p>
          <a:p>
            <a:pPr lvl="1">
              <a:buClr>
                <a:schemeClr val="accent4">
                  <a:lumMod val="75000"/>
                </a:schemeClr>
              </a:buClr>
            </a:pPr>
            <a:endParaRPr lang="pt-BR" sz="2800" dirty="0"/>
          </a:p>
          <a:p>
            <a:pPr lvl="1">
              <a:buClr>
                <a:schemeClr val="accent4">
                  <a:lumMod val="75000"/>
                </a:schemeClr>
              </a:buClr>
            </a:pPr>
            <a:endParaRPr lang="pt-BR" sz="800" dirty="0"/>
          </a:p>
          <a:p>
            <a:pPr lvl="1">
              <a:buClr>
                <a:schemeClr val="accent4">
                  <a:lumMod val="75000"/>
                </a:schemeClr>
              </a:buClr>
            </a:pPr>
            <a:endParaRPr lang="pt-BR" sz="2800" dirty="0"/>
          </a:p>
          <a:p>
            <a:pPr lvl="1">
              <a:buClr>
                <a:schemeClr val="accent4">
                  <a:lumMod val="75000"/>
                </a:schemeClr>
              </a:buClr>
            </a:pPr>
            <a:endParaRPr lang="pt-BR" sz="800" dirty="0"/>
          </a:p>
          <a:p>
            <a:pPr>
              <a:buClr>
                <a:schemeClr val="accent4">
                  <a:lumMod val="75000"/>
                </a:schemeClr>
              </a:buClr>
            </a:pPr>
            <a:endParaRPr lang="pt-BR" sz="1200" dirty="0"/>
          </a:p>
          <a:p>
            <a:pPr marL="457200" indent="-457200">
              <a:buClr>
                <a:schemeClr val="accent4">
                  <a:lumMod val="75000"/>
                </a:schemeClr>
              </a:buClr>
              <a:buFont typeface="Wingdings" charset="2"/>
              <a:buChar char="Ø"/>
            </a:pPr>
            <a:r>
              <a:rPr lang="pt-BR" sz="2400" dirty="0"/>
              <a:t>Hardware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5DA427-D9BF-4343-B877-69D54A99463A}"/>
              </a:ext>
            </a:extLst>
          </p:cNvPr>
          <p:cNvSpPr txBox="1"/>
          <p:nvPr/>
        </p:nvSpPr>
        <p:spPr>
          <a:xfrm>
            <a:off x="6078739" y="1510870"/>
            <a:ext cx="476450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4">
                  <a:lumMod val="75000"/>
                </a:schemeClr>
              </a:buClr>
            </a:pPr>
            <a:endParaRPr lang="pt-BR" sz="800" dirty="0"/>
          </a:p>
          <a:p>
            <a:pPr marL="914400" lvl="1" indent="-457200">
              <a:buClr>
                <a:schemeClr val="accent4">
                  <a:lumMod val="75000"/>
                </a:schemeClr>
              </a:buClr>
              <a:buFont typeface="Wingdings" charset="2"/>
              <a:buChar char="ü"/>
            </a:pPr>
            <a:r>
              <a:rPr lang="pt-BR" sz="2400" dirty="0"/>
              <a:t>Aplicações</a:t>
            </a:r>
          </a:p>
          <a:p>
            <a:pPr lvl="1">
              <a:buClr>
                <a:schemeClr val="accent4">
                  <a:lumMod val="75000"/>
                </a:schemeClr>
              </a:buClr>
            </a:pPr>
            <a:endParaRPr lang="pt-BR" sz="600" dirty="0"/>
          </a:p>
          <a:p>
            <a:pPr marL="914400" lvl="1" indent="-457200">
              <a:buClr>
                <a:schemeClr val="accent4">
                  <a:lumMod val="75000"/>
                </a:schemeClr>
              </a:buClr>
              <a:buFont typeface="Wingdings" charset="2"/>
              <a:buChar char="ü"/>
            </a:pPr>
            <a:r>
              <a:rPr lang="pt-BR" sz="2400" dirty="0"/>
              <a:t>Sistemas Operacionais</a:t>
            </a:r>
          </a:p>
          <a:p>
            <a:pPr lvl="1">
              <a:buClr>
                <a:schemeClr val="accent4">
                  <a:lumMod val="75000"/>
                </a:schemeClr>
              </a:buClr>
            </a:pPr>
            <a:endParaRPr lang="pt-BR" sz="600" dirty="0"/>
          </a:p>
          <a:p>
            <a:pPr marL="914400" lvl="1" indent="-457200">
              <a:buClr>
                <a:schemeClr val="accent4">
                  <a:lumMod val="75000"/>
                </a:schemeClr>
              </a:buClr>
              <a:buFont typeface="Wingdings" charset="2"/>
              <a:buChar char="ü"/>
            </a:pPr>
            <a:r>
              <a:rPr lang="pt-BR" sz="2400" dirty="0"/>
              <a:t>Device Drivers</a:t>
            </a:r>
          </a:p>
        </p:txBody>
      </p:sp>
      <p:pic>
        <p:nvPicPr>
          <p:cNvPr id="1026" name="Picture 2" descr="What Is Instruction Set Architecture ? | ISA In Computer Architecture">
            <a:extLst>
              <a:ext uri="{FF2B5EF4-FFF2-40B4-BE49-F238E27FC236}">
                <a16:creationId xmlns:a16="http://schemas.microsoft.com/office/drawing/2014/main" id="{671E7D18-36BF-67B8-AF31-D7F9FFCEC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9" t="8469" r="3473" b="5152"/>
          <a:stretch/>
        </p:blipFill>
        <p:spPr bwMode="auto">
          <a:xfrm>
            <a:off x="254799" y="1510870"/>
            <a:ext cx="5642517" cy="4163122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48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62356-F4DE-9DFE-3B88-EA8F76A77FCE}"/>
              </a:ext>
            </a:extLst>
          </p:cNvPr>
          <p:cNvSpPr txBox="1"/>
          <p:nvPr/>
        </p:nvSpPr>
        <p:spPr>
          <a:xfrm>
            <a:off x="178419" y="818944"/>
            <a:ext cx="1183516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Computer Science Curricula 2023</a:t>
            </a:r>
          </a:p>
          <a:p>
            <a:pPr algn="ctr"/>
            <a:r>
              <a:rPr lang="en-GB" sz="3200" dirty="0"/>
              <a:t>The Joint Task Force on Computing Curricula </a:t>
            </a:r>
          </a:p>
          <a:p>
            <a:pPr algn="ctr"/>
            <a:r>
              <a:rPr lang="en-GB" sz="2400" b="1" dirty="0"/>
              <a:t>Association for Computing Machinery (ACM) </a:t>
            </a:r>
          </a:p>
          <a:p>
            <a:pPr algn="ctr"/>
            <a:r>
              <a:rPr lang="en-GB" sz="2400" b="1" dirty="0"/>
              <a:t>IEEE-Computer Society (IEEE-CS) </a:t>
            </a:r>
          </a:p>
          <a:p>
            <a:pPr algn="ctr"/>
            <a:r>
              <a:rPr lang="en-GB" sz="2400" b="1" dirty="0"/>
              <a:t>Association for Advancement of Artificial Intelligence (AAAI)</a:t>
            </a:r>
            <a:endParaRPr lang="en-GB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C56A7-269C-9D41-BE59-FE85218B5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751" y="5926397"/>
            <a:ext cx="4713249" cy="9316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130477-2F9A-9249-B964-FB86FFB0B84A}"/>
              </a:ext>
            </a:extLst>
          </p:cNvPr>
          <p:cNvSpPr txBox="1"/>
          <p:nvPr/>
        </p:nvSpPr>
        <p:spPr>
          <a:xfrm>
            <a:off x="5189034" y="399703"/>
            <a:ext cx="7002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https://csed.acm.org/wp-content/uploads/2023/03/Version-Beta-v2.pdf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5E9B1-CA87-F21D-3608-61EA513449C8}"/>
              </a:ext>
            </a:extLst>
          </p:cNvPr>
          <p:cNvSpPr txBox="1"/>
          <p:nvPr/>
        </p:nvSpPr>
        <p:spPr>
          <a:xfrm>
            <a:off x="317808" y="3258015"/>
            <a:ext cx="115563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Os profissionais de computação passam muito tempo escrevendo código eficiente para resolver um problema específico em um domínio de aplicação. Com o fim iminente das leis de escala de Moore e </a:t>
            </a:r>
            <a:r>
              <a:rPr lang="pt-BR" dirty="0" err="1"/>
              <a:t>Dennard</a:t>
            </a:r>
            <a:r>
              <a:rPr lang="pt-BR" dirty="0"/>
              <a:t>, o paralelismo no nível do sistema de hardware tem sido cada vez mais utilizado para atender os requisitos de desempenho em quase todos os sistemas, incluindo a maioria dos hardwares comuns. Essa mudança do processamento sequencial exige uma </a:t>
            </a:r>
            <a:r>
              <a:rPr lang="pt-BR" b="1" dirty="0">
                <a:solidFill>
                  <a:srgbClr val="0016E4"/>
                </a:solidFill>
              </a:rPr>
              <a:t>compreensão mais aprofundada das arquiteturas de computador subjacentes</a:t>
            </a:r>
            <a:r>
              <a:rPr lang="pt-BR" dirty="0"/>
              <a:t>. A arquitetura não pode mais ser tratada como uma caixa preta onde os princípios de uma podem ser aplicados a outra. Em vez disso, os programadores devem olhar dentro da caixa preta e usar componentes específicos para melhorar o desempenho e a eficiência energética do sistema.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21CDBE-0D45-B3CC-F5EE-6F8229C91DC8}"/>
              </a:ext>
            </a:extLst>
          </p:cNvPr>
          <p:cNvSpPr txBox="1"/>
          <p:nvPr/>
        </p:nvSpPr>
        <p:spPr>
          <a:xfrm>
            <a:off x="9990469" y="5412450"/>
            <a:ext cx="1883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 err="1"/>
              <a:t>Tradução</a:t>
            </a:r>
            <a:r>
              <a:rPr lang="en-GB" sz="1400" i="1" dirty="0"/>
              <a:t> livre – </a:t>
            </a:r>
            <a:r>
              <a:rPr lang="en-GB" sz="1400" i="1" dirty="0" err="1"/>
              <a:t>pag</a:t>
            </a:r>
            <a:r>
              <a:rPr lang="en-GB" sz="1400" i="1" dirty="0"/>
              <a:t> 36</a:t>
            </a:r>
          </a:p>
        </p:txBody>
      </p:sp>
    </p:spTree>
    <p:extLst>
      <p:ext uri="{BB962C8B-B14F-4D97-AF65-F5344CB8AC3E}">
        <p14:creationId xmlns:p14="http://schemas.microsoft.com/office/powerpoint/2010/main" val="2222007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MOTIVAÇÃO PARA ALUNOS DA ESCOLA POLITÉCNICA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6414" y="1148636"/>
            <a:ext cx="1127815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3200" dirty="0"/>
              <a:t>Por que </a:t>
            </a:r>
            <a:r>
              <a:rPr lang="en-US" sz="3200" dirty="0" err="1"/>
              <a:t>estudar</a:t>
            </a:r>
            <a:r>
              <a:rPr lang="en-US" sz="3200" dirty="0"/>
              <a:t> design de hardware?</a:t>
            </a:r>
          </a:p>
          <a:p>
            <a:pPr marL="571500" indent="-571500"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Entender os recursos e limitações do hardware em geral e dos processadores em particular</a:t>
            </a:r>
            <a:endParaRPr lang="en-US" sz="3200" dirty="0"/>
          </a:p>
          <a:p>
            <a:pPr marL="571500" indent="-571500"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O que os processadores podem fazer rápido e o que eles não podem fazer rápido (evitar coisas lentas se quiser que seu código seja executado rapidamente)</a:t>
            </a:r>
            <a:endParaRPr lang="en-US" sz="3200" dirty="0"/>
          </a:p>
          <a:p>
            <a:pPr marL="571500" indent="-571500"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200" i="1" dirty="0"/>
              <a:t>Background</a:t>
            </a:r>
            <a:r>
              <a:rPr lang="en-US" sz="3200" dirty="0"/>
              <a:t> </a:t>
            </a:r>
            <a:r>
              <a:rPr lang="pt-BR" sz="3200" dirty="0"/>
              <a:t>para cursos de HW mais aprofundados</a:t>
            </a:r>
            <a:r>
              <a:rPr lang="en-US" sz="3200" dirty="0"/>
              <a:t> (OAP, AOC)</a:t>
            </a:r>
          </a:p>
          <a:p>
            <a:pPr marL="571500" indent="-571500"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Pode ser necessário projetar seu próprio hardware personalizado para desempenho extra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08388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39BF-844C-E6D0-6BC5-31326181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4FAFC3C-3E75-B983-0F6A-249515EB4EF3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MOTIVAÇÃO PARA ALUNOS DA ESCOLA POLITÉCNICA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9E95E-49E4-6E93-645F-1B69C994AD38}"/>
              </a:ext>
            </a:extLst>
          </p:cNvPr>
          <p:cNvSpPr txBox="1"/>
          <p:nvPr/>
        </p:nvSpPr>
        <p:spPr>
          <a:xfrm>
            <a:off x="326414" y="1148636"/>
            <a:ext cx="1127815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Se você </a:t>
            </a:r>
            <a:r>
              <a:rPr lang="pt-BR" sz="3200" i="1" dirty="0">
                <a:solidFill>
                  <a:schemeClr val="accent4">
                    <a:lumMod val="75000"/>
                  </a:schemeClr>
                </a:solidFill>
              </a:rPr>
              <a:t>planeja trabalhar no exterior</a:t>
            </a:r>
            <a:r>
              <a:rPr lang="pt-BR" sz="3200" dirty="0"/>
              <a:t>, esse é um bom diferencial, pois deixa o teu currículo mais completo.</a:t>
            </a:r>
          </a:p>
          <a:p>
            <a:pPr marL="571500" indent="-5715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800" dirty="0"/>
          </a:p>
          <a:p>
            <a:pPr marL="571500" indent="-5715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O entendimento do </a:t>
            </a:r>
            <a:r>
              <a:rPr lang="pt-BR" sz="3200" b="1" i="1" dirty="0">
                <a:solidFill>
                  <a:schemeClr val="accent4">
                    <a:lumMod val="75000"/>
                  </a:schemeClr>
                </a:solidFill>
              </a:rPr>
              <a:t>hardware</a:t>
            </a:r>
            <a:r>
              <a:rPr lang="pt-BR" sz="3200" dirty="0"/>
              <a:t> pode fazer você produzir um </a:t>
            </a:r>
            <a:r>
              <a:rPr lang="pt-BR" sz="3200" b="1" i="1" dirty="0">
                <a:solidFill>
                  <a:schemeClr val="accent4">
                    <a:lumMod val="75000"/>
                  </a:schemeClr>
                </a:solidFill>
              </a:rPr>
              <a:t>software</a:t>
            </a:r>
            <a:r>
              <a:rPr lang="pt-BR" sz="3200" dirty="0">
                <a:solidFill>
                  <a:schemeClr val="accent4">
                    <a:lumMod val="75000"/>
                  </a:schemeClr>
                </a:solidFill>
              </a:rPr>
              <a:t> com melhor desempenho</a:t>
            </a:r>
            <a:r>
              <a:rPr lang="pt-BR" sz="3200" dirty="0"/>
              <a:t>.</a:t>
            </a:r>
          </a:p>
          <a:p>
            <a:pPr marL="571500" indent="-5715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800" dirty="0"/>
          </a:p>
          <a:p>
            <a:pPr marL="571500" indent="-5715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Como engenheiro ou cientista da computação, você </a:t>
            </a:r>
            <a:r>
              <a:rPr lang="pt-BR" sz="3200" dirty="0">
                <a:solidFill>
                  <a:schemeClr val="accent4">
                    <a:lumMod val="75000"/>
                  </a:schemeClr>
                </a:solidFill>
              </a:rPr>
              <a:t>deve ser o profissional</a:t>
            </a:r>
            <a:r>
              <a:rPr lang="pt-BR" sz="3200" dirty="0"/>
              <a:t> que conhece todo o sistema desde o mais baixo nível (</a:t>
            </a:r>
            <a:r>
              <a:rPr lang="pt-BR" sz="3200" b="1" i="1" dirty="0">
                <a:solidFill>
                  <a:schemeClr val="accent4">
                    <a:lumMod val="75000"/>
                  </a:schemeClr>
                </a:solidFill>
              </a:rPr>
              <a:t>hardware</a:t>
            </a:r>
            <a:r>
              <a:rPr lang="pt-BR" sz="3200" dirty="0"/>
              <a:t>) ao mais alto nível (</a:t>
            </a:r>
            <a:r>
              <a:rPr lang="pt-BR" sz="3200" b="1" i="1" dirty="0">
                <a:solidFill>
                  <a:schemeClr val="accent4">
                    <a:lumMod val="75000"/>
                  </a:schemeClr>
                </a:solidFill>
              </a:rPr>
              <a:t>software</a:t>
            </a:r>
            <a:r>
              <a:rPr lang="pt-BR" sz="3200" dirty="0"/>
              <a:t>), sendo capaz de resolver a maioria dos desafios futuros.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25E6712-0C92-1BB0-800D-FF68296ADB9C}"/>
              </a:ext>
            </a:extLst>
          </p:cNvPr>
          <p:cNvSpPr/>
          <p:nvPr/>
        </p:nvSpPr>
        <p:spPr>
          <a:xfrm>
            <a:off x="1273516" y="5655574"/>
            <a:ext cx="9680828" cy="935109"/>
          </a:xfrm>
          <a:prstGeom prst="roundRect">
            <a:avLst/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r>
              <a:rPr lang="en-US" sz="2400" b="1" u="sng" dirty="0" err="1">
                <a:solidFill>
                  <a:schemeClr val="accent4">
                    <a:lumMod val="75000"/>
                  </a:schemeClr>
                </a:solidFill>
              </a:rPr>
              <a:t>Ficou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 curioso </a:t>
            </a:r>
            <a:r>
              <a:rPr lang="en-US" sz="2400" b="1" u="sng" dirty="0" err="1">
                <a:solidFill>
                  <a:schemeClr val="accent4">
                    <a:lumMod val="75000"/>
                  </a:schemeClr>
                </a:solidFill>
              </a:rPr>
              <a:t>sobre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400" b="1" u="sng" dirty="0" err="1">
                <a:solidFill>
                  <a:schemeClr val="accent4">
                    <a:lumMod val="75000"/>
                  </a:schemeClr>
                </a:solidFill>
              </a:rPr>
              <a:t>mais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400" b="1" u="sng" dirty="0" err="1">
                <a:solidFill>
                  <a:schemeClr val="accent4">
                    <a:lumMod val="75000"/>
                  </a:schemeClr>
                </a:solidFill>
              </a:rPr>
              <a:t>histórias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 da </a:t>
            </a:r>
            <a:r>
              <a:rPr lang="en-US" sz="2400" b="1" u="sng" dirty="0" err="1">
                <a:solidFill>
                  <a:schemeClr val="accent4">
                    <a:lumMod val="75000"/>
                  </a:schemeClr>
                </a:solidFill>
              </a:rPr>
              <a:t>linha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 de </a:t>
            </a:r>
            <a:r>
              <a:rPr lang="en-US" sz="2400" b="1" i="1" u="sng" dirty="0">
                <a:solidFill>
                  <a:schemeClr val="accent4">
                    <a:lumMod val="75000"/>
                  </a:schemeClr>
                </a:solidFill>
              </a:rPr>
              <a:t>hardware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400" b="1" u="sng" dirty="0" err="1">
                <a:solidFill>
                  <a:schemeClr val="accent4">
                    <a:lumMod val="75000"/>
                  </a:schemeClr>
                </a:solidFill>
              </a:rPr>
              <a:t>na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400" b="1" u="sng" dirty="0" err="1">
                <a:solidFill>
                  <a:schemeClr val="accent4">
                    <a:lumMod val="75000"/>
                  </a:schemeClr>
                </a:solidFill>
              </a:rPr>
              <a:t>computação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?</a:t>
            </a:r>
          </a:p>
          <a:p>
            <a:pPr lvl="0">
              <a:buClr>
                <a:schemeClr val="accent4">
                  <a:lumMod val="75000"/>
                </a:schemeClr>
              </a:buClr>
            </a:pPr>
            <a:endParaRPr lang="en-US" sz="800" b="1" u="sng" dirty="0"/>
          </a:p>
          <a:p>
            <a:pPr marL="457200" lvl="0" indent="-457200">
              <a:buClr>
                <a:schemeClr val="accent4">
                  <a:lumMod val="75000"/>
                </a:schemeClr>
              </a:buClr>
              <a:buFont typeface="Wingdings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ACM A.M. Turing Award Lecture (2017): </a:t>
            </a:r>
            <a:r>
              <a:rPr lang="en-US" sz="2400" dirty="0">
                <a:hlinkClick r:id="rId3"/>
              </a:rPr>
              <a:t>https://youtu.be/3LVeEjsn8Ts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143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EF685-7ADD-EF4E-BFA9-9B5BF8CB7DBA}"/>
              </a:ext>
            </a:extLst>
          </p:cNvPr>
          <p:cNvSpPr/>
          <p:nvPr/>
        </p:nvSpPr>
        <p:spPr>
          <a:xfrm>
            <a:off x="0" y="2857499"/>
            <a:ext cx="12192000" cy="17798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INFORMAÇÕES DA DISCIPLINA:</a:t>
            </a:r>
          </a:p>
          <a:p>
            <a:pPr algn="ctr"/>
            <a:r>
              <a:rPr lang="en-US" sz="4800" i="1" dirty="0"/>
              <a:t>FUNDAMENTOS DE SISTEMAS DIGITAIS</a:t>
            </a:r>
          </a:p>
        </p:txBody>
      </p:sp>
    </p:spTree>
    <p:extLst>
      <p:ext uri="{BB962C8B-B14F-4D97-AF65-F5344CB8AC3E}">
        <p14:creationId xmlns:p14="http://schemas.microsoft.com/office/powerpoint/2010/main" val="859586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EMENTA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901" y="1483886"/>
            <a:ext cx="1097219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12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Explorar elementos de álgebra Booleana. </a:t>
            </a:r>
          </a:p>
          <a:p>
            <a:pPr marL="457200" indent="-457200" algn="just">
              <a:spcBef>
                <a:spcPts val="12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Estudo e otimização de representações Booleanas: portas lógicas, formas algébricas, mapas de </a:t>
            </a:r>
            <a:r>
              <a:rPr lang="pt-BR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Karnaugh</a:t>
            </a: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. </a:t>
            </a:r>
          </a:p>
          <a:p>
            <a:pPr marL="457200" indent="-457200" algn="just">
              <a:spcBef>
                <a:spcPts val="12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Estudo de circuitos </a:t>
            </a:r>
            <a:r>
              <a:rPr lang="pt-BR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combinacionais</a:t>
            </a: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. </a:t>
            </a:r>
          </a:p>
          <a:p>
            <a:pPr marL="457200" indent="-457200" algn="just">
              <a:spcBef>
                <a:spcPts val="12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Estudo de circuitos sequenciais: </a:t>
            </a:r>
            <a:r>
              <a:rPr lang="pt-BR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latches</a:t>
            </a: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, </a:t>
            </a:r>
            <a:r>
              <a:rPr lang="pt-BR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flip-flops</a:t>
            </a: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 e máquinas de estado finitas. </a:t>
            </a:r>
          </a:p>
        </p:txBody>
      </p:sp>
    </p:spTree>
    <p:extLst>
      <p:ext uri="{BB962C8B-B14F-4D97-AF65-F5344CB8AC3E}">
        <p14:creationId xmlns:p14="http://schemas.microsoft.com/office/powerpoint/2010/main" val="2292952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EMENTA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901" y="1250804"/>
            <a:ext cx="1097219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12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Utilização de linguagens de descrição de hardware na modelagem básica de circuitos digitais </a:t>
            </a:r>
            <a:r>
              <a:rPr lang="pt-BR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combinacionais</a:t>
            </a: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 e sequenciais. </a:t>
            </a:r>
          </a:p>
          <a:p>
            <a:pPr marL="457200" indent="-457200" algn="just">
              <a:spcBef>
                <a:spcPts val="12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Domínio de conceitos básicos do nível de modelagem de sistemas digitais no nível de transferência entre registradores e representações hierárquicas de circuitos digitais. </a:t>
            </a:r>
          </a:p>
          <a:p>
            <a:pPr marL="457200" indent="-457200" algn="just">
              <a:spcBef>
                <a:spcPts val="12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Conceitos básicos de utilização de ambientes de simulação e </a:t>
            </a:r>
            <a:r>
              <a:rPr lang="pt-BR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testbenches</a:t>
            </a: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. </a:t>
            </a:r>
          </a:p>
          <a:p>
            <a:pPr marL="457200" indent="-457200" algn="just">
              <a:spcBef>
                <a:spcPts val="12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Introdução a Arquitetura e organização de Computadores.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661817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CONTEÚDO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283" y="986529"/>
            <a:ext cx="11017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u="sng" dirty="0">
                <a:solidFill>
                  <a:schemeClr val="accent4">
                    <a:lumMod val="75000"/>
                  </a:schemeClr>
                </a:solidFill>
              </a:rPr>
              <a:t>UNIDADE 1: </a:t>
            </a:r>
            <a:r>
              <a:rPr lang="pt-BR" sz="2800" u="sng" dirty="0">
                <a:solidFill>
                  <a:schemeClr val="accent4">
                    <a:lumMod val="75000"/>
                  </a:schemeClr>
                </a:solidFill>
              </a:rPr>
              <a:t>Álgebra Booleana e Otimização Lógica</a:t>
            </a:r>
            <a:endParaRPr lang="pt-B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1E6DB-7D71-6E48-B169-59858A1A561E}"/>
              </a:ext>
            </a:extLst>
          </p:cNvPr>
          <p:cNvSpPr txBox="1"/>
          <p:nvPr/>
        </p:nvSpPr>
        <p:spPr>
          <a:xfrm>
            <a:off x="212284" y="1778311"/>
            <a:ext cx="614122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Operadores lógicos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Tabela verdade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Expressões e equações Booleanas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Soma de produtos e produto de somas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Teoremas da álgebra Booleana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Relações de equivalência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Mapas de </a:t>
            </a:r>
            <a:r>
              <a:rPr lang="pt-BR" sz="2600" dirty="0" err="1"/>
              <a:t>Karnaugh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87140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CONTEÚDO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283" y="986529"/>
            <a:ext cx="114395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b="1" u="sng" dirty="0">
                <a:solidFill>
                  <a:schemeClr val="accent4">
                    <a:lumMod val="75000"/>
                  </a:schemeClr>
                </a:solidFill>
              </a:rPr>
              <a:t>UNIDADE 2: </a:t>
            </a:r>
            <a:r>
              <a:rPr lang="pt-BR" sz="2600" u="sng" dirty="0">
                <a:solidFill>
                  <a:schemeClr val="accent4">
                    <a:lumMod val="75000"/>
                  </a:schemeClr>
                </a:solidFill>
              </a:rPr>
              <a:t>Circuitos Digitais </a:t>
            </a:r>
            <a:r>
              <a:rPr lang="pt-BR" sz="2600" u="sng" dirty="0" err="1">
                <a:solidFill>
                  <a:schemeClr val="accent4">
                    <a:lumMod val="75000"/>
                  </a:schemeClr>
                </a:solidFill>
              </a:rPr>
              <a:t>Combinacionais</a:t>
            </a:r>
            <a:endParaRPr lang="pt-BR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1E6DB-7D71-6E48-B169-59858A1A561E}"/>
              </a:ext>
            </a:extLst>
          </p:cNvPr>
          <p:cNvSpPr txBox="1"/>
          <p:nvPr/>
        </p:nvSpPr>
        <p:spPr>
          <a:xfrm>
            <a:off x="212283" y="1764709"/>
            <a:ext cx="1101718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Introdução a circuitos digitais </a:t>
            </a:r>
            <a:r>
              <a:rPr lang="pt-BR" sz="2600" dirty="0" err="1"/>
              <a:t>combinacionais</a:t>
            </a:r>
            <a:endParaRPr lang="pt-BR" sz="2600" dirty="0"/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Estudo detalhado de componentes de circuitos </a:t>
            </a:r>
            <a:r>
              <a:rPr lang="pt-BR" sz="2600" dirty="0" err="1"/>
              <a:t>combinacionais</a:t>
            </a:r>
            <a:r>
              <a:rPr lang="pt-BR" sz="2600" dirty="0"/>
              <a:t>, como: codificadores, decodificadores, geradores de paridade, comparadores, multiplexadores, somadores, </a:t>
            </a:r>
            <a:r>
              <a:rPr lang="pt-BR" sz="2600" dirty="0" err="1"/>
              <a:t>subtratores</a:t>
            </a:r>
            <a:r>
              <a:rPr lang="pt-BR" sz="2600" dirty="0"/>
              <a:t>, multiplicadores e </a:t>
            </a:r>
            <a:r>
              <a:rPr lang="pt-BR" sz="2600" dirty="0" err="1"/>
              <a:t>ULAs</a:t>
            </a:r>
            <a:endParaRPr lang="pt-BR" sz="2600" dirty="0"/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Representação de circuitos </a:t>
            </a:r>
            <a:r>
              <a:rPr lang="pt-BR" sz="2600" dirty="0" err="1"/>
              <a:t>combinacionais</a:t>
            </a:r>
            <a:r>
              <a:rPr lang="pt-BR" sz="2600" dirty="0"/>
              <a:t> em diferentes níveis de abstração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Demonstração da modelagem de componentes de circuitos </a:t>
            </a:r>
            <a:r>
              <a:rPr lang="pt-BR" sz="2600" dirty="0" err="1"/>
              <a:t>combinacionais</a:t>
            </a:r>
            <a:r>
              <a:rPr lang="pt-BR" sz="2600" dirty="0"/>
              <a:t> em uma linguagem de descrição de hardware</a:t>
            </a:r>
          </a:p>
        </p:txBody>
      </p:sp>
    </p:spTree>
    <p:extLst>
      <p:ext uri="{BB962C8B-B14F-4D97-AF65-F5344CB8AC3E}">
        <p14:creationId xmlns:p14="http://schemas.microsoft.com/office/powerpoint/2010/main" val="3225758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CONTEÚDO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283" y="986529"/>
            <a:ext cx="114395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b="1" u="sng" dirty="0">
                <a:solidFill>
                  <a:schemeClr val="accent4">
                    <a:lumMod val="75000"/>
                  </a:schemeClr>
                </a:solidFill>
              </a:rPr>
              <a:t>UNIDADE 3: </a:t>
            </a:r>
            <a:r>
              <a:rPr lang="pt-BR" sz="2600" u="sng" dirty="0">
                <a:solidFill>
                  <a:schemeClr val="accent4">
                    <a:lumMod val="75000"/>
                  </a:schemeClr>
                </a:solidFill>
              </a:rPr>
              <a:t>Circuitos Digitais Sequenciais</a:t>
            </a:r>
            <a:endParaRPr lang="pt-BR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1E6DB-7D71-6E48-B169-59858A1A561E}"/>
              </a:ext>
            </a:extLst>
          </p:cNvPr>
          <p:cNvSpPr txBox="1"/>
          <p:nvPr/>
        </p:nvSpPr>
        <p:spPr>
          <a:xfrm>
            <a:off x="248141" y="1675062"/>
            <a:ext cx="1098132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Introdução a circuitos digitais sequenciais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Comparação entre circuitos sequenciais e </a:t>
            </a:r>
            <a:r>
              <a:rPr lang="pt-BR" sz="2600" dirty="0" err="1"/>
              <a:t>combinacionais</a:t>
            </a:r>
            <a:endParaRPr lang="pt-BR" sz="2600" dirty="0"/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Estudo de elementos de memória unitária (</a:t>
            </a:r>
            <a:r>
              <a:rPr lang="pt-BR" sz="2600" dirty="0" err="1"/>
              <a:t>latch</a:t>
            </a:r>
            <a:r>
              <a:rPr lang="pt-BR" sz="2600" dirty="0"/>
              <a:t> e flip-flop)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Conceitos e aplicações de elementos de memória, como: registradores, contadores, temporizadores e registradores de deslocamento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Modelagem de sistemas digitais no nível RTL (</a:t>
            </a:r>
            <a:r>
              <a:rPr lang="pt-BR" sz="2600" dirty="0" err="1"/>
              <a:t>register</a:t>
            </a:r>
            <a:r>
              <a:rPr lang="pt-BR" sz="2600" dirty="0"/>
              <a:t> </a:t>
            </a:r>
            <a:r>
              <a:rPr lang="pt-BR" sz="2600" dirty="0" err="1"/>
              <a:t>transfer</a:t>
            </a:r>
            <a:r>
              <a:rPr lang="pt-BR" sz="2600" dirty="0"/>
              <a:t> </a:t>
            </a:r>
            <a:r>
              <a:rPr lang="pt-BR" sz="2600" dirty="0" err="1"/>
              <a:t>level</a:t>
            </a:r>
            <a:r>
              <a:rPr lang="pt-BR" sz="2600" dirty="0"/>
              <a:t>)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Máquinas de estado finitas, modelos de Moore e </a:t>
            </a:r>
            <a:r>
              <a:rPr lang="pt-BR" sz="2600" dirty="0" err="1"/>
              <a:t>Mealy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651379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CONTEÚDO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283" y="986529"/>
            <a:ext cx="11439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u="sng" dirty="0">
                <a:solidFill>
                  <a:schemeClr val="accent4">
                    <a:lumMod val="75000"/>
                  </a:schemeClr>
                </a:solidFill>
              </a:rPr>
              <a:t>UNIDADE 4: </a:t>
            </a:r>
            <a:r>
              <a:rPr lang="pt-BR" sz="2400" u="sng" dirty="0">
                <a:solidFill>
                  <a:schemeClr val="accent4">
                    <a:lumMod val="75000"/>
                  </a:schemeClr>
                </a:solidFill>
              </a:rPr>
              <a:t>Modelagem de um Sistema Digital </a:t>
            </a:r>
            <a:endParaRPr lang="pt-B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1E6DB-7D71-6E48-B169-59858A1A561E}"/>
              </a:ext>
            </a:extLst>
          </p:cNvPr>
          <p:cNvSpPr txBox="1"/>
          <p:nvPr/>
        </p:nvSpPr>
        <p:spPr>
          <a:xfrm>
            <a:off x="212284" y="1782194"/>
            <a:ext cx="1143953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Especificação de um sistema digital 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Definição dos recursos sequenciais e </a:t>
            </a:r>
            <a:r>
              <a:rPr lang="pt-BR" sz="2600" dirty="0" err="1"/>
              <a:t>combinacionais</a:t>
            </a:r>
            <a:r>
              <a:rPr lang="pt-BR" sz="2600" dirty="0"/>
              <a:t> para a execução do sistema digital proposto 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Definição do controle dos recursos através de uma máquina de estado finitas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Modelagem e validação do sistema digital proposto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Introdução ao conceito de arquitetura e organização de computadores</a:t>
            </a:r>
          </a:p>
        </p:txBody>
      </p:sp>
    </p:spTree>
    <p:extLst>
      <p:ext uri="{BB962C8B-B14F-4D97-AF65-F5344CB8AC3E}">
        <p14:creationId xmlns:p14="http://schemas.microsoft.com/office/powerpoint/2010/main" val="1279081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F79CAD7-6472-EAAA-AF05-1B2E316A1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3" t="20060" r="5141" b="60655"/>
          <a:stretch>
            <a:fillRect/>
          </a:stretch>
        </p:blipFill>
        <p:spPr>
          <a:xfrm>
            <a:off x="883372" y="5669500"/>
            <a:ext cx="9200986" cy="1118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E25927-C00B-D5F3-1842-E4867E181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27" y="969600"/>
            <a:ext cx="8274205" cy="43270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EE8A23-D12B-0BCC-2079-46230ADC0AD0}"/>
              </a:ext>
            </a:extLst>
          </p:cNvPr>
          <p:cNvSpPr txBox="1"/>
          <p:nvPr/>
        </p:nvSpPr>
        <p:spPr>
          <a:xfrm>
            <a:off x="6179573" y="125722"/>
            <a:ext cx="5906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>
                <a:solidFill>
                  <a:schemeClr val="bg1"/>
                </a:solidFill>
              </a:rPr>
              <a:t>CRONOGRAMA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F82A1-96A2-B079-50A4-848AA90DD852}"/>
              </a:ext>
            </a:extLst>
          </p:cNvPr>
          <p:cNvSpPr txBox="1"/>
          <p:nvPr/>
        </p:nvSpPr>
        <p:spPr>
          <a:xfrm>
            <a:off x="6380355" y="851523"/>
            <a:ext cx="3517489" cy="461665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i="1" dirty="0">
                <a:hlinkClick r:id="rId4"/>
              </a:rPr>
              <a:t>Link</a:t>
            </a:r>
            <a:r>
              <a:rPr lang="pt-BR" sz="2400" b="1" i="1" dirty="0"/>
              <a:t> disponível no Moodle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CCFF3-9EB3-061B-FDA7-6D93B5E94173}"/>
              </a:ext>
            </a:extLst>
          </p:cNvPr>
          <p:cNvSpPr txBox="1"/>
          <p:nvPr/>
        </p:nvSpPr>
        <p:spPr>
          <a:xfrm>
            <a:off x="8826042" y="4134382"/>
            <a:ext cx="3157831" cy="156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pt-BR" sz="2400" i="1" dirty="0">
                <a:hlinkClick r:id="rId5"/>
              </a:rPr>
              <a:t>https://sarc.pucrs.br/</a:t>
            </a:r>
            <a:r>
              <a:rPr lang="pt-BR" sz="2400" i="1" dirty="0"/>
              <a:t> </a:t>
            </a:r>
          </a:p>
          <a:p>
            <a:r>
              <a:rPr lang="pt-BR" sz="2400" i="1" dirty="0"/>
              <a:t>Pode ser consultado para verificar o uso de laboratórios!!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E9A364-9FE2-EB66-35E1-0FB05015781E}"/>
              </a:ext>
            </a:extLst>
          </p:cNvPr>
          <p:cNvSpPr/>
          <p:nvPr/>
        </p:nvSpPr>
        <p:spPr>
          <a:xfrm>
            <a:off x="7548801" y="3862852"/>
            <a:ext cx="892277" cy="4350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F47F00-B266-6660-64FE-49C96A84A61C}"/>
              </a:ext>
            </a:extLst>
          </p:cNvPr>
          <p:cNvCxnSpPr>
            <a:cxnSpLocks/>
            <a:stCxn id="8" idx="6"/>
            <a:endCxn id="7" idx="1"/>
          </p:cNvCxnSpPr>
          <p:nvPr/>
        </p:nvCxnSpPr>
        <p:spPr>
          <a:xfrm>
            <a:off x="8441078" y="4080391"/>
            <a:ext cx="384964" cy="8388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107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AVALIAÇÃO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60553E-D338-AB4E-8A6D-F8EDA34600FF}"/>
                  </a:ext>
                </a:extLst>
              </p:cNvPr>
              <p:cNvSpPr txBox="1"/>
              <p:nvPr/>
            </p:nvSpPr>
            <p:spPr>
              <a:xfrm>
                <a:off x="2170799" y="1170530"/>
                <a:ext cx="72463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𝑮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𝑷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𝟏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 + 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𝑷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 + 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∗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𝑻𝑷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60553E-D338-AB4E-8A6D-F8EDA346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799" y="1170530"/>
                <a:ext cx="7246345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3F4F8EB-6A66-3B4A-ACAE-387EB90CBEF0}"/>
              </a:ext>
            </a:extLst>
          </p:cNvPr>
          <p:cNvSpPr/>
          <p:nvPr/>
        </p:nvSpPr>
        <p:spPr>
          <a:xfrm>
            <a:off x="2584021" y="1131515"/>
            <a:ext cx="6419900" cy="4981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76C70-091A-8740-9634-E462A1DE8544}"/>
              </a:ext>
            </a:extLst>
          </p:cNvPr>
          <p:cNvSpPr txBox="1"/>
          <p:nvPr/>
        </p:nvSpPr>
        <p:spPr>
          <a:xfrm>
            <a:off x="1878462" y="1774179"/>
            <a:ext cx="7615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buClr>
                <a:srgbClr val="0070C0"/>
              </a:buClr>
            </a:pPr>
            <a:r>
              <a:rPr lang="is-IS" sz="2000" b="1" dirty="0">
                <a:solidFill>
                  <a:srgbClr val="FF0000"/>
                </a:solidFill>
              </a:rPr>
              <a:t>P1.     </a:t>
            </a:r>
            <a:r>
              <a:rPr lang="is-IS" sz="2000" dirty="0"/>
              <a:t>23/04/2026	   </a:t>
            </a:r>
            <a:r>
              <a:rPr lang="is-IS" sz="2000" b="1" dirty="0">
                <a:solidFill>
                  <a:srgbClr val="FF0000"/>
                </a:solidFill>
              </a:rPr>
              <a:t>P2.   	</a:t>
            </a:r>
            <a:r>
              <a:rPr lang="is-IS" sz="2000" dirty="0"/>
              <a:t>18/06/2026          </a:t>
            </a:r>
            <a:r>
              <a:rPr lang="is-IS" sz="2000" b="1" dirty="0">
                <a:solidFill>
                  <a:srgbClr val="FF0000"/>
                </a:solidFill>
              </a:rPr>
              <a:t>TP.   </a:t>
            </a:r>
            <a:r>
              <a:rPr lang="is-IS" sz="2000" dirty="0"/>
              <a:t>07/07/2026</a:t>
            </a:r>
          </a:p>
          <a:p>
            <a:pPr lvl="1" algn="ctr">
              <a:buClr>
                <a:srgbClr val="0070C0"/>
              </a:buClr>
            </a:pPr>
            <a:endParaRPr lang="is-IS" sz="800" dirty="0"/>
          </a:p>
          <a:p>
            <a:pPr lvl="1" algn="ctr">
              <a:buClr>
                <a:srgbClr val="0070C0"/>
              </a:buClr>
            </a:pPr>
            <a:r>
              <a:rPr lang="is-IS" sz="2000" b="1" dirty="0">
                <a:solidFill>
                  <a:srgbClr val="FF0000"/>
                </a:solidFill>
              </a:rPr>
              <a:t>PS.    </a:t>
            </a:r>
            <a:r>
              <a:rPr lang="is-IS" sz="2000" dirty="0"/>
              <a:t>09/07/2026 	   </a:t>
            </a:r>
            <a:r>
              <a:rPr lang="is-IS" sz="2000" b="1" dirty="0">
                <a:solidFill>
                  <a:srgbClr val="FF0000"/>
                </a:solidFill>
              </a:rPr>
              <a:t>G2.     </a:t>
            </a:r>
            <a:r>
              <a:rPr lang="is-IS" sz="2000" dirty="0"/>
              <a:t>14/07/2026</a:t>
            </a:r>
            <a:endParaRPr lang="is-I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AA0CFA-7AAD-554D-B926-2AD8938876EF}"/>
              </a:ext>
            </a:extLst>
          </p:cNvPr>
          <p:cNvSpPr txBox="1"/>
          <p:nvPr/>
        </p:nvSpPr>
        <p:spPr>
          <a:xfrm>
            <a:off x="476789" y="2750958"/>
            <a:ext cx="10988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000" dirty="0" err="1"/>
              <a:t>Trabalhos</a:t>
            </a:r>
            <a:r>
              <a:rPr lang="en-US" sz="2000" dirty="0"/>
              <a:t> fora do </a:t>
            </a:r>
            <a:r>
              <a:rPr lang="en-US" sz="2000" dirty="0" err="1"/>
              <a:t>prazo</a:t>
            </a:r>
            <a:r>
              <a:rPr lang="en-US" sz="2000" dirty="0"/>
              <a:t> de </a:t>
            </a:r>
            <a:r>
              <a:rPr lang="en-US" sz="2000" dirty="0" err="1"/>
              <a:t>entrega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chemeClr val="accent4">
                    <a:lumMod val="75000"/>
                  </a:schemeClr>
                </a:solidFill>
              </a:rPr>
              <a:t>não</a:t>
            </a: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000" i="1" dirty="0" err="1">
                <a:solidFill>
                  <a:schemeClr val="accent4">
                    <a:lumMod val="75000"/>
                  </a:schemeClr>
                </a:solidFill>
              </a:rPr>
              <a:t>terão</a:t>
            </a: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</a:rPr>
              <a:t> valor</a:t>
            </a:r>
            <a:r>
              <a:rPr lang="en-US" sz="2000" dirty="0"/>
              <a:t>.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seja</a:t>
            </a:r>
            <a:r>
              <a:rPr lang="en-US" sz="2000" dirty="0"/>
              <a:t>, se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entregar</a:t>
            </a:r>
            <a:r>
              <a:rPr lang="en-US" sz="2000" dirty="0"/>
              <a:t> no </a:t>
            </a:r>
            <a:r>
              <a:rPr lang="en-US" sz="2000" dirty="0" err="1"/>
              <a:t>prazo</a:t>
            </a:r>
            <a:r>
              <a:rPr lang="en-US" sz="2000" dirty="0"/>
              <a:t> </a:t>
            </a:r>
            <a:r>
              <a:rPr lang="en-US" sz="2000" dirty="0" err="1"/>
              <a:t>estipulado</a:t>
            </a:r>
            <a:r>
              <a:rPr lang="en-US" sz="2000" dirty="0"/>
              <a:t>, a nota do </a:t>
            </a:r>
            <a:r>
              <a:rPr lang="en-US" sz="2000" dirty="0" err="1"/>
              <a:t>aluno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zero</a:t>
            </a:r>
            <a:r>
              <a:rPr lang="en-US" sz="2000" dirty="0"/>
              <a:t>.</a:t>
            </a: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</a:rPr>
              <a:t>PLÁGIO E FRAUDE NÃO SERÃO TOLERADOS!!!</a:t>
            </a:r>
            <a:endParaRPr lang="pt-BR" sz="2000" b="1" dirty="0">
              <a:solidFill>
                <a:srgbClr val="FF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B1160F-C536-100B-A2A6-C372020D6927}"/>
              </a:ext>
            </a:extLst>
          </p:cNvPr>
          <p:cNvGrpSpPr/>
          <p:nvPr/>
        </p:nvGrpSpPr>
        <p:grpSpPr>
          <a:xfrm>
            <a:off x="476789" y="5076687"/>
            <a:ext cx="11449541" cy="1329769"/>
            <a:chOff x="485100" y="5410442"/>
            <a:chExt cx="11449541" cy="13297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429CB2F-101F-FF0D-3F77-A76D7FEBD998}"/>
                    </a:ext>
                  </a:extLst>
                </p:cNvPr>
                <p:cNvSpPr txBox="1"/>
                <p:nvPr/>
              </p:nvSpPr>
              <p:spPr>
                <a:xfrm>
                  <a:off x="2592333" y="6005266"/>
                  <a:ext cx="6419900" cy="7349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chemeClr val="accent4">
                        <a:lumMod val="75000"/>
                      </a:schemeClr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𝑮</m:t>
                        </m:r>
                        <m:r>
                          <a:rPr lang="pt-BR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𝒓𝒂𝒖𝑭𝒊𝒏𝒂𝒍</m:t>
                        </m:r>
                        <m:r>
                          <a:rPr lang="en-US" sz="22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f>
                          <m:fPr>
                            <m:ctrlPr>
                              <a:rPr lang="bg-BG" sz="2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  <m:r>
                              <a:rPr lang="en-US" sz="2200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𝟏</m:t>
                            </m:r>
                            <m:r>
                              <a:rPr lang="en-US" sz="2200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+</m:t>
                            </m:r>
                            <m:r>
                              <a:rPr lang="en-US" sz="2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  <m:r>
                              <a:rPr lang="en-US" sz="2200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𝟐</m:t>
                            </m:r>
                            <m:r>
                              <a:rPr lang="en-US" sz="2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200" b="1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sz="2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pt-BR" sz="2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9FADD8D-042D-1143-B3E5-CEE7A5F57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333" y="6005266"/>
                  <a:ext cx="6419900" cy="73494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1FF2E3-BB69-F22E-EA97-7BFF1EB313A3}"/>
                </a:ext>
              </a:extLst>
            </p:cNvPr>
            <p:cNvSpPr txBox="1"/>
            <p:nvPr/>
          </p:nvSpPr>
          <p:spPr>
            <a:xfrm>
              <a:off x="485100" y="5410442"/>
              <a:ext cx="1144954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4">
                    <a:lumMod val="75000"/>
                  </a:schemeClr>
                </a:buClr>
                <a:buFont typeface="Wingdings" pitchFamily="2" charset="2"/>
                <a:buChar char="ü"/>
              </a:pPr>
              <a:r>
                <a:rPr lang="pt-BR" sz="2000" dirty="0"/>
                <a:t>O </a:t>
              </a:r>
              <a:r>
                <a:rPr lang="pt-BR" sz="2000" b="1" dirty="0">
                  <a:solidFill>
                    <a:srgbClr val="FF0000"/>
                  </a:solidFill>
                </a:rPr>
                <a:t>Grau Final </a:t>
              </a:r>
              <a:r>
                <a:rPr lang="pt-BR" sz="2000" dirty="0"/>
                <a:t>é calculada pela fórmula abaixo, onde o aluno que obtiver </a:t>
              </a:r>
              <a:r>
                <a:rPr lang="pt-BR" sz="2000" i="1" dirty="0">
                  <a:solidFill>
                    <a:schemeClr val="accent4">
                      <a:lumMod val="75000"/>
                    </a:schemeClr>
                  </a:solidFill>
                </a:rPr>
                <a:t>Grau Final maior ou igual a 5 será aprovado</a:t>
              </a:r>
              <a:r>
                <a:rPr lang="pt-BR" sz="2000" dirty="0"/>
                <a:t>.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D5AC7F6-1F6A-74B4-0201-D8DB9C231B47}"/>
              </a:ext>
            </a:extLst>
          </p:cNvPr>
          <p:cNvSpPr txBox="1"/>
          <p:nvPr/>
        </p:nvSpPr>
        <p:spPr>
          <a:xfrm>
            <a:off x="476789" y="3844707"/>
            <a:ext cx="11632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000" b="1" dirty="0">
                <a:solidFill>
                  <a:srgbClr val="FF0000"/>
                </a:solidFill>
              </a:rPr>
              <a:t>G1 </a:t>
            </a:r>
            <a:r>
              <a:rPr lang="pt-BR" sz="2000" dirty="0"/>
              <a:t>: Para aprovação em G1 é necessário média </a:t>
            </a:r>
            <a:r>
              <a:rPr lang="pt-BR" sz="2000" i="1" dirty="0">
                <a:solidFill>
                  <a:schemeClr val="accent4">
                    <a:lumMod val="75000"/>
                  </a:schemeClr>
                </a:solidFill>
              </a:rPr>
              <a:t>maior ou igual a 7</a:t>
            </a:r>
            <a:endParaRPr lang="pt-BR" sz="2000" i="1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b="1" dirty="0">
              <a:solidFill>
                <a:srgbClr val="FF0000"/>
              </a:solidFill>
            </a:endParaRP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000" b="1" dirty="0">
                <a:solidFill>
                  <a:srgbClr val="FF0000"/>
                </a:solidFill>
              </a:rPr>
              <a:t>G2</a:t>
            </a:r>
            <a:r>
              <a:rPr lang="pt-BR" sz="2000" dirty="0"/>
              <a:t> : Os alunos que não obtiveram aprovação em G1 devem realizar a prova de G2, desde que: </a:t>
            </a:r>
            <a:r>
              <a:rPr lang="pt-BR" sz="2000" i="1" dirty="0">
                <a:solidFill>
                  <a:schemeClr val="accent4">
                    <a:lumMod val="75000"/>
                  </a:schemeClr>
                </a:solidFill>
              </a:rPr>
              <a:t>tenham média de G1 maior ou igual a 4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16982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INFORMAÇÕES GERAIS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121" y="1232571"/>
            <a:ext cx="11457516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Material disponível no Moodle</a:t>
            </a: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Trabalhos serão entregues via </a:t>
            </a:r>
            <a:r>
              <a:rPr lang="pt-BR" sz="3200" dirty="0" err="1"/>
              <a:t>Moodle</a:t>
            </a:r>
            <a:endParaRPr lang="pt-BR" sz="32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Atendimento (dúvidas, provas, trabalhos):</a:t>
            </a: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5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Por e-mail: </a:t>
            </a:r>
            <a:r>
              <a:rPr lang="pt-BR" sz="2800" dirty="0">
                <a:solidFill>
                  <a:schemeClr val="accent4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iacana.weber@pucrs.br</a:t>
            </a:r>
            <a:r>
              <a:rPr lang="pt-BR" sz="28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800" dirty="0"/>
              <a:t>– </a:t>
            </a:r>
            <a:r>
              <a:rPr lang="pt-BR" sz="2800" b="1" dirty="0">
                <a:solidFill>
                  <a:srgbClr val="FF0000"/>
                </a:solidFill>
              </a:rPr>
              <a:t>Atenção, não tem </a:t>
            </a:r>
            <a:r>
              <a:rPr lang="pt-BR" sz="2800" b="1" dirty="0"/>
              <a:t>“</a:t>
            </a:r>
            <a:r>
              <a:rPr lang="pt-BR" sz="2800" b="1" dirty="0" err="1"/>
              <a:t>edu</a:t>
            </a:r>
            <a:r>
              <a:rPr lang="pt-BR" sz="2800" b="1" dirty="0"/>
              <a:t>”!</a:t>
            </a:r>
            <a:endParaRPr lang="pt-BR" sz="5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Fórum do Moodle da disciplina</a:t>
            </a: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Metodologia de ensino e andamento das aulas: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5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Conteúdo e cronograma (apresentação da teoria)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5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Aulas práticas visando a entrega dos trabalhos propostos</a:t>
            </a:r>
          </a:p>
        </p:txBody>
      </p:sp>
    </p:spTree>
    <p:extLst>
      <p:ext uri="{BB962C8B-B14F-4D97-AF65-F5344CB8AC3E}">
        <p14:creationId xmlns:p14="http://schemas.microsoft.com/office/powerpoint/2010/main" val="436592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BIBLIOGRAFIA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14B7F-332A-9049-8B2D-95F703D5F569}"/>
              </a:ext>
            </a:extLst>
          </p:cNvPr>
          <p:cNvSpPr txBox="1"/>
          <p:nvPr/>
        </p:nvSpPr>
        <p:spPr>
          <a:xfrm>
            <a:off x="319539" y="1085248"/>
            <a:ext cx="11002393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sz="2400" b="1" u="sng" dirty="0">
                <a:solidFill>
                  <a:schemeClr val="accent4">
                    <a:lumMod val="75000"/>
                  </a:schemeClr>
                </a:solidFill>
              </a:rPr>
              <a:t>BÁSICA:</a:t>
            </a:r>
          </a:p>
          <a:p>
            <a:pPr>
              <a:buClr>
                <a:srgbClr val="0070C0"/>
              </a:buClr>
            </a:pPr>
            <a:endParaRPr lang="pt-BR" sz="800" dirty="0"/>
          </a:p>
          <a:p>
            <a:pPr marL="342900" indent="-34290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b="1" dirty="0"/>
              <a:t>FLOYD</a:t>
            </a:r>
            <a:r>
              <a:rPr lang="pt-BR" dirty="0"/>
              <a:t>, T. L. </a:t>
            </a:r>
            <a:r>
              <a:rPr lang="pt-BR" i="1" dirty="0"/>
              <a:t>Sistemas Digitais: fundamentos e aplicações</a:t>
            </a:r>
            <a:r>
              <a:rPr lang="pt-BR" dirty="0"/>
              <a:t>. 9 ed. Porto Alegre: Bookman, 2007. 888p.</a:t>
            </a:r>
            <a:endParaRPr lang="pt-BR" sz="600" dirty="0"/>
          </a:p>
          <a:p>
            <a:pPr marL="342900" indent="-34290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en-US" dirty="0"/>
              <a:t>SUTHERLAND, S. </a:t>
            </a:r>
            <a:r>
              <a:rPr lang="en-US" i="1" dirty="0"/>
              <a:t>RTL Modeling with </a:t>
            </a:r>
            <a:r>
              <a:rPr lang="en-US" i="1" dirty="0" err="1"/>
              <a:t>SystemVerilog</a:t>
            </a:r>
            <a:r>
              <a:rPr lang="en-US" i="1" dirty="0"/>
              <a:t> for Simulation and Synthesis: Using </a:t>
            </a:r>
            <a:r>
              <a:rPr lang="en-US" i="1" dirty="0" err="1"/>
              <a:t>SystemVerilog</a:t>
            </a:r>
            <a:r>
              <a:rPr lang="en-US" i="1" dirty="0"/>
              <a:t> for ASIC and FPGA Design</a:t>
            </a:r>
            <a:r>
              <a:rPr lang="en-US" dirty="0"/>
              <a:t>. 2017. 488p.</a:t>
            </a:r>
            <a:endParaRPr lang="pt-BR" sz="600" dirty="0"/>
          </a:p>
          <a:p>
            <a:pPr marL="342900" indent="-34290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dirty="0"/>
              <a:t>TOCCI, R. J.; WIDMER, N. S.; MOSS, G. L. </a:t>
            </a:r>
            <a:r>
              <a:rPr lang="pt-BR" i="1" dirty="0"/>
              <a:t>Sistemas Digitais: princípios e aplicações</a:t>
            </a:r>
            <a:r>
              <a:rPr lang="pt-BR" dirty="0"/>
              <a:t>. 11 ed. São Paulo: Pearson Prentice Hall, 2011. 840p.</a:t>
            </a:r>
            <a:endParaRPr lang="pt-BR" sz="2000" dirty="0"/>
          </a:p>
          <a:p>
            <a:pPr>
              <a:buClr>
                <a:srgbClr val="0070C0"/>
              </a:buClr>
            </a:pPr>
            <a:r>
              <a:rPr lang="pt-BR" sz="2400" b="1" u="sng" dirty="0">
                <a:solidFill>
                  <a:schemeClr val="accent4">
                    <a:lumMod val="75000"/>
                  </a:schemeClr>
                </a:solidFill>
              </a:rPr>
              <a:t>COMPLEMENTAR:</a:t>
            </a:r>
          </a:p>
          <a:p>
            <a:pPr>
              <a:buClr>
                <a:srgbClr val="0070C0"/>
              </a:buClr>
            </a:pPr>
            <a:endParaRPr lang="pt-BR" sz="800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dirty="0"/>
              <a:t>VAHID, F. </a:t>
            </a:r>
            <a:r>
              <a:rPr lang="pt-BR" i="1" dirty="0"/>
              <a:t>Sistemas Digitais: Projeto, Otimização e </a:t>
            </a:r>
            <a:r>
              <a:rPr lang="pt-BR" i="1" dirty="0" err="1"/>
              <a:t>HDLs</a:t>
            </a:r>
            <a:r>
              <a:rPr lang="pt-BR" dirty="0"/>
              <a:t>. Ed. Bookman, 2008. 560p.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31385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8DEF324-BF33-416B-B5AC-9B575069758F}" vid="{7718B0AA-9032-42F3-8013-0EC2AA4DB7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5278</TotalTime>
  <Words>1156</Words>
  <Application>Microsoft Office PowerPoint</Application>
  <PresentationFormat>Widescreen</PresentationFormat>
  <Paragraphs>158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Wingdings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Machado De Souza</dc:creator>
  <cp:lastModifiedBy>Iaçanã Ianiski Weber</cp:lastModifiedBy>
  <cp:revision>713</cp:revision>
  <cp:lastPrinted>2021-08-04T12:27:36Z</cp:lastPrinted>
  <dcterms:created xsi:type="dcterms:W3CDTF">2017-11-07T18:55:33Z</dcterms:created>
  <dcterms:modified xsi:type="dcterms:W3CDTF">2026-03-03T01:25:49Z</dcterms:modified>
</cp:coreProperties>
</file>